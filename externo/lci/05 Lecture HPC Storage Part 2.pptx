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9144000"/>
  <p:notesSz cx="68580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j50m03YvaHEjPPUntZE+f0SMd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2A8CB3-3277-4731-9245-5E478645C1DE}">
  <a:tblStyle styleId="{CA2A8CB3-3277-4731-9245-5E478645C1D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1263"/>
            <a:ext cx="2971800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831263"/>
            <a:ext cx="2971800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6200" y="8831263"/>
            <a:ext cx="2971800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4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4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3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4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4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4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7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47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8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4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4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5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5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5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3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5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5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5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5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7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57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8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5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5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6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6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6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3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6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6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6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6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7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67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8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6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6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7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7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7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3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7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7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2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eader image" id="23" name="Google Shape;2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7042"/>
            <a:ext cx="4495800" cy="1254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CI Workshops home" id="24" name="Google Shape;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14223"/>
            <a:ext cx="4238847" cy="123334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8"/>
          <p:cNvSpPr txBox="1"/>
          <p:nvPr/>
        </p:nvSpPr>
        <p:spPr>
          <a:xfrm>
            <a:off x="4495800" y="0"/>
            <a:ext cx="228600" cy="12475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2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32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8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8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c9ad995-a8e0-458a-bad2-bbd00f228940@mx" id="15" name="Google Shape;15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58000" y="153371"/>
            <a:ext cx="1896140" cy="5952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27"/>
          <p:cNvCxnSpPr/>
          <p:nvPr/>
        </p:nvCxnSpPr>
        <p:spPr>
          <a:xfrm>
            <a:off x="0" y="6176963"/>
            <a:ext cx="9144000" cy="0"/>
          </a:xfrm>
          <a:prstGeom prst="straightConnector1">
            <a:avLst/>
          </a:prstGeom>
          <a:noFill/>
          <a:ln cap="flat" cmpd="sng" w="762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reativecommons.org/licenses/by-nc/4.0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hyperlink" Target="https://tracker.ceph.com/projects/ceph/wiki/" TargetMode="External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hyperlink" Target="https://min.io/" TargetMode="External"/><Relationship Id="rId6" Type="http://schemas.openxmlformats.org/officeDocument/2006/relationships/hyperlink" Target="https://min.io/docs/minio/kubernetes/upstrea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hyperlink" Target="https://iperf.fr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hyperlink" Target="https://support.mellanox.com/s/article/perftest-packag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hyperlink" Target="https://github.com/hpc/ior" TargetMode="External"/><Relationship Id="rId6" Type="http://schemas.openxmlformats.org/officeDocument/2006/relationships/hyperlink" Target="https://github.com/hpc/ior" TargetMode="External"/><Relationship Id="rId7" Type="http://schemas.openxmlformats.org/officeDocument/2006/relationships/hyperlink" Target="https://ior.readthedocs.io/en/latest/" TargetMode="External"/><Relationship Id="rId8" Type="http://schemas.openxmlformats.org/officeDocument/2006/relationships/hyperlink" Target="https://www.vi4io.org/tools/benchmarks/ior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5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Linux Clusters Institute:</a:t>
            </a:r>
            <a:br>
              <a:rPr lang="en-US">
                <a:solidFill>
                  <a:srgbClr val="C00000"/>
                </a:solidFill>
              </a:rPr>
            </a:br>
            <a:r>
              <a:rPr lang="en-US">
                <a:solidFill>
                  <a:srgbClr val="C00000"/>
                </a:solidFill>
              </a:rPr>
              <a:t>HPC Storage: Part 2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rgbClr val="C00000"/>
                </a:solidFill>
              </a:rPr>
              <a:t>J.D. Maloney | Sr. HPC Storage Engineer</a:t>
            </a:r>
            <a:endParaRPr/>
          </a:p>
          <a:p>
            <a:pPr indent="-361950" lvl="0" marL="45720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rgbClr val="C00000"/>
                </a:solidFill>
              </a:rPr>
              <a:t>National Center for Supercomputing Applications (NCSA)</a:t>
            </a:r>
            <a:endParaRPr/>
          </a:p>
          <a:p>
            <a:pPr indent="-361950" lvl="0" marL="45720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rgbClr val="C00000"/>
                </a:solidFill>
              </a:rPr>
              <a:t>malone12@illinois.edu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28600" y="5715000"/>
            <a:ext cx="86868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document is a result of work by volunteer LCI instructors and is licensed under CC BY-NC 4.0 (</a:t>
            </a:r>
            <a:r>
              <a:rPr b="0" i="0" lang="en-US" sz="11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https://creativecommons.org/licenses/by-nc/4.0/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sp>
        <p:nvSpPr>
          <p:cNvPr id="98" name="Google Shape;98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628650" y="1541325"/>
            <a:ext cx="7886700" cy="4359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audience: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Those involved in designing, implementing, or managing HPC storage systems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Wrap up FS Type Discussion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Storage Best Practices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 Benchmarking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Trends in Storage &amp; 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3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16" name="Google Shape;11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9"/>
          <p:cNvSpPr txBox="1"/>
          <p:nvPr>
            <p:ph type="title"/>
          </p:nvPr>
        </p:nvSpPr>
        <p:spPr>
          <a:xfrm>
            <a:off x="228600" y="501100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Other Non HPC File Systems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4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25" name="Google Shape;1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0"/>
          <p:cNvSpPr txBox="1"/>
          <p:nvPr>
            <p:ph type="title"/>
          </p:nvPr>
        </p:nvSpPr>
        <p:spPr>
          <a:xfrm>
            <a:off x="398721" y="853677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Ceph</a:t>
            </a:r>
            <a:endParaRPr/>
          </a:p>
        </p:txBody>
      </p:sp>
      <p:sp>
        <p:nvSpPr>
          <p:cNvPr id="128" name="Google Shape;128;p40"/>
          <p:cNvSpPr txBox="1"/>
          <p:nvPr>
            <p:ph idx="1" type="body"/>
          </p:nvPr>
        </p:nvSpPr>
        <p:spPr>
          <a:xfrm>
            <a:off x="422899" y="1721242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800"/>
              <a:t>Characteristics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Open source parallel object storage from RedHat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Provides interfaces for object-level, block-level, and file-level storage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Metadata services and storage are segregated from data services and storage</a:t>
            </a:r>
            <a:endParaRPr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Formats and handles raw block devices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800"/>
              <a:t>System Components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ceph-mon – monitors cluster for active and failed cluster nodes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ceph-mds – stores metadata of inodes and directories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ceph-osd – object storage devices, stores the file </a:t>
            </a:r>
            <a:endParaRPr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ceph-rqw – REST gateways to expose objects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800"/>
              <a:t>Sources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Ceph – ceph.com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Ceph Wiki – </a:t>
            </a:r>
            <a:r>
              <a:rPr lang="en-US" sz="1800" u="sng">
                <a:solidFill>
                  <a:schemeClr val="hlink"/>
                </a:solidFill>
                <a:hlinkClick r:id="rId5"/>
              </a:rPr>
              <a:t>tracker.ceph.com/projects/ceph/wiki/</a:t>
            </a:r>
            <a:endParaRPr sz="1800"/>
          </a:p>
        </p:txBody>
      </p:sp>
      <p:pic>
        <p:nvPicPr>
          <p:cNvPr descr="CephLogo.png" id="129" name="Google Shape;12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1074489"/>
            <a:ext cx="2263151" cy="813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4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36" name="Google Shape;13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1"/>
          <p:cNvSpPr txBox="1"/>
          <p:nvPr>
            <p:ph type="title"/>
          </p:nvPr>
        </p:nvSpPr>
        <p:spPr>
          <a:xfrm>
            <a:off x="398721" y="853677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Ceph</a:t>
            </a:r>
            <a:endParaRPr/>
          </a:p>
        </p:txBody>
      </p:sp>
      <p:pic>
        <p:nvPicPr>
          <p:cNvPr descr="What is Ceph? | Ubuntu" id="139" name="Google Shape;13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671" y="1965723"/>
            <a:ext cx="83947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4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46" name="Google Shape;14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2"/>
          <p:cNvSpPr txBox="1"/>
          <p:nvPr>
            <p:ph type="title"/>
          </p:nvPr>
        </p:nvSpPr>
        <p:spPr>
          <a:xfrm>
            <a:off x="398721" y="853677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Minio</a:t>
            </a:r>
            <a:endParaRPr/>
          </a:p>
        </p:txBody>
      </p:sp>
      <p:sp>
        <p:nvSpPr>
          <p:cNvPr id="149" name="Google Shape;149;p42"/>
          <p:cNvSpPr txBox="1"/>
          <p:nvPr>
            <p:ph idx="1" type="body"/>
          </p:nvPr>
        </p:nvSpPr>
        <p:spPr>
          <a:xfrm>
            <a:off x="422899" y="1721241"/>
            <a:ext cx="7886700" cy="4283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800"/>
              <a:t>Characteristics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Open source object storage product that has paid support options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Provides S3 object storage that can be scaled on commodity hardware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Lots of good object features; though NAS Gateway is deprecated</a:t>
            </a:r>
            <a:endParaRPr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Uses XFS formatted back-end</a:t>
            </a:r>
            <a:endParaRPr sz="1800"/>
          </a:p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800"/>
              <a:t>System Components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Very simple architecture, no special server-side roles; easy to deploy</a:t>
            </a:r>
            <a:endParaRPr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Commodity HDD/SSD based servers that are fairly uniform in configuration; referred to as “Object Storage Servers”</a:t>
            </a:r>
            <a:endParaRPr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High speed Ethernet fabric recommended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800"/>
              <a:t>Sources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Formal Website – </a:t>
            </a:r>
            <a:r>
              <a:rPr lang="en-US" sz="1800" u="sng">
                <a:solidFill>
                  <a:schemeClr val="hlink"/>
                </a:solidFill>
                <a:hlinkClick r:id="rId5"/>
              </a:rPr>
              <a:t>https://min.io</a:t>
            </a:r>
            <a:endParaRPr sz="18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Docs – </a:t>
            </a:r>
            <a:r>
              <a:rPr lang="en-US" sz="1800" u="sng">
                <a:solidFill>
                  <a:schemeClr val="hlink"/>
                </a:solidFill>
                <a:hlinkClick r:id="rId6"/>
              </a:rPr>
              <a:t>https://min.io/docs/minio/kubernetes/upstream/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43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56" name="Google Shape;1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3"/>
          <p:cNvSpPr txBox="1"/>
          <p:nvPr>
            <p:ph type="title"/>
          </p:nvPr>
        </p:nvSpPr>
        <p:spPr>
          <a:xfrm>
            <a:off x="398721" y="853677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Minio</a:t>
            </a:r>
            <a:endParaRPr/>
          </a:p>
        </p:txBody>
      </p:sp>
      <p:pic>
        <p:nvPicPr>
          <p:cNvPr descr="MinIO – Not Your Father's Object Storage Platform | PenguinPunk.net" id="159" name="Google Shape;15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829" y="1994453"/>
            <a:ext cx="7942521" cy="4009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4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66" name="Google Shape;16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4"/>
          <p:cNvSpPr txBox="1"/>
          <p:nvPr>
            <p:ph type="title"/>
          </p:nvPr>
        </p:nvSpPr>
        <p:spPr>
          <a:xfrm>
            <a:off x="228600" y="501100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HPC Storage Best/Common Practices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4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75" name="Google Shape;1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5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FS Areas</a:t>
            </a:r>
            <a:endParaRPr/>
          </a:p>
        </p:txBody>
      </p:sp>
      <p:sp>
        <p:nvSpPr>
          <p:cNvPr id="178" name="Google Shape;178;p45"/>
          <p:cNvSpPr txBox="1"/>
          <p:nvPr>
            <p:ph idx="1" type="body"/>
          </p:nvPr>
        </p:nvSpPr>
        <p:spPr>
          <a:xfrm>
            <a:off x="457200" y="1860551"/>
            <a:ext cx="7658100" cy="3930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Many HPC environments across the US/Internationally have somewhat common storage “areas” for users to use for different purposes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You don’t have to have all of them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You may have additional special ones for your users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Good to understand them so if users ask you can point them toward the relevant storage in your environment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Classifying data in into certain areas has influence on hardware choices and policies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4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85" name="Google Shape;18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6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FS Areas</a:t>
            </a:r>
            <a:endParaRPr/>
          </a:p>
        </p:txBody>
      </p:sp>
      <p:sp>
        <p:nvSpPr>
          <p:cNvPr id="188" name="Google Shape;188;p46"/>
          <p:cNvSpPr txBox="1"/>
          <p:nvPr>
            <p:ph idx="1" type="body"/>
          </p:nvPr>
        </p:nvSpPr>
        <p:spPr>
          <a:xfrm>
            <a:off x="457200" y="1860551"/>
            <a:ext cx="7658100" cy="3930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Adhering to these (at least some of them) will help keep things familiar for your users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Especially if your users are also using national level resources or systems at other institutions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What you end up implementing will need to fit with the workflows that you support on the systems you run</a:t>
            </a:r>
            <a:endParaRPr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47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95" name="Google Shape;19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7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FS Areas</a:t>
            </a:r>
            <a:endParaRPr/>
          </a:p>
        </p:txBody>
      </p:sp>
      <p:graphicFrame>
        <p:nvGraphicFramePr>
          <p:cNvPr id="198" name="Google Shape;198;p47"/>
          <p:cNvGraphicFramePr/>
          <p:nvPr/>
        </p:nvGraphicFramePr>
        <p:xfrm>
          <a:off x="447114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{CA2A8CB3-3277-4731-9245-5E478645C1DE}</a:tableStyleId>
              </a:tblPr>
              <a:tblGrid>
                <a:gridCol w="1584825"/>
                <a:gridCol w="1840975"/>
                <a:gridCol w="4642425"/>
              </a:tblGrid>
              <a:tr h="43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Classification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ENV Variable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</a:tr>
              <a:tr h="59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home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$HOME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User home directories, where they land via SSH; generally used for scripts, personal software, job logs, etc.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software (or apps)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$SW or $APPS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Area where system provided software comes from/is stored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</a:tr>
              <a:tr h="59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project (or work)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$PROJECT or $WORK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Area where teams store shared data, be it software, raw data, result data, etc.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9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scratch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$SCRATCH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Area where temporary job data and checkpoints are written; data stored here can be regenerated. 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48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05" name="Google Shape;20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8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FS Areas</a:t>
            </a:r>
            <a:endParaRPr/>
          </a:p>
        </p:txBody>
      </p:sp>
      <p:graphicFrame>
        <p:nvGraphicFramePr>
          <p:cNvPr id="208" name="Google Shape;208;p48"/>
          <p:cNvGraphicFramePr/>
          <p:nvPr/>
        </p:nvGraphicFramePr>
        <p:xfrm>
          <a:off x="533400" y="1860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{CA2A8CB3-3277-4731-9245-5E478645C1DE}</a:tableStyleId>
              </a:tblPr>
              <a:tblGrid>
                <a:gridCol w="1824850"/>
                <a:gridCol w="3397025"/>
                <a:gridCol w="2857100"/>
              </a:tblGrid>
              <a:tr h="59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Classification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Performance Characteristics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 Reliability Characteristics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</a:tr>
              <a:tr h="6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home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Slower throughput performance, decent metadata performance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Very reliable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7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software (or apps)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/>
                        <a:t>Slower throughput performance, decent metadata performance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Very reliable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project (or work)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Decent throughput and metadata performance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Very reliable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scratch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High throughput and metadata performance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Less reliable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4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9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FS Areas</a:t>
            </a:r>
            <a:endParaRPr/>
          </a:p>
        </p:txBody>
      </p:sp>
      <p:sp>
        <p:nvSpPr>
          <p:cNvPr id="218" name="Google Shape;218;p49"/>
          <p:cNvSpPr txBox="1"/>
          <p:nvPr>
            <p:ph idx="1" type="body"/>
          </p:nvPr>
        </p:nvSpPr>
        <p:spPr>
          <a:xfrm>
            <a:off x="457200" y="1860551"/>
            <a:ext cx="7658100" cy="3930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Having different classes of storage also helps administratively as it allows for different policies to be set up on the different areas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Different storage classifications don’t have to be actual separate file systems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Could be different filesets in Spectrum Scale or projects in Lustre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Could be on different NSDs or OSTs based on policy or PFL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Can be hosted by different storage servers within the file system (servers that host the specific NSDs or OSTs)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the end this is to help workflow and encourage better data management by end users/teams</a:t>
            </a:r>
            <a:endParaRPr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5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25" name="Google Shape;22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0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Quota</a:t>
            </a:r>
            <a:endParaRPr/>
          </a:p>
        </p:txBody>
      </p:sp>
      <p:sp>
        <p:nvSpPr>
          <p:cNvPr id="228" name="Google Shape;228;p50"/>
          <p:cNvSpPr txBox="1"/>
          <p:nvPr>
            <p:ph idx="1" type="body"/>
          </p:nvPr>
        </p:nvSpPr>
        <p:spPr>
          <a:xfrm>
            <a:off x="457200" y="1860551"/>
            <a:ext cx="7658100" cy="3930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Limit the amount of space or inodes that users or groups of users consume on the storage resource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Quotas can be set as: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matter of fair-share policy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based on a granted allocation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to limit usage of the resource to the amount the end user/group is paying for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Setting up quota policies early on in a system’s life is much easier as you don’t have to merge existing use into a new quota scheme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5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35" name="Google Shape;23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1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Quota</a:t>
            </a:r>
            <a:endParaRPr/>
          </a:p>
        </p:txBody>
      </p:sp>
      <p:sp>
        <p:nvSpPr>
          <p:cNvPr id="238" name="Google Shape;238;p51"/>
          <p:cNvSpPr txBox="1"/>
          <p:nvPr>
            <p:ph idx="1" type="body"/>
          </p:nvPr>
        </p:nvSpPr>
        <p:spPr>
          <a:xfrm>
            <a:off x="457200" y="1860551"/>
            <a:ext cx="7658100" cy="3930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two main types of quota: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Explicit --&gt; a certain amount of TB or inodes set at a “custom” level, either based on investment level or allocation granted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Default --&gt;  an amount of TB or inodes set globally for all users or all groups based on a system’s policy (or at least default policy)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Default quotas are handy for things like: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Home directory quotas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Baseline project or scratch capacity granted as part of access to the storage system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Explicit quotas are handy for things like:</a:t>
            </a:r>
            <a:endParaRPr sz="24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Overwritten defaults based on allocation or investment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5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45" name="Google Shape;24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52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Quota</a:t>
            </a:r>
            <a:endParaRPr/>
          </a:p>
        </p:txBody>
      </p:sp>
      <p:sp>
        <p:nvSpPr>
          <p:cNvPr id="248" name="Google Shape;248;p52"/>
          <p:cNvSpPr txBox="1"/>
          <p:nvPr>
            <p:ph idx="1" type="body"/>
          </p:nvPr>
        </p:nvSpPr>
        <p:spPr>
          <a:xfrm>
            <a:off x="457200" y="1860551"/>
            <a:ext cx="7658100" cy="3930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Setting quotas on inodes can be very useful, especially in areas of: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AI workloads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Bio workloads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Some geospatial workloads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Almost any python driven workload ;)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Probably even more workloads, I haven’t seen them all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your metadata is on a separate flash pool you want to make sure it doesn’t fill up too fast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Also keeps users from doing something silly and filling up your metadata space (this can cause problems)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53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55" name="Google Shape;25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3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 -- Quota</a:t>
            </a:r>
            <a:endParaRPr/>
          </a:p>
        </p:txBody>
      </p:sp>
      <p:sp>
        <p:nvSpPr>
          <p:cNvPr id="258" name="Google Shape;258;p53"/>
          <p:cNvSpPr txBox="1"/>
          <p:nvPr>
            <p:ph idx="1" type="body"/>
          </p:nvPr>
        </p:nvSpPr>
        <p:spPr>
          <a:xfrm>
            <a:off x="457200" y="1860551"/>
            <a:ext cx="7658100" cy="3930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the end quotas are there to: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Enforce fair use of the resource by users/teams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Act as a </a:t>
            </a:r>
            <a:r>
              <a:rPr lang="en-US" sz="2000" u="sng"/>
              <a:t>guide</a:t>
            </a:r>
            <a:r>
              <a:rPr lang="en-US" sz="2000"/>
              <a:t> for good data management techniques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Even just enabling quota tracking will help you as an admin have a window into what’s happening on the system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Watching data growth/shrinkage per user can let you know who is pushing the FS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Forecast where/who demand for storage is coming from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Keeps you from having to “du” a bunch of stuff all the time to get reporting data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5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65" name="Google Shape;26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54"/>
          <p:cNvSpPr txBox="1"/>
          <p:nvPr>
            <p:ph idx="1" type="body"/>
          </p:nvPr>
        </p:nvSpPr>
        <p:spPr>
          <a:xfrm>
            <a:off x="628650" y="1828800"/>
            <a:ext cx="7886700" cy="4179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711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Benchmark the system whenever you can</a:t>
            </a:r>
            <a:endParaRPr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Benchmark the system when you first get it up and running</a:t>
            </a:r>
            <a:endParaRPr sz="1600"/>
          </a:p>
          <a:p>
            <a:pPr indent="-159575" lvl="2" marL="8572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This is your best case after your tuning and should be considered your baseline</a:t>
            </a:r>
            <a:endParaRPr sz="1600"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Run your baseline again after any change to make sure performance hasn’t been affected</a:t>
            </a:r>
            <a:endParaRPr sz="1600"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Use general purpose network and storage performance benchmarks</a:t>
            </a:r>
            <a:endParaRPr sz="1600"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Use benchmarks based on your user workloads if possible</a:t>
            </a:r>
            <a:endParaRPr sz="1600"/>
          </a:p>
          <a:p>
            <a:pPr indent="0" lvl="0" marL="47117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rPr lang="en-US"/>
              <a:t>When accepting a new system, it’s good to have an acceptance checklist, regardless if all apply to the requirements needed to pay the vendor. Do things like</a:t>
            </a:r>
            <a:endParaRPr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Pull a drive while running</a:t>
            </a:r>
            <a:endParaRPr sz="1600"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Fail a component in a failover pair, make sure recovery goes as expected</a:t>
            </a:r>
            <a:endParaRPr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Confirm system is in perfect health by all metrics</a:t>
            </a:r>
            <a:endParaRPr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Ensure above captured benchmark meets requirements</a:t>
            </a:r>
            <a:endParaRPr/>
          </a:p>
          <a:p>
            <a:pPr indent="-1419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Verify functionality of required features</a:t>
            </a:r>
            <a:endParaRPr sz="1600"/>
          </a:p>
        </p:txBody>
      </p:sp>
      <p:sp>
        <p:nvSpPr>
          <p:cNvPr id="268" name="Google Shape;268;p54"/>
          <p:cNvSpPr txBox="1"/>
          <p:nvPr>
            <p:ph type="title"/>
          </p:nvPr>
        </p:nvSpPr>
        <p:spPr>
          <a:xfrm>
            <a:off x="628650" y="8346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General Best Practices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5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75" name="Google Shape;27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5"/>
          <p:cNvSpPr txBox="1"/>
          <p:nvPr>
            <p:ph idx="1" type="body"/>
          </p:nvPr>
        </p:nvSpPr>
        <p:spPr>
          <a:xfrm>
            <a:off x="479794" y="1778406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Large records in  sequential order</a:t>
            </a:r>
            <a:endParaRPr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Defined as larger than the file system block size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Large records in  strided order or small records in sequential order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Large records in random order or small records in strided order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Issue hints when reading in small records in random order</a:t>
            </a:r>
            <a:endParaRPr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If supported by the file system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Small record random order without hints</a:t>
            </a:r>
            <a:endParaRPr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Defined as smaller than the block or sub-block size of the file system</a:t>
            </a:r>
            <a:endParaRPr/>
          </a:p>
        </p:txBody>
      </p:sp>
      <p:sp>
        <p:nvSpPr>
          <p:cNvPr id="278" name="Google Shape;278;p55"/>
          <p:cNvSpPr txBox="1"/>
          <p:nvPr>
            <p:ph type="title"/>
          </p:nvPr>
        </p:nvSpPr>
        <p:spPr>
          <a:xfrm>
            <a:off x="384101" y="78420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Hierarchy From Best to Worst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5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85" name="Google Shape;28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6"/>
          <p:cNvSpPr txBox="1"/>
          <p:nvPr>
            <p:ph type="title"/>
          </p:nvPr>
        </p:nvSpPr>
        <p:spPr>
          <a:xfrm>
            <a:off x="479794" y="81610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600"/>
              <a:t>Read-Write Balance</a:t>
            </a:r>
            <a:endParaRPr sz="3600"/>
          </a:p>
        </p:txBody>
      </p:sp>
      <p:sp>
        <p:nvSpPr>
          <p:cNvPr id="288" name="Google Shape;288;p56"/>
          <p:cNvSpPr txBox="1"/>
          <p:nvPr>
            <p:ph idx="1" type="body"/>
          </p:nvPr>
        </p:nvSpPr>
        <p:spPr>
          <a:xfrm>
            <a:off x="425302" y="1810305"/>
            <a:ext cx="8462187" cy="4231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Try to understand the balance of reads and writes across your system by looking at your performance counters</a:t>
            </a:r>
            <a:endParaRPr sz="18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General rule of thumb in CS textbooks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Read: 90%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Write: 10%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This doesn’t tend to apply to HPC applications. </a:t>
            </a:r>
            <a:endParaRPr sz="18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For example, the ratio for many scientific applications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Read: 50% to 70%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Write: 30% to 50%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Balance can be more tilted towards writes if your user base is checkpointing their jobs to the file system</a:t>
            </a:r>
            <a:endParaRPr sz="18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This will affect your storage balance in the attempt to meet all your application requirements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57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95" name="Google Shape;29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7"/>
          <p:cNvSpPr txBox="1"/>
          <p:nvPr>
            <p:ph type="title"/>
          </p:nvPr>
        </p:nvSpPr>
        <p:spPr>
          <a:xfrm>
            <a:off x="557795" y="64989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600"/>
              <a:t>Avoid “Gold Plating”</a:t>
            </a:r>
            <a:endParaRPr sz="3600"/>
          </a:p>
        </p:txBody>
      </p:sp>
      <p:sp>
        <p:nvSpPr>
          <p:cNvPr id="298" name="Google Shape;298;p57"/>
          <p:cNvSpPr txBox="1"/>
          <p:nvPr>
            <p:ph idx="1" type="body"/>
          </p:nvPr>
        </p:nvSpPr>
        <p:spPr>
          <a:xfrm>
            <a:off x="436599" y="1699235"/>
            <a:ext cx="8270801" cy="4257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" lvl="0" marL="57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Configure a file system to handle peak performance up to 3 or 4 standard deviations above the mean to avoid “gold plating” (John Watts, IBM)</a:t>
            </a:r>
            <a:endParaRPr/>
          </a:p>
          <a:p>
            <a:pPr indent="-57150" lvl="0" marL="57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Engineers worried about performance will often over architect a system</a:t>
            </a:r>
            <a:endParaRPr/>
          </a:p>
          <a:p>
            <a:pPr indent="-57150" lvl="0" marL="57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Balance cost versus percentage of workload that actually need top performance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When sizing the disk I/O subsystem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Don’t ask about peak loads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Do ask</a:t>
            </a:r>
            <a:endParaRPr/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What are the highest mean loads?</a:t>
            </a:r>
            <a:endParaRPr sz="1800"/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How often do you see a peak load?</a:t>
            </a:r>
            <a:endParaRPr sz="1800"/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800"/>
              <a:t>Do you have critical loads that justify additional cost?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58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05" name="Google Shape;30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8"/>
          <p:cNvSpPr txBox="1"/>
          <p:nvPr>
            <p:ph type="title"/>
          </p:nvPr>
        </p:nvSpPr>
        <p:spPr>
          <a:xfrm>
            <a:off x="628650" y="82416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Workloads by FS Type</a:t>
            </a:r>
            <a:endParaRPr/>
          </a:p>
        </p:txBody>
      </p:sp>
      <p:sp>
        <p:nvSpPr>
          <p:cNvPr id="308" name="Google Shape;308;p58"/>
          <p:cNvSpPr txBox="1"/>
          <p:nvPr>
            <p:ph idx="1" type="body"/>
          </p:nvPr>
        </p:nvSpPr>
        <p:spPr>
          <a:xfrm>
            <a:off x="628650" y="1622117"/>
            <a:ext cx="7886700" cy="4491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7"/>
              <a:buFont typeface="Arial"/>
              <a:buNone/>
            </a:pPr>
            <a:r>
              <a:rPr b="1" i="1" lang="en-US" sz="1400"/>
              <a:t>Home Directory Usage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Tends to have many small files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Tends to support interactive or online work loads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Large variance in access patterns, data rates and times of usage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Stat() calls are frequent</a:t>
            </a:r>
            <a:endParaRPr sz="1400"/>
          </a:p>
          <a:p>
            <a:pPr indent="-154812" lvl="2" marL="8572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High IOPs access pattern</a:t>
            </a:r>
            <a:endParaRPr sz="1400"/>
          </a:p>
          <a:p>
            <a:pPr indent="-154812" lvl="2" marL="8572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Tends to push metadata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Rate of change is small</a:t>
            </a:r>
            <a:endParaRPr sz="1400"/>
          </a:p>
          <a:p>
            <a:pPr indent="-154812" lvl="2" marL="8572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E.g., many files remain untouched for long periods of time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27"/>
              <a:buFont typeface="Arial"/>
              <a:buNone/>
            </a:pPr>
            <a:r>
              <a:rPr b="1" i="1" lang="en-US" sz="1400"/>
              <a:t>Project Directory Usage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Area where teams share datasets and software from</a:t>
            </a:r>
            <a:endParaRPr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Access tends to be during a batch job run</a:t>
            </a:r>
            <a:endParaRPr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Usage levels fluctuate based on specific user/group needs</a:t>
            </a:r>
            <a:endParaRPr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Rate of change can be large; depends on how teams are using the FS</a:t>
            </a:r>
            <a:endParaRPr sz="1400"/>
          </a:p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27"/>
              <a:buFont typeface="Arial"/>
              <a:buNone/>
            </a:pPr>
            <a:r>
              <a:rPr b="1" i="1" lang="en-US" sz="1400"/>
              <a:t>Scratch Directory Usage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May be principle working directory for applications runs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Access tends to be during a batch job run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24x7 usage with consistent access patterns and data rates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Stat() calls should be less frequent</a:t>
            </a:r>
            <a:endParaRPr sz="1400"/>
          </a:p>
          <a:p>
            <a:pPr indent="-140017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Rate of change can be large</a:t>
            </a:r>
            <a:endParaRPr sz="1400"/>
          </a:p>
          <a:p>
            <a:pPr indent="-154812" lvl="2" marL="8572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</a:pPr>
            <a:r>
              <a:rPr lang="en-US" sz="1400"/>
              <a:t>Data migrated to other storage tiers soon after job run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5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15" name="Google Shape;31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Hybrid Solutions For Mixed File Sizes</a:t>
            </a:r>
            <a:endParaRPr/>
          </a:p>
        </p:txBody>
      </p:sp>
      <p:sp>
        <p:nvSpPr>
          <p:cNvPr id="318" name="Google Shape;318;p5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400"/>
              <a:t>Example: </a:t>
            </a:r>
            <a:r>
              <a:rPr lang="en-US" sz="1400"/>
              <a:t>Seagate ClusterStor Storage Systems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1400"/>
              <a:t>Combine SSD and HDD in the storage solution</a:t>
            </a:r>
            <a:endParaRPr sz="14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Small I/O writes are sent to SSD storage</a:t>
            </a:r>
            <a:endParaRPr sz="14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Large I/O writes are sent directly to HDD storage</a:t>
            </a:r>
            <a:endParaRPr sz="14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Reads are satisfied from either SSD or HDD depending on where data currently resides</a:t>
            </a:r>
            <a:endParaRPr sz="14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No read ahead to pull data to SSD first</a:t>
            </a:r>
            <a:endParaRPr sz="14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As SSD storage fills, oldest data is moved to HDD as a background task</a:t>
            </a:r>
            <a:endParaRPr sz="14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Applications can see up to 12x I/O speed benefit for small I/O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6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25" name="Google Shape;32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0"/>
          <p:cNvSpPr txBox="1"/>
          <p:nvPr>
            <p:ph type="title"/>
          </p:nvPr>
        </p:nvSpPr>
        <p:spPr>
          <a:xfrm>
            <a:off x="228600" y="501100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FS Benchmarking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 is a Gauge Chart? | TIBCO Software" id="332" name="Google Shape;33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558" y="1395366"/>
            <a:ext cx="3060442" cy="130780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6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35" name="Google Shape;33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Benchmarking Tools</a:t>
            </a:r>
            <a:endParaRPr/>
          </a:p>
        </p:txBody>
      </p:sp>
      <p:sp>
        <p:nvSpPr>
          <p:cNvPr id="338" name="Google Shape;338;p61"/>
          <p:cNvSpPr txBox="1"/>
          <p:nvPr>
            <p:ph idx="1" type="body"/>
          </p:nvPr>
        </p:nvSpPr>
        <p:spPr>
          <a:xfrm>
            <a:off x="628650" y="1055069"/>
            <a:ext cx="7886700" cy="494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" lvl="0" marL="57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400"/>
              <a:t>Good general benchmarks for HPC systems</a:t>
            </a:r>
            <a:endParaRPr sz="2400"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IOR and mdtest</a:t>
            </a:r>
            <a:endParaRPr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elbencho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2400"/>
              <a:t>For network testing</a:t>
            </a:r>
            <a:endParaRPr/>
          </a:p>
          <a:p>
            <a:pPr indent="-209550" lvl="1" marL="4572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iperf3, ib_read_bw, ib_write_bw</a:t>
            </a:r>
            <a:endParaRPr sz="2000"/>
          </a:p>
          <a:p>
            <a:pPr indent="-57150" lvl="0" marL="57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400"/>
              <a:t>Good general benchmarks for smaller sized systems</a:t>
            </a:r>
            <a:endParaRPr sz="2400"/>
          </a:p>
          <a:p>
            <a:pPr indent="-152400" lvl="1" marL="4000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For I/O testing (iozone, bonnie++)</a:t>
            </a:r>
            <a:endParaRPr sz="2000"/>
          </a:p>
          <a:p>
            <a:pPr indent="-1143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2400"/>
              <a:t>Measurement Tools</a:t>
            </a:r>
            <a:endParaRPr sz="24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OS tools (dd, iostat, nmon, iftop, iotop)</a:t>
            </a:r>
            <a:endParaRPr sz="20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File System Tools</a:t>
            </a:r>
            <a:endParaRPr sz="2000"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Unique to each storage system</a:t>
            </a:r>
            <a:endParaRPr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Examples: obdfilter-survey, ost-survey (Lustre), nsdperf (GPFS)</a:t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6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45" name="Google Shape;34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Benchmarking Goals</a:t>
            </a:r>
            <a:endParaRPr/>
          </a:p>
        </p:txBody>
      </p:sp>
      <p:sp>
        <p:nvSpPr>
          <p:cNvPr id="348" name="Google Shape;348;p62"/>
          <p:cNvSpPr txBox="1"/>
          <p:nvPr>
            <p:ph idx="1" type="body"/>
          </p:nvPr>
        </p:nvSpPr>
        <p:spPr>
          <a:xfrm>
            <a:off x="757676" y="1105558"/>
            <a:ext cx="7886700" cy="4880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Baseline performance measurements</a:t>
            </a:r>
            <a:endParaRPr sz="2000"/>
          </a:p>
          <a:p>
            <a:pPr indent="-1143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Located slow performing components</a:t>
            </a:r>
            <a:endParaRPr sz="20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Disks, LUNs</a:t>
            </a:r>
            <a:endParaRPr sz="20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Network adapters</a:t>
            </a:r>
            <a:endParaRPr sz="20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Network switches</a:t>
            </a:r>
            <a:endParaRPr sz="2000"/>
          </a:p>
          <a:p>
            <a:pPr indent="-1143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Performance Tuning</a:t>
            </a:r>
            <a:endParaRPr sz="20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Test different file system parameters</a:t>
            </a:r>
            <a:endParaRPr sz="2000"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Block sizes</a:t>
            </a:r>
            <a:endParaRPr sz="2000"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RAID group sizes</a:t>
            </a:r>
            <a:endParaRPr sz="2000"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Stripe sizes</a:t>
            </a:r>
            <a:endParaRPr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Buffer sizes</a:t>
            </a:r>
            <a:endParaRPr sz="20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Network tuning</a:t>
            </a:r>
            <a:endParaRPr sz="2000"/>
          </a:p>
          <a:p>
            <a:pPr indent="-1524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Fabric dependent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63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55" name="Google Shape;35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3"/>
          <p:cNvSpPr txBox="1"/>
          <p:nvPr>
            <p:ph type="title"/>
          </p:nvPr>
        </p:nvSpPr>
        <p:spPr>
          <a:xfrm>
            <a:off x="628650" y="273844"/>
            <a:ext cx="7886700" cy="707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iperf3</a:t>
            </a:r>
            <a:endParaRPr/>
          </a:p>
        </p:txBody>
      </p:sp>
      <p:sp>
        <p:nvSpPr>
          <p:cNvPr id="358" name="Google Shape;358;p63"/>
          <p:cNvSpPr txBox="1"/>
          <p:nvPr>
            <p:ph idx="1" type="body"/>
          </p:nvPr>
        </p:nvSpPr>
        <p:spPr>
          <a:xfrm>
            <a:off x="628650" y="981306"/>
            <a:ext cx="7886700" cy="4855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1800"/>
              <a:t>The iperf3 package of tools can be used to measure both TCP and UDP performance</a:t>
            </a:r>
            <a:endParaRPr/>
          </a:p>
          <a:p>
            <a:pPr indent="-1143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iperf.fr</a:t>
            </a:r>
            <a:endParaRPr/>
          </a:p>
          <a:p>
            <a:pPr indent="-1143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1800"/>
              <a:t>Good test to make sure an Ethernet network is performing as expected</a:t>
            </a:r>
            <a:endParaRPr sz="18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/>
              <a:t>Can help identify underperforming NICs, cables, etc.</a:t>
            </a:r>
            <a:endParaRPr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1800"/>
              <a:t>Runs in a client/server mode</a:t>
            </a:r>
            <a:endParaRPr sz="1800"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/>
              <a:t>Will need to script to run tests between multiple nodes</a:t>
            </a:r>
            <a:endParaRPr/>
          </a:p>
          <a:p>
            <a:pPr indent="-1333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/>
              <a:t>Make sure to kill off your servers when you are done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Example</a:t>
            </a:r>
            <a:endParaRPr sz="1800"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US"/>
              <a:t>Startup Servers on two ports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iperf3 –s –D –p 5201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iperf3 –s –D –p 5202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US"/>
              <a:t>Start tests between nodes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rPr lang="en-US"/>
              <a:t>iper3f -f g -t 5 –c nsd21 -p 5201 &amp; iperf3 -f g -t $5 –c nsd21 -p 5202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6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65" name="Google Shape;36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4"/>
          <p:cNvSpPr txBox="1"/>
          <p:nvPr>
            <p:ph type="title"/>
          </p:nvPr>
        </p:nvSpPr>
        <p:spPr>
          <a:xfrm>
            <a:off x="628650" y="273844"/>
            <a:ext cx="7886700" cy="83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Ib_read_bw, ib_write_bw</a:t>
            </a:r>
            <a:endParaRPr/>
          </a:p>
        </p:txBody>
      </p:sp>
      <p:sp>
        <p:nvSpPr>
          <p:cNvPr id="368" name="Google Shape;368;p64"/>
          <p:cNvSpPr txBox="1"/>
          <p:nvPr>
            <p:ph idx="1" type="body"/>
          </p:nvPr>
        </p:nvSpPr>
        <p:spPr>
          <a:xfrm>
            <a:off x="628650" y="1107688"/>
            <a:ext cx="7886700" cy="4857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2000"/>
              <a:t>Part of the Mellanox </a:t>
            </a:r>
            <a:r>
              <a:rPr b="1" i="1" lang="en-US" sz="2000"/>
              <a:t>perftest</a:t>
            </a:r>
            <a:r>
              <a:rPr lang="en-US" sz="2000"/>
              <a:t> package distributed with MOFED</a:t>
            </a:r>
            <a:endParaRPr sz="2000"/>
          </a:p>
          <a:p>
            <a:pPr indent="-1333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2000"/>
              <a:t>Package contains bandwidth and latency benchmarks for both InfiniBand and Ethernet</a:t>
            </a:r>
            <a:endParaRPr/>
          </a:p>
          <a:p>
            <a:pPr indent="-1333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2000" u="sng">
                <a:solidFill>
                  <a:schemeClr val="hlink"/>
                </a:solidFill>
                <a:hlinkClick r:id="rId5"/>
              </a:rPr>
              <a:t>support.mellanox.com/s/article/perftest-package</a:t>
            </a:r>
            <a:r>
              <a:rPr lang="en-US" sz="2000"/>
              <a:t> </a:t>
            </a:r>
            <a:endParaRPr sz="2000"/>
          </a:p>
          <a:p>
            <a:pPr indent="-114300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2000"/>
              <a:t>Good test for InfiniBand network health</a:t>
            </a:r>
            <a:endParaRPr sz="2000"/>
          </a:p>
          <a:p>
            <a:pPr indent="-1333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2000"/>
              <a:t>Can help identify underperforming HBAs or switch port issues</a:t>
            </a:r>
            <a:endParaRPr sz="2000"/>
          </a:p>
          <a:p>
            <a:pPr indent="-114300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2000"/>
              <a:t>Runs in a client/server mode</a:t>
            </a:r>
            <a:endParaRPr sz="2000"/>
          </a:p>
          <a:p>
            <a:pPr indent="-1333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2000"/>
              <a:t>Will need to script to run tests between multiple nodes</a:t>
            </a:r>
            <a:endParaRPr sz="2000"/>
          </a:p>
          <a:p>
            <a:pPr indent="-1333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SzPts val="1200"/>
              <a:buFont typeface="Calibri"/>
              <a:buChar char="•"/>
            </a:pPr>
            <a:r>
              <a:rPr lang="en-US" sz="2000"/>
              <a:t>Make sure to kill off your servers when you are done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2000"/>
              <a:t>Example</a:t>
            </a:r>
            <a:endParaRPr sz="2000"/>
          </a:p>
          <a:p>
            <a:pPr indent="0" lvl="1" marL="34290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US" sz="2000"/>
              <a:t>On Server</a:t>
            </a:r>
            <a:endParaRPr sz="2000"/>
          </a:p>
          <a:p>
            <a:pPr indent="0" lvl="1" marL="34290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000"/>
              <a:t>ssh nsd21; ib_read_bw -d mlx5_0 -i 1 -R -z –report_gbits</a:t>
            </a:r>
            <a:endParaRPr sz="2000"/>
          </a:p>
          <a:p>
            <a:pPr indent="0" lvl="1" marL="34290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2000"/>
          </a:p>
          <a:p>
            <a:pPr indent="0" lvl="1" marL="34290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US" sz="2000"/>
              <a:t>On Client</a:t>
            </a:r>
            <a:endParaRPr sz="2000"/>
          </a:p>
          <a:p>
            <a:pPr indent="0" lvl="1" marL="34290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000"/>
              <a:t>ssh  nsd22; ib_read_bw -d mlx5_0 -i 1 -R -z -D 2 nsd21 --report_gbits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6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75" name="Google Shape;37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5"/>
          <p:cNvSpPr txBox="1"/>
          <p:nvPr>
            <p:ph type="title"/>
          </p:nvPr>
        </p:nvSpPr>
        <p:spPr>
          <a:xfrm>
            <a:off x="628650" y="760867"/>
            <a:ext cx="8515350" cy="68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IOR HPC Benchmark</a:t>
            </a:r>
            <a:endParaRPr/>
          </a:p>
        </p:txBody>
      </p:sp>
      <p:sp>
        <p:nvSpPr>
          <p:cNvPr id="378" name="Google Shape;378;p65"/>
          <p:cNvSpPr txBox="1"/>
          <p:nvPr>
            <p:ph idx="1" type="body"/>
          </p:nvPr>
        </p:nvSpPr>
        <p:spPr>
          <a:xfrm>
            <a:off x="628650" y="1446029"/>
            <a:ext cx="7567291" cy="3806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</a:rPr>
              <a:t>Documentation</a:t>
            </a:r>
            <a:endParaRPr sz="2000" u="sng">
              <a:solidFill>
                <a:schemeClr val="dk1"/>
              </a:solidFill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1600" u="sng">
                <a:solidFill>
                  <a:srgbClr val="0563C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https://github.com/hpc/ior</a:t>
            </a:r>
            <a:endParaRPr sz="1600"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1600" u="sng">
                <a:solidFill>
                  <a:schemeClr val="hlink"/>
                </a:solidFill>
                <a:hlinkClick r:id="rId7"/>
              </a:rPr>
              <a:t>https://ior.readthedocs.io/en/latest/</a:t>
            </a:r>
            <a:endParaRPr sz="1600"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1600" u="sng">
                <a:solidFill>
                  <a:schemeClr val="hlink"/>
                </a:solidFill>
                <a:hlinkClick r:id="rId8"/>
              </a:rPr>
              <a:t>https://www.vi4io.org/tools/benchmarks/ior</a:t>
            </a:r>
            <a:endParaRPr sz="1600"/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 sz="1400"/>
          </a:p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Specifically design for parallel I/O benchmarking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Utilizes MPI for parallel I/O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Can be run from the command line, through a script or as a batch job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Can run different types of I/O</a:t>
            </a:r>
            <a:endParaRPr sz="20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1600"/>
              <a:t>POSIX, MPIIO, HDF5 or NCMPI</a:t>
            </a:r>
            <a:endParaRPr sz="16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Can run with multiple tasks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Can configure block size and transfer size to use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6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85" name="Google Shape;38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66"/>
          <p:cNvSpPr txBox="1"/>
          <p:nvPr/>
        </p:nvSpPr>
        <p:spPr>
          <a:xfrm>
            <a:off x="457200" y="842677"/>
            <a:ext cx="80581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IOR Best Practices/How to Run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That’s a lot of flags ☺ but not as bad as you think, hopefully those definitions helped…here’s an example run: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" id="388" name="Google Shape;388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771" y="2387009"/>
            <a:ext cx="8708458" cy="3012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67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95" name="Google Shape;39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7"/>
          <p:cNvSpPr txBox="1"/>
          <p:nvPr>
            <p:ph type="title"/>
          </p:nvPr>
        </p:nvSpPr>
        <p:spPr>
          <a:xfrm>
            <a:off x="628649" y="691627"/>
            <a:ext cx="7886700" cy="67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mdtest HPC Benchmark</a:t>
            </a:r>
            <a:endParaRPr/>
          </a:p>
        </p:txBody>
      </p:sp>
      <p:sp>
        <p:nvSpPr>
          <p:cNvPr id="398" name="Google Shape;398;p67"/>
          <p:cNvSpPr txBox="1"/>
          <p:nvPr>
            <p:ph idx="1" type="body"/>
          </p:nvPr>
        </p:nvSpPr>
        <p:spPr>
          <a:xfrm>
            <a:off x="628649" y="2666397"/>
            <a:ext cx="8234859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mdtest is an MPI-coordinated metadata benchmark test that performs open/stat/close operations on files and directories and then reports the performance.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Uses MPI for communications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Creates multiple files per process</a:t>
            </a:r>
            <a:endParaRPr sz="20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Can specify a shared file or file per process</a:t>
            </a:r>
            <a:endParaRPr sz="20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Can specify that all files go into a single directory or into unique directories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2000"/>
              <a:t>Can run in POSIX and MPIIO modes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68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05" name="Google Shape;40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68"/>
          <p:cNvSpPr txBox="1"/>
          <p:nvPr/>
        </p:nvSpPr>
        <p:spPr>
          <a:xfrm>
            <a:off x="542925" y="991162"/>
            <a:ext cx="80581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mdtest Best Practices/How to Run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mdtest Diagram of flags to hierarchy (source: LLNL)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" id="408" name="Google Shape;408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217" y="2092260"/>
            <a:ext cx="6438061" cy="3961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6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15" name="Google Shape;41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9"/>
          <p:cNvSpPr txBox="1"/>
          <p:nvPr/>
        </p:nvSpPr>
        <p:spPr>
          <a:xfrm>
            <a:off x="542925" y="991161"/>
            <a:ext cx="8058150" cy="1905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55727"/>
              <a:buFont typeface="Arial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mdtest Best Practices/How to Run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563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run of mdtest using 32 nodes/64 ranks (2 per node)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563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run ran 3 iterations, thus showing a Std. Deviation in the right column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66176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&#10;&#10;Description automatically generated with medium confidence" id="418" name="Google Shape;418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082" y="3172826"/>
            <a:ext cx="8915835" cy="1905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4" name="Google Shape;424;p7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25" name="Google Shape;42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70"/>
          <p:cNvSpPr txBox="1"/>
          <p:nvPr>
            <p:ph type="title"/>
          </p:nvPr>
        </p:nvSpPr>
        <p:spPr>
          <a:xfrm>
            <a:off x="228600" y="501100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Future Trends &amp; Conclusion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p7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34" name="Google Shape;43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71"/>
          <p:cNvSpPr txBox="1"/>
          <p:nvPr>
            <p:ph type="title"/>
          </p:nvPr>
        </p:nvSpPr>
        <p:spPr>
          <a:xfrm>
            <a:off x="628650" y="82064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Brief Thoughts on Future Storage Trends</a:t>
            </a:r>
            <a:endParaRPr/>
          </a:p>
        </p:txBody>
      </p:sp>
      <p:sp>
        <p:nvSpPr>
          <p:cNvPr id="437" name="Google Shape;437;p71"/>
          <p:cNvSpPr txBox="1"/>
          <p:nvPr>
            <p:ph idx="1" type="body"/>
          </p:nvPr>
        </p:nvSpPr>
        <p:spPr>
          <a:xfrm>
            <a:off x="628650" y="1814841"/>
            <a:ext cx="7886700" cy="372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Lots of things are shifting in storage on both the hardware and software front (and some linkage in between)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Big tech shifts on the storage side: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SSDs are getting cheaper $/TB as time progresses, trying to catch HDDs and are gaining ground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PCIe generations are moving more quickly than they have in the past (Gen 3 for long time, now Gen 4 and Gen 5; Gen 6 on roadmaps not far out) -- driven by CXL work and hyperscalers</a:t>
            </a:r>
            <a:endParaRPr sz="2100"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New media form factors and cooling methods being discussed and productized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Storage performance is becoming increasingly important to overall system designs</a:t>
            </a:r>
            <a:endParaRPr sz="2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7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44" name="Google Shape;44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72"/>
          <p:cNvSpPr txBox="1"/>
          <p:nvPr>
            <p:ph type="title"/>
          </p:nvPr>
        </p:nvSpPr>
        <p:spPr>
          <a:xfrm>
            <a:off x="628650" y="82064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Brief Thoughts on Future Storage Trends</a:t>
            </a:r>
            <a:endParaRPr/>
          </a:p>
        </p:txBody>
      </p:sp>
      <p:sp>
        <p:nvSpPr>
          <p:cNvPr id="447" name="Google Shape;447;p72"/>
          <p:cNvSpPr txBox="1"/>
          <p:nvPr>
            <p:ph idx="1" type="body"/>
          </p:nvPr>
        </p:nvSpPr>
        <p:spPr>
          <a:xfrm>
            <a:off x="628650" y="2081599"/>
            <a:ext cx="7886700" cy="3955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Changes on the hardware side are also leading to evolutions in options on the software side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New file systems are here/being developed that build on and assume ”modern” all-flash architectures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Re-writing file system solutions from scratch can help lead to totally new capabilities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Growing emphasis on the features of the file systems and access methods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No longer just POSIX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Some want S3, some want CSI drivers, etc. 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Need policy engine and migration/manipulation tools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More reporting capability and data isolation features</a:t>
            </a:r>
            <a:endParaRPr sz="2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73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54" name="Google Shape;45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73"/>
          <p:cNvSpPr txBox="1"/>
          <p:nvPr>
            <p:ph type="title"/>
          </p:nvPr>
        </p:nvSpPr>
        <p:spPr>
          <a:xfrm>
            <a:off x="628650" y="82064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Brief Thoughts on Future Storage Trends</a:t>
            </a:r>
            <a:endParaRPr/>
          </a:p>
        </p:txBody>
      </p:sp>
      <p:sp>
        <p:nvSpPr>
          <p:cNvPr id="457" name="Google Shape;457;p73"/>
          <p:cNvSpPr txBox="1"/>
          <p:nvPr>
            <p:ph idx="1" type="body"/>
          </p:nvPr>
        </p:nvSpPr>
        <p:spPr>
          <a:xfrm>
            <a:off x="628650" y="2081599"/>
            <a:ext cx="7886700" cy="3955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Increased “regulation” around how long data needs to be retained, how it is handled, and how it needs to be accessed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More classifications and restrictions around data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CUI, HIPAA, etc. 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Minimum retention policies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Ability to audit compliance with regard to funding agency policies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Sustainability is also key 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Funding for storage usually isn’t plentiful, it isn’t shiny (often)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As datasets get larger the ability of researchers to use use the “external hard drive method” is fading a bit</a:t>
            </a:r>
            <a:endParaRPr/>
          </a:p>
          <a:p>
            <a:pPr indent="-127000" lvl="1" marL="6286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More data is needing to be managed by fewer and fewer admins/engineers; need solutions that help ease that burden</a:t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7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64" name="Google Shape;46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74"/>
          <p:cNvSpPr txBox="1"/>
          <p:nvPr>
            <p:ph type="title"/>
          </p:nvPr>
        </p:nvSpPr>
        <p:spPr>
          <a:xfrm>
            <a:off x="628650" y="116697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467" name="Google Shape;467;p74"/>
          <p:cNvSpPr txBox="1"/>
          <p:nvPr>
            <p:ph idx="1" type="body"/>
          </p:nvPr>
        </p:nvSpPr>
        <p:spPr>
          <a:xfrm>
            <a:off x="628650" y="2081600"/>
            <a:ext cx="7886700" cy="372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There is no one right solution for HPC Storage systems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Each solution is highly dependent on your environment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The more time you spend gathering requirements and talking with your stakeholders, the better your design but be mindful not to spend too much time here.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Trade-offs are inevitable, focus on prioritizing basic features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Benchmarking can be a valuable long-term tool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Technology changes frequently, but the basic principles are fairly stable</a:t>
            </a:r>
            <a:endParaRPr sz="2000"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Reach out to the community, most are more than willing to share experiences</a:t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6"/>
          <p:cNvSpPr txBox="1"/>
          <p:nvPr>
            <p:ph type="title"/>
          </p:nvPr>
        </p:nvSpPr>
        <p:spPr>
          <a:xfrm>
            <a:off x="628650" y="460878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Questions?</a:t>
            </a:r>
            <a:endParaRPr/>
          </a:p>
        </p:txBody>
      </p:sp>
      <p:sp>
        <p:nvSpPr>
          <p:cNvPr id="473" name="Google Shape;473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2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75" name="Google Shape;4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2019-08-12T16:31:32Z</dcterms:created>
  <dc:creator>Bird, Stephen Robert</dc:creator>
</cp:coreProperties>
</file>