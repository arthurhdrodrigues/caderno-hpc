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9144000"/>
  <p:notesSz cx="6858000" cy="92964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iYnpVkMtwpEO0LyDbLUVVKotXc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618C940-A9F6-46DB-8FAC-450368218E59}">
  <a:tblStyle styleId="{6618C940-A9F6-46DB-8FAC-450368218E59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533520" y="764280"/>
            <a:ext cx="670464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:notes"/>
          <p:cNvSpPr/>
          <p:nvPr/>
        </p:nvSpPr>
        <p:spPr>
          <a:xfrm>
            <a:off x="3886200" y="8831160"/>
            <a:ext cx="2970000" cy="463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:notes"/>
          <p:cNvSpPr/>
          <p:nvPr>
            <p:ph idx="2" type="sldImg"/>
          </p:nvPr>
        </p:nvSpPr>
        <p:spPr>
          <a:xfrm>
            <a:off x="1104900" y="696913"/>
            <a:ext cx="4646613" cy="34845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1" name="Google Shape;171;p1:notes"/>
          <p:cNvSpPr txBox="1"/>
          <p:nvPr>
            <p:ph idx="1" type="body"/>
          </p:nvPr>
        </p:nvSpPr>
        <p:spPr>
          <a:xfrm>
            <a:off x="914400" y="4416480"/>
            <a:ext cx="5027400" cy="41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:notes"/>
          <p:cNvSpPr/>
          <p:nvPr>
            <p:ph idx="2" type="sldImg"/>
          </p:nvPr>
        </p:nvSpPr>
        <p:spPr>
          <a:xfrm>
            <a:off x="533520" y="764280"/>
            <a:ext cx="670464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3:notes"/>
          <p:cNvSpPr/>
          <p:nvPr>
            <p:ph idx="2" type="sldImg"/>
          </p:nvPr>
        </p:nvSpPr>
        <p:spPr>
          <a:xfrm>
            <a:off x="533520" y="764280"/>
            <a:ext cx="670464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4:notes"/>
          <p:cNvSpPr/>
          <p:nvPr>
            <p:ph idx="2" type="sldImg"/>
          </p:nvPr>
        </p:nvSpPr>
        <p:spPr>
          <a:xfrm>
            <a:off x="533520" y="764280"/>
            <a:ext cx="670464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5:notes"/>
          <p:cNvSpPr/>
          <p:nvPr>
            <p:ph idx="2" type="sldImg"/>
          </p:nvPr>
        </p:nvSpPr>
        <p:spPr>
          <a:xfrm>
            <a:off x="533520" y="764280"/>
            <a:ext cx="670464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6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6:notes"/>
          <p:cNvSpPr/>
          <p:nvPr>
            <p:ph idx="2" type="sldImg"/>
          </p:nvPr>
        </p:nvSpPr>
        <p:spPr>
          <a:xfrm>
            <a:off x="533520" y="764280"/>
            <a:ext cx="670464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7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7:notes"/>
          <p:cNvSpPr/>
          <p:nvPr>
            <p:ph idx="2" type="sldImg"/>
          </p:nvPr>
        </p:nvSpPr>
        <p:spPr>
          <a:xfrm>
            <a:off x="533520" y="764280"/>
            <a:ext cx="670464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8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:notes"/>
          <p:cNvSpPr/>
          <p:nvPr>
            <p:ph idx="2" type="sldImg"/>
          </p:nvPr>
        </p:nvSpPr>
        <p:spPr>
          <a:xfrm>
            <a:off x="533520" y="764280"/>
            <a:ext cx="670464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9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9:notes"/>
          <p:cNvSpPr/>
          <p:nvPr>
            <p:ph idx="2" type="sldImg"/>
          </p:nvPr>
        </p:nvSpPr>
        <p:spPr>
          <a:xfrm>
            <a:off x="533520" y="764280"/>
            <a:ext cx="670464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0:notes"/>
          <p:cNvSpPr/>
          <p:nvPr>
            <p:ph idx="2" type="sldImg"/>
          </p:nvPr>
        </p:nvSpPr>
        <p:spPr>
          <a:xfrm>
            <a:off x="533520" y="764280"/>
            <a:ext cx="670464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1:notes"/>
          <p:cNvSpPr/>
          <p:nvPr>
            <p:ph idx="2" type="sldImg"/>
          </p:nvPr>
        </p:nvSpPr>
        <p:spPr>
          <a:xfrm>
            <a:off x="1370013" y="763588"/>
            <a:ext cx="5030787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9" name="Google Shape;259;p11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1:notes"/>
          <p:cNvSpPr txBox="1"/>
          <p:nvPr>
            <p:ph idx="12"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400" strike="noStrike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2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2:notes"/>
          <p:cNvSpPr/>
          <p:nvPr>
            <p:ph idx="2" type="sldImg"/>
          </p:nvPr>
        </p:nvSpPr>
        <p:spPr>
          <a:xfrm>
            <a:off x="533520" y="764280"/>
            <a:ext cx="670464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3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3:notes"/>
          <p:cNvSpPr/>
          <p:nvPr>
            <p:ph idx="2" type="sldImg"/>
          </p:nvPr>
        </p:nvSpPr>
        <p:spPr>
          <a:xfrm>
            <a:off x="533520" y="764280"/>
            <a:ext cx="670464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4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4:notes"/>
          <p:cNvSpPr/>
          <p:nvPr>
            <p:ph idx="2" type="sldImg"/>
          </p:nvPr>
        </p:nvSpPr>
        <p:spPr>
          <a:xfrm>
            <a:off x="533520" y="764280"/>
            <a:ext cx="670464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6"/>
          <p:cNvSpPr txBox="1"/>
          <p:nvPr>
            <p:ph idx="10" type="dt"/>
          </p:nvPr>
        </p:nvSpPr>
        <p:spPr>
          <a:xfrm>
            <a:off x="1676400" y="6440369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A picture containing text, sign&#10;&#10;Description automatically generated" id="22" name="Google Shape;22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259640"/>
            <a:ext cx="1477819" cy="5569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9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"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0" type="dt"/>
          </p:nvPr>
        </p:nvSpPr>
        <p:spPr>
          <a:xfrm>
            <a:off x="1676400" y="6440369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A picture containing text, sign&#10;&#10;Description automatically generated" id="27" name="Google Shape;27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259640"/>
            <a:ext cx="1477819" cy="5569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0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0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0" type="dt"/>
          </p:nvPr>
        </p:nvSpPr>
        <p:spPr>
          <a:xfrm>
            <a:off x="1676400" y="6440369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A picture containing text, sign&#10;&#10;Description automatically generated" id="32" name="Google Shape;3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259640"/>
            <a:ext cx="1477819" cy="5569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1676400" y="6440369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A picture containing text, sign&#10;&#10;Description automatically generated" id="38" name="Google Shape;3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259640"/>
            <a:ext cx="1477819" cy="5569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2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2"/>
          <p:cNvSpPr txBox="1"/>
          <p:nvPr>
            <p:ph idx="10" type="dt"/>
          </p:nvPr>
        </p:nvSpPr>
        <p:spPr>
          <a:xfrm>
            <a:off x="1676400" y="6440369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A picture containing text, sign&#10;&#10;Description automatically generated" id="42" name="Google Shape;42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259640"/>
            <a:ext cx="1477819" cy="5569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3"/>
          <p:cNvSpPr txBox="1"/>
          <p:nvPr>
            <p:ph idx="1"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3"/>
          <p:cNvSpPr txBox="1"/>
          <p:nvPr>
            <p:ph idx="10" type="dt"/>
          </p:nvPr>
        </p:nvSpPr>
        <p:spPr>
          <a:xfrm>
            <a:off x="1676400" y="6440369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A picture containing text, sign&#10;&#10;Description automatically generated" id="46" name="Google Shape;46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259640"/>
            <a:ext cx="1477819" cy="5569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4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4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4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0" type="dt"/>
          </p:nvPr>
        </p:nvSpPr>
        <p:spPr>
          <a:xfrm>
            <a:off x="1676400" y="6440369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A picture containing text, sign&#10;&#10;Description automatically generated" id="53" name="Google Shape;53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259640"/>
            <a:ext cx="1477819" cy="5569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25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25"/>
          <p:cNvSpPr txBox="1"/>
          <p:nvPr>
            <p:ph idx="3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0" type="dt"/>
          </p:nvPr>
        </p:nvSpPr>
        <p:spPr>
          <a:xfrm>
            <a:off x="1676400" y="6440369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A picture containing text, sign&#10;&#10;Description automatically generated" id="60" name="Google Shape;60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259640"/>
            <a:ext cx="1477819" cy="5569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26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26"/>
          <p:cNvSpPr txBox="1"/>
          <p:nvPr>
            <p:ph idx="3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0" type="dt"/>
          </p:nvPr>
        </p:nvSpPr>
        <p:spPr>
          <a:xfrm>
            <a:off x="1676400" y="6440369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A picture containing text, sign&#10;&#10;Description automatically generated" id="67" name="Google Shape;67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259640"/>
            <a:ext cx="1477819" cy="5569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"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2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0" type="dt"/>
          </p:nvPr>
        </p:nvSpPr>
        <p:spPr>
          <a:xfrm>
            <a:off x="1676400" y="6440369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A picture containing text, sign&#10;&#10;Description automatically generated" id="73" name="Google Shape;7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259640"/>
            <a:ext cx="1477819" cy="5569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4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9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9"/>
          <p:cNvSpPr txBox="1"/>
          <p:nvPr>
            <p:ph idx="1"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29"/>
          <p:cNvSpPr txBox="1"/>
          <p:nvPr>
            <p:ph idx="2"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29"/>
          <p:cNvSpPr txBox="1"/>
          <p:nvPr>
            <p:ph idx="3"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29"/>
          <p:cNvSpPr txBox="1"/>
          <p:nvPr>
            <p:ph idx="4"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29"/>
          <p:cNvSpPr txBox="1"/>
          <p:nvPr>
            <p:ph idx="5"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29"/>
          <p:cNvSpPr txBox="1"/>
          <p:nvPr>
            <p:ph idx="6"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29"/>
          <p:cNvSpPr txBox="1"/>
          <p:nvPr>
            <p:ph idx="10" type="dt"/>
          </p:nvPr>
        </p:nvSpPr>
        <p:spPr>
          <a:xfrm>
            <a:off x="1676400" y="6440369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A picture containing text, sign&#10;&#10;Description automatically generated" id="89" name="Google Shape;89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259640"/>
            <a:ext cx="1477819" cy="5569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"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18"/>
          <p:cNvSpPr txBox="1"/>
          <p:nvPr>
            <p:ph idx="10" type="dt"/>
          </p:nvPr>
        </p:nvSpPr>
        <p:spPr>
          <a:xfrm>
            <a:off x="1676400" y="6440369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A picture containing text, sign&#10;&#10;Description automatically generated" id="102" name="Google Shape;102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259640"/>
            <a:ext cx="1477819" cy="5569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0"/>
          <p:cNvSpPr txBox="1"/>
          <p:nvPr>
            <p:ph idx="10" type="dt"/>
          </p:nvPr>
        </p:nvSpPr>
        <p:spPr>
          <a:xfrm>
            <a:off x="1676400" y="6440369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A picture containing text, sign&#10;&#10;Description automatically generated" id="105" name="Google Shape;105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259640"/>
            <a:ext cx="1477819" cy="5569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1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31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31"/>
          <p:cNvSpPr txBox="1"/>
          <p:nvPr>
            <p:ph idx="10" type="dt"/>
          </p:nvPr>
        </p:nvSpPr>
        <p:spPr>
          <a:xfrm>
            <a:off x="1676400" y="6440369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A picture containing text, sign&#10;&#10;Description automatically generated" id="110" name="Google Shape;110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259640"/>
            <a:ext cx="1477819" cy="5569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2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32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32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32"/>
          <p:cNvSpPr txBox="1"/>
          <p:nvPr>
            <p:ph idx="10" type="dt"/>
          </p:nvPr>
        </p:nvSpPr>
        <p:spPr>
          <a:xfrm>
            <a:off x="1676400" y="6440369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A picture containing text, sign&#10;&#10;Description automatically generated" id="116" name="Google Shape;116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259640"/>
            <a:ext cx="1477819" cy="5569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3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33"/>
          <p:cNvSpPr txBox="1"/>
          <p:nvPr>
            <p:ph idx="10" type="dt"/>
          </p:nvPr>
        </p:nvSpPr>
        <p:spPr>
          <a:xfrm>
            <a:off x="1676400" y="6440369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A picture containing text, sign&#10;&#10;Description automatically generated" id="120" name="Google Shape;120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259640"/>
            <a:ext cx="1477819" cy="5569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4"/>
          <p:cNvSpPr txBox="1"/>
          <p:nvPr>
            <p:ph idx="1"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34"/>
          <p:cNvSpPr txBox="1"/>
          <p:nvPr>
            <p:ph idx="10" type="dt"/>
          </p:nvPr>
        </p:nvSpPr>
        <p:spPr>
          <a:xfrm>
            <a:off x="1676400" y="6440369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A picture containing text, sign&#10;&#10;Description automatically generated" id="124" name="Google Shape;124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259640"/>
            <a:ext cx="1477819" cy="5569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5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35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35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9" name="Google Shape;129;p35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35"/>
          <p:cNvSpPr txBox="1"/>
          <p:nvPr>
            <p:ph idx="10" type="dt"/>
          </p:nvPr>
        </p:nvSpPr>
        <p:spPr>
          <a:xfrm>
            <a:off x="1676400" y="6440369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A picture containing text, sign&#10;&#10;Description automatically generated" id="131" name="Google Shape;13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259640"/>
            <a:ext cx="1477819" cy="5569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6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36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5" name="Google Shape;135;p36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6" name="Google Shape;136;p36"/>
          <p:cNvSpPr txBox="1"/>
          <p:nvPr>
            <p:ph idx="3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7" name="Google Shape;137;p36"/>
          <p:cNvSpPr txBox="1"/>
          <p:nvPr>
            <p:ph idx="10" type="dt"/>
          </p:nvPr>
        </p:nvSpPr>
        <p:spPr>
          <a:xfrm>
            <a:off x="1676400" y="6440369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A picture containing text, sign&#10;&#10;Description automatically generated" id="138" name="Google Shape;138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259640"/>
            <a:ext cx="1477819" cy="5569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7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37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2" name="Google Shape;142;p37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3" name="Google Shape;143;p37"/>
          <p:cNvSpPr txBox="1"/>
          <p:nvPr>
            <p:ph idx="3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4" name="Google Shape;144;p37"/>
          <p:cNvSpPr txBox="1"/>
          <p:nvPr>
            <p:ph idx="10" type="dt"/>
          </p:nvPr>
        </p:nvSpPr>
        <p:spPr>
          <a:xfrm>
            <a:off x="1676400" y="6440369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A picture containing text, sign&#10;&#10;Description automatically generated" id="145" name="Google Shape;145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259640"/>
            <a:ext cx="1477819" cy="5569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8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38"/>
          <p:cNvSpPr txBox="1"/>
          <p:nvPr>
            <p:ph idx="1"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9" name="Google Shape;149;p38"/>
          <p:cNvSpPr txBox="1"/>
          <p:nvPr>
            <p:ph idx="2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9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39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3" name="Google Shape;153;p39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4" name="Google Shape;154;p39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5" name="Google Shape;155;p39"/>
          <p:cNvSpPr txBox="1"/>
          <p:nvPr>
            <p:ph idx="4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6" name="Google Shape;156;p39"/>
          <p:cNvSpPr txBox="1"/>
          <p:nvPr>
            <p:ph idx="10" type="dt"/>
          </p:nvPr>
        </p:nvSpPr>
        <p:spPr>
          <a:xfrm>
            <a:off x="1676400" y="6440369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A picture containing text, sign&#10;&#10;Description automatically generated" id="157" name="Google Shape;157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259640"/>
            <a:ext cx="1477819" cy="5569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0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40"/>
          <p:cNvSpPr txBox="1"/>
          <p:nvPr>
            <p:ph idx="1"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1" name="Google Shape;161;p40"/>
          <p:cNvSpPr txBox="1"/>
          <p:nvPr>
            <p:ph idx="2"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2" name="Google Shape;162;p40"/>
          <p:cNvSpPr txBox="1"/>
          <p:nvPr>
            <p:ph idx="3"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3" name="Google Shape;163;p40"/>
          <p:cNvSpPr txBox="1"/>
          <p:nvPr>
            <p:ph idx="4"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40"/>
          <p:cNvSpPr txBox="1"/>
          <p:nvPr>
            <p:ph idx="5"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5" name="Google Shape;165;p40"/>
          <p:cNvSpPr txBox="1"/>
          <p:nvPr>
            <p:ph idx="6"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6" name="Google Shape;166;p40"/>
          <p:cNvSpPr txBox="1"/>
          <p:nvPr>
            <p:ph idx="10" type="dt"/>
          </p:nvPr>
        </p:nvSpPr>
        <p:spPr>
          <a:xfrm>
            <a:off x="1676400" y="6440369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A picture containing text, sign&#10;&#10;Description automatically generated" id="167" name="Google Shape;167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259640"/>
            <a:ext cx="1477819" cy="5569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7.xml"/><Relationship Id="rId10" Type="http://schemas.openxmlformats.org/officeDocument/2006/relationships/slideLayout" Target="../slideLayouts/slideLayout6.xml"/><Relationship Id="rId13" Type="http://schemas.openxmlformats.org/officeDocument/2006/relationships/slideLayout" Target="../slideLayouts/slideLayout9.xml"/><Relationship Id="rId12" Type="http://schemas.openxmlformats.org/officeDocument/2006/relationships/slideLayout" Target="../slideLayouts/slideLayout8.xml"/><Relationship Id="rId1" Type="http://schemas.openxmlformats.org/officeDocument/2006/relationships/image" Target="../media/image2.jpg"/><Relationship Id="rId2" Type="http://schemas.openxmlformats.org/officeDocument/2006/relationships/image" Target="../media/image6.jpg"/><Relationship Id="rId3" Type="http://schemas.openxmlformats.org/officeDocument/2006/relationships/image" Target="../media/image1.jpg"/><Relationship Id="rId4" Type="http://schemas.openxmlformats.org/officeDocument/2006/relationships/image" Target="../media/image4.png"/><Relationship Id="rId9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0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.xml"/><Relationship Id="rId6" Type="http://schemas.openxmlformats.org/officeDocument/2006/relationships/slideLayout" Target="../slideLayouts/slideLayout2.xml"/><Relationship Id="rId7" Type="http://schemas.openxmlformats.org/officeDocument/2006/relationships/slideLayout" Target="../slideLayouts/slideLayout3.xml"/><Relationship Id="rId8" Type="http://schemas.openxmlformats.org/officeDocument/2006/relationships/slideLayout" Target="../slideLayouts/slideLayout4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2.jp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6858000" y="153360"/>
            <a:ext cx="1893600" cy="5925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" name="Google Shape;11;p15"/>
          <p:cNvCxnSpPr/>
          <p:nvPr/>
        </p:nvCxnSpPr>
        <p:spPr>
          <a:xfrm>
            <a:off x="0" y="6176880"/>
            <a:ext cx="9144000" cy="360"/>
          </a:xfrm>
          <a:prstGeom prst="straightConnector1">
            <a:avLst/>
          </a:prstGeom>
          <a:noFill/>
          <a:ln cap="flat" cmpd="sng" w="763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2" name="Google Shape;12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7200"/>
            <a:ext cx="4493160" cy="1252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4280" y="14400"/>
            <a:ext cx="4236480" cy="123084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5"/>
          <p:cNvSpPr/>
          <p:nvPr/>
        </p:nvSpPr>
        <p:spPr>
          <a:xfrm>
            <a:off x="4495680" y="0"/>
            <a:ext cx="226080" cy="12448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5"/>
          <p:cNvSpPr/>
          <p:nvPr/>
        </p:nvSpPr>
        <p:spPr>
          <a:xfrm>
            <a:off x="6812640" y="6310440"/>
            <a:ext cx="2055240" cy="36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5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15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1676400" y="6440369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A picture containing text, sign&#10;&#10;Description automatically generated" id="19" name="Google Shape;1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6259640"/>
            <a:ext cx="1477819" cy="55696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  <p:sldLayoutId id="2147483660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6858000" y="153360"/>
            <a:ext cx="1893600" cy="5925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" name="Google Shape;92;p17"/>
          <p:cNvCxnSpPr/>
          <p:nvPr/>
        </p:nvCxnSpPr>
        <p:spPr>
          <a:xfrm>
            <a:off x="0" y="6176880"/>
            <a:ext cx="9144000" cy="360"/>
          </a:xfrm>
          <a:prstGeom prst="straightConnector1">
            <a:avLst/>
          </a:prstGeom>
          <a:noFill/>
          <a:ln cap="flat" cmpd="sng" w="763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" name="Google Shape;93;p17"/>
          <p:cNvSpPr/>
          <p:nvPr/>
        </p:nvSpPr>
        <p:spPr>
          <a:xfrm>
            <a:off x="6721200" y="6319080"/>
            <a:ext cx="2055240" cy="36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7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5" name="Google Shape;95;p17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6" name="Google Shape;96;p17"/>
          <p:cNvSpPr txBox="1"/>
          <p:nvPr>
            <p:ph idx="10" type="dt"/>
          </p:nvPr>
        </p:nvSpPr>
        <p:spPr>
          <a:xfrm>
            <a:off x="1676400" y="6440369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A picture containing text, sign&#10;&#10;Description automatically generated" id="97" name="Google Shape;97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259640"/>
            <a:ext cx="1477819" cy="55696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creativecommons.org/licenses/by-nc/4.0/" TargetMode="External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"/>
          <p:cNvSpPr/>
          <p:nvPr/>
        </p:nvSpPr>
        <p:spPr>
          <a:xfrm>
            <a:off x="1005840" y="914400"/>
            <a:ext cx="7313760" cy="2385720"/>
          </a:xfrm>
          <a:prstGeom prst="rect">
            <a:avLst/>
          </a:prstGeom>
          <a:noFill/>
          <a:ln>
            <a:noFill/>
          </a:ln>
        </p:spPr>
        <p:txBody>
          <a:bodyPr anchorCtr="0" anchor="b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Linux Clusters Institute: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Intro to Networking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"/>
          <p:cNvSpPr/>
          <p:nvPr/>
        </p:nvSpPr>
        <p:spPr>
          <a:xfrm>
            <a:off x="1097640" y="3831120"/>
            <a:ext cx="6856200" cy="1653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Kyle Hutson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(former) HPC System Administrator / Kansas State University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Systems Engineer / KanREN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751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"/>
          <p:cNvSpPr txBox="1"/>
          <p:nvPr/>
        </p:nvSpPr>
        <p:spPr>
          <a:xfrm>
            <a:off x="292947" y="5819753"/>
            <a:ext cx="8686800" cy="196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document is a result of work by volunteer LCI instructors and is licensed under CC BY-NC 4.0 (</a:t>
            </a:r>
            <a:r>
              <a:rPr b="0" i="0" lang="en-US" sz="11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https://creativecommons.org/licenses/by-nc/4.0/</a:t>
            </a: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"/>
          <p:cNvSpPr txBox="1"/>
          <p:nvPr>
            <p:ph idx="10" type="dt"/>
          </p:nvPr>
        </p:nvSpPr>
        <p:spPr>
          <a:xfrm>
            <a:off x="1676400" y="6440369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/>
              <a:t>May 2023</a:t>
            </a:r>
            <a:endParaRPr/>
          </a:p>
        </p:txBody>
      </p:sp>
      <p:pic>
        <p:nvPicPr>
          <p:cNvPr descr="A picture containing text, sign&#10;&#10;Description automatically generated" id="177" name="Google Shape;17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6259640"/>
            <a:ext cx="1477819" cy="5569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Background Survey</a:t>
            </a:r>
            <a:endParaRPr/>
          </a:p>
        </p:txBody>
      </p:sp>
      <p:sp>
        <p:nvSpPr>
          <p:cNvPr id="183" name="Google Shape;183;p2"/>
          <p:cNvSpPr/>
          <p:nvPr/>
        </p:nvSpPr>
        <p:spPr>
          <a:xfrm>
            <a:off x="457200" y="1418400"/>
            <a:ext cx="8229240" cy="37548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03200" lvl="0" marL="17136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Familiarity with…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1" marL="514440" marR="0" rtl="0" algn="l">
              <a:spcBef>
                <a:spcPts val="374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Infiniband/OmniPath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1" marL="514440" marR="0" rtl="0" algn="l">
              <a:spcBef>
                <a:spcPts val="374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Ethernet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1" marL="514440" marR="0" rtl="0" algn="l">
              <a:spcBef>
                <a:spcPts val="374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TCP/IP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1" marL="514440" marR="0" rtl="0" algn="l">
              <a:spcBef>
                <a:spcPts val="374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Switches and routers</a:t>
            </a:r>
            <a:endParaRPr/>
          </a:p>
          <a:p>
            <a:pPr indent="-177800" lvl="1" marL="514440" marR="0" rtl="0" algn="l">
              <a:spcBef>
                <a:spcPts val="374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Firewalls</a:t>
            </a:r>
            <a:endParaRPr/>
          </a:p>
          <a:p>
            <a:pPr indent="-177800" lvl="1" marL="514440" marR="0" rtl="0" algn="l">
              <a:spcBef>
                <a:spcPts val="374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VLANs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"/>
          <p:cNvSpPr txBox="1"/>
          <p:nvPr>
            <p:ph idx="10" type="dt"/>
          </p:nvPr>
        </p:nvSpPr>
        <p:spPr>
          <a:xfrm>
            <a:off x="1676400" y="6440369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/>
              <a:t>May 2023</a:t>
            </a:r>
            <a:endParaRPr/>
          </a:p>
        </p:txBody>
      </p:sp>
      <p:pic>
        <p:nvPicPr>
          <p:cNvPr descr="A picture containing text, sign&#10;&#10;Description automatically generated" id="185" name="Google Shape;18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259640"/>
            <a:ext cx="1477819" cy="5569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191" name="Google Shape;191;p3"/>
          <p:cNvSpPr/>
          <p:nvPr/>
        </p:nvSpPr>
        <p:spPr>
          <a:xfrm>
            <a:off x="457200" y="1418400"/>
            <a:ext cx="8229240" cy="2369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03200" lvl="0" marL="17136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 technologies</a:t>
            </a:r>
            <a:endParaRPr/>
          </a:p>
          <a:p>
            <a:pPr indent="-203200" lvl="0" marL="171360" marR="0" rtl="0" algn="l">
              <a:spcBef>
                <a:spcPts val="374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OSI model</a:t>
            </a:r>
            <a:endParaRPr/>
          </a:p>
          <a:p>
            <a:pPr indent="-177800" lvl="0" marL="171360" marR="0" rtl="0" algn="l">
              <a:spcBef>
                <a:spcPts val="374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does data get forwarded in a network</a:t>
            </a:r>
            <a:endParaRPr/>
          </a:p>
          <a:p>
            <a:pPr indent="-177800" lvl="0" marL="171360" marR="0" rtl="0" algn="l">
              <a:spcBef>
                <a:spcPts val="374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Considerations for HPC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3"/>
          <p:cNvSpPr txBox="1"/>
          <p:nvPr>
            <p:ph idx="10" type="dt"/>
          </p:nvPr>
        </p:nvSpPr>
        <p:spPr>
          <a:xfrm>
            <a:off x="1676400" y="6440369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/>
              <a:t>May 2023</a:t>
            </a:r>
            <a:endParaRPr/>
          </a:p>
        </p:txBody>
      </p:sp>
      <p:pic>
        <p:nvPicPr>
          <p:cNvPr descr="A picture containing text, sign&#10;&#10;Description automatically generated" id="193" name="Google Shape;19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259640"/>
            <a:ext cx="1477819" cy="5569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/>
              <a:t>Infiniband / OmniPath</a:t>
            </a:r>
            <a:endParaRPr sz="3600"/>
          </a:p>
        </p:txBody>
      </p:sp>
      <p:sp>
        <p:nvSpPr>
          <p:cNvPr id="199" name="Google Shape;199;p4"/>
          <p:cNvSpPr txBox="1"/>
          <p:nvPr/>
        </p:nvSpPr>
        <p:spPr>
          <a:xfrm>
            <a:off x="457199" y="2003257"/>
            <a:ext cx="82292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4"/>
          <p:cNvSpPr txBox="1"/>
          <p:nvPr/>
        </p:nvSpPr>
        <p:spPr>
          <a:xfrm>
            <a:off x="457199" y="1412383"/>
            <a:ext cx="8229240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Common for interconnects of nodes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IB more popular than OPA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Switched fabrics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Direct memory access on remote hosts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Built on concept of subnets connected by routers, just like Ethernet</a:t>
            </a:r>
            <a:endParaRPr/>
          </a:p>
        </p:txBody>
      </p:sp>
      <p:sp>
        <p:nvSpPr>
          <p:cNvPr id="201" name="Google Shape;201;p4"/>
          <p:cNvSpPr txBox="1"/>
          <p:nvPr>
            <p:ph idx="10" type="dt"/>
          </p:nvPr>
        </p:nvSpPr>
        <p:spPr>
          <a:xfrm>
            <a:off x="1676400" y="6440369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/>
              <a:t>May 2023</a:t>
            </a:r>
            <a:endParaRPr/>
          </a:p>
        </p:txBody>
      </p:sp>
      <p:pic>
        <p:nvPicPr>
          <p:cNvPr descr="A picture containing text, sign&#10;&#10;Description automatically generated" id="202" name="Google Shape;20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259640"/>
            <a:ext cx="1477819" cy="5569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5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/>
              <a:t>Ethernet and TCP/IP</a:t>
            </a:r>
            <a:endParaRPr/>
          </a:p>
        </p:txBody>
      </p:sp>
      <p:sp>
        <p:nvSpPr>
          <p:cNvPr id="208" name="Google Shape;208;p5"/>
          <p:cNvSpPr txBox="1"/>
          <p:nvPr/>
        </p:nvSpPr>
        <p:spPr>
          <a:xfrm>
            <a:off x="457199" y="2003257"/>
            <a:ext cx="82292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5"/>
          <p:cNvSpPr txBox="1"/>
          <p:nvPr/>
        </p:nvSpPr>
        <p:spPr>
          <a:xfrm>
            <a:off x="457199" y="1412383"/>
            <a:ext cx="8229240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Node management (PXE, IPMI, etc)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Connection to external world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File share access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User access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Admin access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1"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Some</a:t>
            </a: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filesystems</a:t>
            </a:r>
            <a:endParaRPr/>
          </a:p>
        </p:txBody>
      </p:sp>
      <p:sp>
        <p:nvSpPr>
          <p:cNvPr id="210" name="Google Shape;210;p5"/>
          <p:cNvSpPr txBox="1"/>
          <p:nvPr>
            <p:ph idx="10" type="dt"/>
          </p:nvPr>
        </p:nvSpPr>
        <p:spPr>
          <a:xfrm>
            <a:off x="1676400" y="6440369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/>
              <a:t>May 2023</a:t>
            </a:r>
            <a:endParaRPr/>
          </a:p>
        </p:txBody>
      </p:sp>
      <p:pic>
        <p:nvPicPr>
          <p:cNvPr descr="A picture containing text, sign&#10;&#10;Description automatically generated" id="211" name="Google Shape;21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259640"/>
            <a:ext cx="1477819" cy="5569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6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/>
              <a:t>Snow White and the 7 Layers</a:t>
            </a:r>
            <a:endParaRPr/>
          </a:p>
        </p:txBody>
      </p:sp>
      <p:sp>
        <p:nvSpPr>
          <p:cNvPr id="217" name="Google Shape;217;p6"/>
          <p:cNvSpPr/>
          <p:nvPr/>
        </p:nvSpPr>
        <p:spPr>
          <a:xfrm>
            <a:off x="457200" y="1418400"/>
            <a:ext cx="8061158" cy="3847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8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Physical: cables, connectors</a:t>
            </a:r>
            <a:endParaRPr/>
          </a:p>
          <a:p>
            <a:pPr indent="0" lvl="0" marL="1800" marR="0" rtl="0" algn="l">
              <a:spcBef>
                <a:spcPts val="374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Data: local network (Ethernet: switches)</a:t>
            </a:r>
            <a:endParaRPr/>
          </a:p>
          <a:p>
            <a:pPr indent="0" lvl="0" marL="1800" marR="0" rtl="0" algn="l">
              <a:spcBef>
                <a:spcPts val="374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Network: between networks (IP: routers)</a:t>
            </a:r>
            <a:endParaRPr/>
          </a:p>
          <a:p>
            <a:pPr indent="0" lvl="0" marL="1800" marR="0" rtl="0" algn="l">
              <a:spcBef>
                <a:spcPts val="374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Transport: end-to-end connection (TCP, UDP)</a:t>
            </a:r>
            <a:endParaRPr/>
          </a:p>
          <a:p>
            <a:pPr indent="0" lvl="0" marL="1800" marR="0" rtl="0" algn="l">
              <a:spcBef>
                <a:spcPts val="374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Session</a:t>
            </a:r>
            <a:endParaRPr/>
          </a:p>
          <a:p>
            <a:pPr indent="0" lvl="0" marL="1800" marR="0" rtl="0" algn="l">
              <a:spcBef>
                <a:spcPts val="374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Presentation</a:t>
            </a:r>
            <a:endParaRPr/>
          </a:p>
          <a:p>
            <a:pPr indent="0" lvl="0" marL="1800" marR="0" rtl="0" algn="l">
              <a:spcBef>
                <a:spcPts val="374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Application</a:t>
            </a:r>
            <a:endParaRPr sz="18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6"/>
          <p:cNvSpPr txBox="1"/>
          <p:nvPr>
            <p:ph idx="10" type="dt"/>
          </p:nvPr>
        </p:nvSpPr>
        <p:spPr>
          <a:xfrm>
            <a:off x="1676400" y="6440369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/>
              <a:t>May 2023</a:t>
            </a:r>
            <a:endParaRPr/>
          </a:p>
        </p:txBody>
      </p:sp>
      <p:pic>
        <p:nvPicPr>
          <p:cNvPr descr="A picture containing text, sign&#10;&#10;Description automatically generated" id="219" name="Google Shape;21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259640"/>
            <a:ext cx="1477819" cy="5569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7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/>
              <a:t>Anatomy of a packet</a:t>
            </a:r>
            <a:endParaRPr/>
          </a:p>
        </p:txBody>
      </p:sp>
      <p:graphicFrame>
        <p:nvGraphicFramePr>
          <p:cNvPr id="225" name="Google Shape;225;p7"/>
          <p:cNvGraphicFramePr/>
          <p:nvPr/>
        </p:nvGraphicFramePr>
        <p:xfrm>
          <a:off x="457200" y="1397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{6618C940-A9F6-46DB-8FAC-450368218E59}</a:tableStyleId>
              </a:tblPr>
              <a:tblGrid>
                <a:gridCol w="794075"/>
                <a:gridCol w="854250"/>
                <a:gridCol w="637675"/>
                <a:gridCol w="830175"/>
                <a:gridCol w="878300"/>
                <a:gridCol w="685800"/>
                <a:gridCol w="782050"/>
                <a:gridCol w="649700"/>
                <a:gridCol w="2117200"/>
              </a:tblGrid>
              <a:tr h="37085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Layer 2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Layer 3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Layer 4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Payload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Src MAC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Dst MAC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Prot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Src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IP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Dst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IP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Prot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Src Port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Dst Port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Data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26" name="Google Shape;226;p7"/>
          <p:cNvSpPr txBox="1"/>
          <p:nvPr/>
        </p:nvSpPr>
        <p:spPr>
          <a:xfrm>
            <a:off x="457200" y="2827421"/>
            <a:ext cx="8229240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Packets in a network have headers for each layer, followed by a payload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layer consists of its own headers, and the rest of the packet</a:t>
            </a:r>
            <a:endParaRPr/>
          </a:p>
        </p:txBody>
      </p:sp>
      <p:sp>
        <p:nvSpPr>
          <p:cNvPr id="227" name="Google Shape;227;p7"/>
          <p:cNvSpPr txBox="1"/>
          <p:nvPr>
            <p:ph idx="10" type="dt"/>
          </p:nvPr>
        </p:nvSpPr>
        <p:spPr>
          <a:xfrm>
            <a:off x="1676400" y="6440369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/>
              <a:t>May 2023</a:t>
            </a:r>
            <a:endParaRPr/>
          </a:p>
        </p:txBody>
      </p:sp>
      <p:pic>
        <p:nvPicPr>
          <p:cNvPr descr="A picture containing text, sign&#10;&#10;Description automatically generated" id="228" name="Google Shape;22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259640"/>
            <a:ext cx="1477819" cy="5569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8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/>
              <a:t>Switches vs routers</a:t>
            </a:r>
            <a:endParaRPr/>
          </a:p>
        </p:txBody>
      </p:sp>
      <p:sp>
        <p:nvSpPr>
          <p:cNvPr id="234" name="Google Shape;234;p8"/>
          <p:cNvSpPr txBox="1"/>
          <p:nvPr/>
        </p:nvSpPr>
        <p:spPr>
          <a:xfrm>
            <a:off x="457200" y="1418400"/>
            <a:ext cx="8229240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Bridges forward at layer 2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Based on MAC addresses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units are called “frames”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Modern bridges are called switches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Routers forward at layer 3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Based on IP addresses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units are called “packets”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in doubt, route</a:t>
            </a:r>
            <a:endParaRPr/>
          </a:p>
        </p:txBody>
      </p:sp>
      <p:sp>
        <p:nvSpPr>
          <p:cNvPr id="235" name="Google Shape;235;p8"/>
          <p:cNvSpPr txBox="1"/>
          <p:nvPr>
            <p:ph idx="10" type="dt"/>
          </p:nvPr>
        </p:nvSpPr>
        <p:spPr>
          <a:xfrm>
            <a:off x="1676400" y="6440369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/>
              <a:t>May 2023</a:t>
            </a:r>
            <a:endParaRPr/>
          </a:p>
        </p:txBody>
      </p:sp>
      <p:pic>
        <p:nvPicPr>
          <p:cNvPr descr="A picture containing text, sign&#10;&#10;Description automatically generated" id="236" name="Google Shape;23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259640"/>
            <a:ext cx="1477819" cy="5569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9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/>
              <a:t>Forwarding at layer 2</a:t>
            </a:r>
            <a:endParaRPr/>
          </a:p>
        </p:txBody>
      </p:sp>
      <p:graphicFrame>
        <p:nvGraphicFramePr>
          <p:cNvPr id="242" name="Google Shape;242;p9"/>
          <p:cNvGraphicFramePr/>
          <p:nvPr/>
        </p:nvGraphicFramePr>
        <p:xfrm>
          <a:off x="457199" y="1397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{6618C940-A9F6-46DB-8FAC-450368218E59}</a:tableStyleId>
              </a:tblPr>
              <a:tblGrid>
                <a:gridCol w="1645850"/>
                <a:gridCol w="1645850"/>
                <a:gridCol w="1645850"/>
                <a:gridCol w="1645850"/>
                <a:gridCol w="16458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Src MAC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dk1"/>
                          </a:solidFill>
                        </a:rPr>
                        <a:t>Dst MAC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chemeClr val="lt1"/>
                          </a:solidFill>
                        </a:rPr>
                        <a:t>Src IP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chemeClr val="lt1"/>
                          </a:solidFill>
                        </a:rPr>
                        <a:t>Dst IP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/>
                        <a:t>Payload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43" name="Google Shape;243;p9"/>
          <p:cNvSpPr txBox="1"/>
          <p:nvPr/>
        </p:nvSpPr>
        <p:spPr>
          <a:xfrm>
            <a:off x="457199" y="1975317"/>
            <a:ext cx="8229240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Within a local network, layer 2 forwarding is used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 this layer, MAC addresses are used to address devices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Source MAC is the address of the sender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Destination MAC is either the true destination, or next hop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ARP (or IPv6 ND) resolves IPs to MAC addresses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Switches build tables that let them map MAC addresses to ports</a:t>
            </a:r>
            <a:endParaRPr/>
          </a:p>
        </p:txBody>
      </p:sp>
      <p:sp>
        <p:nvSpPr>
          <p:cNvPr id="244" name="Google Shape;244;p9"/>
          <p:cNvSpPr txBox="1"/>
          <p:nvPr/>
        </p:nvSpPr>
        <p:spPr>
          <a:xfrm>
            <a:off x="216568" y="98658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9"/>
          <p:cNvSpPr txBox="1"/>
          <p:nvPr>
            <p:ph idx="10" type="dt"/>
          </p:nvPr>
        </p:nvSpPr>
        <p:spPr>
          <a:xfrm>
            <a:off x="1676400" y="6440369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/>
              <a:t>May 2023</a:t>
            </a:r>
            <a:endParaRPr/>
          </a:p>
        </p:txBody>
      </p:sp>
      <p:pic>
        <p:nvPicPr>
          <p:cNvPr descr="A picture containing text, sign&#10;&#10;Description automatically generated" id="246" name="Google Shape;24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259640"/>
            <a:ext cx="1477819" cy="5569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0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/>
              <a:t>Forwarding at layer 3</a:t>
            </a:r>
            <a:endParaRPr/>
          </a:p>
        </p:txBody>
      </p:sp>
      <p:graphicFrame>
        <p:nvGraphicFramePr>
          <p:cNvPr id="252" name="Google Shape;252;p10"/>
          <p:cNvGraphicFramePr/>
          <p:nvPr/>
        </p:nvGraphicFramePr>
        <p:xfrm>
          <a:off x="457199" y="1397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{6618C940-A9F6-46DB-8FAC-450368218E59}</a:tableStyleId>
              </a:tblPr>
              <a:tblGrid>
                <a:gridCol w="1645850"/>
                <a:gridCol w="1645850"/>
                <a:gridCol w="1645850"/>
                <a:gridCol w="1645850"/>
                <a:gridCol w="16458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/>
                        <a:t>Src MAC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/>
                        <a:t>Dst MAC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Src IP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Dst IP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/>
                        <a:t>Payload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53" name="Google Shape;253;p10"/>
          <p:cNvSpPr txBox="1"/>
          <p:nvPr/>
        </p:nvSpPr>
        <p:spPr>
          <a:xfrm>
            <a:off x="457199" y="2003257"/>
            <a:ext cx="82292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0"/>
          <p:cNvSpPr txBox="1"/>
          <p:nvPr/>
        </p:nvSpPr>
        <p:spPr>
          <a:xfrm>
            <a:off x="457199" y="1975317"/>
            <a:ext cx="8229240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Between networks, layer 3 forwarding is used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 this layer, IP addresses are used to address devices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Source and destination IPs remain unchanged over lifetime of packet (unless NAT is in play)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Routers build tables that let them map IP prefixes to next hops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Source and destination MAC addresses get rewritten all the time as a packet makes its way through networks</a:t>
            </a:r>
            <a:endParaRPr/>
          </a:p>
        </p:txBody>
      </p:sp>
      <p:sp>
        <p:nvSpPr>
          <p:cNvPr id="255" name="Google Shape;255;p10"/>
          <p:cNvSpPr txBox="1"/>
          <p:nvPr>
            <p:ph idx="10" type="dt"/>
          </p:nvPr>
        </p:nvSpPr>
        <p:spPr>
          <a:xfrm>
            <a:off x="1676400" y="6440369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/>
              <a:t>May 2023</a:t>
            </a:r>
            <a:endParaRPr/>
          </a:p>
        </p:txBody>
      </p:sp>
      <p:pic>
        <p:nvPicPr>
          <p:cNvPr descr="A picture containing text, sign&#10;&#10;Description automatically generated" id="256" name="Google Shape;25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259640"/>
            <a:ext cx="1477819" cy="5569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1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/>
              <a:t>Examples</a:t>
            </a:r>
            <a:endParaRPr/>
          </a:p>
        </p:txBody>
      </p:sp>
      <p:sp>
        <p:nvSpPr>
          <p:cNvPr id="263" name="Google Shape;263;p11"/>
          <p:cNvSpPr txBox="1"/>
          <p:nvPr/>
        </p:nvSpPr>
        <p:spPr>
          <a:xfrm>
            <a:off x="457199" y="2003257"/>
            <a:ext cx="82292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hape&#10;&#10;Description automatically generated" id="264" name="Google Shape;26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2377" y="1418400"/>
            <a:ext cx="5331393" cy="4484432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1"/>
          <p:cNvSpPr txBox="1"/>
          <p:nvPr>
            <p:ph idx="10" type="dt"/>
          </p:nvPr>
        </p:nvSpPr>
        <p:spPr>
          <a:xfrm>
            <a:off x="1676400" y="6440369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/>
              <a:t>May 2023</a:t>
            </a:r>
            <a:endParaRPr/>
          </a:p>
        </p:txBody>
      </p:sp>
      <p:pic>
        <p:nvPicPr>
          <p:cNvPr descr="A picture containing text, sign&#10;&#10;Description automatically generated" id="266" name="Google Shape;26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6259640"/>
            <a:ext cx="1477819" cy="5569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2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/>
              <a:t>How about DNS</a:t>
            </a:r>
            <a:endParaRPr sz="3600"/>
          </a:p>
        </p:txBody>
      </p:sp>
      <p:sp>
        <p:nvSpPr>
          <p:cNvPr id="272" name="Google Shape;272;p12"/>
          <p:cNvSpPr txBox="1"/>
          <p:nvPr/>
        </p:nvSpPr>
        <p:spPr>
          <a:xfrm>
            <a:off x="457199" y="2003257"/>
            <a:ext cx="82292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2"/>
          <p:cNvSpPr txBox="1"/>
          <p:nvPr/>
        </p:nvSpPr>
        <p:spPr>
          <a:xfrm>
            <a:off x="457199" y="1412383"/>
            <a:ext cx="8229240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DNS resolves human readable names to IP addresses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That step happens</a:t>
            </a:r>
            <a:b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before an endpoint</a:t>
            </a:r>
            <a:b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puts together a packet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That’s it, really</a:t>
            </a:r>
            <a:endParaRPr/>
          </a:p>
        </p:txBody>
      </p:sp>
      <p:sp>
        <p:nvSpPr>
          <p:cNvPr id="274" name="Google Shape;274;p12"/>
          <p:cNvSpPr txBox="1"/>
          <p:nvPr>
            <p:ph idx="10" type="dt"/>
          </p:nvPr>
        </p:nvSpPr>
        <p:spPr>
          <a:xfrm>
            <a:off x="1676400" y="6440369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/>
              <a:t>May 2023</a:t>
            </a:r>
            <a:endParaRPr/>
          </a:p>
        </p:txBody>
      </p:sp>
      <p:pic>
        <p:nvPicPr>
          <p:cNvPr descr="A picture containing text, sign&#10;&#10;Description automatically generated" id="275" name="Google Shape;27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259640"/>
            <a:ext cx="1477819" cy="5569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ns haiku" id="276" name="Google Shape;27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52359" y="1939158"/>
            <a:ext cx="3063773" cy="39383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3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/>
              <a:t>Firewalls</a:t>
            </a:r>
            <a:endParaRPr/>
          </a:p>
        </p:txBody>
      </p:sp>
      <p:sp>
        <p:nvSpPr>
          <p:cNvPr id="282" name="Google Shape;282;p13"/>
          <p:cNvSpPr txBox="1"/>
          <p:nvPr/>
        </p:nvSpPr>
        <p:spPr>
          <a:xfrm>
            <a:off x="457199" y="2003257"/>
            <a:ext cx="82292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3"/>
          <p:cNvSpPr txBox="1"/>
          <p:nvPr/>
        </p:nvSpPr>
        <p:spPr>
          <a:xfrm>
            <a:off x="457199" y="1412383"/>
            <a:ext cx="8229240" cy="4401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 firewalls are routers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Switches and routers are made to never drop frames/packets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Firewalls usually have rule sets that tell them when to not drop packets with a default deny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Varying features on how to make drop decisions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”Packet filter”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“Layer 7” / ”Application firewall”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Firewalls are slow, comparatively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3"/>
          <p:cNvSpPr txBox="1"/>
          <p:nvPr>
            <p:ph idx="10" type="dt"/>
          </p:nvPr>
        </p:nvSpPr>
        <p:spPr>
          <a:xfrm>
            <a:off x="1676400" y="6440369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/>
              <a:t>May 2023</a:t>
            </a:r>
            <a:endParaRPr/>
          </a:p>
        </p:txBody>
      </p:sp>
      <p:pic>
        <p:nvPicPr>
          <p:cNvPr descr="A picture containing text, sign&#10;&#10;Description automatically generated" id="285" name="Google Shape;28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259640"/>
            <a:ext cx="1477819" cy="5569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4"/>
          <p:cNvSpPr txBox="1"/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/>
              <a:t>HPC network considerations</a:t>
            </a:r>
            <a:endParaRPr/>
          </a:p>
        </p:txBody>
      </p:sp>
      <p:sp>
        <p:nvSpPr>
          <p:cNvPr id="291" name="Google Shape;291;p14"/>
          <p:cNvSpPr txBox="1"/>
          <p:nvPr/>
        </p:nvSpPr>
        <p:spPr>
          <a:xfrm>
            <a:off x="457199" y="2003257"/>
            <a:ext cx="82292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4"/>
          <p:cNvSpPr txBox="1"/>
          <p:nvPr/>
        </p:nvSpPr>
        <p:spPr>
          <a:xfrm>
            <a:off x="457199" y="1412383"/>
            <a:ext cx="8229240" cy="4031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Speed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Latency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Bandwidth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Reliable delivery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Having to resend things is slow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Secure access to data as needed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Network zones, with firewalls between them</a:t>
            </a:r>
            <a:endParaRPr/>
          </a:p>
        </p:txBody>
      </p:sp>
      <p:sp>
        <p:nvSpPr>
          <p:cNvPr id="293" name="Google Shape;293;p14"/>
          <p:cNvSpPr txBox="1"/>
          <p:nvPr>
            <p:ph idx="10" type="dt"/>
          </p:nvPr>
        </p:nvSpPr>
        <p:spPr>
          <a:xfrm>
            <a:off x="1676400" y="6440369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/>
              <a:t>May 2023</a:t>
            </a:r>
            <a:endParaRPr/>
          </a:p>
        </p:txBody>
      </p:sp>
      <p:pic>
        <p:nvPicPr>
          <p:cNvPr descr="A picture containing text, sign&#10;&#10;Description automatically generated" id="294" name="Google Shape;2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259640"/>
            <a:ext cx="1477819" cy="5569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2014-06-26T20:22:13Z</dcterms:created>
  <dc:creator>Kandace Turner-Jones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16.0016</vt:lpwstr>
  </property>
  <property fmtid="{D5CDD505-2E9C-101B-9397-08002B2CF9AE}" pid="3" name="Company">
    <vt:lpwstr>Microsoft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1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2</vt:i4>
  </property>
</Properties>
</file>