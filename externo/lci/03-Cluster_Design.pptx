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Lst>
  <p:sldSz cy="6858000" cx="9144000"/>
  <p:notesSz cx="6858000" cy="92964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747775"/>
          </p15:clr>
        </p15:guide>
        <p15:guide id="2" pos="2880">
          <p15:clr>
            <a:srgbClr val="747775"/>
          </p15:clr>
        </p15:guide>
      </p15:sldGuideLst>
    </p:ext>
    <p:ext uri="GoogleSlidesCustomDataVersion2">
      <go:slidesCustomData xmlns:go="http://customooxmlschemas.google.com/" r:id="rId45" roundtripDataSignature="AMtx7mizfqT6xkxUh+Y1koDNB0HNWruO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E657F47-47D1-428B-B189-3E3B467AA6E8}">
  <a:tblStyle styleId="{7E657F47-47D1-428B-B189-3E3B467AA6E8}"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20" Type="http://schemas.openxmlformats.org/officeDocument/2006/relationships/slide" Target="slides/slide14.xml"/><Relationship Id="rId42" Type="http://schemas.openxmlformats.org/officeDocument/2006/relationships/slide" Target="slides/slide36.xml"/><Relationship Id="rId41" Type="http://schemas.openxmlformats.org/officeDocument/2006/relationships/slide" Target="slides/slide35.xml"/><Relationship Id="rId22" Type="http://schemas.openxmlformats.org/officeDocument/2006/relationships/slide" Target="slides/slide16.xml"/><Relationship Id="rId44" Type="http://schemas.openxmlformats.org/officeDocument/2006/relationships/slide" Target="slides/slide38.xml"/><Relationship Id="rId21" Type="http://schemas.openxmlformats.org/officeDocument/2006/relationships/slide" Target="slides/slide15.xml"/><Relationship Id="rId43" Type="http://schemas.openxmlformats.org/officeDocument/2006/relationships/slide" Target="slides/slide37.xml"/><Relationship Id="rId24" Type="http://schemas.openxmlformats.org/officeDocument/2006/relationships/slide" Target="slides/slide18.xml"/><Relationship Id="rId23" Type="http://schemas.openxmlformats.org/officeDocument/2006/relationships/slide" Target="slides/slide17.xml"/><Relationship Id="rId45" Type="http://customschemas.google.com/relationships/presentationmetadata" Target="meta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slide" Target="slides/slide23.xml"/><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slide" Target="slides/slide25.xml"/><Relationship Id="rId30" Type="http://schemas.openxmlformats.org/officeDocument/2006/relationships/slide" Target="slides/slide24.xml"/><Relationship Id="rId11" Type="http://schemas.openxmlformats.org/officeDocument/2006/relationships/slide" Target="slides/slide5.xml"/><Relationship Id="rId33" Type="http://schemas.openxmlformats.org/officeDocument/2006/relationships/slide" Target="slides/slide27.xml"/><Relationship Id="rId10" Type="http://schemas.openxmlformats.org/officeDocument/2006/relationships/slide" Target="slides/slide4.xml"/><Relationship Id="rId32" Type="http://schemas.openxmlformats.org/officeDocument/2006/relationships/slide" Target="slides/slide26.xml"/><Relationship Id="rId13" Type="http://schemas.openxmlformats.org/officeDocument/2006/relationships/slide" Target="slides/slide7.xml"/><Relationship Id="rId35" Type="http://schemas.openxmlformats.org/officeDocument/2006/relationships/slide" Target="slides/slide29.xml"/><Relationship Id="rId12" Type="http://schemas.openxmlformats.org/officeDocument/2006/relationships/slide" Target="slides/slide6.xml"/><Relationship Id="rId34" Type="http://schemas.openxmlformats.org/officeDocument/2006/relationships/slide" Target="slides/slide28.xml"/><Relationship Id="rId15" Type="http://schemas.openxmlformats.org/officeDocument/2006/relationships/slide" Target="slides/slide9.xml"/><Relationship Id="rId37" Type="http://schemas.openxmlformats.org/officeDocument/2006/relationships/slide" Target="slides/slide31.xml"/><Relationship Id="rId14" Type="http://schemas.openxmlformats.org/officeDocument/2006/relationships/slide" Target="slides/slide8.xml"/><Relationship Id="rId36" Type="http://schemas.openxmlformats.org/officeDocument/2006/relationships/slide" Target="slides/slide30.xml"/><Relationship Id="rId17" Type="http://schemas.openxmlformats.org/officeDocument/2006/relationships/slide" Target="slides/slide11.xml"/><Relationship Id="rId39" Type="http://schemas.openxmlformats.org/officeDocument/2006/relationships/slide" Target="slides/slide33.xml"/><Relationship Id="rId16" Type="http://schemas.openxmlformats.org/officeDocument/2006/relationships/slide" Target="slides/slide10.xml"/><Relationship Id="rId38" Type="http://schemas.openxmlformats.org/officeDocument/2006/relationships/slide" Target="slides/slide32.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533520" y="764280"/>
            <a:ext cx="6704640" cy="377136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 name="Google Shape;4;n"/>
          <p:cNvSpPr txBox="1"/>
          <p:nvPr>
            <p:ph idx="1" type="body"/>
          </p:nvPr>
        </p:nvSpPr>
        <p:spPr>
          <a:xfrm>
            <a:off x="777240" y="4777560"/>
            <a:ext cx="6217560" cy="4525920"/>
          </a:xfrm>
          <a:prstGeom prst="rect">
            <a:avLst/>
          </a:prstGeom>
          <a:noFill/>
          <a:ln>
            <a:noFill/>
          </a:ln>
        </p:spPr>
        <p:txBody>
          <a:bodyPr anchorCtr="0" anchor="t" bIns="0" lIns="0" spcFirstLastPara="1" rIns="0" wrap="square" tIns="0">
            <a:noAutofit/>
          </a:bodyPr>
          <a:lstStyle>
            <a:lvl1pPr indent="-228600" lvl="0" marL="457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indent="-228600" lvl="1" marL="914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indent="-228600" lvl="2" marL="1371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indent="-228600" lvl="3" marL="1828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indent="-228600" lvl="4" marL="22860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indent="-228600" lvl="5" marL="27432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indent="-228600" lvl="6" marL="32004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indent="-228600" lvl="7" marL="36576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indent="-228600" lvl="8" marL="411480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 name="Google Shape;5;n"/>
          <p:cNvSpPr txBox="1"/>
          <p:nvPr>
            <p:ph idx="3" type="hdr"/>
          </p:nvPr>
        </p:nvSpPr>
        <p:spPr>
          <a:xfrm>
            <a:off x="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 name="Google Shape;6;n"/>
          <p:cNvSpPr txBox="1"/>
          <p:nvPr>
            <p:ph idx="10" type="dt"/>
          </p:nvPr>
        </p:nvSpPr>
        <p:spPr>
          <a:xfrm>
            <a:off x="4399200" y="0"/>
            <a:ext cx="3372840" cy="502560"/>
          </a:xfrm>
          <a:prstGeom prst="rect">
            <a:avLst/>
          </a:prstGeom>
          <a:noFill/>
          <a:ln>
            <a:noFill/>
          </a:ln>
        </p:spPr>
        <p:txBody>
          <a:bodyPr anchorCtr="0" anchor="t"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 name="Google Shape;7;n"/>
          <p:cNvSpPr txBox="1"/>
          <p:nvPr>
            <p:ph idx="11" type="ftr"/>
          </p:nvPr>
        </p:nvSpPr>
        <p:spPr>
          <a:xfrm>
            <a:off x="0" y="9555480"/>
            <a:ext cx="3372840" cy="502560"/>
          </a:xfrm>
          <a:prstGeom prst="rect">
            <a:avLst/>
          </a:prstGeom>
          <a:noFill/>
          <a:ln>
            <a:noFill/>
          </a:ln>
        </p:spPr>
        <p:txBody>
          <a:bodyPr anchorCtr="0" anchor="b" bIns="0" lIns="0" spcFirstLastPara="1" rIns="0" wrap="square" tIns="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n"/>
          <p:cNvSpPr txBox="1"/>
          <p:nvPr>
            <p:ph idx="12" type="sldNum"/>
          </p:nvPr>
        </p:nvSpPr>
        <p:spPr>
          <a:xfrm>
            <a:off x="4399200" y="9555480"/>
            <a:ext cx="3372840" cy="502560"/>
          </a:xfrm>
          <a:prstGeom prst="rect">
            <a:avLst/>
          </a:prstGeom>
          <a:noFill/>
          <a:ln>
            <a:noFill/>
          </a:ln>
        </p:spPr>
        <p:txBody>
          <a:bodyPr anchorCtr="0" anchor="b" bIns="0" lIns="0" spcFirstLastPara="1" rIns="0" wrap="square" tIns="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US" sz="1400" u="none" cap="none" strike="noStrike">
                <a:solidFill>
                  <a:srgbClr val="000000"/>
                </a:solidFill>
                <a:latin typeface="Times New Roman"/>
                <a:ea typeface="Times New Roman"/>
                <a:cs typeface="Times New Roman"/>
                <a:sym typeface="Times New Roman"/>
              </a:rPr>
              <a:t>‹#›</a:t>
            </a:fld>
            <a:endParaRPr b="0" i="0" sz="1400" u="none" cap="none" strike="noStrike">
              <a:solidFill>
                <a:srgbClr val="000000"/>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1:notes"/>
          <p:cNvSpPr/>
          <p:nvPr/>
        </p:nvSpPr>
        <p:spPr>
          <a:xfrm>
            <a:off x="3886200" y="8831160"/>
            <a:ext cx="2966040" cy="459360"/>
          </a:xfrm>
          <a:prstGeom prst="rect">
            <a:avLst/>
          </a:prstGeom>
          <a:noFill/>
          <a:ln>
            <a:noFill/>
          </a:ln>
        </p:spPr>
        <p:txBody>
          <a:bodyPr anchorCtr="0" anchor="b" bIns="45000" lIns="90000" spcFirstLastPara="1" rIns="90000" wrap="square" tIns="450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Arial"/>
              <a:ea typeface="Arial"/>
              <a:cs typeface="Arial"/>
              <a:sym typeface="Arial"/>
            </a:endParaRPr>
          </a:p>
        </p:txBody>
      </p:sp>
      <p:sp>
        <p:nvSpPr>
          <p:cNvPr id="60" name="Google Shape;60;p1:notes"/>
          <p:cNvSpPr/>
          <p:nvPr>
            <p:ph idx="2" type="sldImg"/>
          </p:nvPr>
        </p:nvSpPr>
        <p:spPr>
          <a:xfrm>
            <a:off x="1106488" y="696913"/>
            <a:ext cx="4638675"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 name="Google Shape;61;p1:notes"/>
          <p:cNvSpPr txBox="1"/>
          <p:nvPr>
            <p:ph idx="1" type="body"/>
          </p:nvPr>
        </p:nvSpPr>
        <p:spPr>
          <a:xfrm>
            <a:off x="914400" y="4416480"/>
            <a:ext cx="5023440" cy="417744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b="0" sz="2000" strike="noStrike">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2372066ec9c_2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1" name="Google Shape;71;g2372066ec9c_2_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72" name="Google Shape;72;g2372066ec9c_2_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2:notes"/>
          <p:cNvSpPr/>
          <p:nvPr>
            <p:ph idx="2" type="sldImg"/>
          </p:nvPr>
        </p:nvSpPr>
        <p:spPr>
          <a:xfrm>
            <a:off x="1106488" y="696913"/>
            <a:ext cx="4638675" cy="3479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 name="Google Shape;78;p2:notes"/>
          <p:cNvSpPr txBox="1"/>
          <p:nvPr>
            <p:ph idx="1" type="body"/>
          </p:nvPr>
        </p:nvSpPr>
        <p:spPr>
          <a:xfrm>
            <a:off x="914400" y="4416480"/>
            <a:ext cx="5023440" cy="4177440"/>
          </a:xfrm>
          <a:prstGeom prst="rect">
            <a:avLst/>
          </a:prstGeom>
          <a:noFill/>
          <a:ln>
            <a:noFill/>
          </a:ln>
        </p:spPr>
        <p:txBody>
          <a:bodyPr anchorCtr="0" anchor="t" bIns="0" lIns="0" spcFirstLastPara="1" rIns="0" wrap="square" tIns="0">
            <a:noAutofit/>
          </a:bodyPr>
          <a:lstStyle/>
          <a:p>
            <a:pPr indent="-292100" lvl="0" marL="457200" rtl="0" algn="l">
              <a:lnSpc>
                <a:spcPct val="100000"/>
              </a:lnSpc>
              <a:spcBef>
                <a:spcPts val="0"/>
              </a:spcBef>
              <a:spcAft>
                <a:spcPts val="0"/>
              </a:spcAft>
              <a:buSzPts val="1000"/>
              <a:buAutoNum type="arabicPeriod"/>
            </a:pPr>
            <a:r>
              <a:rPr lang="en-US" sz="1000"/>
              <a:t>The architecture shown has been the standard for HPC clusters for about 20 years now - rackmount x86 servers based on COTS hardware connected with Infiniband, and a high-performance parallel filesystem.</a:t>
            </a:r>
            <a:endParaRPr sz="1000"/>
          </a:p>
          <a:p>
            <a:pPr indent="-292100" lvl="0" marL="457200" rtl="0" algn="l">
              <a:lnSpc>
                <a:spcPct val="100000"/>
              </a:lnSpc>
              <a:spcBef>
                <a:spcPts val="0"/>
              </a:spcBef>
              <a:spcAft>
                <a:spcPts val="0"/>
              </a:spcAft>
              <a:buSzPts val="1000"/>
              <a:buAutoNum type="arabicPeriod"/>
            </a:pPr>
            <a:r>
              <a:rPr lang="en-US" sz="1000"/>
              <a:t>The 3 networks shows are not either/or - each serves a separate purpose on a cluster.</a:t>
            </a:r>
            <a:endParaRPr sz="1000"/>
          </a:p>
          <a:p>
            <a:pPr indent="-292100" lvl="1" marL="914400" rtl="0" algn="l">
              <a:lnSpc>
                <a:spcPct val="100000"/>
              </a:lnSpc>
              <a:spcBef>
                <a:spcPts val="0"/>
              </a:spcBef>
              <a:spcAft>
                <a:spcPts val="0"/>
              </a:spcAft>
              <a:buSzPts val="1000"/>
              <a:buAutoNum type="alphaLcPeriod"/>
            </a:pPr>
            <a:r>
              <a:rPr lang="en-US" sz="1000"/>
              <a:t>The IB network provides the high-bandwidth, low-latency communications needed for parallel processes on different nodes</a:t>
            </a:r>
            <a:endParaRPr sz="1000"/>
          </a:p>
          <a:p>
            <a:pPr indent="-292100" lvl="1" marL="914400" rtl="0" algn="l">
              <a:lnSpc>
                <a:spcPct val="100000"/>
              </a:lnSpc>
              <a:spcBef>
                <a:spcPts val="0"/>
              </a:spcBef>
              <a:spcAft>
                <a:spcPts val="0"/>
              </a:spcAft>
              <a:buSzPts val="1000"/>
              <a:buAutoNum type="alphaLcPeriod"/>
            </a:pPr>
            <a:r>
              <a:rPr lang="en-US" sz="1000"/>
              <a:t>The private Ethernet network is sometimes referred to as the “management” network, since basic network services like DHCP/PXE/TFTP for provisioning, and Slurm, SSH, NTP, and mail during cluster operation. On more recent systems with newer IB cards that I’ve bought, those IB cards can do DHCP, etc., and IB speeds have gotten ridiculously high lately, so this network may not be needed much anymore. </a:t>
            </a:r>
            <a:endParaRPr sz="1000"/>
          </a:p>
          <a:p>
            <a:pPr indent="-292100" lvl="1" marL="914400" rtl="0" algn="l">
              <a:lnSpc>
                <a:spcPct val="100000"/>
              </a:lnSpc>
              <a:spcBef>
                <a:spcPts val="0"/>
              </a:spcBef>
              <a:spcAft>
                <a:spcPts val="0"/>
              </a:spcAft>
              <a:buSzPts val="1000"/>
              <a:buAutoNum type="alphaLcPeriod"/>
            </a:pPr>
            <a:r>
              <a:rPr lang="en-US" sz="1000"/>
              <a:t>The private IPMI network is for dedicated IPMI interfaces, like the higher-end iDRAC interfaces on Dell servers. Those interfaces are more reliable than shared ones, and allow you to watch the cluster boot, which shared IPMI interfaces cannot do. IPMI is needed for remote management, and to allow the scheduler to power-off/power-on nodes if you choose to use that feature. It’s also much easier and quicker to start a cluster after a shutdown with a some simple IPMI commands and shell scripting. </a:t>
            </a:r>
            <a:endParaRPr sz="1000"/>
          </a:p>
          <a:p>
            <a:pPr indent="-292100" lvl="1" marL="914400" rtl="0" algn="l">
              <a:lnSpc>
                <a:spcPct val="100000"/>
              </a:lnSpc>
              <a:spcBef>
                <a:spcPts val="0"/>
              </a:spcBef>
              <a:spcAft>
                <a:spcPts val="0"/>
              </a:spcAft>
              <a:buSzPts val="1000"/>
              <a:buAutoNum type="alphaLcPeriod"/>
            </a:pPr>
            <a:r>
              <a:rPr lang="en-US" sz="1000"/>
              <a:t>Notice that the master rnode’s own IPMI interface is accessible outside the cluster. This allows you to restart and access the master node, ad therefore the rest of the cluster, remotely after some kind of shutdown event. </a:t>
            </a:r>
            <a:endParaRPr sz="1000"/>
          </a:p>
          <a:p>
            <a:pPr indent="-292100" lvl="1" marL="914400" rtl="0" algn="l">
              <a:lnSpc>
                <a:spcPct val="100000"/>
              </a:lnSpc>
              <a:spcBef>
                <a:spcPts val="0"/>
              </a:spcBef>
              <a:spcAft>
                <a:spcPts val="0"/>
              </a:spcAft>
              <a:buSzPts val="1000"/>
              <a:buAutoNum type="alphaLcPeriod"/>
            </a:pPr>
            <a:r>
              <a:rPr lang="en-US" sz="1000"/>
              <a:t>The dotted line indicates the cluster’s security boundary. Nodes with network connections that cross that line need to have all the usual security measures you’d implement on non-compute nodes: iptables, SElinux, etc. On the nodes entirely within that boundary (the compute nodes), you don’t want to have those services enables, as they create overhead which can hurt performance.</a:t>
            </a:r>
            <a:endParaRPr sz="1000"/>
          </a:p>
        </p:txBody>
      </p:sp>
      <p:sp>
        <p:nvSpPr>
          <p:cNvPr id="79" name="Google Shape;79;p2:notes"/>
          <p:cNvSpPr/>
          <p:nvPr/>
        </p:nvSpPr>
        <p:spPr>
          <a:xfrm>
            <a:off x="3886200" y="8831160"/>
            <a:ext cx="2966040" cy="459360"/>
          </a:xfrm>
          <a:prstGeom prst="rect">
            <a:avLst/>
          </a:prstGeom>
          <a:noFill/>
          <a:ln>
            <a:noFill/>
          </a:ln>
        </p:spPr>
        <p:txBody>
          <a:bodyPr anchorCtr="0" anchor="b" bIns="45000" lIns="90000" spcFirstLastPara="1" rIns="90000" wrap="square" tIns="450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b="0" i="0" sz="1200" u="none" cap="none" strike="noStrike">
              <a:solidFill>
                <a:srgbClr val="000000"/>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238ec8bb9f9_0_3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g238ec8bb9f9_0_3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48" name="Google Shape;148;g238ec8bb9f9_0_3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g21d5f25ace6_0_1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5" name="Google Shape;155;g21d5f25ace6_0_1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000"/>
              <a:t>Your  login node hardware should be pretty robust to maximize uptime: redundant system disks, redundant power supplies, etc. It should also have the same processors and GPUs so that users can compile and test/debug code without having to wait for access to a compute node (within reason). </a:t>
            </a:r>
            <a:endParaRPr sz="1000"/>
          </a:p>
        </p:txBody>
      </p:sp>
      <p:sp>
        <p:nvSpPr>
          <p:cNvPr id="156" name="Google Shape;156;g21d5f25ace6_0_1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21d5f25ace6_0_2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3" name="Google Shape;163;g21d5f25ace6_0_2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000"/>
              <a:t>A data transfer node is needed  for 2 reasons: </a:t>
            </a:r>
            <a:endParaRPr sz="1000"/>
          </a:p>
          <a:p>
            <a:pPr indent="-292100" lvl="0" marL="457200" rtl="0" algn="l">
              <a:lnSpc>
                <a:spcPct val="100000"/>
              </a:lnSpc>
              <a:spcBef>
                <a:spcPts val="0"/>
              </a:spcBef>
              <a:spcAft>
                <a:spcPts val="0"/>
              </a:spcAft>
              <a:buSzPts val="1000"/>
              <a:buChar char="●"/>
            </a:pPr>
            <a:r>
              <a:rPr lang="en-US" sz="1000"/>
              <a:t>You don’t want users to do large file transfers to the login node, as it will impact responsiveness for other users</a:t>
            </a:r>
            <a:endParaRPr sz="1000"/>
          </a:p>
          <a:p>
            <a:pPr indent="-292100" lvl="0" marL="457200" rtl="0" algn="l">
              <a:lnSpc>
                <a:spcPct val="100000"/>
              </a:lnSpc>
              <a:spcBef>
                <a:spcPts val="0"/>
              </a:spcBef>
              <a:spcAft>
                <a:spcPts val="0"/>
              </a:spcAft>
              <a:buSzPts val="1000"/>
              <a:buChar char="●"/>
            </a:pPr>
            <a:r>
              <a:rPr lang="en-US" sz="1000"/>
              <a:t>Globus is a much faster way to move data than SSH/SCP</a:t>
            </a:r>
            <a:endParaRPr sz="1000"/>
          </a:p>
        </p:txBody>
      </p:sp>
      <p:sp>
        <p:nvSpPr>
          <p:cNvPr id="164" name="Google Shape;164;g21d5f25ace6_0_2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21d5f25ace6_0_3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1" name="Google Shape;171;g21d5f25ace6_0_3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72" name="Google Shape;172;g21d5f25ace6_0_3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g21d5f25ace6_0_4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9" name="Google Shape;179;g21d5f25ace6_0_4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180" name="Google Shape;180;g21d5f25ace6_0_4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21d5f25ace6_0_4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6" name="Google Shape;186;g21d5f25ace6_0_4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In this simple diagram, every node can connect to every other node, but none of them are connected right now. </a:t>
            </a:r>
            <a:endParaRPr/>
          </a:p>
        </p:txBody>
      </p:sp>
      <p:sp>
        <p:nvSpPr>
          <p:cNvPr id="187" name="Google Shape;187;g21d5f25ace6_0_4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g21d5f25ace6_0_19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84" name="Google Shape;284;g21d5f25ace6_0_19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We now have 3 communication pairs all talking to each other with no competition for bandwidth with the other pairs</a:t>
            </a:r>
            <a:endParaRPr/>
          </a:p>
          <a:p>
            <a:pPr indent="0" lvl="0" marL="0" rtl="0" algn="l">
              <a:lnSpc>
                <a:spcPct val="100000"/>
              </a:lnSpc>
              <a:spcBef>
                <a:spcPts val="0"/>
              </a:spcBef>
              <a:spcAft>
                <a:spcPts val="0"/>
              </a:spcAft>
              <a:buSzPts val="1400"/>
              <a:buNone/>
            </a:pPr>
            <a:r>
              <a:t/>
            </a:r>
            <a:endParaRPr/>
          </a:p>
        </p:txBody>
      </p:sp>
      <p:sp>
        <p:nvSpPr>
          <p:cNvPr id="285" name="Google Shape;285;g21d5f25ace6_0_19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9" name="Shape 379"/>
        <p:cNvGrpSpPr/>
        <p:nvPr/>
      </p:nvGrpSpPr>
      <p:grpSpPr>
        <a:xfrm>
          <a:off x="0" y="0"/>
          <a:ext cx="0" cy="0"/>
          <a:chOff x="0" y="0"/>
          <a:chExt cx="0" cy="0"/>
        </a:xfrm>
      </p:grpSpPr>
      <p:sp>
        <p:nvSpPr>
          <p:cNvPr id="380" name="Google Shape;380;g21d5f25ace6_0_40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1" name="Google Shape;381;g21d5f25ace6_0_40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382" name="Google Shape;382;g21d5f25ace6_0_40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6" name="Shape 386"/>
        <p:cNvGrpSpPr/>
        <p:nvPr/>
      </p:nvGrpSpPr>
      <p:grpSpPr>
        <a:xfrm>
          <a:off x="0" y="0"/>
          <a:ext cx="0" cy="0"/>
          <a:chOff x="0" y="0"/>
          <a:chExt cx="0" cy="0"/>
        </a:xfrm>
      </p:grpSpPr>
      <p:sp>
        <p:nvSpPr>
          <p:cNvPr id="387" name="Google Shape;387;g21d5f25ace6_0_41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8" name="Google Shape;388;g21d5f25ace6_0_41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Please excuse the different port counts on the switches. I was trying to keep the switches as small as possible while illustrating these concepts, and that’s how the math worked out. </a:t>
            </a:r>
            <a:endParaRPr/>
          </a:p>
          <a:p>
            <a:pPr indent="0" lvl="0" marL="0" rtl="0" algn="l">
              <a:lnSpc>
                <a:spcPct val="100000"/>
              </a:lnSpc>
              <a:spcBef>
                <a:spcPts val="0"/>
              </a:spcBef>
              <a:spcAft>
                <a:spcPts val="0"/>
              </a:spcAft>
              <a:buSzPts val="1400"/>
              <a:buNone/>
            </a:pPr>
            <a:r>
              <a:rPr lang="en-US"/>
              <a:t>A full fat-tree is also known as “non-blocking”. Whereas if you don’t have a full fat-tree layout, that’s known as oversubscription. </a:t>
            </a:r>
            <a:endParaRPr/>
          </a:p>
        </p:txBody>
      </p:sp>
      <p:sp>
        <p:nvSpPr>
          <p:cNvPr id="389" name="Google Shape;389;g21d5f25ace6_0_41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1" name="Shape 451"/>
        <p:cNvGrpSpPr/>
        <p:nvPr/>
      </p:nvGrpSpPr>
      <p:grpSpPr>
        <a:xfrm>
          <a:off x="0" y="0"/>
          <a:ext cx="0" cy="0"/>
          <a:chOff x="0" y="0"/>
          <a:chExt cx="0" cy="0"/>
        </a:xfrm>
      </p:grpSpPr>
      <p:sp>
        <p:nvSpPr>
          <p:cNvPr id="452" name="Google Shape;452;g2397adc27d3_1_117: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53" name="Google Shape;453;g2397adc27d3_1_117: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Fixed configuration switch are 1U top-of-rack style switches</a:t>
            </a:r>
            <a:endParaRPr/>
          </a:p>
          <a:p>
            <a:pPr indent="0" lvl="0" marL="0" rtl="0" algn="l">
              <a:lnSpc>
                <a:spcPct val="100000"/>
              </a:lnSpc>
              <a:spcBef>
                <a:spcPts val="0"/>
              </a:spcBef>
              <a:spcAft>
                <a:spcPts val="0"/>
              </a:spcAft>
              <a:buSzPts val="1400"/>
              <a:buNone/>
            </a:pPr>
            <a:r>
              <a:rPr lang="en-US"/>
              <a:t>Managed mean the subnet manager runs on the switch</a:t>
            </a:r>
            <a:endParaRPr/>
          </a:p>
          <a:p>
            <a:pPr indent="0" lvl="0" marL="0" rtl="0" algn="l">
              <a:lnSpc>
                <a:spcPct val="100000"/>
              </a:lnSpc>
              <a:spcBef>
                <a:spcPts val="0"/>
              </a:spcBef>
              <a:spcAft>
                <a:spcPts val="0"/>
              </a:spcAft>
              <a:buSzPts val="1400"/>
              <a:buNone/>
            </a:pPr>
            <a:r>
              <a:rPr lang="en-US"/>
              <a:t>Since IB switch bandwidth has far outpaced the speed of the PCIe bus. For example, HDR does 200 Gb/s and NDR does 400 Gb/s, but PCIe 3.0 only does about 100 gb/s. and PCIe 4 does only about 200 Gb/s, So you can now get splitter cables that split a single 200 Gb/s HDR port into 2x 100 Gb/s HDR ports referred to as HDR100, and for NDR there are 4-way splitter cables to turn a single 400 Gb/s NDR port into 4 100 Gb/s NDR100 ports. </a:t>
            </a:r>
            <a:endParaRPr/>
          </a:p>
          <a:p>
            <a:pPr indent="0" lvl="0" marL="0" rtl="0" algn="l">
              <a:lnSpc>
                <a:spcPct val="100000"/>
              </a:lnSpc>
              <a:spcBef>
                <a:spcPts val="0"/>
              </a:spcBef>
              <a:spcAft>
                <a:spcPts val="0"/>
              </a:spcAft>
              <a:buSzPts val="1400"/>
              <a:buNone/>
            </a:pPr>
            <a:r>
              <a:rPr lang="en-US"/>
              <a:t>To save money, copper can be used within a rack, and use AOC cables from the leaf switches to the core switches</a:t>
            </a:r>
            <a:endParaRPr/>
          </a:p>
          <a:p>
            <a:pPr indent="0" lvl="0" marL="0" rtl="0" algn="l">
              <a:lnSpc>
                <a:spcPct val="100000"/>
              </a:lnSpc>
              <a:spcBef>
                <a:spcPts val="0"/>
              </a:spcBef>
              <a:spcAft>
                <a:spcPts val="0"/>
              </a:spcAft>
              <a:buSzPts val="1400"/>
              <a:buNone/>
            </a:pPr>
            <a:r>
              <a:t/>
            </a:r>
            <a:endParaRPr/>
          </a:p>
        </p:txBody>
      </p:sp>
      <p:sp>
        <p:nvSpPr>
          <p:cNvPr id="454" name="Google Shape;454;g2397adc27d3_1_117: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2397adc27d3_1_123: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0" name="Google Shape;460;g2397adc27d3_1_123: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Modular director switches are expensive, but so are IB cables, so at a certain cluster size, it may be cheaper to go with a modular director switch than a bunch of core switches. </a:t>
            </a:r>
            <a:endParaRPr/>
          </a:p>
          <a:p>
            <a:pPr indent="0" lvl="0" marL="0" rtl="0" algn="l">
              <a:lnSpc>
                <a:spcPct val="100000"/>
              </a:lnSpc>
              <a:spcBef>
                <a:spcPts val="0"/>
              </a:spcBef>
              <a:spcAft>
                <a:spcPts val="0"/>
              </a:spcAft>
              <a:buSzPts val="1400"/>
              <a:buNone/>
            </a:pPr>
            <a:r>
              <a:rPr lang="en-US"/>
              <a:t>Fiber cables are great because they take up a lot less space in a the rack, and are more flexible and easier to run, but copper cables are much cheaper. </a:t>
            </a:r>
            <a:endParaRPr/>
          </a:p>
          <a:p>
            <a:pPr indent="0" lvl="0" marL="0" rtl="0" algn="l">
              <a:lnSpc>
                <a:spcPct val="100000"/>
              </a:lnSpc>
              <a:spcBef>
                <a:spcPts val="0"/>
              </a:spcBef>
              <a:spcAft>
                <a:spcPts val="0"/>
              </a:spcAft>
              <a:buSzPts val="1400"/>
              <a:buNone/>
            </a:pPr>
            <a:r>
              <a:rPr lang="en-US"/>
              <a:t>Non-blocking is desirable, but it can be expensive. Going with 2:1 oversubscription can provide significant savings with only a modest performance hit. Going to from 2:1 to 3:1 doesn’t provide much hardware savings, based on my experience. </a:t>
            </a:r>
            <a:endParaRPr/>
          </a:p>
        </p:txBody>
      </p:sp>
      <p:sp>
        <p:nvSpPr>
          <p:cNvPr id="461" name="Google Shape;461;g2397adc27d3_1_123: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5" name="Shape 465"/>
        <p:cNvGrpSpPr/>
        <p:nvPr/>
      </p:nvGrpSpPr>
      <p:grpSpPr>
        <a:xfrm>
          <a:off x="0" y="0"/>
          <a:ext cx="0" cy="0"/>
          <a:chOff x="0" y="0"/>
          <a:chExt cx="0" cy="0"/>
        </a:xfrm>
      </p:grpSpPr>
      <p:sp>
        <p:nvSpPr>
          <p:cNvPr id="466" name="Google Shape;466;g2397adc27d3_1_12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7" name="Google Shape;467;g2397adc27d3_1_12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68" name="Google Shape;468;g2397adc27d3_1_12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2" name="Shape 472"/>
        <p:cNvGrpSpPr/>
        <p:nvPr/>
      </p:nvGrpSpPr>
      <p:grpSpPr>
        <a:xfrm>
          <a:off x="0" y="0"/>
          <a:ext cx="0" cy="0"/>
          <a:chOff x="0" y="0"/>
          <a:chExt cx="0" cy="0"/>
        </a:xfrm>
      </p:grpSpPr>
      <p:sp>
        <p:nvSpPr>
          <p:cNvPr id="473" name="Google Shape;473;g23a26aacee0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74" name="Google Shape;474;g23a26aacee0_0_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75" name="Google Shape;475;g23a26aacee0_0_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3a26aacee0_0_1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1" name="Google Shape;481;g23a26aacee0_0_1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82" name="Google Shape;482;g23a26aacee0_0_1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397adc27d3_1_13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88" name="Google Shape;488;g2397adc27d3_1_13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89" name="Google Shape;489;g2397adc27d3_1_13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3" name="Shape 493"/>
        <p:cNvGrpSpPr/>
        <p:nvPr/>
      </p:nvGrpSpPr>
      <p:grpSpPr>
        <a:xfrm>
          <a:off x="0" y="0"/>
          <a:ext cx="0" cy="0"/>
          <a:chOff x="0" y="0"/>
          <a:chExt cx="0" cy="0"/>
        </a:xfrm>
      </p:grpSpPr>
      <p:sp>
        <p:nvSpPr>
          <p:cNvPr id="494" name="Google Shape;494;g23a26aacee0_0_2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95" name="Google Shape;495;g23a26aacee0_0_2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496" name="Google Shape;496;g23a26aacee0_0_2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0" name="Shape 500"/>
        <p:cNvGrpSpPr/>
        <p:nvPr/>
      </p:nvGrpSpPr>
      <p:grpSpPr>
        <a:xfrm>
          <a:off x="0" y="0"/>
          <a:ext cx="0" cy="0"/>
          <a:chOff x="0" y="0"/>
          <a:chExt cx="0" cy="0"/>
        </a:xfrm>
      </p:grpSpPr>
      <p:sp>
        <p:nvSpPr>
          <p:cNvPr id="501" name="Google Shape;501;g23a26aacee0_0_3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02" name="Google Shape;502;g23a26aacee0_0_3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03" name="Google Shape;503;g23a26aacee0_0_3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2397adc27d3_1_14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0" name="Google Shape;510;g2397adc27d3_1_14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11" name="Google Shape;511;g2397adc27d3_1_14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5" name="Shape 515"/>
        <p:cNvGrpSpPr/>
        <p:nvPr/>
      </p:nvGrpSpPr>
      <p:grpSpPr>
        <a:xfrm>
          <a:off x="0" y="0"/>
          <a:ext cx="0" cy="0"/>
          <a:chOff x="0" y="0"/>
          <a:chExt cx="0" cy="0"/>
        </a:xfrm>
      </p:grpSpPr>
      <p:sp>
        <p:nvSpPr>
          <p:cNvPr id="516" name="Google Shape;516;g23a26aacee0_0_4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17" name="Google Shape;517;g23a26aacee0_0_40: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18" name="Google Shape;518;g23a26aacee0_0_40: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238ec8bb9f9_0_1: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24" name="Google Shape;524;g238ec8bb9f9_0_1: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 - Actual data from evaluation of different processors for the Stellar cluster at Princeton University, which was bought to serve 3 different user groups: PU, PPPL, and CIMES. </a:t>
            </a:r>
            <a:endParaRPr sz="1200"/>
          </a:p>
          <a:p>
            <a:pPr indent="0" lvl="0" marL="0" rtl="0" algn="l">
              <a:lnSpc>
                <a:spcPct val="100000"/>
              </a:lnSpc>
              <a:spcBef>
                <a:spcPts val="0"/>
              </a:spcBef>
              <a:spcAft>
                <a:spcPts val="0"/>
              </a:spcAft>
              <a:buSzPts val="1400"/>
              <a:buNone/>
            </a:pPr>
            <a:r>
              <a:rPr lang="en-US" sz="1200"/>
              <a:t>- PU and PPPL chose the Intel Cascade Lake AP processors, CIMES chose the AMD 7H12 processors</a:t>
            </a:r>
            <a:endParaRPr sz="1200"/>
          </a:p>
          <a:p>
            <a:pPr indent="0" lvl="0" marL="0" rtl="0" algn="l">
              <a:lnSpc>
                <a:spcPct val="100000"/>
              </a:lnSpc>
              <a:spcBef>
                <a:spcPts val="0"/>
              </a:spcBef>
              <a:spcAft>
                <a:spcPts val="0"/>
              </a:spcAft>
              <a:buSzPts val="1400"/>
              <a:buNone/>
            </a:pPr>
            <a:r>
              <a:rPr lang="en-US" sz="1200"/>
              <a:t>- The AMD 7H12 system had 2 64-core processors for a total of 128 cores. </a:t>
            </a:r>
            <a:endParaRPr sz="1200"/>
          </a:p>
          <a:p>
            <a:pPr indent="0" lvl="0" marL="0" rtl="0" algn="l">
              <a:lnSpc>
                <a:spcPct val="100000"/>
              </a:lnSpc>
              <a:spcBef>
                <a:spcPts val="0"/>
              </a:spcBef>
              <a:spcAft>
                <a:spcPts val="0"/>
              </a:spcAft>
              <a:buSzPts val="1400"/>
              <a:buNone/>
            </a:pPr>
            <a:r>
              <a:rPr lang="en-US" sz="1200"/>
              <a:t>- The Cascade Lake AP system had 4 24-core processors for a total of 96 cores</a:t>
            </a:r>
            <a:endParaRPr sz="1200"/>
          </a:p>
          <a:p>
            <a:pPr indent="0" lvl="0" marL="0" rtl="0" algn="l">
              <a:lnSpc>
                <a:spcPct val="100000"/>
              </a:lnSpc>
              <a:spcBef>
                <a:spcPts val="0"/>
              </a:spcBef>
              <a:spcAft>
                <a:spcPts val="0"/>
              </a:spcAft>
              <a:buSzPts val="1400"/>
              <a:buNone/>
            </a:pPr>
            <a:r>
              <a:rPr lang="en-US" sz="1200"/>
              <a:t>- Despite having 25% less cores than the 7H12 processors, the Cascade Lake AP system had 37% more FLOPS. </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t/>
            </a:r>
            <a:endParaRPr/>
          </a:p>
        </p:txBody>
      </p:sp>
      <p:sp>
        <p:nvSpPr>
          <p:cNvPr id="525" name="Google Shape;525;g238ec8bb9f9_0_1: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3b06bc5b5a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3b06bc5b5a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35" name="Google Shape;535;g23b06bc5b5a_0_0: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g23b1f49edfc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543" name="Google Shape;543;g23b1f49edfc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44" name="Google Shape;544;g23b1f49edfc_0_0: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3b06bc713a_0_0: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p:spPr>
      </p:sp>
      <p:sp>
        <p:nvSpPr>
          <p:cNvPr id="551" name="Google Shape;551;g23b06bc713a_0_0:notes"/>
          <p:cNvSpPr txBox="1"/>
          <p:nvPr>
            <p:ph idx="1" type="body"/>
          </p:nvPr>
        </p:nvSpPr>
        <p:spPr>
          <a:xfrm>
            <a:off x="777240" y="4777560"/>
            <a:ext cx="6217500" cy="4525800"/>
          </a:xfrm>
          <a:prstGeom prst="rect">
            <a:avLst/>
          </a:prstGeom>
        </p:spPr>
        <p:txBody>
          <a:bodyPr anchorCtr="0" anchor="t" bIns="0" lIns="0" spcFirstLastPara="1" rIns="0" wrap="square" tIns="0">
            <a:noAutofit/>
          </a:bodyPr>
          <a:lstStyle/>
          <a:p>
            <a:pPr indent="0" lvl="0" marL="0" rtl="0" algn="l">
              <a:spcBef>
                <a:spcPts val="0"/>
              </a:spcBef>
              <a:spcAft>
                <a:spcPts val="0"/>
              </a:spcAft>
              <a:buNone/>
            </a:pPr>
            <a:r>
              <a:t/>
            </a:r>
            <a:endParaRPr/>
          </a:p>
        </p:txBody>
      </p:sp>
      <p:sp>
        <p:nvSpPr>
          <p:cNvPr id="552" name="Google Shape;552;g23b06bc713a_0_0:notes"/>
          <p:cNvSpPr txBox="1"/>
          <p:nvPr>
            <p:ph idx="12" type="sldNum"/>
          </p:nvPr>
        </p:nvSpPr>
        <p:spPr>
          <a:xfrm>
            <a:off x="4399200" y="9555480"/>
            <a:ext cx="3372900" cy="502500"/>
          </a:xfrm>
          <a:prstGeom prst="rect">
            <a:avLst/>
          </a:prstGeom>
        </p:spPr>
        <p:txBody>
          <a:bodyPr anchorCtr="0" anchor="b" bIns="0" lIns="0" spcFirstLastPara="1" rIns="0" wrap="square" tIns="0">
            <a:noAutofit/>
          </a:bodyPr>
          <a:lstStyle/>
          <a:p>
            <a:pPr indent="0" lvl="0" marL="0" rtl="0" algn="r">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g23a26aacee0_0_4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0" name="Google Shape;560;g23a26aacee0_0_4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When I say more energy efficient </a:t>
            </a:r>
            <a:r>
              <a:rPr lang="en-US" sz="1200"/>
              <a:t>than CPUs (in most cases), I’m acknowledging the fact that some CPU-only systems have beaten GPU-based systems on the Green500 systems a few times. In those cases, those CPUs were specialied processors designed to be extremely energy efficient. Those would be the POWERPC A-series chips used in the IBM Blue Genes, and the 64-bit ARM processors used in Fugaku</a:t>
            </a:r>
            <a:endParaRPr sz="1200"/>
          </a:p>
        </p:txBody>
      </p:sp>
      <p:sp>
        <p:nvSpPr>
          <p:cNvPr id="561" name="Google Shape;561;g23a26aacee0_0_4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5" name="Shape 565"/>
        <p:cNvGrpSpPr/>
        <p:nvPr/>
      </p:nvGrpSpPr>
      <p:grpSpPr>
        <a:xfrm>
          <a:off x="0" y="0"/>
          <a:ext cx="0" cy="0"/>
          <a:chOff x="0" y="0"/>
          <a:chExt cx="0" cy="0"/>
        </a:xfrm>
      </p:grpSpPr>
      <p:sp>
        <p:nvSpPr>
          <p:cNvPr id="566" name="Google Shape;566;g23a26aacee0_0_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67" name="Google Shape;567;g23a26aacee0_0_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68" name="Google Shape;568;g23a26aacee0_0_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2" name="Shape 572"/>
        <p:cNvGrpSpPr/>
        <p:nvPr/>
      </p:nvGrpSpPr>
      <p:grpSpPr>
        <a:xfrm>
          <a:off x="0" y="0"/>
          <a:ext cx="0" cy="0"/>
          <a:chOff x="0" y="0"/>
          <a:chExt cx="0" cy="0"/>
        </a:xfrm>
      </p:grpSpPr>
      <p:sp>
        <p:nvSpPr>
          <p:cNvPr id="573" name="Google Shape;573;g23a26aacee0_0_5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74" name="Google Shape;574;g23a26aacee0_0_5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75" name="Google Shape;575;g23a26aacee0_0_5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0" name="Shape 580"/>
        <p:cNvGrpSpPr/>
        <p:nvPr/>
      </p:nvGrpSpPr>
      <p:grpSpPr>
        <a:xfrm>
          <a:off x="0" y="0"/>
          <a:ext cx="0" cy="0"/>
          <a:chOff x="0" y="0"/>
          <a:chExt cx="0" cy="0"/>
        </a:xfrm>
      </p:grpSpPr>
      <p:sp>
        <p:nvSpPr>
          <p:cNvPr id="581" name="Google Shape;581;g23a26aacee0_0_5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82" name="Google Shape;582;g23a26aacee0_0_5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83" name="Google Shape;583;g23a26aacee0_0_5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23a26aacee0_0_66: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0" name="Google Shape;590;g23a26aacee0_0_66: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91" name="Google Shape;591;g23a26aacee0_0_66: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23a26aacee0_0_7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7" name="Google Shape;597;g23a26aacee0_0_7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598" name="Google Shape;598;g23a26aacee0_0_7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2" name="Shape 602"/>
        <p:cNvGrpSpPr/>
        <p:nvPr/>
      </p:nvGrpSpPr>
      <p:grpSpPr>
        <a:xfrm>
          <a:off x="0" y="0"/>
          <a:ext cx="0" cy="0"/>
          <a:chOff x="0" y="0"/>
          <a:chExt cx="0" cy="0"/>
        </a:xfrm>
      </p:grpSpPr>
      <p:sp>
        <p:nvSpPr>
          <p:cNvPr id="603" name="Google Shape;603;g23a26aacee0_0_7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04" name="Google Shape;604;g23a26aacee0_0_7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HPC clusters consume a lot more power than the non-HPC systems in a data center, so you need to consider the environment the cluster is going into, and may need to include these factors in your design: </a:t>
            </a:r>
            <a:endParaRPr/>
          </a:p>
        </p:txBody>
      </p:sp>
      <p:sp>
        <p:nvSpPr>
          <p:cNvPr id="605" name="Google Shape;605;g23a26aacee0_0_7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9" name="Shape 609"/>
        <p:cNvGrpSpPr/>
        <p:nvPr/>
      </p:nvGrpSpPr>
      <p:grpSpPr>
        <a:xfrm>
          <a:off x="0" y="0"/>
          <a:ext cx="0" cy="0"/>
          <a:chOff x="0" y="0"/>
          <a:chExt cx="0" cy="0"/>
        </a:xfrm>
      </p:grpSpPr>
      <p:sp>
        <p:nvSpPr>
          <p:cNvPr id="610" name="Google Shape;610;g23a26aacee0_0_84: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1" name="Google Shape;611;g23a26aacee0_0_84: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a:t>Image - IEC-60309 “Hubbell” Connector for 60-amp, 3-phase, 208V power. </a:t>
            </a:r>
            <a:endParaRPr/>
          </a:p>
        </p:txBody>
      </p:sp>
      <p:sp>
        <p:nvSpPr>
          <p:cNvPr id="612" name="Google Shape;612;g23a26aacee0_0_84: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7" name="Shape 617"/>
        <p:cNvGrpSpPr/>
        <p:nvPr/>
      </p:nvGrpSpPr>
      <p:grpSpPr>
        <a:xfrm>
          <a:off x="0" y="0"/>
          <a:ext cx="0" cy="0"/>
          <a:chOff x="0" y="0"/>
          <a:chExt cx="0" cy="0"/>
        </a:xfrm>
      </p:grpSpPr>
      <p:sp>
        <p:nvSpPr>
          <p:cNvPr id="618" name="Google Shape;618;g23a26aacee0_0_92: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19" name="Google Shape;619;g23a26aacee0_0_92: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20" name="Google Shape;620;g23a26aacee0_0_92: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4" name="Shape 624"/>
        <p:cNvGrpSpPr/>
        <p:nvPr/>
      </p:nvGrpSpPr>
      <p:grpSpPr>
        <a:xfrm>
          <a:off x="0" y="0"/>
          <a:ext cx="0" cy="0"/>
          <a:chOff x="0" y="0"/>
          <a:chExt cx="0" cy="0"/>
        </a:xfrm>
      </p:grpSpPr>
      <p:sp>
        <p:nvSpPr>
          <p:cNvPr id="625" name="Google Shape;625;g23a26aacee0_0_9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26" name="Google Shape;626;g23a26aacee0_0_9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27" name="Google Shape;627;g23a26aacee0_0_9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g23a26aacee0_0_109: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g23a26aacee0_0_109: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t/>
            </a:r>
            <a:endParaRPr/>
          </a:p>
        </p:txBody>
      </p:sp>
      <p:sp>
        <p:nvSpPr>
          <p:cNvPr id="637" name="Google Shape;637;g23a26aacee0_0_109: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2" name="Shape 642"/>
        <p:cNvGrpSpPr/>
        <p:nvPr/>
      </p:nvGrpSpPr>
      <p:grpSpPr>
        <a:xfrm>
          <a:off x="0" y="0"/>
          <a:ext cx="0" cy="0"/>
          <a:chOff x="0" y="0"/>
          <a:chExt cx="0" cy="0"/>
        </a:xfrm>
      </p:grpSpPr>
      <p:sp>
        <p:nvSpPr>
          <p:cNvPr id="643" name="Google Shape;643;g23a26aacee0_0_118:notes"/>
          <p:cNvSpPr/>
          <p:nvPr>
            <p:ph idx="2" type="sldImg"/>
          </p:nvPr>
        </p:nvSpPr>
        <p:spPr>
          <a:xfrm>
            <a:off x="533520" y="764280"/>
            <a:ext cx="6704700" cy="37713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4" name="Google Shape;644;g23a26aacee0_0_118:notes"/>
          <p:cNvSpPr txBox="1"/>
          <p:nvPr>
            <p:ph idx="1" type="body"/>
          </p:nvPr>
        </p:nvSpPr>
        <p:spPr>
          <a:xfrm>
            <a:off x="777240" y="4777560"/>
            <a:ext cx="6217500" cy="4525800"/>
          </a:xfrm>
          <a:prstGeom prst="rect">
            <a:avLst/>
          </a:prstGeom>
          <a:noFill/>
          <a:ln>
            <a:noFill/>
          </a:ln>
        </p:spPr>
        <p:txBody>
          <a:bodyPr anchorCtr="0" anchor="t" bIns="0" lIns="0" spcFirstLastPara="1" rIns="0" wrap="square" tIns="0">
            <a:noAutofit/>
          </a:bodyPr>
          <a:lstStyle/>
          <a:p>
            <a:pPr indent="0" lvl="0" marL="0" rtl="0" algn="l">
              <a:lnSpc>
                <a:spcPct val="100000"/>
              </a:lnSpc>
              <a:spcBef>
                <a:spcPts val="0"/>
              </a:spcBef>
              <a:spcAft>
                <a:spcPts val="0"/>
              </a:spcAft>
              <a:buSzPts val="1400"/>
              <a:buNone/>
            </a:pPr>
            <a:r>
              <a:rPr lang="en-US" sz="1200"/>
              <a:t>It’s better to think about these issues before you buy your cluster - having to get bigger racks after your cluster is delivered and then moving all the nodes is a lot of work and hassle. It’s also embarrassing.</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If your datacenter isn’t already using extra deep racks or rear-door heat exchangers, you may find yourself where putting these racks in place makes an aisle too narrow, which could become a safety/code issue. </a:t>
            </a:r>
            <a:endParaRPr sz="1200"/>
          </a:p>
          <a:p>
            <a:pPr indent="0" lvl="0" marL="0" rtl="0" algn="l">
              <a:lnSpc>
                <a:spcPct val="100000"/>
              </a:lnSpc>
              <a:spcBef>
                <a:spcPts val="0"/>
              </a:spcBef>
              <a:spcAft>
                <a:spcPts val="0"/>
              </a:spcAft>
              <a:buSzPts val="1400"/>
              <a:buNone/>
            </a:pPr>
            <a:r>
              <a:t/>
            </a:r>
            <a:endParaRPr sz="1200"/>
          </a:p>
          <a:p>
            <a:pPr indent="0" lvl="0" marL="0" rtl="0" algn="l">
              <a:lnSpc>
                <a:spcPct val="100000"/>
              </a:lnSpc>
              <a:spcBef>
                <a:spcPts val="0"/>
              </a:spcBef>
              <a:spcAft>
                <a:spcPts val="0"/>
              </a:spcAft>
              <a:buSzPts val="1400"/>
              <a:buNone/>
            </a:pPr>
            <a:r>
              <a:rPr lang="en-US" sz="1200"/>
              <a:t>Think about these issues and talk to your datacenter manager before ordering your cluster! </a:t>
            </a:r>
            <a:endParaRPr sz="1200"/>
          </a:p>
        </p:txBody>
      </p:sp>
      <p:sp>
        <p:nvSpPr>
          <p:cNvPr id="645" name="Google Shape;645;g23a26aacee0_0_118:notes"/>
          <p:cNvSpPr txBox="1"/>
          <p:nvPr>
            <p:ph idx="12" type="sldNum"/>
          </p:nvPr>
        </p:nvSpPr>
        <p:spPr>
          <a:xfrm>
            <a:off x="4399200" y="9555480"/>
            <a:ext cx="3372900" cy="502500"/>
          </a:xfrm>
          <a:prstGeom prst="rect">
            <a:avLst/>
          </a:prstGeom>
          <a:noFill/>
          <a:ln>
            <a:noFill/>
          </a:ln>
        </p:spPr>
        <p:txBody>
          <a:bodyPr anchorCtr="0" anchor="b" bIns="0" lIns="0" spcFirstLastPara="1" rIns="0" wrap="square" tIns="0">
            <a:noAutofit/>
          </a:bodyPr>
          <a:lstStyle/>
          <a:p>
            <a:pPr indent="0" lvl="0" marL="0" rtl="0" algn="r">
              <a:lnSpc>
                <a:spcPct val="100000"/>
              </a:lnSpc>
              <a:spcBef>
                <a:spcPts val="0"/>
              </a:spcBef>
              <a:spcAft>
                <a:spcPts val="0"/>
              </a:spcAft>
              <a:buClr>
                <a:srgbClr val="000000"/>
              </a:buClr>
              <a:buSzPts val="1400"/>
              <a:buFont typeface="Arial"/>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type="obj">
  <p:cSld name="OBJECT">
    <p:spTree>
      <p:nvGrpSpPr>
        <p:cNvPr id="13" name="Shape 13"/>
        <p:cNvGrpSpPr/>
        <p:nvPr/>
      </p:nvGrpSpPr>
      <p:grpSpPr>
        <a:xfrm>
          <a:off x="0" y="0"/>
          <a:ext cx="0" cy="0"/>
          <a:chOff x="0" y="0"/>
          <a:chExt cx="0" cy="0"/>
        </a:xfrm>
      </p:grpSpPr>
      <p:sp>
        <p:nvSpPr>
          <p:cNvPr id="14" name="Google Shape;14;g1425dd8eec1_0_211"/>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g1425dd8eec1_0_211"/>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lvl1pPr indent="-228600" lvl="0" marL="457200" algn="l">
              <a:lnSpc>
                <a:spcPct val="115000"/>
              </a:lnSpc>
              <a:spcBef>
                <a:spcPts val="0"/>
              </a:spcBef>
              <a:spcAft>
                <a:spcPts val="0"/>
              </a:spcAft>
              <a:buSzPts val="1800"/>
              <a:buNone/>
              <a:defRPr/>
            </a:lvl1pPr>
            <a:lvl2pPr indent="-228600" lvl="1" marL="914400" algn="l">
              <a:lnSpc>
                <a:spcPct val="115000"/>
              </a:lnSpc>
              <a:spcBef>
                <a:spcPts val="1200"/>
              </a:spcBef>
              <a:spcAft>
                <a:spcPts val="0"/>
              </a:spcAft>
              <a:buSzPts val="1400"/>
              <a:buNone/>
              <a:defRPr/>
            </a:lvl2pPr>
            <a:lvl3pPr indent="-228600" lvl="2" marL="1371600" algn="l">
              <a:lnSpc>
                <a:spcPct val="115000"/>
              </a:lnSpc>
              <a:spcBef>
                <a:spcPts val="1200"/>
              </a:spcBef>
              <a:spcAft>
                <a:spcPts val="0"/>
              </a:spcAft>
              <a:buSzPts val="1400"/>
              <a:buNone/>
              <a:defRPr/>
            </a:lvl3pPr>
            <a:lvl4pPr indent="-228600" lvl="3" marL="1828800" algn="l">
              <a:lnSpc>
                <a:spcPct val="115000"/>
              </a:lnSpc>
              <a:spcBef>
                <a:spcPts val="1200"/>
              </a:spcBef>
              <a:spcAft>
                <a:spcPts val="0"/>
              </a:spcAft>
              <a:buSzPts val="1400"/>
              <a:buNone/>
              <a:defRPr/>
            </a:lvl4pPr>
            <a:lvl5pPr indent="-228600" lvl="4" marL="2286000" algn="l">
              <a:lnSpc>
                <a:spcPct val="115000"/>
              </a:lnSpc>
              <a:spcBef>
                <a:spcPts val="1200"/>
              </a:spcBef>
              <a:spcAft>
                <a:spcPts val="0"/>
              </a:spcAft>
              <a:buSzPts val="1400"/>
              <a:buNone/>
              <a:defRPr/>
            </a:lvl5pPr>
            <a:lvl6pPr indent="-228600" lvl="5" marL="2743200" algn="l">
              <a:lnSpc>
                <a:spcPct val="115000"/>
              </a:lnSpc>
              <a:spcBef>
                <a:spcPts val="1200"/>
              </a:spcBef>
              <a:spcAft>
                <a:spcPts val="0"/>
              </a:spcAft>
              <a:buSzPts val="1400"/>
              <a:buNone/>
              <a:defRPr/>
            </a:lvl6pPr>
            <a:lvl7pPr indent="-228600" lvl="6" marL="3200400" algn="l">
              <a:lnSpc>
                <a:spcPct val="115000"/>
              </a:lnSpc>
              <a:spcBef>
                <a:spcPts val="1200"/>
              </a:spcBef>
              <a:spcAft>
                <a:spcPts val="0"/>
              </a:spcAft>
              <a:buSzPts val="1400"/>
              <a:buNone/>
              <a:defRPr/>
            </a:lvl7pPr>
            <a:lvl8pPr indent="-228600" lvl="7" marL="3657600" algn="l">
              <a:lnSpc>
                <a:spcPct val="115000"/>
              </a:lnSpc>
              <a:spcBef>
                <a:spcPts val="1200"/>
              </a:spcBef>
              <a:spcAft>
                <a:spcPts val="0"/>
              </a:spcAft>
              <a:buSzPts val="1400"/>
              <a:buNone/>
              <a:defRPr/>
            </a:lvl8pPr>
            <a:lvl9pPr indent="-228600" lvl="8" marL="4114800" algn="l">
              <a:lnSpc>
                <a:spcPct val="115000"/>
              </a:lnSpc>
              <a:spcBef>
                <a:spcPts val="1200"/>
              </a:spcBef>
              <a:spcAft>
                <a:spcPts val="1200"/>
              </a:spcAft>
              <a:buSzPts val="1400"/>
              <a:buNone/>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6" name="Shape 16"/>
        <p:cNvGrpSpPr/>
        <p:nvPr/>
      </p:nvGrpSpPr>
      <p:grpSpPr>
        <a:xfrm>
          <a:off x="0" y="0"/>
          <a:ext cx="0" cy="0"/>
          <a:chOff x="0" y="0"/>
          <a:chExt cx="0" cy="0"/>
        </a:xfrm>
      </p:grpSpPr>
      <p:sp>
        <p:nvSpPr>
          <p:cNvPr id="17" name="Google Shape;17;g1425dd8eec1_0_18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8" name="Google Shape;18;g1425dd8eec1_0_18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 name="Shape 19"/>
        <p:cNvGrpSpPr/>
        <p:nvPr/>
      </p:nvGrpSpPr>
      <p:grpSpPr>
        <a:xfrm>
          <a:off x="0" y="0"/>
          <a:ext cx="0" cy="0"/>
          <a:chOff x="0" y="0"/>
          <a:chExt cx="0" cy="0"/>
        </a:xfrm>
      </p:grpSpPr>
      <p:sp>
        <p:nvSpPr>
          <p:cNvPr id="20" name="Google Shape;20;g1425dd8eec1_0_18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1" name="Google Shape;21;g1425dd8eec1_0_181"/>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2" name="Google Shape;22;g1425dd8eec1_0_181"/>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g1425dd8eec1_0_181"/>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4" name="Shape 24"/>
        <p:cNvGrpSpPr/>
        <p:nvPr/>
      </p:nvGrpSpPr>
      <p:grpSpPr>
        <a:xfrm>
          <a:off x="0" y="0"/>
          <a:ext cx="0" cy="0"/>
          <a:chOff x="0" y="0"/>
          <a:chExt cx="0" cy="0"/>
        </a:xfrm>
      </p:grpSpPr>
      <p:sp>
        <p:nvSpPr>
          <p:cNvPr id="25" name="Google Shape;25;g1425dd8eec1_0_209"/>
          <p:cNvSpPr txBox="1"/>
          <p:nvPr>
            <p:ph idx="12" type="sldNum"/>
          </p:nvPr>
        </p:nvSpPr>
        <p:spPr>
          <a:xfrm>
            <a:off x="-235992" y="64027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sp>
        <p:nvSpPr>
          <p:cNvPr id="27" name="Google Shape;27;g1425dd8eec1_0_170"/>
          <p:cNvSpPr txBox="1"/>
          <p:nvPr>
            <p:ph type="ctrTitle"/>
          </p:nvPr>
        </p:nvSpPr>
        <p:spPr>
          <a:xfrm>
            <a:off x="311708" y="992767"/>
            <a:ext cx="8520600" cy="27369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28" name="Google Shape;28;g1425dd8eec1_0_170"/>
          <p:cNvSpPr txBox="1"/>
          <p:nvPr>
            <p:ph idx="1" type="subTitle"/>
          </p:nvPr>
        </p:nvSpPr>
        <p:spPr>
          <a:xfrm>
            <a:off x="311700" y="3778833"/>
            <a:ext cx="8520600" cy="10569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29" name="Google Shape;29;g1425dd8eec1_0_170"/>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0" name="Shape 30"/>
        <p:cNvGrpSpPr/>
        <p:nvPr/>
      </p:nvGrpSpPr>
      <p:grpSpPr>
        <a:xfrm>
          <a:off x="0" y="0"/>
          <a:ext cx="0" cy="0"/>
          <a:chOff x="0" y="0"/>
          <a:chExt cx="0" cy="0"/>
        </a:xfrm>
      </p:grpSpPr>
      <p:sp>
        <p:nvSpPr>
          <p:cNvPr id="31" name="Google Shape;31;g1425dd8eec1_0_174"/>
          <p:cNvSpPr txBox="1"/>
          <p:nvPr>
            <p:ph type="title"/>
          </p:nvPr>
        </p:nvSpPr>
        <p:spPr>
          <a:xfrm>
            <a:off x="311700" y="2867800"/>
            <a:ext cx="8520600" cy="11223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32" name="Google Shape;32;g1425dd8eec1_0_174"/>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pic>
        <p:nvPicPr>
          <p:cNvPr id="33" name="Google Shape;33;g1425dd8eec1_0_174"/>
          <p:cNvPicPr preferRelativeResize="0"/>
          <p:nvPr/>
        </p:nvPicPr>
        <p:blipFill rotWithShape="1">
          <a:blip r:embed="rId2">
            <a:alphaModFix/>
          </a:blip>
          <a:srcRect b="0" l="0" r="0" t="0"/>
          <a:stretch/>
        </p:blipFill>
        <p:spPr>
          <a:xfrm>
            <a:off x="152400" y="152400"/>
            <a:ext cx="2152248" cy="782924"/>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4" name="Shape 34"/>
        <p:cNvGrpSpPr/>
        <p:nvPr/>
      </p:nvGrpSpPr>
      <p:grpSpPr>
        <a:xfrm>
          <a:off x="0" y="0"/>
          <a:ext cx="0" cy="0"/>
          <a:chOff x="0" y="0"/>
          <a:chExt cx="0" cy="0"/>
        </a:xfrm>
      </p:grpSpPr>
      <p:sp>
        <p:nvSpPr>
          <p:cNvPr id="35" name="Google Shape;35;g1425dd8eec1_0_177"/>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6" name="Google Shape;36;g1425dd8eec1_0_177"/>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37" name="Google Shape;37;g1425dd8eec1_0_177"/>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8" name="Shape 38"/>
        <p:cNvGrpSpPr/>
        <p:nvPr/>
      </p:nvGrpSpPr>
      <p:grpSpPr>
        <a:xfrm>
          <a:off x="0" y="0"/>
          <a:ext cx="0" cy="0"/>
          <a:chOff x="0" y="0"/>
          <a:chExt cx="0" cy="0"/>
        </a:xfrm>
      </p:grpSpPr>
      <p:sp>
        <p:nvSpPr>
          <p:cNvPr id="39" name="Google Shape;39;g1425dd8eec1_0_189"/>
          <p:cNvSpPr txBox="1"/>
          <p:nvPr>
            <p:ph type="title"/>
          </p:nvPr>
        </p:nvSpPr>
        <p:spPr>
          <a:xfrm>
            <a:off x="311700" y="740800"/>
            <a:ext cx="2808000" cy="1007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40" name="Google Shape;40;g1425dd8eec1_0_189"/>
          <p:cNvSpPr txBox="1"/>
          <p:nvPr>
            <p:ph idx="1" type="body"/>
          </p:nvPr>
        </p:nvSpPr>
        <p:spPr>
          <a:xfrm>
            <a:off x="311700" y="1852800"/>
            <a:ext cx="2808000" cy="42393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41" name="Google Shape;41;g1425dd8eec1_0_189"/>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2" name="Shape 42"/>
        <p:cNvGrpSpPr/>
        <p:nvPr/>
      </p:nvGrpSpPr>
      <p:grpSpPr>
        <a:xfrm>
          <a:off x="0" y="0"/>
          <a:ext cx="0" cy="0"/>
          <a:chOff x="0" y="0"/>
          <a:chExt cx="0" cy="0"/>
        </a:xfrm>
      </p:grpSpPr>
      <p:sp>
        <p:nvSpPr>
          <p:cNvPr id="43" name="Google Shape;43;g1425dd8eec1_0_193"/>
          <p:cNvSpPr txBox="1"/>
          <p:nvPr>
            <p:ph type="title"/>
          </p:nvPr>
        </p:nvSpPr>
        <p:spPr>
          <a:xfrm>
            <a:off x="490250" y="600200"/>
            <a:ext cx="6367800" cy="54543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4" name="Google Shape;44;g1425dd8eec1_0_193"/>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5" name="Shape 45"/>
        <p:cNvGrpSpPr/>
        <p:nvPr/>
      </p:nvGrpSpPr>
      <p:grpSpPr>
        <a:xfrm>
          <a:off x="0" y="0"/>
          <a:ext cx="0" cy="0"/>
          <a:chOff x="0" y="0"/>
          <a:chExt cx="0" cy="0"/>
        </a:xfrm>
      </p:grpSpPr>
      <p:sp>
        <p:nvSpPr>
          <p:cNvPr id="46" name="Google Shape;46;g1425dd8eec1_0_196"/>
          <p:cNvSpPr/>
          <p:nvPr/>
        </p:nvSpPr>
        <p:spPr>
          <a:xfrm>
            <a:off x="4572000" y="-167"/>
            <a:ext cx="4572000" cy="68580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g1425dd8eec1_0_196"/>
          <p:cNvSpPr txBox="1"/>
          <p:nvPr>
            <p:ph type="title"/>
          </p:nvPr>
        </p:nvSpPr>
        <p:spPr>
          <a:xfrm>
            <a:off x="265500" y="1644233"/>
            <a:ext cx="4045200" cy="19764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8" name="Google Shape;48;g1425dd8eec1_0_196"/>
          <p:cNvSpPr txBox="1"/>
          <p:nvPr>
            <p:ph idx="1" type="subTitle"/>
          </p:nvPr>
        </p:nvSpPr>
        <p:spPr>
          <a:xfrm>
            <a:off x="265500" y="3737433"/>
            <a:ext cx="4045200" cy="16467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9" name="Google Shape;49;g1425dd8eec1_0_196"/>
          <p:cNvSpPr txBox="1"/>
          <p:nvPr>
            <p:ph idx="2" type="body"/>
          </p:nvPr>
        </p:nvSpPr>
        <p:spPr>
          <a:xfrm>
            <a:off x="4939500" y="965433"/>
            <a:ext cx="3837000" cy="49269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50" name="Google Shape;50;g1425dd8eec1_0_19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1" name="Shape 51"/>
        <p:cNvGrpSpPr/>
        <p:nvPr/>
      </p:nvGrpSpPr>
      <p:grpSpPr>
        <a:xfrm>
          <a:off x="0" y="0"/>
          <a:ext cx="0" cy="0"/>
          <a:chOff x="0" y="0"/>
          <a:chExt cx="0" cy="0"/>
        </a:xfrm>
      </p:grpSpPr>
      <p:sp>
        <p:nvSpPr>
          <p:cNvPr id="52" name="Google Shape;52;g1425dd8eec1_0_202"/>
          <p:cNvSpPr txBox="1"/>
          <p:nvPr>
            <p:ph idx="1" type="body"/>
          </p:nvPr>
        </p:nvSpPr>
        <p:spPr>
          <a:xfrm>
            <a:off x="311700" y="5640767"/>
            <a:ext cx="5998800" cy="8067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3" name="Google Shape;53;g1425dd8eec1_0_202"/>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4" name="Shape 54"/>
        <p:cNvGrpSpPr/>
        <p:nvPr/>
      </p:nvGrpSpPr>
      <p:grpSpPr>
        <a:xfrm>
          <a:off x="0" y="0"/>
          <a:ext cx="0" cy="0"/>
          <a:chOff x="0" y="0"/>
          <a:chExt cx="0" cy="0"/>
        </a:xfrm>
      </p:grpSpPr>
      <p:sp>
        <p:nvSpPr>
          <p:cNvPr id="55" name="Google Shape;55;g1425dd8eec1_0_205"/>
          <p:cNvSpPr txBox="1"/>
          <p:nvPr>
            <p:ph hasCustomPrompt="1" type="title"/>
          </p:nvPr>
        </p:nvSpPr>
        <p:spPr>
          <a:xfrm>
            <a:off x="311700" y="1474833"/>
            <a:ext cx="8520600" cy="26181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6" name="Google Shape;56;g1425dd8eec1_0_205"/>
          <p:cNvSpPr txBox="1"/>
          <p:nvPr>
            <p:ph idx="1" type="body"/>
          </p:nvPr>
        </p:nvSpPr>
        <p:spPr>
          <a:xfrm>
            <a:off x="311700" y="4202967"/>
            <a:ext cx="8520600" cy="17343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7" name="Google Shape;57;g1425dd8eec1_0_205"/>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2.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9" name="Shape 9"/>
        <p:cNvGrpSpPr/>
        <p:nvPr/>
      </p:nvGrpSpPr>
      <p:grpSpPr>
        <a:xfrm>
          <a:off x="0" y="0"/>
          <a:ext cx="0" cy="0"/>
          <a:chOff x="0" y="0"/>
          <a:chExt cx="0" cy="0"/>
        </a:xfrm>
      </p:grpSpPr>
      <p:sp>
        <p:nvSpPr>
          <p:cNvPr id="10" name="Google Shape;10;g1425dd8eec1_0_16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1" name="Google Shape;11;g1425dd8eec1_0_166"/>
          <p:cNvSpPr txBox="1"/>
          <p:nvPr>
            <p:ph idx="1" type="body"/>
          </p:nvPr>
        </p:nvSpPr>
        <p:spPr>
          <a:xfrm>
            <a:off x="311700" y="1536633"/>
            <a:ext cx="8520600" cy="45552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2" name="Google Shape;12;g1425dd8eec1_0_166"/>
          <p:cNvSpPr txBox="1"/>
          <p:nvPr>
            <p:ph idx="12" type="sldNum"/>
          </p:nvPr>
        </p:nvSpPr>
        <p:spPr>
          <a:xfrm>
            <a:off x="8472458" y="6217622"/>
            <a:ext cx="548700" cy="5247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1.png"/><Relationship Id="rId5" Type="http://schemas.openxmlformats.org/officeDocument/2006/relationships/hyperlink" Target="https://creativecommons.org/licenses/by-nc/4.0/"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hyperlink" Target="https://netlib.org/benchmark/hpl/" TargetMode="External"/><Relationship Id="rId4" Type="http://schemas.openxmlformats.org/officeDocument/2006/relationships/hyperlink" Target="https://www.hpcg-benchmark.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5.png"/><Relationship Id="rId6" Type="http://schemas.openxmlformats.org/officeDocument/2006/relationships/image" Target="../media/image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9.png"/><Relationship Id="rId4"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16.png"/><Relationship Id="rId4" Type="http://schemas.openxmlformats.org/officeDocument/2006/relationships/image" Target="../media/image20.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 Id="rId3" Type="http://schemas.openxmlformats.org/officeDocument/2006/relationships/image" Target="../media/image14.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1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3.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image15.jpg"/><Relationship Id="rId4" Type="http://schemas.openxmlformats.org/officeDocument/2006/relationships/image" Target="../media/image11.jpg"/><Relationship Id="rId5" Type="http://schemas.openxmlformats.org/officeDocument/2006/relationships/image" Target="../media/image1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1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1"/>
          <p:cNvSpPr/>
          <p:nvPr/>
        </p:nvSpPr>
        <p:spPr>
          <a:xfrm>
            <a:off x="1143000" y="1122480"/>
            <a:ext cx="6852300" cy="2381700"/>
          </a:xfrm>
          <a:prstGeom prst="rect">
            <a:avLst/>
          </a:prstGeom>
          <a:noFill/>
          <a:ln>
            <a:noFill/>
          </a:ln>
        </p:spPr>
        <p:txBody>
          <a:bodyPr anchorCtr="0" anchor="b" bIns="45000" lIns="90000" spcFirstLastPara="1" rIns="90000" wrap="square" tIns="45000">
            <a:noAutofit/>
          </a:bodyPr>
          <a:lstStyle/>
          <a:p>
            <a:pPr indent="0" lvl="0" marL="0" marR="0" rtl="0" algn="ctr">
              <a:lnSpc>
                <a:spcPct val="90000"/>
              </a:lnSpc>
              <a:spcBef>
                <a:spcPts val="0"/>
              </a:spcBef>
              <a:spcAft>
                <a:spcPts val="0"/>
              </a:spcAft>
              <a:buClr>
                <a:srgbClr val="000000"/>
              </a:buClr>
              <a:buSzPts val="4000"/>
              <a:buFont typeface="Arial"/>
              <a:buNone/>
            </a:pPr>
            <a:r>
              <a:rPr b="0" i="0" lang="en-US" sz="4000" u="none" cap="none" strike="noStrike">
                <a:solidFill>
                  <a:schemeClr val="dk1"/>
                </a:solidFill>
                <a:latin typeface="Calibri"/>
                <a:ea typeface="Calibri"/>
                <a:cs typeface="Calibri"/>
                <a:sym typeface="Calibri"/>
              </a:rPr>
              <a:t>Designing an HPC Cluster</a:t>
            </a:r>
            <a:endParaRPr b="0" i="0" sz="4000" u="none" cap="none" strike="noStrike">
              <a:solidFill>
                <a:schemeClr val="dk1"/>
              </a:solidFill>
              <a:latin typeface="Arial"/>
              <a:ea typeface="Arial"/>
              <a:cs typeface="Arial"/>
              <a:sym typeface="Arial"/>
            </a:endParaRPr>
          </a:p>
        </p:txBody>
      </p:sp>
      <p:sp>
        <p:nvSpPr>
          <p:cNvPr id="64" name="Google Shape;64;p1"/>
          <p:cNvSpPr/>
          <p:nvPr/>
        </p:nvSpPr>
        <p:spPr>
          <a:xfrm>
            <a:off x="1143000" y="3602150"/>
            <a:ext cx="6981600" cy="1512000"/>
          </a:xfrm>
          <a:prstGeom prst="rect">
            <a:avLst/>
          </a:prstGeom>
          <a:noFill/>
          <a:ln>
            <a:noFill/>
          </a:ln>
        </p:spPr>
        <p:txBody>
          <a:bodyPr anchorCtr="0" anchor="t" bIns="45000" lIns="90000" spcFirstLastPara="1" rIns="90000" wrap="square" tIns="45000">
            <a:noAutofit/>
          </a:bodyPr>
          <a:lstStyle/>
          <a:p>
            <a:pPr indent="0" lvl="0" marL="0" marR="0" rtl="0" algn="ctr">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Prentice Bisbal</a:t>
            </a:r>
            <a:endParaRPr b="0" i="0" sz="20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Senior HPC Engineer</a:t>
            </a:r>
            <a:endParaRPr b="0" i="0" sz="2000" u="none" cap="none" strike="noStrike">
              <a:solidFill>
                <a:srgbClr val="000000"/>
              </a:solidFill>
              <a:latin typeface="Calibri"/>
              <a:ea typeface="Calibri"/>
              <a:cs typeface="Calibri"/>
              <a:sym typeface="Calibri"/>
            </a:endParaRPr>
          </a:p>
          <a:p>
            <a:pPr indent="0" lvl="0" marL="0" marR="0" rtl="0" algn="ctr">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Computational Sciences Department</a:t>
            </a:r>
            <a:endParaRPr b="0" i="0" sz="2000" u="none" cap="none" strike="noStrike">
              <a:solidFill>
                <a:srgbClr val="000000"/>
              </a:solidFill>
              <a:latin typeface="Arial"/>
              <a:ea typeface="Arial"/>
              <a:cs typeface="Arial"/>
              <a:sym typeface="Arial"/>
            </a:endParaRPr>
          </a:p>
          <a:p>
            <a:pPr indent="0" lvl="0" marL="0" marR="0" rtl="0" algn="ctr">
              <a:lnSpc>
                <a:spcPct val="90000"/>
              </a:lnSpc>
              <a:spcBef>
                <a:spcPts val="0"/>
              </a:spcBef>
              <a:spcAft>
                <a:spcPts val="0"/>
              </a:spcAft>
              <a:buClr>
                <a:srgbClr val="000000"/>
              </a:buClr>
              <a:buSzPts val="2000"/>
              <a:buFont typeface="Arial"/>
              <a:buNone/>
            </a:pPr>
            <a:r>
              <a:rPr b="0" i="0" lang="en-US" sz="2000" u="none" cap="none" strike="noStrike">
                <a:solidFill>
                  <a:srgbClr val="000000"/>
                </a:solidFill>
                <a:latin typeface="Calibri"/>
                <a:ea typeface="Calibri"/>
                <a:cs typeface="Calibri"/>
                <a:sym typeface="Calibri"/>
              </a:rPr>
              <a:t>Princeton Plasma Physics Laboratory</a:t>
            </a:r>
            <a:endParaRPr b="0" i="0" sz="2000" u="none" cap="none" strike="noStrike">
              <a:solidFill>
                <a:srgbClr val="000000"/>
              </a:solidFill>
              <a:latin typeface="Arial"/>
              <a:ea typeface="Arial"/>
              <a:cs typeface="Arial"/>
              <a:sym typeface="Arial"/>
            </a:endParaRPr>
          </a:p>
        </p:txBody>
      </p:sp>
      <p:sp>
        <p:nvSpPr>
          <p:cNvPr id="65" name="Google Shape;65;p1"/>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t/>
            </a:r>
            <a:endParaRPr/>
          </a:p>
        </p:txBody>
      </p:sp>
      <p:pic>
        <p:nvPicPr>
          <p:cNvPr id="66" name="Google Shape;66;p1"/>
          <p:cNvPicPr preferRelativeResize="0"/>
          <p:nvPr/>
        </p:nvPicPr>
        <p:blipFill rotWithShape="1">
          <a:blip r:embed="rId3">
            <a:alphaModFix/>
          </a:blip>
          <a:srcRect b="0" l="0" r="0" t="0"/>
          <a:stretch/>
        </p:blipFill>
        <p:spPr>
          <a:xfrm>
            <a:off x="0" y="2388"/>
            <a:ext cx="4850969" cy="1604520"/>
          </a:xfrm>
          <a:prstGeom prst="rect">
            <a:avLst/>
          </a:prstGeom>
          <a:noFill/>
          <a:ln>
            <a:noFill/>
          </a:ln>
        </p:spPr>
      </p:pic>
      <p:pic>
        <p:nvPicPr>
          <p:cNvPr id="67" name="Google Shape;67;p1"/>
          <p:cNvPicPr preferRelativeResize="0"/>
          <p:nvPr/>
        </p:nvPicPr>
        <p:blipFill rotWithShape="1">
          <a:blip r:embed="rId4">
            <a:alphaModFix/>
          </a:blip>
          <a:srcRect b="0" l="0" r="0" t="0"/>
          <a:stretch/>
        </p:blipFill>
        <p:spPr>
          <a:xfrm>
            <a:off x="4850969" y="4784"/>
            <a:ext cx="4287271" cy="1599736"/>
          </a:xfrm>
          <a:prstGeom prst="rect">
            <a:avLst/>
          </a:prstGeom>
          <a:noFill/>
          <a:ln>
            <a:noFill/>
          </a:ln>
        </p:spPr>
      </p:pic>
      <p:sp>
        <p:nvSpPr>
          <p:cNvPr id="68" name="Google Shape;68;p1"/>
          <p:cNvSpPr txBox="1"/>
          <p:nvPr/>
        </p:nvSpPr>
        <p:spPr>
          <a:xfrm>
            <a:off x="318490" y="5550856"/>
            <a:ext cx="8686800" cy="19620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100"/>
              <a:buFont typeface="Arial"/>
              <a:buNone/>
            </a:pPr>
            <a:r>
              <a:rPr b="0" i="0" lang="en-US" sz="1100" u="none" cap="none" strike="noStrike">
                <a:solidFill>
                  <a:schemeClr val="dk1"/>
                </a:solidFill>
                <a:latin typeface="Calibri"/>
                <a:ea typeface="Calibri"/>
                <a:cs typeface="Calibri"/>
                <a:sym typeface="Calibri"/>
              </a:rPr>
              <a:t>This document is a result of work by volunteer LCI instructors and is licensed under CC BY-NC 4.0 (</a:t>
            </a:r>
            <a:r>
              <a:rPr b="0" i="0" lang="en-US" sz="1100" u="sng" cap="none" strike="noStrike">
                <a:solidFill>
                  <a:schemeClr val="hlink"/>
                </a:solidFill>
                <a:latin typeface="Calibri"/>
                <a:ea typeface="Calibri"/>
                <a:cs typeface="Calibri"/>
                <a:sym typeface="Calibri"/>
                <a:hlinkClick r:id="rId5"/>
              </a:rPr>
              <a:t>https://creativecommons.org/licenses/by-nc/4.0/</a:t>
            </a:r>
            <a:r>
              <a:rPr b="0" i="0" lang="en-US" sz="1100" u="none" cap="none" strike="noStrike">
                <a:solidFill>
                  <a:schemeClr val="dk1"/>
                </a:solidFill>
                <a:latin typeface="Calibri"/>
                <a:ea typeface="Calibri"/>
                <a:cs typeface="Calibri"/>
                <a:sym typeface="Calibri"/>
              </a:rPr>
              <a:t>).</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g2372066ec9c_2_0"/>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Cluster design guidelines</a:t>
            </a:r>
            <a:endParaRPr/>
          </a:p>
        </p:txBody>
      </p:sp>
      <p:sp>
        <p:nvSpPr>
          <p:cNvPr id="75" name="Google Shape;75;g2372066ec9c_2_0"/>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An HPC cluster is a system, and must be designed using a  holistic approach that takes this into account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The goal is to get as much </a:t>
            </a:r>
            <a:r>
              <a:rPr i="1" lang="en-US" sz="2400">
                <a:solidFill>
                  <a:schemeClr val="dk1"/>
                </a:solidFill>
              </a:rPr>
              <a:t>performance</a:t>
            </a:r>
            <a:r>
              <a:rPr lang="en-US" sz="2400">
                <a:solidFill>
                  <a:schemeClr val="dk1"/>
                </a:solidFill>
              </a:rPr>
              <a:t> as your budget will allow, not the most </a:t>
            </a:r>
            <a:r>
              <a:rPr i="1" lang="en-US" sz="2400">
                <a:solidFill>
                  <a:schemeClr val="dk1"/>
                </a:solidFill>
              </a:rPr>
              <a:t>hardware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The cluster should be as </a:t>
            </a:r>
            <a:r>
              <a:rPr i="1" lang="en-US" sz="2400">
                <a:solidFill>
                  <a:schemeClr val="dk1"/>
                </a:solidFill>
              </a:rPr>
              <a:t>balanced </a:t>
            </a:r>
            <a:r>
              <a:rPr lang="en-US" sz="2400">
                <a:solidFill>
                  <a:schemeClr val="dk1"/>
                </a:solidFill>
              </a:rPr>
              <a:t>as possible - fast processors with slow networking or storage are not useful! </a:t>
            </a:r>
            <a:endParaRPr sz="24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2"/>
          <p:cNvSpPr/>
          <p:nvPr/>
        </p:nvSpPr>
        <p:spPr>
          <a:xfrm>
            <a:off x="0" y="0"/>
            <a:ext cx="57600" cy="576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txBox="1"/>
          <p:nvPr>
            <p:ph type="title"/>
          </p:nvPr>
        </p:nvSpPr>
        <p:spPr>
          <a:xfrm>
            <a:off x="201975" y="2301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Linux Cluster Architecture</a:t>
            </a:r>
            <a:endParaRPr/>
          </a:p>
        </p:txBody>
      </p:sp>
      <p:grpSp>
        <p:nvGrpSpPr>
          <p:cNvPr id="83" name="Google Shape;83;p2"/>
          <p:cNvGrpSpPr/>
          <p:nvPr/>
        </p:nvGrpSpPr>
        <p:grpSpPr>
          <a:xfrm>
            <a:off x="2865250" y="3114863"/>
            <a:ext cx="2086800" cy="338700"/>
            <a:chOff x="3942525" y="2128850"/>
            <a:chExt cx="2086800" cy="338700"/>
          </a:xfrm>
        </p:grpSpPr>
        <p:sp>
          <p:nvSpPr>
            <p:cNvPr id="84" name="Google Shape;84;p2"/>
            <p:cNvSpPr txBox="1"/>
            <p:nvPr/>
          </p:nvSpPr>
          <p:spPr>
            <a:xfrm>
              <a:off x="3942525" y="2128850"/>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Compute Node </a:t>
              </a:r>
              <a:endParaRPr b="0" i="0" sz="1000" u="none" cap="none" strike="noStrike">
                <a:solidFill>
                  <a:srgbClr val="000000"/>
                </a:solidFill>
                <a:latin typeface="Arial"/>
                <a:ea typeface="Arial"/>
                <a:cs typeface="Arial"/>
                <a:sym typeface="Arial"/>
              </a:endParaRPr>
            </a:p>
          </p:txBody>
        </p:sp>
        <p:sp>
          <p:nvSpPr>
            <p:cNvPr id="85" name="Google Shape;85;p2"/>
            <p:cNvSpPr txBox="1"/>
            <p:nvPr/>
          </p:nvSpPr>
          <p:spPr>
            <a:xfrm>
              <a:off x="4980150"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sp>
          <p:nvSpPr>
            <p:cNvPr id="86" name="Google Shape;86;p2"/>
            <p:cNvSpPr txBox="1"/>
            <p:nvPr/>
          </p:nvSpPr>
          <p:spPr>
            <a:xfrm>
              <a:off x="5495925"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grpSp>
      <p:grpSp>
        <p:nvGrpSpPr>
          <p:cNvPr id="87" name="Google Shape;87;p2"/>
          <p:cNvGrpSpPr/>
          <p:nvPr/>
        </p:nvGrpSpPr>
        <p:grpSpPr>
          <a:xfrm>
            <a:off x="2865250" y="3540113"/>
            <a:ext cx="2086800" cy="338700"/>
            <a:chOff x="3942525" y="2128850"/>
            <a:chExt cx="2086800" cy="338700"/>
          </a:xfrm>
        </p:grpSpPr>
        <p:sp>
          <p:nvSpPr>
            <p:cNvPr id="88" name="Google Shape;88;p2"/>
            <p:cNvSpPr txBox="1"/>
            <p:nvPr/>
          </p:nvSpPr>
          <p:spPr>
            <a:xfrm>
              <a:off x="3942525" y="2128850"/>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Compute Node </a:t>
              </a:r>
              <a:endParaRPr b="0" i="0" sz="1000" u="none" cap="none" strike="noStrike">
                <a:solidFill>
                  <a:srgbClr val="000000"/>
                </a:solidFill>
                <a:latin typeface="Arial"/>
                <a:ea typeface="Arial"/>
                <a:cs typeface="Arial"/>
                <a:sym typeface="Arial"/>
              </a:endParaRPr>
            </a:p>
          </p:txBody>
        </p:sp>
        <p:sp>
          <p:nvSpPr>
            <p:cNvPr id="89" name="Google Shape;89;p2"/>
            <p:cNvSpPr txBox="1"/>
            <p:nvPr/>
          </p:nvSpPr>
          <p:spPr>
            <a:xfrm>
              <a:off x="4980150"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sp>
          <p:nvSpPr>
            <p:cNvPr id="90" name="Google Shape;90;p2"/>
            <p:cNvSpPr txBox="1"/>
            <p:nvPr/>
          </p:nvSpPr>
          <p:spPr>
            <a:xfrm>
              <a:off x="5495925"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grpSp>
      <p:sp>
        <p:nvSpPr>
          <p:cNvPr id="91" name="Google Shape;91;p2"/>
          <p:cNvSpPr txBox="1"/>
          <p:nvPr/>
        </p:nvSpPr>
        <p:spPr>
          <a:xfrm>
            <a:off x="2865250" y="3973200"/>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Compute Node </a:t>
            </a:r>
            <a:endParaRPr b="0" i="0" sz="1000" u="none" cap="none" strike="noStrike">
              <a:solidFill>
                <a:srgbClr val="000000"/>
              </a:solidFill>
              <a:latin typeface="Arial"/>
              <a:ea typeface="Arial"/>
              <a:cs typeface="Arial"/>
              <a:sym typeface="Arial"/>
            </a:endParaRPr>
          </a:p>
        </p:txBody>
      </p:sp>
      <p:sp>
        <p:nvSpPr>
          <p:cNvPr id="92" name="Google Shape;92;p2"/>
          <p:cNvSpPr txBox="1"/>
          <p:nvPr/>
        </p:nvSpPr>
        <p:spPr>
          <a:xfrm>
            <a:off x="2865250" y="4390625"/>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Compute Node </a:t>
            </a:r>
            <a:endParaRPr b="0" i="0" sz="1000" u="none" cap="none" strike="noStrike">
              <a:solidFill>
                <a:srgbClr val="000000"/>
              </a:solidFill>
              <a:latin typeface="Arial"/>
              <a:ea typeface="Arial"/>
              <a:cs typeface="Arial"/>
              <a:sym typeface="Arial"/>
            </a:endParaRPr>
          </a:p>
        </p:txBody>
      </p:sp>
      <p:sp>
        <p:nvSpPr>
          <p:cNvPr id="93" name="Google Shape;93;p2"/>
          <p:cNvSpPr txBox="1"/>
          <p:nvPr/>
        </p:nvSpPr>
        <p:spPr>
          <a:xfrm>
            <a:off x="2865250" y="4808050"/>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Compute Node </a:t>
            </a:r>
            <a:endParaRPr b="0" i="0" sz="1000" u="none" cap="none" strike="noStrike">
              <a:solidFill>
                <a:srgbClr val="000000"/>
              </a:solidFill>
              <a:latin typeface="Arial"/>
              <a:ea typeface="Arial"/>
              <a:cs typeface="Arial"/>
              <a:sym typeface="Arial"/>
            </a:endParaRPr>
          </a:p>
        </p:txBody>
      </p:sp>
      <p:grpSp>
        <p:nvGrpSpPr>
          <p:cNvPr id="94" name="Google Shape;94;p2"/>
          <p:cNvGrpSpPr/>
          <p:nvPr/>
        </p:nvGrpSpPr>
        <p:grpSpPr>
          <a:xfrm>
            <a:off x="2842975" y="2713475"/>
            <a:ext cx="2086800" cy="338700"/>
            <a:chOff x="3942525" y="2128850"/>
            <a:chExt cx="2086800" cy="338700"/>
          </a:xfrm>
        </p:grpSpPr>
        <p:sp>
          <p:nvSpPr>
            <p:cNvPr id="95" name="Google Shape;95;p2"/>
            <p:cNvSpPr txBox="1"/>
            <p:nvPr/>
          </p:nvSpPr>
          <p:spPr>
            <a:xfrm>
              <a:off x="3942525" y="2128850"/>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Login Node </a:t>
              </a:r>
              <a:endParaRPr b="0" i="0" sz="1000" u="none" cap="none" strike="noStrike">
                <a:solidFill>
                  <a:srgbClr val="000000"/>
                </a:solidFill>
                <a:latin typeface="Arial"/>
                <a:ea typeface="Arial"/>
                <a:cs typeface="Arial"/>
                <a:sym typeface="Arial"/>
              </a:endParaRPr>
            </a:p>
          </p:txBody>
        </p:sp>
        <p:sp>
          <p:nvSpPr>
            <p:cNvPr id="96" name="Google Shape;96;p2"/>
            <p:cNvSpPr txBox="1"/>
            <p:nvPr/>
          </p:nvSpPr>
          <p:spPr>
            <a:xfrm>
              <a:off x="4980150"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sp>
          <p:nvSpPr>
            <p:cNvPr id="97" name="Google Shape;97;p2"/>
            <p:cNvSpPr txBox="1"/>
            <p:nvPr/>
          </p:nvSpPr>
          <p:spPr>
            <a:xfrm>
              <a:off x="5495925" y="2151950"/>
              <a:ext cx="471600" cy="292500"/>
            </a:xfrm>
            <a:prstGeom prst="rect">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700"/>
                <a:buFont typeface="Arial"/>
                <a:buNone/>
              </a:pPr>
              <a:r>
                <a:rPr b="0" i="0" lang="en-US" sz="700" u="none" cap="none" strike="noStrike">
                  <a:solidFill>
                    <a:srgbClr val="000000"/>
                  </a:solidFill>
                  <a:latin typeface="Arial"/>
                  <a:ea typeface="Arial"/>
                  <a:cs typeface="Arial"/>
                  <a:sym typeface="Arial"/>
                </a:rPr>
                <a:t>GPU</a:t>
              </a:r>
              <a:endParaRPr b="0" i="0" sz="700" u="none" cap="none" strike="noStrike">
                <a:solidFill>
                  <a:srgbClr val="000000"/>
                </a:solidFill>
                <a:latin typeface="Arial"/>
                <a:ea typeface="Arial"/>
                <a:cs typeface="Arial"/>
                <a:sym typeface="Arial"/>
              </a:endParaRPr>
            </a:p>
          </p:txBody>
        </p:sp>
      </p:grpSp>
      <p:sp>
        <p:nvSpPr>
          <p:cNvPr id="98" name="Google Shape;98;p2"/>
          <p:cNvSpPr/>
          <p:nvPr/>
        </p:nvSpPr>
        <p:spPr>
          <a:xfrm>
            <a:off x="3013088" y="5266348"/>
            <a:ext cx="1791125" cy="1125025"/>
          </a:xfrm>
          <a:prstGeom prst="flowChartMagneticDisk">
            <a:avLst/>
          </a:prstGeom>
          <a:solidFill>
            <a:srgbClr val="9FC5E8"/>
          </a:solidFill>
          <a:ln cap="flat" cmpd="sng" w="9525">
            <a:solidFill>
              <a:srgbClr val="07376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Parallel Storage</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(scratch) </a:t>
            </a:r>
            <a:endParaRPr b="0" i="0" sz="1200" u="none" cap="none" strike="noStrike">
              <a:solidFill>
                <a:srgbClr val="000000"/>
              </a:solidFill>
              <a:latin typeface="Arial"/>
              <a:ea typeface="Arial"/>
              <a:cs typeface="Arial"/>
              <a:sym typeface="Arial"/>
            </a:endParaRPr>
          </a:p>
        </p:txBody>
      </p:sp>
      <p:sp>
        <p:nvSpPr>
          <p:cNvPr id="99" name="Google Shape;99;p2"/>
          <p:cNvSpPr/>
          <p:nvPr/>
        </p:nvSpPr>
        <p:spPr>
          <a:xfrm>
            <a:off x="6161225" y="2308607"/>
            <a:ext cx="1027200" cy="684600"/>
          </a:xfrm>
          <a:prstGeom prst="rect">
            <a:avLst/>
          </a:prstGeom>
          <a:solidFill>
            <a:srgbClr val="EA9999"/>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Private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IPMI Network</a:t>
            </a:r>
            <a:endParaRPr b="0" i="0" sz="1200" u="none" cap="none" strike="noStrike">
              <a:solidFill>
                <a:srgbClr val="000000"/>
              </a:solidFill>
              <a:latin typeface="Arial"/>
              <a:ea typeface="Arial"/>
              <a:cs typeface="Arial"/>
              <a:sym typeface="Arial"/>
            </a:endParaRPr>
          </a:p>
        </p:txBody>
      </p:sp>
      <p:sp>
        <p:nvSpPr>
          <p:cNvPr id="100" name="Google Shape;100;p2"/>
          <p:cNvSpPr/>
          <p:nvPr/>
        </p:nvSpPr>
        <p:spPr>
          <a:xfrm>
            <a:off x="6161225" y="3557412"/>
            <a:ext cx="1027200" cy="588300"/>
          </a:xfrm>
          <a:prstGeom prst="rect">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Private</a:t>
            </a:r>
            <a:endParaRPr b="0" i="0" sz="12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Ethernet Network</a:t>
            </a:r>
            <a:endParaRPr b="0" i="0" sz="1200" u="none" cap="none" strike="noStrike">
              <a:solidFill>
                <a:srgbClr val="000000"/>
              </a:solidFill>
              <a:latin typeface="Arial"/>
              <a:ea typeface="Arial"/>
              <a:cs typeface="Arial"/>
              <a:sym typeface="Arial"/>
            </a:endParaRPr>
          </a:p>
        </p:txBody>
      </p:sp>
      <p:sp>
        <p:nvSpPr>
          <p:cNvPr id="101" name="Google Shape;101;p2"/>
          <p:cNvSpPr/>
          <p:nvPr/>
        </p:nvSpPr>
        <p:spPr>
          <a:xfrm>
            <a:off x="6161225" y="4678054"/>
            <a:ext cx="1027200" cy="588300"/>
          </a:xfrm>
          <a:prstGeom prst="rect">
            <a:avLst/>
          </a:prstGeom>
          <a:solidFill>
            <a:srgbClr val="9FC5E8"/>
          </a:solidFill>
          <a:ln cap="flat" cmpd="sng" w="9525">
            <a:solidFill>
              <a:srgbClr val="0B5394"/>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Private</a:t>
            </a:r>
            <a:br>
              <a:rPr b="0" i="0" lang="en-US" sz="1200" u="none" cap="none" strike="noStrike">
                <a:solidFill>
                  <a:srgbClr val="000000"/>
                </a:solidFill>
                <a:latin typeface="Arial"/>
                <a:ea typeface="Arial"/>
                <a:cs typeface="Arial"/>
                <a:sym typeface="Arial"/>
              </a:rPr>
            </a:br>
            <a:r>
              <a:rPr b="0" i="0" lang="en-US" sz="1200" u="none" cap="none" strike="noStrike">
                <a:solidFill>
                  <a:srgbClr val="000000"/>
                </a:solidFill>
                <a:latin typeface="Arial"/>
                <a:ea typeface="Arial"/>
                <a:cs typeface="Arial"/>
                <a:sym typeface="Arial"/>
              </a:rPr>
              <a:t>Infiniband Network</a:t>
            </a:r>
            <a:endParaRPr b="0" i="0" sz="1200" u="none" cap="none" strike="noStrike">
              <a:solidFill>
                <a:srgbClr val="000000"/>
              </a:solidFill>
              <a:latin typeface="Arial"/>
              <a:ea typeface="Arial"/>
              <a:cs typeface="Arial"/>
              <a:sym typeface="Arial"/>
            </a:endParaRPr>
          </a:p>
        </p:txBody>
      </p:sp>
      <p:cxnSp>
        <p:nvCxnSpPr>
          <p:cNvPr id="102" name="Google Shape;102;p2"/>
          <p:cNvCxnSpPr>
            <a:stCxn id="103" idx="3"/>
            <a:endCxn id="99" idx="1"/>
          </p:cNvCxnSpPr>
          <p:nvPr/>
        </p:nvCxnSpPr>
        <p:spPr>
          <a:xfrm>
            <a:off x="4913213" y="2054275"/>
            <a:ext cx="1248000" cy="596700"/>
          </a:xfrm>
          <a:prstGeom prst="straightConnector1">
            <a:avLst/>
          </a:prstGeom>
          <a:noFill/>
          <a:ln cap="flat" cmpd="sng" w="19050">
            <a:solidFill>
              <a:srgbClr val="CC0000"/>
            </a:solidFill>
            <a:prstDash val="solid"/>
            <a:round/>
            <a:headEnd len="sm" w="sm" type="none"/>
            <a:tailEnd len="sm" w="sm" type="none"/>
          </a:ln>
        </p:spPr>
      </p:cxnSp>
      <p:cxnSp>
        <p:nvCxnSpPr>
          <p:cNvPr id="104" name="Google Shape;104;p2"/>
          <p:cNvCxnSpPr>
            <a:stCxn id="95" idx="3"/>
            <a:endCxn id="99" idx="1"/>
          </p:cNvCxnSpPr>
          <p:nvPr/>
        </p:nvCxnSpPr>
        <p:spPr>
          <a:xfrm flipH="1" rot="10800000">
            <a:off x="4929775" y="2650925"/>
            <a:ext cx="1231500" cy="231900"/>
          </a:xfrm>
          <a:prstGeom prst="straightConnector1">
            <a:avLst/>
          </a:prstGeom>
          <a:noFill/>
          <a:ln cap="flat" cmpd="sng" w="19050">
            <a:solidFill>
              <a:srgbClr val="CC0000"/>
            </a:solidFill>
            <a:prstDash val="solid"/>
            <a:round/>
            <a:headEnd len="sm" w="sm" type="none"/>
            <a:tailEnd len="sm" w="sm" type="none"/>
          </a:ln>
        </p:spPr>
      </p:cxnSp>
      <p:cxnSp>
        <p:nvCxnSpPr>
          <p:cNvPr id="105" name="Google Shape;105;p2"/>
          <p:cNvCxnSpPr>
            <a:stCxn id="84" idx="3"/>
            <a:endCxn id="99" idx="1"/>
          </p:cNvCxnSpPr>
          <p:nvPr/>
        </p:nvCxnSpPr>
        <p:spPr>
          <a:xfrm flipH="1" rot="10800000">
            <a:off x="4952050" y="2650913"/>
            <a:ext cx="1209300" cy="633300"/>
          </a:xfrm>
          <a:prstGeom prst="straightConnector1">
            <a:avLst/>
          </a:prstGeom>
          <a:noFill/>
          <a:ln cap="flat" cmpd="sng" w="19050">
            <a:solidFill>
              <a:srgbClr val="CC0000"/>
            </a:solidFill>
            <a:prstDash val="solid"/>
            <a:round/>
            <a:headEnd len="sm" w="sm" type="none"/>
            <a:tailEnd len="sm" w="sm" type="none"/>
          </a:ln>
        </p:spPr>
      </p:cxnSp>
      <p:cxnSp>
        <p:nvCxnSpPr>
          <p:cNvPr id="106" name="Google Shape;106;p2"/>
          <p:cNvCxnSpPr>
            <a:stCxn id="88" idx="3"/>
            <a:endCxn id="99" idx="1"/>
          </p:cNvCxnSpPr>
          <p:nvPr/>
        </p:nvCxnSpPr>
        <p:spPr>
          <a:xfrm flipH="1" rot="10800000">
            <a:off x="4952050" y="2650763"/>
            <a:ext cx="1209300" cy="1058700"/>
          </a:xfrm>
          <a:prstGeom prst="straightConnector1">
            <a:avLst/>
          </a:prstGeom>
          <a:noFill/>
          <a:ln cap="flat" cmpd="sng" w="19050">
            <a:solidFill>
              <a:srgbClr val="CC0000"/>
            </a:solidFill>
            <a:prstDash val="solid"/>
            <a:round/>
            <a:headEnd len="sm" w="sm" type="none"/>
            <a:tailEnd len="sm" w="sm" type="none"/>
          </a:ln>
        </p:spPr>
      </p:cxnSp>
      <p:cxnSp>
        <p:nvCxnSpPr>
          <p:cNvPr id="107" name="Google Shape;107;p2"/>
          <p:cNvCxnSpPr>
            <a:stCxn id="91" idx="3"/>
            <a:endCxn id="99" idx="1"/>
          </p:cNvCxnSpPr>
          <p:nvPr/>
        </p:nvCxnSpPr>
        <p:spPr>
          <a:xfrm flipH="1" rot="10800000">
            <a:off x="4952050" y="2650950"/>
            <a:ext cx="1209300" cy="1491600"/>
          </a:xfrm>
          <a:prstGeom prst="straightConnector1">
            <a:avLst/>
          </a:prstGeom>
          <a:noFill/>
          <a:ln cap="flat" cmpd="sng" w="19050">
            <a:solidFill>
              <a:srgbClr val="CC0000"/>
            </a:solidFill>
            <a:prstDash val="solid"/>
            <a:round/>
            <a:headEnd len="sm" w="sm" type="none"/>
            <a:tailEnd len="sm" w="sm" type="none"/>
          </a:ln>
        </p:spPr>
      </p:cxnSp>
      <p:cxnSp>
        <p:nvCxnSpPr>
          <p:cNvPr id="108" name="Google Shape;108;p2"/>
          <p:cNvCxnSpPr>
            <a:stCxn id="92" idx="3"/>
            <a:endCxn id="99" idx="1"/>
          </p:cNvCxnSpPr>
          <p:nvPr/>
        </p:nvCxnSpPr>
        <p:spPr>
          <a:xfrm flipH="1" rot="10800000">
            <a:off x="4952050" y="2650775"/>
            <a:ext cx="1209300" cy="1909200"/>
          </a:xfrm>
          <a:prstGeom prst="straightConnector1">
            <a:avLst/>
          </a:prstGeom>
          <a:noFill/>
          <a:ln cap="flat" cmpd="sng" w="19050">
            <a:solidFill>
              <a:srgbClr val="CC0000"/>
            </a:solidFill>
            <a:prstDash val="solid"/>
            <a:round/>
            <a:headEnd len="sm" w="sm" type="none"/>
            <a:tailEnd len="sm" w="sm" type="none"/>
          </a:ln>
        </p:spPr>
      </p:cxnSp>
      <p:cxnSp>
        <p:nvCxnSpPr>
          <p:cNvPr id="109" name="Google Shape;109;p2"/>
          <p:cNvCxnSpPr/>
          <p:nvPr/>
        </p:nvCxnSpPr>
        <p:spPr>
          <a:xfrm>
            <a:off x="4890250" y="5363500"/>
            <a:ext cx="0" cy="0"/>
          </a:xfrm>
          <a:prstGeom prst="straightConnector1">
            <a:avLst/>
          </a:prstGeom>
          <a:noFill/>
          <a:ln cap="flat" cmpd="sng" w="9525">
            <a:solidFill>
              <a:schemeClr val="dk2"/>
            </a:solidFill>
            <a:prstDash val="solid"/>
            <a:round/>
            <a:headEnd len="sm" w="sm" type="none"/>
            <a:tailEnd len="sm" w="sm" type="none"/>
          </a:ln>
        </p:spPr>
      </p:cxnSp>
      <p:cxnSp>
        <p:nvCxnSpPr>
          <p:cNvPr id="110" name="Google Shape;110;p2"/>
          <p:cNvCxnSpPr>
            <a:stCxn id="93" idx="3"/>
            <a:endCxn id="99" idx="1"/>
          </p:cNvCxnSpPr>
          <p:nvPr/>
        </p:nvCxnSpPr>
        <p:spPr>
          <a:xfrm flipH="1" rot="10800000">
            <a:off x="4952050" y="2650900"/>
            <a:ext cx="1209300" cy="2326500"/>
          </a:xfrm>
          <a:prstGeom prst="straightConnector1">
            <a:avLst/>
          </a:prstGeom>
          <a:noFill/>
          <a:ln cap="flat" cmpd="sng" w="19050">
            <a:solidFill>
              <a:srgbClr val="CC0000"/>
            </a:solidFill>
            <a:prstDash val="solid"/>
            <a:round/>
            <a:headEnd len="sm" w="sm" type="none"/>
            <a:tailEnd len="sm" w="sm" type="none"/>
          </a:ln>
        </p:spPr>
      </p:cxnSp>
      <p:cxnSp>
        <p:nvCxnSpPr>
          <p:cNvPr id="111" name="Google Shape;111;p2"/>
          <p:cNvCxnSpPr>
            <a:stCxn id="98" idx="4"/>
            <a:endCxn id="99" idx="1"/>
          </p:cNvCxnSpPr>
          <p:nvPr/>
        </p:nvCxnSpPr>
        <p:spPr>
          <a:xfrm flipH="1" rot="10800000">
            <a:off x="4804213" y="2650961"/>
            <a:ext cx="1356900" cy="3177900"/>
          </a:xfrm>
          <a:prstGeom prst="straightConnector1">
            <a:avLst/>
          </a:prstGeom>
          <a:noFill/>
          <a:ln cap="flat" cmpd="sng" w="19050">
            <a:solidFill>
              <a:srgbClr val="CC0000"/>
            </a:solidFill>
            <a:prstDash val="solid"/>
            <a:round/>
            <a:headEnd len="sm" w="sm" type="none"/>
            <a:tailEnd len="sm" w="sm" type="none"/>
          </a:ln>
        </p:spPr>
      </p:cxnSp>
      <p:cxnSp>
        <p:nvCxnSpPr>
          <p:cNvPr id="112" name="Google Shape;112;p2"/>
          <p:cNvCxnSpPr>
            <a:stCxn id="103" idx="3"/>
            <a:endCxn id="100" idx="1"/>
          </p:cNvCxnSpPr>
          <p:nvPr/>
        </p:nvCxnSpPr>
        <p:spPr>
          <a:xfrm>
            <a:off x="4913213" y="2054275"/>
            <a:ext cx="1248000" cy="1797300"/>
          </a:xfrm>
          <a:prstGeom prst="straightConnector1">
            <a:avLst/>
          </a:prstGeom>
          <a:noFill/>
          <a:ln cap="flat" cmpd="sng" w="19050">
            <a:solidFill>
              <a:srgbClr val="38761D"/>
            </a:solidFill>
            <a:prstDash val="solid"/>
            <a:round/>
            <a:headEnd len="sm" w="sm" type="none"/>
            <a:tailEnd len="sm" w="sm" type="none"/>
          </a:ln>
        </p:spPr>
      </p:cxnSp>
      <p:cxnSp>
        <p:nvCxnSpPr>
          <p:cNvPr id="113" name="Google Shape;113;p2"/>
          <p:cNvCxnSpPr>
            <a:stCxn id="95" idx="3"/>
            <a:endCxn id="100" idx="1"/>
          </p:cNvCxnSpPr>
          <p:nvPr/>
        </p:nvCxnSpPr>
        <p:spPr>
          <a:xfrm>
            <a:off x="4929775" y="2882825"/>
            <a:ext cx="1231500" cy="968700"/>
          </a:xfrm>
          <a:prstGeom prst="straightConnector1">
            <a:avLst/>
          </a:prstGeom>
          <a:noFill/>
          <a:ln cap="flat" cmpd="sng" w="19050">
            <a:solidFill>
              <a:srgbClr val="38761D"/>
            </a:solidFill>
            <a:prstDash val="solid"/>
            <a:round/>
            <a:headEnd len="sm" w="sm" type="none"/>
            <a:tailEnd len="sm" w="sm" type="none"/>
          </a:ln>
        </p:spPr>
      </p:cxnSp>
      <p:cxnSp>
        <p:nvCxnSpPr>
          <p:cNvPr id="114" name="Google Shape;114;p2"/>
          <p:cNvCxnSpPr>
            <a:stCxn id="84" idx="3"/>
            <a:endCxn id="100" idx="1"/>
          </p:cNvCxnSpPr>
          <p:nvPr/>
        </p:nvCxnSpPr>
        <p:spPr>
          <a:xfrm>
            <a:off x="4952050" y="3284213"/>
            <a:ext cx="1209300" cy="567300"/>
          </a:xfrm>
          <a:prstGeom prst="straightConnector1">
            <a:avLst/>
          </a:prstGeom>
          <a:noFill/>
          <a:ln cap="flat" cmpd="sng" w="19050">
            <a:solidFill>
              <a:srgbClr val="38761D"/>
            </a:solidFill>
            <a:prstDash val="solid"/>
            <a:round/>
            <a:headEnd len="sm" w="sm" type="none"/>
            <a:tailEnd len="sm" w="sm" type="none"/>
          </a:ln>
        </p:spPr>
      </p:cxnSp>
      <p:cxnSp>
        <p:nvCxnSpPr>
          <p:cNvPr id="115" name="Google Shape;115;p2"/>
          <p:cNvCxnSpPr>
            <a:stCxn id="88" idx="3"/>
            <a:endCxn id="100" idx="1"/>
          </p:cNvCxnSpPr>
          <p:nvPr/>
        </p:nvCxnSpPr>
        <p:spPr>
          <a:xfrm>
            <a:off x="4952050" y="3709463"/>
            <a:ext cx="1209300" cy="142200"/>
          </a:xfrm>
          <a:prstGeom prst="straightConnector1">
            <a:avLst/>
          </a:prstGeom>
          <a:noFill/>
          <a:ln cap="flat" cmpd="sng" w="19050">
            <a:solidFill>
              <a:srgbClr val="38761D"/>
            </a:solidFill>
            <a:prstDash val="solid"/>
            <a:round/>
            <a:headEnd len="sm" w="sm" type="none"/>
            <a:tailEnd len="sm" w="sm" type="none"/>
          </a:ln>
        </p:spPr>
      </p:cxnSp>
      <p:cxnSp>
        <p:nvCxnSpPr>
          <p:cNvPr id="116" name="Google Shape;116;p2"/>
          <p:cNvCxnSpPr>
            <a:stCxn id="91" idx="3"/>
            <a:endCxn id="100" idx="1"/>
          </p:cNvCxnSpPr>
          <p:nvPr/>
        </p:nvCxnSpPr>
        <p:spPr>
          <a:xfrm flipH="1" rot="10800000">
            <a:off x="4952050" y="3851550"/>
            <a:ext cx="1209300" cy="291000"/>
          </a:xfrm>
          <a:prstGeom prst="straightConnector1">
            <a:avLst/>
          </a:prstGeom>
          <a:noFill/>
          <a:ln cap="flat" cmpd="sng" w="19050">
            <a:solidFill>
              <a:srgbClr val="38761D"/>
            </a:solidFill>
            <a:prstDash val="solid"/>
            <a:round/>
            <a:headEnd len="sm" w="sm" type="none"/>
            <a:tailEnd len="sm" w="sm" type="none"/>
          </a:ln>
        </p:spPr>
      </p:cxnSp>
      <p:cxnSp>
        <p:nvCxnSpPr>
          <p:cNvPr id="117" name="Google Shape;117;p2"/>
          <p:cNvCxnSpPr>
            <a:stCxn id="92" idx="3"/>
            <a:endCxn id="100" idx="1"/>
          </p:cNvCxnSpPr>
          <p:nvPr/>
        </p:nvCxnSpPr>
        <p:spPr>
          <a:xfrm flipH="1" rot="10800000">
            <a:off x="4952050" y="3851675"/>
            <a:ext cx="1209300" cy="708300"/>
          </a:xfrm>
          <a:prstGeom prst="straightConnector1">
            <a:avLst/>
          </a:prstGeom>
          <a:noFill/>
          <a:ln cap="flat" cmpd="sng" w="19050">
            <a:solidFill>
              <a:srgbClr val="38761D"/>
            </a:solidFill>
            <a:prstDash val="solid"/>
            <a:round/>
            <a:headEnd len="sm" w="sm" type="none"/>
            <a:tailEnd len="sm" w="sm" type="none"/>
          </a:ln>
        </p:spPr>
      </p:cxnSp>
      <p:cxnSp>
        <p:nvCxnSpPr>
          <p:cNvPr id="118" name="Google Shape;118;p2"/>
          <p:cNvCxnSpPr>
            <a:stCxn id="98" idx="4"/>
            <a:endCxn id="100" idx="1"/>
          </p:cNvCxnSpPr>
          <p:nvPr/>
        </p:nvCxnSpPr>
        <p:spPr>
          <a:xfrm flipH="1" rot="10800000">
            <a:off x="4804213" y="3851561"/>
            <a:ext cx="1356900" cy="1977300"/>
          </a:xfrm>
          <a:prstGeom prst="straightConnector1">
            <a:avLst/>
          </a:prstGeom>
          <a:noFill/>
          <a:ln cap="flat" cmpd="sng" w="19050">
            <a:solidFill>
              <a:srgbClr val="38761D"/>
            </a:solidFill>
            <a:prstDash val="solid"/>
            <a:round/>
            <a:headEnd len="sm" w="sm" type="none"/>
            <a:tailEnd len="sm" w="sm" type="none"/>
          </a:ln>
        </p:spPr>
      </p:cxnSp>
      <p:cxnSp>
        <p:nvCxnSpPr>
          <p:cNvPr id="119" name="Google Shape;119;p2"/>
          <p:cNvCxnSpPr>
            <a:stCxn id="103" idx="3"/>
            <a:endCxn id="101" idx="1"/>
          </p:cNvCxnSpPr>
          <p:nvPr/>
        </p:nvCxnSpPr>
        <p:spPr>
          <a:xfrm>
            <a:off x="4913213" y="2054275"/>
            <a:ext cx="1248000" cy="2917800"/>
          </a:xfrm>
          <a:prstGeom prst="straightConnector1">
            <a:avLst/>
          </a:prstGeom>
          <a:noFill/>
          <a:ln cap="flat" cmpd="sng" w="19050">
            <a:solidFill>
              <a:srgbClr val="3D85C6"/>
            </a:solidFill>
            <a:prstDash val="solid"/>
            <a:round/>
            <a:headEnd len="sm" w="sm" type="none"/>
            <a:tailEnd len="sm" w="sm" type="none"/>
          </a:ln>
        </p:spPr>
      </p:cxnSp>
      <p:cxnSp>
        <p:nvCxnSpPr>
          <p:cNvPr id="120" name="Google Shape;120;p2"/>
          <p:cNvCxnSpPr>
            <a:stCxn id="95" idx="3"/>
            <a:endCxn id="101" idx="1"/>
          </p:cNvCxnSpPr>
          <p:nvPr/>
        </p:nvCxnSpPr>
        <p:spPr>
          <a:xfrm>
            <a:off x="4929775" y="2882825"/>
            <a:ext cx="1231500" cy="2089500"/>
          </a:xfrm>
          <a:prstGeom prst="straightConnector1">
            <a:avLst/>
          </a:prstGeom>
          <a:noFill/>
          <a:ln cap="flat" cmpd="sng" w="19050">
            <a:solidFill>
              <a:srgbClr val="3D85C6"/>
            </a:solidFill>
            <a:prstDash val="solid"/>
            <a:round/>
            <a:headEnd len="sm" w="sm" type="none"/>
            <a:tailEnd len="sm" w="sm" type="none"/>
          </a:ln>
        </p:spPr>
      </p:cxnSp>
      <p:cxnSp>
        <p:nvCxnSpPr>
          <p:cNvPr id="121" name="Google Shape;121;p2"/>
          <p:cNvCxnSpPr>
            <a:stCxn id="84" idx="3"/>
            <a:endCxn id="101" idx="1"/>
          </p:cNvCxnSpPr>
          <p:nvPr/>
        </p:nvCxnSpPr>
        <p:spPr>
          <a:xfrm>
            <a:off x="4952050" y="3284213"/>
            <a:ext cx="1209300" cy="1688100"/>
          </a:xfrm>
          <a:prstGeom prst="straightConnector1">
            <a:avLst/>
          </a:prstGeom>
          <a:noFill/>
          <a:ln cap="flat" cmpd="sng" w="19050">
            <a:solidFill>
              <a:srgbClr val="3D85C6"/>
            </a:solidFill>
            <a:prstDash val="solid"/>
            <a:round/>
            <a:headEnd len="sm" w="sm" type="none"/>
            <a:tailEnd len="sm" w="sm" type="none"/>
          </a:ln>
        </p:spPr>
      </p:cxnSp>
      <p:cxnSp>
        <p:nvCxnSpPr>
          <p:cNvPr id="122" name="Google Shape;122;p2"/>
          <p:cNvCxnSpPr>
            <a:stCxn id="88" idx="3"/>
            <a:endCxn id="101" idx="1"/>
          </p:cNvCxnSpPr>
          <p:nvPr/>
        </p:nvCxnSpPr>
        <p:spPr>
          <a:xfrm>
            <a:off x="4952050" y="3709463"/>
            <a:ext cx="1209300" cy="1262700"/>
          </a:xfrm>
          <a:prstGeom prst="straightConnector1">
            <a:avLst/>
          </a:prstGeom>
          <a:noFill/>
          <a:ln cap="flat" cmpd="sng" w="19050">
            <a:solidFill>
              <a:srgbClr val="3D85C6"/>
            </a:solidFill>
            <a:prstDash val="solid"/>
            <a:round/>
            <a:headEnd len="sm" w="sm" type="none"/>
            <a:tailEnd len="sm" w="sm" type="none"/>
          </a:ln>
        </p:spPr>
      </p:cxnSp>
      <p:cxnSp>
        <p:nvCxnSpPr>
          <p:cNvPr id="123" name="Google Shape;123;p2"/>
          <p:cNvCxnSpPr>
            <a:stCxn id="91" idx="3"/>
            <a:endCxn id="101" idx="1"/>
          </p:cNvCxnSpPr>
          <p:nvPr/>
        </p:nvCxnSpPr>
        <p:spPr>
          <a:xfrm>
            <a:off x="4952050" y="4142550"/>
            <a:ext cx="1209300" cy="829800"/>
          </a:xfrm>
          <a:prstGeom prst="straightConnector1">
            <a:avLst/>
          </a:prstGeom>
          <a:noFill/>
          <a:ln cap="flat" cmpd="sng" w="19050">
            <a:solidFill>
              <a:srgbClr val="3D85C6"/>
            </a:solidFill>
            <a:prstDash val="solid"/>
            <a:round/>
            <a:headEnd len="sm" w="sm" type="none"/>
            <a:tailEnd len="sm" w="sm" type="none"/>
          </a:ln>
        </p:spPr>
      </p:cxnSp>
      <p:cxnSp>
        <p:nvCxnSpPr>
          <p:cNvPr id="124" name="Google Shape;124;p2"/>
          <p:cNvCxnSpPr>
            <a:stCxn id="92" idx="3"/>
            <a:endCxn id="101" idx="1"/>
          </p:cNvCxnSpPr>
          <p:nvPr/>
        </p:nvCxnSpPr>
        <p:spPr>
          <a:xfrm>
            <a:off x="4952050" y="4559975"/>
            <a:ext cx="1209300" cy="412200"/>
          </a:xfrm>
          <a:prstGeom prst="straightConnector1">
            <a:avLst/>
          </a:prstGeom>
          <a:noFill/>
          <a:ln cap="flat" cmpd="sng" w="19050">
            <a:solidFill>
              <a:srgbClr val="3D85C6"/>
            </a:solidFill>
            <a:prstDash val="solid"/>
            <a:round/>
            <a:headEnd len="sm" w="sm" type="none"/>
            <a:tailEnd len="sm" w="sm" type="none"/>
          </a:ln>
        </p:spPr>
      </p:cxnSp>
      <p:cxnSp>
        <p:nvCxnSpPr>
          <p:cNvPr id="125" name="Google Shape;125;p2"/>
          <p:cNvCxnSpPr>
            <a:stCxn id="93" idx="3"/>
            <a:endCxn id="101" idx="1"/>
          </p:cNvCxnSpPr>
          <p:nvPr/>
        </p:nvCxnSpPr>
        <p:spPr>
          <a:xfrm flipH="1" rot="10800000">
            <a:off x="4952050" y="4972300"/>
            <a:ext cx="1209300" cy="5100"/>
          </a:xfrm>
          <a:prstGeom prst="straightConnector1">
            <a:avLst/>
          </a:prstGeom>
          <a:noFill/>
          <a:ln cap="flat" cmpd="sng" w="19050">
            <a:solidFill>
              <a:srgbClr val="3D85C6"/>
            </a:solidFill>
            <a:prstDash val="solid"/>
            <a:round/>
            <a:headEnd len="sm" w="sm" type="none"/>
            <a:tailEnd len="sm" w="sm" type="none"/>
          </a:ln>
        </p:spPr>
      </p:cxnSp>
      <p:cxnSp>
        <p:nvCxnSpPr>
          <p:cNvPr id="126" name="Google Shape;126;p2"/>
          <p:cNvCxnSpPr>
            <a:stCxn id="98" idx="4"/>
            <a:endCxn id="101" idx="1"/>
          </p:cNvCxnSpPr>
          <p:nvPr/>
        </p:nvCxnSpPr>
        <p:spPr>
          <a:xfrm flipH="1" rot="10800000">
            <a:off x="4804213" y="4972061"/>
            <a:ext cx="1356900" cy="856800"/>
          </a:xfrm>
          <a:prstGeom prst="straightConnector1">
            <a:avLst/>
          </a:prstGeom>
          <a:noFill/>
          <a:ln cap="flat" cmpd="sng" w="19050">
            <a:solidFill>
              <a:srgbClr val="3D85C6"/>
            </a:solidFill>
            <a:prstDash val="solid"/>
            <a:round/>
            <a:headEnd len="sm" w="sm" type="none"/>
            <a:tailEnd len="sm" w="sm" type="none"/>
          </a:ln>
        </p:spPr>
      </p:cxnSp>
      <p:sp>
        <p:nvSpPr>
          <p:cNvPr id="127" name="Google Shape;127;p2"/>
          <p:cNvSpPr txBox="1"/>
          <p:nvPr/>
        </p:nvSpPr>
        <p:spPr>
          <a:xfrm>
            <a:off x="0" y="3235025"/>
            <a:ext cx="13482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
          <p:cNvSpPr/>
          <p:nvPr/>
        </p:nvSpPr>
        <p:spPr>
          <a:xfrm>
            <a:off x="630075" y="2250263"/>
            <a:ext cx="1348164" cy="1043712"/>
          </a:xfrm>
          <a:prstGeom prst="cloud">
            <a:avLst/>
          </a:prstGeom>
          <a:solidFill>
            <a:srgbClr val="93C47D"/>
          </a:solidFill>
          <a:ln cap="flat" cmpd="sng" w="9525">
            <a:solidFill>
              <a:srgbClr val="38761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LAN</a:t>
            </a:r>
            <a:endParaRPr b="0" i="0" sz="1400" u="none" cap="none" strike="noStrike">
              <a:solidFill>
                <a:srgbClr val="000000"/>
              </a:solidFill>
              <a:latin typeface="Arial"/>
              <a:ea typeface="Arial"/>
              <a:cs typeface="Arial"/>
              <a:sym typeface="Arial"/>
            </a:endParaRPr>
          </a:p>
        </p:txBody>
      </p:sp>
      <p:cxnSp>
        <p:nvCxnSpPr>
          <p:cNvPr id="129" name="Google Shape;129;p2"/>
          <p:cNvCxnSpPr>
            <a:stCxn id="128" idx="0"/>
            <a:endCxn id="103" idx="1"/>
          </p:cNvCxnSpPr>
          <p:nvPr/>
        </p:nvCxnSpPr>
        <p:spPr>
          <a:xfrm flipH="1" rot="10800000">
            <a:off x="1977116" y="2054219"/>
            <a:ext cx="849300" cy="717900"/>
          </a:xfrm>
          <a:prstGeom prst="straightConnector1">
            <a:avLst/>
          </a:prstGeom>
          <a:noFill/>
          <a:ln cap="flat" cmpd="sng" w="19050">
            <a:solidFill>
              <a:srgbClr val="38761D"/>
            </a:solidFill>
            <a:prstDash val="solid"/>
            <a:round/>
            <a:headEnd len="sm" w="sm" type="none"/>
            <a:tailEnd len="sm" w="sm" type="none"/>
          </a:ln>
        </p:spPr>
      </p:cxnSp>
      <p:cxnSp>
        <p:nvCxnSpPr>
          <p:cNvPr id="130" name="Google Shape;130;p2"/>
          <p:cNvCxnSpPr>
            <a:stCxn id="128" idx="0"/>
            <a:endCxn id="95" idx="1"/>
          </p:cNvCxnSpPr>
          <p:nvPr/>
        </p:nvCxnSpPr>
        <p:spPr>
          <a:xfrm>
            <a:off x="1977116" y="2772119"/>
            <a:ext cx="865800" cy="110700"/>
          </a:xfrm>
          <a:prstGeom prst="straightConnector1">
            <a:avLst/>
          </a:prstGeom>
          <a:noFill/>
          <a:ln cap="flat" cmpd="sng" w="19050">
            <a:solidFill>
              <a:srgbClr val="38761D"/>
            </a:solidFill>
            <a:prstDash val="solid"/>
            <a:round/>
            <a:headEnd len="sm" w="sm" type="none"/>
            <a:tailEnd len="sm" w="sm" type="none"/>
          </a:ln>
        </p:spPr>
      </p:cxnSp>
      <p:grpSp>
        <p:nvGrpSpPr>
          <p:cNvPr id="131" name="Google Shape;131;p2"/>
          <p:cNvGrpSpPr/>
          <p:nvPr/>
        </p:nvGrpSpPr>
        <p:grpSpPr>
          <a:xfrm>
            <a:off x="2826413" y="1884925"/>
            <a:ext cx="2086800" cy="338700"/>
            <a:chOff x="3783125" y="1297125"/>
            <a:chExt cx="2086800" cy="338700"/>
          </a:xfrm>
        </p:grpSpPr>
        <p:sp>
          <p:nvSpPr>
            <p:cNvPr id="103" name="Google Shape;103;p2"/>
            <p:cNvSpPr txBox="1"/>
            <p:nvPr/>
          </p:nvSpPr>
          <p:spPr>
            <a:xfrm>
              <a:off x="3783125" y="1297125"/>
              <a:ext cx="2086800" cy="338700"/>
            </a:xfrm>
            <a:prstGeom prst="rect">
              <a:avLst/>
            </a:prstGeom>
            <a:solidFill>
              <a:srgbClr val="EA9999"/>
            </a:solidFill>
            <a:ln cap="flat" cmpd="sng" w="9525">
              <a:solidFill>
                <a:srgbClr val="CC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Master Node </a:t>
              </a:r>
              <a:endParaRPr b="0" i="0" sz="1000" u="none" cap="none" strike="noStrike">
                <a:solidFill>
                  <a:srgbClr val="000000"/>
                </a:solidFill>
                <a:latin typeface="Arial"/>
                <a:ea typeface="Arial"/>
                <a:cs typeface="Arial"/>
                <a:sym typeface="Arial"/>
              </a:endParaRPr>
            </a:p>
          </p:txBody>
        </p:sp>
        <p:sp>
          <p:nvSpPr>
            <p:cNvPr id="132" name="Google Shape;132;p2"/>
            <p:cNvSpPr/>
            <p:nvPr/>
          </p:nvSpPr>
          <p:spPr>
            <a:xfrm>
              <a:off x="4765375" y="1356375"/>
              <a:ext cx="791725" cy="220200"/>
            </a:xfrm>
            <a:prstGeom prst="flowChartMagneticDisk">
              <a:avLst/>
            </a:prstGeom>
            <a:solidFill>
              <a:srgbClr val="9FC5E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800"/>
                <a:buFont typeface="Arial"/>
                <a:buNone/>
              </a:pPr>
              <a:r>
                <a:rPr b="0" i="0" lang="en-US" sz="800" u="none" cap="none" strike="noStrike">
                  <a:solidFill>
                    <a:srgbClr val="000000"/>
                  </a:solidFill>
                  <a:latin typeface="Arial"/>
                  <a:ea typeface="Arial"/>
                  <a:cs typeface="Arial"/>
                  <a:sym typeface="Arial"/>
                </a:rPr>
                <a:t>RAID</a:t>
              </a:r>
              <a:endParaRPr b="0" i="0" sz="800" u="none" cap="none" strike="noStrike">
                <a:solidFill>
                  <a:srgbClr val="000000"/>
                </a:solidFill>
                <a:latin typeface="Arial"/>
                <a:ea typeface="Arial"/>
                <a:cs typeface="Arial"/>
                <a:sym typeface="Arial"/>
              </a:endParaRPr>
            </a:p>
          </p:txBody>
        </p:sp>
      </p:grpSp>
      <p:sp>
        <p:nvSpPr>
          <p:cNvPr id="133" name="Google Shape;133;p2"/>
          <p:cNvSpPr/>
          <p:nvPr/>
        </p:nvSpPr>
        <p:spPr>
          <a:xfrm>
            <a:off x="672902" y="1154275"/>
            <a:ext cx="1262520" cy="935388"/>
          </a:xfrm>
          <a:prstGeom prst="cloud">
            <a:avLst/>
          </a:prstGeom>
          <a:solidFill>
            <a:srgbClr val="EA9999"/>
          </a:solidFill>
          <a:ln cap="flat" cmpd="sng" w="9525">
            <a:solidFill>
              <a:srgbClr val="CC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External</a:t>
            </a:r>
            <a:endParaRPr b="0" i="0" sz="12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IMPI network</a:t>
            </a:r>
            <a:endParaRPr b="0" i="0" sz="1200" u="none" cap="none" strike="noStrike">
              <a:solidFill>
                <a:srgbClr val="000000"/>
              </a:solidFill>
              <a:latin typeface="Arial"/>
              <a:ea typeface="Arial"/>
              <a:cs typeface="Arial"/>
              <a:sym typeface="Arial"/>
            </a:endParaRPr>
          </a:p>
        </p:txBody>
      </p:sp>
      <p:sp>
        <p:nvSpPr>
          <p:cNvPr id="134" name="Google Shape;134;p2"/>
          <p:cNvSpPr/>
          <p:nvPr/>
        </p:nvSpPr>
        <p:spPr>
          <a:xfrm>
            <a:off x="7392925" y="5828850"/>
            <a:ext cx="1508760" cy="968652"/>
          </a:xfrm>
          <a:prstGeom prst="cloud">
            <a:avLst/>
          </a:prstGeom>
          <a:solidFill>
            <a:srgbClr val="CFE2F3"/>
          </a:solidFill>
          <a:ln cap="flat" cmpd="sng" w="9525">
            <a:solidFill>
              <a:srgbClr val="0B5394"/>
            </a:solidFill>
            <a:prstDash val="dash"/>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Central shared parallel storage</a:t>
            </a:r>
            <a:endParaRPr b="0" i="0" sz="1200" u="none" cap="none" strike="noStrike">
              <a:solidFill>
                <a:srgbClr val="000000"/>
              </a:solidFill>
              <a:latin typeface="Arial"/>
              <a:ea typeface="Arial"/>
              <a:cs typeface="Arial"/>
              <a:sym typeface="Arial"/>
            </a:endParaRPr>
          </a:p>
        </p:txBody>
      </p:sp>
      <p:sp>
        <p:nvSpPr>
          <p:cNvPr id="135" name="Google Shape;135;p2"/>
          <p:cNvSpPr txBox="1"/>
          <p:nvPr/>
        </p:nvSpPr>
        <p:spPr>
          <a:xfrm>
            <a:off x="2826413" y="2299200"/>
            <a:ext cx="2086800" cy="338700"/>
          </a:xfrm>
          <a:prstGeom prst="rect">
            <a:avLst/>
          </a:prstGeom>
          <a:solidFill>
            <a:srgbClr val="F4CCCC"/>
          </a:solidFill>
          <a:ln cap="flat" cmpd="sng" w="9525">
            <a:solidFill>
              <a:srgbClr val="CC0000"/>
            </a:solidFill>
            <a:prstDash val="dash"/>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Data Transfer Node (DTN)</a:t>
            </a:r>
            <a:endParaRPr b="0" i="0" sz="1000" u="none" cap="none" strike="noStrike">
              <a:solidFill>
                <a:srgbClr val="000000"/>
              </a:solidFill>
              <a:latin typeface="Arial"/>
              <a:ea typeface="Arial"/>
              <a:cs typeface="Arial"/>
              <a:sym typeface="Arial"/>
            </a:endParaRPr>
          </a:p>
        </p:txBody>
      </p:sp>
      <p:cxnSp>
        <p:nvCxnSpPr>
          <p:cNvPr id="136" name="Google Shape;136;p2"/>
          <p:cNvCxnSpPr>
            <a:stCxn id="135" idx="3"/>
            <a:endCxn id="99" idx="1"/>
          </p:cNvCxnSpPr>
          <p:nvPr/>
        </p:nvCxnSpPr>
        <p:spPr>
          <a:xfrm>
            <a:off x="4913213" y="2468550"/>
            <a:ext cx="1248000" cy="182400"/>
          </a:xfrm>
          <a:prstGeom prst="straightConnector1">
            <a:avLst/>
          </a:prstGeom>
          <a:noFill/>
          <a:ln cap="flat" cmpd="sng" w="19050">
            <a:solidFill>
              <a:srgbClr val="CC0000"/>
            </a:solidFill>
            <a:prstDash val="dash"/>
            <a:round/>
            <a:headEnd len="sm" w="sm" type="none"/>
            <a:tailEnd len="sm" w="sm" type="none"/>
          </a:ln>
        </p:spPr>
      </p:cxnSp>
      <p:cxnSp>
        <p:nvCxnSpPr>
          <p:cNvPr id="137" name="Google Shape;137;p2"/>
          <p:cNvCxnSpPr>
            <a:stCxn id="135" idx="3"/>
            <a:endCxn id="101" idx="1"/>
          </p:cNvCxnSpPr>
          <p:nvPr/>
        </p:nvCxnSpPr>
        <p:spPr>
          <a:xfrm>
            <a:off x="4913213" y="2468550"/>
            <a:ext cx="1248000" cy="2503800"/>
          </a:xfrm>
          <a:prstGeom prst="straightConnector1">
            <a:avLst/>
          </a:prstGeom>
          <a:noFill/>
          <a:ln cap="flat" cmpd="sng" w="19050">
            <a:solidFill>
              <a:srgbClr val="3D85C6"/>
            </a:solidFill>
            <a:prstDash val="dash"/>
            <a:round/>
            <a:headEnd len="sm" w="sm" type="none"/>
            <a:tailEnd len="sm" w="sm" type="none"/>
          </a:ln>
        </p:spPr>
      </p:cxnSp>
      <p:cxnSp>
        <p:nvCxnSpPr>
          <p:cNvPr id="138" name="Google Shape;138;p2"/>
          <p:cNvCxnSpPr>
            <a:stCxn id="135" idx="3"/>
            <a:endCxn id="100" idx="1"/>
          </p:cNvCxnSpPr>
          <p:nvPr/>
        </p:nvCxnSpPr>
        <p:spPr>
          <a:xfrm>
            <a:off x="4913213" y="2468550"/>
            <a:ext cx="1248000" cy="1383000"/>
          </a:xfrm>
          <a:prstGeom prst="straightConnector1">
            <a:avLst/>
          </a:prstGeom>
          <a:noFill/>
          <a:ln cap="flat" cmpd="sng" w="19050">
            <a:solidFill>
              <a:srgbClr val="38761D"/>
            </a:solidFill>
            <a:prstDash val="dash"/>
            <a:round/>
            <a:headEnd len="sm" w="sm" type="none"/>
            <a:tailEnd len="sm" w="sm" type="none"/>
          </a:ln>
        </p:spPr>
      </p:cxnSp>
      <p:cxnSp>
        <p:nvCxnSpPr>
          <p:cNvPr id="139" name="Google Shape;139;p2"/>
          <p:cNvCxnSpPr>
            <a:stCxn id="128" idx="0"/>
            <a:endCxn id="135" idx="1"/>
          </p:cNvCxnSpPr>
          <p:nvPr/>
        </p:nvCxnSpPr>
        <p:spPr>
          <a:xfrm flipH="1" rot="10800000">
            <a:off x="1977116" y="2468519"/>
            <a:ext cx="849300" cy="303600"/>
          </a:xfrm>
          <a:prstGeom prst="straightConnector1">
            <a:avLst/>
          </a:prstGeom>
          <a:noFill/>
          <a:ln cap="flat" cmpd="sng" w="19050">
            <a:solidFill>
              <a:srgbClr val="38761D"/>
            </a:solidFill>
            <a:prstDash val="dash"/>
            <a:round/>
            <a:headEnd len="sm" w="sm" type="none"/>
            <a:tailEnd len="sm" w="sm" type="none"/>
          </a:ln>
        </p:spPr>
      </p:cxnSp>
      <p:cxnSp>
        <p:nvCxnSpPr>
          <p:cNvPr id="140" name="Google Shape;140;p2"/>
          <p:cNvCxnSpPr>
            <a:stCxn id="134" idx="3"/>
            <a:endCxn id="101" idx="3"/>
          </p:cNvCxnSpPr>
          <p:nvPr/>
        </p:nvCxnSpPr>
        <p:spPr>
          <a:xfrm rot="10800000">
            <a:off x="7188505" y="4972234"/>
            <a:ext cx="958800" cy="912000"/>
          </a:xfrm>
          <a:prstGeom prst="straightConnector1">
            <a:avLst/>
          </a:prstGeom>
          <a:noFill/>
          <a:ln cap="flat" cmpd="sng" w="19050">
            <a:solidFill>
              <a:srgbClr val="3D85C6"/>
            </a:solidFill>
            <a:prstDash val="dash"/>
            <a:round/>
            <a:headEnd len="sm" w="sm" type="none"/>
            <a:tailEnd len="sm" w="sm" type="none"/>
          </a:ln>
        </p:spPr>
      </p:cxnSp>
      <p:cxnSp>
        <p:nvCxnSpPr>
          <p:cNvPr id="141" name="Google Shape;141;p2"/>
          <p:cNvCxnSpPr>
            <a:stCxn id="133" idx="0"/>
            <a:endCxn id="103" idx="1"/>
          </p:cNvCxnSpPr>
          <p:nvPr/>
        </p:nvCxnSpPr>
        <p:spPr>
          <a:xfrm>
            <a:off x="1934370" y="1621969"/>
            <a:ext cx="891900" cy="432300"/>
          </a:xfrm>
          <a:prstGeom prst="straightConnector1">
            <a:avLst/>
          </a:prstGeom>
          <a:noFill/>
          <a:ln cap="flat" cmpd="sng" w="19050">
            <a:solidFill>
              <a:srgbClr val="CC0000"/>
            </a:solidFill>
            <a:prstDash val="solid"/>
            <a:round/>
            <a:headEnd len="sm" w="sm" type="none"/>
            <a:tailEnd len="sm" w="sm" type="none"/>
          </a:ln>
        </p:spPr>
      </p:cxnSp>
      <p:sp>
        <p:nvSpPr>
          <p:cNvPr id="142" name="Google Shape;142;p2"/>
          <p:cNvSpPr/>
          <p:nvPr/>
        </p:nvSpPr>
        <p:spPr>
          <a:xfrm>
            <a:off x="2468875" y="1778088"/>
            <a:ext cx="5294375" cy="4855475"/>
          </a:xfrm>
          <a:custGeom>
            <a:rect b="b" l="l" r="r" t="t"/>
            <a:pathLst>
              <a:path extrusionOk="0" h="194219" w="211775">
                <a:moveTo>
                  <a:pt x="0" y="0"/>
                </a:moveTo>
                <a:lnTo>
                  <a:pt x="0" y="194219"/>
                </a:lnTo>
                <a:lnTo>
                  <a:pt x="167884" y="194219"/>
                </a:lnTo>
                <a:lnTo>
                  <a:pt x="211775" y="133869"/>
                </a:lnTo>
                <a:lnTo>
                  <a:pt x="207935" y="2744"/>
                </a:lnTo>
                <a:close/>
              </a:path>
            </a:pathLst>
          </a:custGeom>
          <a:noFill/>
          <a:ln cap="flat" cmpd="sng" w="28575">
            <a:solidFill>
              <a:srgbClr val="B7B7B7"/>
            </a:solidFill>
            <a:prstDash val="dash"/>
            <a:round/>
            <a:headEnd len="sm" w="sm" type="none"/>
            <a:tailEnd len="sm" w="sm" type="none"/>
          </a:ln>
        </p:spPr>
      </p:sp>
      <p:sp>
        <p:nvSpPr>
          <p:cNvPr id="143" name="Google Shape;143;p2"/>
          <p:cNvSpPr txBox="1"/>
          <p:nvPr/>
        </p:nvSpPr>
        <p:spPr>
          <a:xfrm>
            <a:off x="864100" y="4729325"/>
            <a:ext cx="958800" cy="831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cluster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security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boundary</a:t>
            </a:r>
            <a:endParaRPr b="0" i="0" sz="1400" u="none" cap="none" strike="noStrike">
              <a:solidFill>
                <a:srgbClr val="000000"/>
              </a:solidFill>
              <a:latin typeface="Arial"/>
              <a:ea typeface="Arial"/>
              <a:cs typeface="Arial"/>
              <a:sym typeface="Arial"/>
            </a:endParaRPr>
          </a:p>
        </p:txBody>
      </p:sp>
      <p:cxnSp>
        <p:nvCxnSpPr>
          <p:cNvPr id="144" name="Google Shape;144;p2"/>
          <p:cNvCxnSpPr>
            <a:stCxn id="143" idx="3"/>
          </p:cNvCxnSpPr>
          <p:nvPr/>
        </p:nvCxnSpPr>
        <p:spPr>
          <a:xfrm flipH="1" rot="10800000">
            <a:off x="1822900" y="5143475"/>
            <a:ext cx="522600" cy="1500"/>
          </a:xfrm>
          <a:prstGeom prst="straightConnector1">
            <a:avLst/>
          </a:prstGeom>
          <a:noFill/>
          <a:ln cap="flat" cmpd="sng" w="19050">
            <a:solidFill>
              <a:schemeClr val="dk2"/>
            </a:solidFill>
            <a:prstDash val="solid"/>
            <a:round/>
            <a:headEnd len="sm" w="sm" type="none"/>
            <a:tailEnd len="med" w="med" type="triangle"/>
          </a:ln>
        </p:spPr>
      </p:cxn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g238ec8bb9f9_0_30"/>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Head node</a:t>
            </a:r>
            <a:endParaRPr/>
          </a:p>
        </p:txBody>
      </p:sp>
      <p:sp>
        <p:nvSpPr>
          <p:cNvPr id="151" name="Google Shape;151;g238ec8bb9f9_0_30"/>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fontScale="92500" lnSpcReduction="10000"/>
          </a:bodyPr>
          <a:lstStyle/>
          <a:p>
            <a:pPr indent="0" lvl="0" marL="0" rtl="0" algn="l">
              <a:lnSpc>
                <a:spcPct val="115000"/>
              </a:lnSpc>
              <a:spcBef>
                <a:spcPts val="0"/>
              </a:spcBef>
              <a:spcAft>
                <a:spcPts val="0"/>
              </a:spcAft>
              <a:buSzPct val="63063"/>
              <a:buNone/>
            </a:pPr>
            <a:r>
              <a:rPr lang="en-US" sz="2400">
                <a:solidFill>
                  <a:schemeClr val="dk1"/>
                </a:solidFill>
              </a:rPr>
              <a:t>Hardware: </a:t>
            </a:r>
            <a:endParaRPr sz="24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Redundant power supplies for availability</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Redundant (RAID-1) system disks </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RAID-5 or -6 array for home directories and /usr/local</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InfiniBand Host Channel Adapter (HCA)</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Dedicated IPMI Interface</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Ethernet NIC for cluster private Ethernet network</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Ethernet NIC for public Ethernet network</a:t>
            </a:r>
            <a:endParaRPr sz="1800">
              <a:solidFill>
                <a:schemeClr val="dk1"/>
              </a:solidFill>
            </a:endParaRPr>
          </a:p>
          <a:p>
            <a:pPr indent="-334327" lvl="0" marL="457200" rtl="0" algn="l">
              <a:lnSpc>
                <a:spcPct val="115000"/>
              </a:lnSpc>
              <a:spcBef>
                <a:spcPts val="0"/>
              </a:spcBef>
              <a:spcAft>
                <a:spcPts val="0"/>
              </a:spcAft>
              <a:buClr>
                <a:schemeClr val="dk1"/>
              </a:buClr>
              <a:buSzPct val="100000"/>
              <a:buChar char="●"/>
            </a:pPr>
            <a:r>
              <a:rPr lang="en-US" sz="1800">
                <a:solidFill>
                  <a:schemeClr val="dk1"/>
                </a:solidFill>
              </a:rPr>
              <a:t>Processor(s) not important and need not match the rest of the cluster</a:t>
            </a:r>
            <a:endParaRPr sz="1800">
              <a:solidFill>
                <a:schemeClr val="dk1"/>
              </a:solidFill>
            </a:endParaRPr>
          </a:p>
        </p:txBody>
      </p:sp>
      <p:sp>
        <p:nvSpPr>
          <p:cNvPr id="152" name="Google Shape;152;g238ec8bb9f9_0_30"/>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fontScale="85000" lnSpcReduction="10000"/>
          </a:bodyPr>
          <a:lstStyle/>
          <a:p>
            <a:pPr indent="0" lvl="0" marL="0" rtl="0" algn="l">
              <a:lnSpc>
                <a:spcPct val="115000"/>
              </a:lnSpc>
              <a:spcBef>
                <a:spcPts val="0"/>
              </a:spcBef>
              <a:spcAft>
                <a:spcPts val="0"/>
              </a:spcAft>
              <a:buSzPct val="68627"/>
              <a:buNone/>
            </a:pPr>
            <a:r>
              <a:rPr lang="en-US" sz="2400">
                <a:solidFill>
                  <a:schemeClr val="dk1"/>
                </a:solidFill>
              </a:rPr>
              <a:t>Software/Services</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DHCP server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TFTP server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HTTP server (for Kickstart)</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NTP server for cluster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LDAP replica for cluster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Mail relay host for cluster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Scheduler (slurmctld for Slurm, etc.) </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IB Subnet Manager (opensm)</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Other IB services</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NFS server for /home and /usr/local</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Parallel filesystem client</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log server/relay for cluster</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IPtables</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SELinux</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SSSD</a:t>
            </a:r>
            <a:endParaRPr sz="1800">
              <a:solidFill>
                <a:schemeClr val="dk1"/>
              </a:solidFill>
            </a:endParaRPr>
          </a:p>
          <a:p>
            <a:pPr indent="-325755" lvl="0" marL="457200" rtl="0" algn="l">
              <a:lnSpc>
                <a:spcPct val="115000"/>
              </a:lnSpc>
              <a:spcBef>
                <a:spcPts val="0"/>
              </a:spcBef>
              <a:spcAft>
                <a:spcPts val="0"/>
              </a:spcAft>
              <a:buClr>
                <a:schemeClr val="dk1"/>
              </a:buClr>
              <a:buSzPct val="100000"/>
              <a:buChar char="●"/>
            </a:pPr>
            <a:r>
              <a:rPr lang="en-US" sz="1800">
                <a:solidFill>
                  <a:schemeClr val="dk1"/>
                </a:solidFill>
              </a:rPr>
              <a:t>sshd</a:t>
            </a:r>
            <a:endParaRPr sz="18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7" name="Shape 157"/>
        <p:cNvGrpSpPr/>
        <p:nvPr/>
      </p:nvGrpSpPr>
      <p:grpSpPr>
        <a:xfrm>
          <a:off x="0" y="0"/>
          <a:ext cx="0" cy="0"/>
          <a:chOff x="0" y="0"/>
          <a:chExt cx="0" cy="0"/>
        </a:xfrm>
      </p:grpSpPr>
      <p:sp>
        <p:nvSpPr>
          <p:cNvPr id="158" name="Google Shape;158;g21d5f25ace6_0_19"/>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Login node </a:t>
            </a:r>
            <a:endParaRPr/>
          </a:p>
        </p:txBody>
      </p:sp>
      <p:sp>
        <p:nvSpPr>
          <p:cNvPr id="159" name="Google Shape;159;g21d5f25ace6_0_19"/>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400"/>
              <a:buNone/>
            </a:pPr>
            <a:r>
              <a:rPr lang="en-US" sz="2400">
                <a:solidFill>
                  <a:schemeClr val="dk1"/>
                </a:solidFill>
              </a:rPr>
              <a:t>Hardware: </a:t>
            </a:r>
            <a:endParaRPr sz="24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Redundant power supplies for availability</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May need uultiple power supplies to support GPUs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Redundant (RAID-1) system disks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Same processors as compute nodes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Same GPUs as compute nodes, if applicable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InfiniBand HCA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Ethernet NIC for cluster private network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Ethernet NIC for public network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Dedicated IPMI interface</a:t>
            </a:r>
            <a:endParaRPr sz="1800">
              <a:solidFill>
                <a:schemeClr val="dk1"/>
              </a:solidFill>
            </a:endParaRPr>
          </a:p>
        </p:txBody>
      </p:sp>
      <p:sp>
        <p:nvSpPr>
          <p:cNvPr id="160" name="Google Shape;160;g21d5f25ace6_0_19"/>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lnSpcReduction="20000"/>
          </a:bodyPr>
          <a:lstStyle/>
          <a:p>
            <a:pPr indent="0" lvl="0" marL="0" rtl="0" algn="l">
              <a:lnSpc>
                <a:spcPct val="115000"/>
              </a:lnSpc>
              <a:spcBef>
                <a:spcPts val="0"/>
              </a:spcBef>
              <a:spcAft>
                <a:spcPts val="0"/>
              </a:spcAft>
              <a:buSzPts val="1400"/>
              <a:buNone/>
            </a:pPr>
            <a:r>
              <a:rPr lang="en-US" sz="2400">
                <a:solidFill>
                  <a:schemeClr val="dk1"/>
                </a:solidFill>
              </a:rPr>
              <a:t>Software/Services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NFS Client for /home and /usr/local</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IB services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sshd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Parallel filesystem client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NTP client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Arbiter or similar to prevent users from overusing resources/running jobs on login node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Iptables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SELinux</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NTP client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SSSD</a:t>
            </a:r>
            <a:endParaRPr sz="1800">
              <a:solidFill>
                <a:schemeClr val="dk1"/>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1d5f25ace6_0_26"/>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Data Transfer node </a:t>
            </a:r>
            <a:endParaRPr/>
          </a:p>
        </p:txBody>
      </p:sp>
      <p:sp>
        <p:nvSpPr>
          <p:cNvPr id="167" name="Google Shape;167;g21d5f25ace6_0_26"/>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US" sz="2400">
                <a:solidFill>
                  <a:schemeClr val="dk1"/>
                </a:solidFill>
              </a:rPr>
              <a:t>Hardware:</a:t>
            </a:r>
            <a:endParaRPr sz="24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Redundant power supplies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RAID-1 system disks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IB HCA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Ethernet NIC for cluster private network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i="1" lang="en-US" sz="1800">
                <a:solidFill>
                  <a:schemeClr val="dk1"/>
                </a:solidFill>
              </a:rPr>
              <a:t>High-bandwidth </a:t>
            </a:r>
            <a:r>
              <a:rPr lang="en-US" sz="1800">
                <a:solidFill>
                  <a:schemeClr val="dk1"/>
                </a:solidFill>
              </a:rPr>
              <a:t>Ethernet NIC for public network</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Dedicated IPMI interface</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Processors not important, and do not need to match the rest of cluster</a:t>
            </a:r>
            <a:endParaRPr sz="1800">
              <a:solidFill>
                <a:schemeClr val="dk1"/>
              </a:solidFill>
            </a:endParaRPr>
          </a:p>
        </p:txBody>
      </p:sp>
      <p:sp>
        <p:nvSpPr>
          <p:cNvPr id="168" name="Google Shape;168;g21d5f25ace6_0_26"/>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US" sz="2400">
                <a:solidFill>
                  <a:schemeClr val="dk1"/>
                </a:solidFill>
              </a:rPr>
              <a:t>Software:</a:t>
            </a:r>
            <a:endParaRPr sz="24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Globus or other high-speed transfer tool</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IB services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IPtables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SELinux</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Note: be careful IPtables and SELinux rules don’t impact transfer speed!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sshd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SSSD</a:t>
            </a:r>
            <a:endParaRPr sz="1800">
              <a:solidFill>
                <a:schemeClr val="dk1"/>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g21d5f25ace6_0_33"/>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Compute nodes</a:t>
            </a:r>
            <a:endParaRPr/>
          </a:p>
        </p:txBody>
      </p:sp>
      <p:sp>
        <p:nvSpPr>
          <p:cNvPr id="175" name="Google Shape;175;g21d5f25ace6_0_33"/>
          <p:cNvSpPr txBox="1"/>
          <p:nvPr>
            <p:ph idx="1" type="body"/>
          </p:nvPr>
        </p:nvSpPr>
        <p:spPr>
          <a:xfrm>
            <a:off x="311700" y="1536633"/>
            <a:ext cx="39999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US" sz="2400">
                <a:solidFill>
                  <a:srgbClr val="000000"/>
                </a:solidFill>
              </a:rPr>
              <a:t>Hardware:</a:t>
            </a:r>
            <a:endParaRPr sz="24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No redundant power supplies</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No redundant disks</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Even the smallest hard drives are more than big enough for a compute node</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May need multiple power supplies to support GPUs</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IB HCA </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Ethernet NIC for cluster private Ethernet network</a:t>
            </a:r>
            <a:endParaRPr sz="1800">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sz="1800">
                <a:solidFill>
                  <a:srgbClr val="000000"/>
                </a:solidFill>
              </a:rPr>
              <a:t>Dedicated IPMI interface</a:t>
            </a:r>
            <a:endParaRPr sz="1800">
              <a:solidFill>
                <a:srgbClr val="000000"/>
              </a:solidFill>
            </a:endParaRPr>
          </a:p>
        </p:txBody>
      </p:sp>
      <p:sp>
        <p:nvSpPr>
          <p:cNvPr id="176" name="Google Shape;176;g21d5f25ace6_0_33"/>
          <p:cNvSpPr txBox="1"/>
          <p:nvPr>
            <p:ph idx="2" type="body"/>
          </p:nvPr>
        </p:nvSpPr>
        <p:spPr>
          <a:xfrm>
            <a:off x="4832400" y="1536633"/>
            <a:ext cx="3999900" cy="4555200"/>
          </a:xfrm>
          <a:prstGeom prst="rect">
            <a:avLst/>
          </a:prstGeom>
          <a:noFill/>
          <a:ln>
            <a:noFill/>
          </a:ln>
        </p:spPr>
        <p:txBody>
          <a:bodyPr anchorCtr="0" anchor="t" bIns="91425" lIns="91425" spcFirstLastPara="1" rIns="91425" wrap="square" tIns="91425">
            <a:normAutofit/>
          </a:bodyPr>
          <a:lstStyle/>
          <a:p>
            <a:pPr indent="0" lvl="0" marL="0" rtl="0" algn="l">
              <a:lnSpc>
                <a:spcPct val="115000"/>
              </a:lnSpc>
              <a:spcBef>
                <a:spcPts val="0"/>
              </a:spcBef>
              <a:spcAft>
                <a:spcPts val="0"/>
              </a:spcAft>
              <a:buSzPts val="1400"/>
              <a:buNone/>
            </a:pPr>
            <a:r>
              <a:rPr lang="en-US" sz="2400">
                <a:solidFill>
                  <a:schemeClr val="dk1"/>
                </a:solidFill>
              </a:rPr>
              <a:t>Software:</a:t>
            </a:r>
            <a:endParaRPr sz="24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Cluster “client” daemon (slurmd)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NFS client for /home, /usr/local, etc.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Parallel filesystem client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NTP </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SSSD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SSHD</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disable swap</a:t>
            </a:r>
            <a:endParaRPr sz="1800">
              <a:solidFill>
                <a:schemeClr val="dk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g21d5f25ace6_0_40"/>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Why Infiniband? </a:t>
            </a:r>
            <a:endParaRPr/>
          </a:p>
        </p:txBody>
      </p:sp>
      <p:sp>
        <p:nvSpPr>
          <p:cNvPr id="183" name="Google Shape;183;g21d5f25ace6_0_40"/>
          <p:cNvSpPr txBox="1"/>
          <p:nvPr>
            <p:ph idx="1" type="body"/>
          </p:nvPr>
        </p:nvSpPr>
        <p:spPr>
          <a:xfrm>
            <a:off x="457200" y="1604525"/>
            <a:ext cx="8229300" cy="35193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SzPts val="1800"/>
              <a:buNone/>
            </a:pPr>
            <a:r>
              <a:rPr lang="en-US" sz="2400">
                <a:solidFill>
                  <a:schemeClr val="dk1"/>
                </a:solidFill>
              </a:rPr>
              <a:t>Short Answer: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Higher bandwidth and lower latency</a:t>
            </a:r>
            <a:endParaRPr sz="2400">
              <a:solidFill>
                <a:schemeClr val="dk1"/>
              </a:solidFill>
            </a:endParaRPr>
          </a:p>
          <a:p>
            <a:pPr indent="0" lvl="0" marL="0" rtl="0" algn="l">
              <a:lnSpc>
                <a:spcPct val="115000"/>
              </a:lnSpc>
              <a:spcBef>
                <a:spcPts val="0"/>
              </a:spcBef>
              <a:spcAft>
                <a:spcPts val="0"/>
              </a:spcAft>
              <a:buSzPts val="1800"/>
              <a:buNone/>
            </a:pPr>
            <a:r>
              <a:rPr lang="en-US" sz="2400">
                <a:solidFill>
                  <a:schemeClr val="dk1"/>
                </a:solidFill>
              </a:rPr>
              <a:t>Longer answer: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Kernel bypass - no context switching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Crossbar switching (circuit-based networking)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Better bisectional bandwidth</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Lower overhead protocol</a:t>
            </a:r>
            <a:endParaRPr sz="2400">
              <a:solidFill>
                <a:schemeClr val="dk1"/>
              </a:solidFill>
            </a:endParaRPr>
          </a:p>
          <a:p>
            <a:pPr indent="0" lvl="0" marL="0" rtl="0" algn="l">
              <a:lnSpc>
                <a:spcPct val="115000"/>
              </a:lnSpc>
              <a:spcBef>
                <a:spcPts val="0"/>
              </a:spcBef>
              <a:spcAft>
                <a:spcPts val="0"/>
              </a:spcAft>
              <a:buSzPts val="1800"/>
              <a:buNone/>
            </a:pPr>
            <a:r>
              <a:t/>
            </a:r>
            <a:endParaRPr sz="2400">
              <a:solidFill>
                <a:schemeClr val="dk1"/>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21d5f25ace6_0_49"/>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 Crossbar switches</a:t>
            </a:r>
            <a:endParaRPr/>
          </a:p>
        </p:txBody>
      </p:sp>
      <p:cxnSp>
        <p:nvCxnSpPr>
          <p:cNvPr id="190" name="Google Shape;190;g21d5f25ace6_0_49"/>
          <p:cNvCxnSpPr/>
          <p:nvPr/>
        </p:nvCxnSpPr>
        <p:spPr>
          <a:xfrm>
            <a:off x="3852509" y="2146258"/>
            <a:ext cx="39159" cy="3976835"/>
          </a:xfrm>
          <a:prstGeom prst="straightConnector1">
            <a:avLst/>
          </a:prstGeom>
          <a:noFill/>
          <a:ln cap="flat" cmpd="sng" w="28575">
            <a:solidFill>
              <a:schemeClr val="dk1"/>
            </a:solidFill>
            <a:prstDash val="solid"/>
            <a:round/>
            <a:headEnd len="sm" w="sm" type="none"/>
            <a:tailEnd len="sm" w="sm" type="none"/>
          </a:ln>
        </p:spPr>
      </p:cxnSp>
      <p:cxnSp>
        <p:nvCxnSpPr>
          <p:cNvPr id="191" name="Google Shape;191;g21d5f25ace6_0_49"/>
          <p:cNvCxnSpPr/>
          <p:nvPr/>
        </p:nvCxnSpPr>
        <p:spPr>
          <a:xfrm>
            <a:off x="4514916" y="2146258"/>
            <a:ext cx="39159" cy="3976835"/>
          </a:xfrm>
          <a:prstGeom prst="straightConnector1">
            <a:avLst/>
          </a:prstGeom>
          <a:noFill/>
          <a:ln cap="flat" cmpd="sng" w="28575">
            <a:solidFill>
              <a:schemeClr val="dk1"/>
            </a:solidFill>
            <a:prstDash val="solid"/>
            <a:round/>
            <a:headEnd len="sm" w="sm" type="none"/>
            <a:tailEnd len="sm" w="sm" type="none"/>
          </a:ln>
        </p:spPr>
      </p:cxnSp>
      <p:cxnSp>
        <p:nvCxnSpPr>
          <p:cNvPr id="192" name="Google Shape;192;g21d5f25ace6_0_49"/>
          <p:cNvCxnSpPr/>
          <p:nvPr/>
        </p:nvCxnSpPr>
        <p:spPr>
          <a:xfrm>
            <a:off x="5177322" y="2146258"/>
            <a:ext cx="39159" cy="3976835"/>
          </a:xfrm>
          <a:prstGeom prst="straightConnector1">
            <a:avLst/>
          </a:prstGeom>
          <a:noFill/>
          <a:ln cap="flat" cmpd="sng" w="28575">
            <a:solidFill>
              <a:schemeClr val="dk1"/>
            </a:solidFill>
            <a:prstDash val="solid"/>
            <a:round/>
            <a:headEnd len="sm" w="sm" type="none"/>
            <a:tailEnd len="sm" w="sm" type="none"/>
          </a:ln>
        </p:spPr>
      </p:cxnSp>
      <p:cxnSp>
        <p:nvCxnSpPr>
          <p:cNvPr id="193" name="Google Shape;193;g21d5f25ace6_0_49"/>
          <p:cNvCxnSpPr/>
          <p:nvPr/>
        </p:nvCxnSpPr>
        <p:spPr>
          <a:xfrm>
            <a:off x="5839729" y="2146258"/>
            <a:ext cx="39159" cy="3976835"/>
          </a:xfrm>
          <a:prstGeom prst="straightConnector1">
            <a:avLst/>
          </a:prstGeom>
          <a:noFill/>
          <a:ln cap="flat" cmpd="sng" w="28575">
            <a:solidFill>
              <a:schemeClr val="dk1"/>
            </a:solidFill>
            <a:prstDash val="solid"/>
            <a:round/>
            <a:headEnd len="sm" w="sm" type="none"/>
            <a:tailEnd len="sm" w="sm" type="none"/>
          </a:ln>
        </p:spPr>
      </p:cxnSp>
      <p:cxnSp>
        <p:nvCxnSpPr>
          <p:cNvPr id="194" name="Google Shape;194;g21d5f25ace6_0_49"/>
          <p:cNvCxnSpPr/>
          <p:nvPr/>
        </p:nvCxnSpPr>
        <p:spPr>
          <a:xfrm>
            <a:off x="6502136" y="2146258"/>
            <a:ext cx="39300" cy="3976800"/>
          </a:xfrm>
          <a:prstGeom prst="straightConnector1">
            <a:avLst/>
          </a:prstGeom>
          <a:noFill/>
          <a:ln cap="flat" cmpd="sng" w="28575">
            <a:solidFill>
              <a:schemeClr val="dk1"/>
            </a:solidFill>
            <a:prstDash val="solid"/>
            <a:round/>
            <a:headEnd len="sm" w="sm" type="none"/>
            <a:tailEnd len="sm" w="sm" type="none"/>
          </a:ln>
        </p:spPr>
      </p:cxnSp>
      <p:sp>
        <p:nvSpPr>
          <p:cNvPr id="195" name="Google Shape;195;g21d5f25ace6_0_49"/>
          <p:cNvSpPr txBox="1"/>
          <p:nvPr/>
        </p:nvSpPr>
        <p:spPr>
          <a:xfrm>
            <a:off x="2094200" y="24198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1</a:t>
            </a:r>
            <a:endParaRPr b="0" i="0" sz="1400" u="none" cap="none" strike="noStrike">
              <a:solidFill>
                <a:srgbClr val="000000"/>
              </a:solidFill>
              <a:latin typeface="Arial"/>
              <a:ea typeface="Arial"/>
              <a:cs typeface="Arial"/>
              <a:sym typeface="Arial"/>
            </a:endParaRPr>
          </a:p>
        </p:txBody>
      </p:sp>
      <p:sp>
        <p:nvSpPr>
          <p:cNvPr id="196" name="Google Shape;196;g21d5f25ace6_0_49"/>
          <p:cNvSpPr/>
          <p:nvPr/>
        </p:nvSpPr>
        <p:spPr>
          <a:xfrm>
            <a:off x="373305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7" name="Google Shape;197;g21d5f25ace6_0_49"/>
          <p:cNvSpPr/>
          <p:nvPr/>
        </p:nvSpPr>
        <p:spPr>
          <a:xfrm>
            <a:off x="434265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8" name="Google Shape;198;g21d5f25ace6_0_49"/>
          <p:cNvSpPr/>
          <p:nvPr/>
        </p:nvSpPr>
        <p:spPr>
          <a:xfrm>
            <a:off x="5041575"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9" name="Google Shape;199;g21d5f25ace6_0_49"/>
          <p:cNvSpPr/>
          <p:nvPr/>
        </p:nvSpPr>
        <p:spPr>
          <a:xfrm>
            <a:off x="5675475"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0" name="Google Shape;200;g21d5f25ace6_0_49"/>
          <p:cNvCxnSpPr>
            <a:stCxn id="195" idx="3"/>
            <a:endCxn id="196" idx="0"/>
          </p:cNvCxnSpPr>
          <p:nvPr/>
        </p:nvCxnSpPr>
        <p:spPr>
          <a:xfrm>
            <a:off x="2939600" y="2619900"/>
            <a:ext cx="825900" cy="0"/>
          </a:xfrm>
          <a:prstGeom prst="straightConnector1">
            <a:avLst/>
          </a:prstGeom>
          <a:noFill/>
          <a:ln cap="flat" cmpd="sng" w="28575">
            <a:solidFill>
              <a:schemeClr val="dk1"/>
            </a:solidFill>
            <a:prstDash val="solid"/>
            <a:round/>
            <a:headEnd len="sm" w="sm" type="none"/>
            <a:tailEnd len="sm" w="sm" type="none"/>
          </a:ln>
        </p:spPr>
      </p:cxnSp>
      <p:cxnSp>
        <p:nvCxnSpPr>
          <p:cNvPr id="201" name="Google Shape;201;g21d5f25ace6_0_49"/>
          <p:cNvCxnSpPr>
            <a:stCxn id="196" idx="1"/>
            <a:endCxn id="197" idx="0"/>
          </p:cNvCxnSpPr>
          <p:nvPr/>
        </p:nvCxnSpPr>
        <p:spPr>
          <a:xfrm>
            <a:off x="3960638" y="2619900"/>
            <a:ext cx="414600" cy="0"/>
          </a:xfrm>
          <a:prstGeom prst="straightConnector1">
            <a:avLst/>
          </a:prstGeom>
          <a:noFill/>
          <a:ln cap="flat" cmpd="sng" w="28575">
            <a:solidFill>
              <a:schemeClr val="dk1"/>
            </a:solidFill>
            <a:prstDash val="solid"/>
            <a:round/>
            <a:headEnd len="sm" w="sm" type="none"/>
            <a:tailEnd len="sm" w="sm" type="none"/>
          </a:ln>
        </p:spPr>
      </p:cxnSp>
      <p:cxnSp>
        <p:nvCxnSpPr>
          <p:cNvPr id="202" name="Google Shape;202;g21d5f25ace6_0_49"/>
          <p:cNvCxnSpPr>
            <a:stCxn id="197" idx="1"/>
            <a:endCxn id="198" idx="0"/>
          </p:cNvCxnSpPr>
          <p:nvPr/>
        </p:nvCxnSpPr>
        <p:spPr>
          <a:xfrm>
            <a:off x="4570238" y="2619900"/>
            <a:ext cx="504000" cy="0"/>
          </a:xfrm>
          <a:prstGeom prst="straightConnector1">
            <a:avLst/>
          </a:prstGeom>
          <a:noFill/>
          <a:ln cap="flat" cmpd="sng" w="28575">
            <a:solidFill>
              <a:schemeClr val="dk1"/>
            </a:solidFill>
            <a:prstDash val="solid"/>
            <a:round/>
            <a:headEnd len="sm" w="sm" type="none"/>
            <a:tailEnd len="sm" w="sm" type="none"/>
          </a:ln>
        </p:spPr>
      </p:cxnSp>
      <p:cxnSp>
        <p:nvCxnSpPr>
          <p:cNvPr id="203" name="Google Shape;203;g21d5f25ace6_0_49"/>
          <p:cNvCxnSpPr>
            <a:stCxn id="198" idx="1"/>
            <a:endCxn id="199" idx="0"/>
          </p:cNvCxnSpPr>
          <p:nvPr/>
        </p:nvCxnSpPr>
        <p:spPr>
          <a:xfrm>
            <a:off x="5269163" y="2619900"/>
            <a:ext cx="438900" cy="0"/>
          </a:xfrm>
          <a:prstGeom prst="straightConnector1">
            <a:avLst/>
          </a:prstGeom>
          <a:noFill/>
          <a:ln cap="flat" cmpd="sng" w="28575">
            <a:solidFill>
              <a:schemeClr val="dk1"/>
            </a:solidFill>
            <a:prstDash val="solid"/>
            <a:round/>
            <a:headEnd len="sm" w="sm" type="none"/>
            <a:tailEnd len="sm" w="sm" type="none"/>
          </a:ln>
        </p:spPr>
      </p:cxnSp>
      <p:cxnSp>
        <p:nvCxnSpPr>
          <p:cNvPr id="204" name="Google Shape;204;g21d5f25ace6_0_49"/>
          <p:cNvCxnSpPr>
            <a:stCxn id="199" idx="1"/>
          </p:cNvCxnSpPr>
          <p:nvPr/>
        </p:nvCxnSpPr>
        <p:spPr>
          <a:xfrm>
            <a:off x="5903063" y="2619900"/>
            <a:ext cx="479700" cy="0"/>
          </a:xfrm>
          <a:prstGeom prst="straightConnector1">
            <a:avLst/>
          </a:prstGeom>
          <a:noFill/>
          <a:ln cap="flat" cmpd="sng" w="28575">
            <a:solidFill>
              <a:schemeClr val="dk1"/>
            </a:solidFill>
            <a:prstDash val="solid"/>
            <a:round/>
            <a:headEnd len="sm" w="sm" type="none"/>
            <a:tailEnd len="sm" w="sm" type="none"/>
          </a:ln>
        </p:spPr>
      </p:cxnSp>
      <p:sp>
        <p:nvSpPr>
          <p:cNvPr id="205" name="Google Shape;205;g21d5f25ace6_0_49"/>
          <p:cNvSpPr/>
          <p:nvPr/>
        </p:nvSpPr>
        <p:spPr>
          <a:xfrm>
            <a:off x="3733050"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6" name="Google Shape;206;g21d5f25ace6_0_49"/>
          <p:cNvSpPr/>
          <p:nvPr/>
        </p:nvSpPr>
        <p:spPr>
          <a:xfrm>
            <a:off x="4418850" y="38214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7" name="Google Shape;207;g21d5f25ace6_0_49"/>
          <p:cNvSpPr/>
          <p:nvPr/>
        </p:nvSpPr>
        <p:spPr>
          <a:xfrm>
            <a:off x="5041575"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g21d5f25ace6_0_49"/>
          <p:cNvSpPr/>
          <p:nvPr/>
        </p:nvSpPr>
        <p:spPr>
          <a:xfrm>
            <a:off x="5695825" y="3808038"/>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09" name="Google Shape;209;g21d5f25ace6_0_49"/>
          <p:cNvCxnSpPr>
            <a:endCxn id="205" idx="0"/>
          </p:cNvCxnSpPr>
          <p:nvPr/>
        </p:nvCxnSpPr>
        <p:spPr>
          <a:xfrm>
            <a:off x="2939663" y="3954900"/>
            <a:ext cx="825900" cy="0"/>
          </a:xfrm>
          <a:prstGeom prst="straightConnector1">
            <a:avLst/>
          </a:prstGeom>
          <a:noFill/>
          <a:ln cap="flat" cmpd="sng" w="28575">
            <a:solidFill>
              <a:schemeClr val="dk1"/>
            </a:solidFill>
            <a:prstDash val="solid"/>
            <a:round/>
            <a:headEnd len="sm" w="sm" type="none"/>
            <a:tailEnd len="sm" w="sm" type="none"/>
          </a:ln>
        </p:spPr>
      </p:cxnSp>
      <p:cxnSp>
        <p:nvCxnSpPr>
          <p:cNvPr id="210" name="Google Shape;210;g21d5f25ace6_0_49"/>
          <p:cNvCxnSpPr>
            <a:stCxn id="205" idx="1"/>
            <a:endCxn id="206" idx="0"/>
          </p:cNvCxnSpPr>
          <p:nvPr/>
        </p:nvCxnSpPr>
        <p:spPr>
          <a:xfrm>
            <a:off x="3960638" y="3954900"/>
            <a:ext cx="490800" cy="8100"/>
          </a:xfrm>
          <a:prstGeom prst="straightConnector1">
            <a:avLst/>
          </a:prstGeom>
          <a:noFill/>
          <a:ln cap="flat" cmpd="sng" w="28575">
            <a:solidFill>
              <a:schemeClr val="dk1"/>
            </a:solidFill>
            <a:prstDash val="solid"/>
            <a:round/>
            <a:headEnd len="sm" w="sm" type="none"/>
            <a:tailEnd len="sm" w="sm" type="none"/>
          </a:ln>
        </p:spPr>
      </p:cxnSp>
      <p:cxnSp>
        <p:nvCxnSpPr>
          <p:cNvPr id="211" name="Google Shape;211;g21d5f25ace6_0_49"/>
          <p:cNvCxnSpPr>
            <a:stCxn id="206" idx="1"/>
            <a:endCxn id="207" idx="0"/>
          </p:cNvCxnSpPr>
          <p:nvPr/>
        </p:nvCxnSpPr>
        <p:spPr>
          <a:xfrm flipH="1" rot="10800000">
            <a:off x="4646438" y="3954900"/>
            <a:ext cx="427800" cy="8100"/>
          </a:xfrm>
          <a:prstGeom prst="straightConnector1">
            <a:avLst/>
          </a:prstGeom>
          <a:noFill/>
          <a:ln cap="flat" cmpd="sng" w="28575">
            <a:solidFill>
              <a:schemeClr val="dk1"/>
            </a:solidFill>
            <a:prstDash val="solid"/>
            <a:round/>
            <a:headEnd len="sm" w="sm" type="none"/>
            <a:tailEnd len="sm" w="sm" type="none"/>
          </a:ln>
        </p:spPr>
      </p:cxnSp>
      <p:cxnSp>
        <p:nvCxnSpPr>
          <p:cNvPr id="212" name="Google Shape;212;g21d5f25ace6_0_49"/>
          <p:cNvCxnSpPr>
            <a:stCxn id="207" idx="1"/>
            <a:endCxn id="208" idx="0"/>
          </p:cNvCxnSpPr>
          <p:nvPr/>
        </p:nvCxnSpPr>
        <p:spPr>
          <a:xfrm flipH="1" rot="10800000">
            <a:off x="5269163" y="3949500"/>
            <a:ext cx="459300" cy="5400"/>
          </a:xfrm>
          <a:prstGeom prst="straightConnector1">
            <a:avLst/>
          </a:prstGeom>
          <a:noFill/>
          <a:ln cap="flat" cmpd="sng" w="28575">
            <a:solidFill>
              <a:schemeClr val="dk1"/>
            </a:solidFill>
            <a:prstDash val="solid"/>
            <a:round/>
            <a:headEnd len="sm" w="sm" type="none"/>
            <a:tailEnd len="sm" w="sm" type="none"/>
          </a:ln>
        </p:spPr>
      </p:cxnSp>
      <p:cxnSp>
        <p:nvCxnSpPr>
          <p:cNvPr id="213" name="Google Shape;213;g21d5f25ace6_0_49"/>
          <p:cNvCxnSpPr>
            <a:stCxn id="208" idx="1"/>
          </p:cNvCxnSpPr>
          <p:nvPr/>
        </p:nvCxnSpPr>
        <p:spPr>
          <a:xfrm>
            <a:off x="5923413" y="3949638"/>
            <a:ext cx="459300" cy="5400"/>
          </a:xfrm>
          <a:prstGeom prst="straightConnector1">
            <a:avLst/>
          </a:prstGeom>
          <a:noFill/>
          <a:ln cap="flat" cmpd="sng" w="28575">
            <a:solidFill>
              <a:schemeClr val="dk1"/>
            </a:solidFill>
            <a:prstDash val="solid"/>
            <a:round/>
            <a:headEnd len="sm" w="sm" type="none"/>
            <a:tailEnd len="sm" w="sm" type="none"/>
          </a:ln>
        </p:spPr>
      </p:cxnSp>
      <p:sp>
        <p:nvSpPr>
          <p:cNvPr id="214" name="Google Shape;214;g21d5f25ace6_0_49"/>
          <p:cNvSpPr txBox="1"/>
          <p:nvPr/>
        </p:nvSpPr>
        <p:spPr>
          <a:xfrm>
            <a:off x="2094200" y="37881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3</a:t>
            </a:r>
            <a:endParaRPr b="0" i="0" sz="1400" u="none" cap="none" strike="noStrike">
              <a:solidFill>
                <a:srgbClr val="000000"/>
              </a:solidFill>
              <a:latin typeface="Arial"/>
              <a:ea typeface="Arial"/>
              <a:cs typeface="Arial"/>
              <a:sym typeface="Arial"/>
            </a:endParaRPr>
          </a:p>
        </p:txBody>
      </p:sp>
      <p:sp>
        <p:nvSpPr>
          <p:cNvPr id="215" name="Google Shape;215;g21d5f25ace6_0_49"/>
          <p:cNvSpPr/>
          <p:nvPr/>
        </p:nvSpPr>
        <p:spPr>
          <a:xfrm>
            <a:off x="3726625" y="44358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g21d5f25ace6_0_49"/>
          <p:cNvSpPr/>
          <p:nvPr/>
        </p:nvSpPr>
        <p:spPr>
          <a:xfrm>
            <a:off x="4412425"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7" name="Google Shape;217;g21d5f25ace6_0_49"/>
          <p:cNvSpPr/>
          <p:nvPr/>
        </p:nvSpPr>
        <p:spPr>
          <a:xfrm>
            <a:off x="5060450" y="44121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g21d5f25ace6_0_49"/>
          <p:cNvSpPr/>
          <p:nvPr/>
        </p:nvSpPr>
        <p:spPr>
          <a:xfrm>
            <a:off x="5708463" y="44358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19" name="Google Shape;219;g21d5f25ace6_0_49"/>
          <p:cNvCxnSpPr>
            <a:stCxn id="220" idx="3"/>
            <a:endCxn id="215" idx="0"/>
          </p:cNvCxnSpPr>
          <p:nvPr/>
        </p:nvCxnSpPr>
        <p:spPr>
          <a:xfrm>
            <a:off x="2933175" y="4577425"/>
            <a:ext cx="825900" cy="0"/>
          </a:xfrm>
          <a:prstGeom prst="straightConnector1">
            <a:avLst/>
          </a:prstGeom>
          <a:noFill/>
          <a:ln cap="flat" cmpd="sng" w="28575">
            <a:solidFill>
              <a:schemeClr val="dk1"/>
            </a:solidFill>
            <a:prstDash val="solid"/>
            <a:round/>
            <a:headEnd len="sm" w="sm" type="none"/>
            <a:tailEnd len="sm" w="sm" type="none"/>
          </a:ln>
        </p:spPr>
      </p:cxnSp>
      <p:cxnSp>
        <p:nvCxnSpPr>
          <p:cNvPr id="221" name="Google Shape;221;g21d5f25ace6_0_49"/>
          <p:cNvCxnSpPr>
            <a:stCxn id="215" idx="1"/>
            <a:endCxn id="216" idx="0"/>
          </p:cNvCxnSpPr>
          <p:nvPr/>
        </p:nvCxnSpPr>
        <p:spPr>
          <a:xfrm flipH="1" rot="10800000">
            <a:off x="3954213" y="4555825"/>
            <a:ext cx="490800" cy="21600"/>
          </a:xfrm>
          <a:prstGeom prst="straightConnector1">
            <a:avLst/>
          </a:prstGeom>
          <a:noFill/>
          <a:ln cap="flat" cmpd="sng" w="28575">
            <a:solidFill>
              <a:schemeClr val="dk1"/>
            </a:solidFill>
            <a:prstDash val="solid"/>
            <a:round/>
            <a:headEnd len="sm" w="sm" type="none"/>
            <a:tailEnd len="sm" w="sm" type="none"/>
          </a:ln>
        </p:spPr>
      </p:cxnSp>
      <p:cxnSp>
        <p:nvCxnSpPr>
          <p:cNvPr id="222" name="Google Shape;222;g21d5f25ace6_0_49"/>
          <p:cNvCxnSpPr>
            <a:stCxn id="216" idx="1"/>
            <a:endCxn id="217" idx="0"/>
          </p:cNvCxnSpPr>
          <p:nvPr/>
        </p:nvCxnSpPr>
        <p:spPr>
          <a:xfrm flipH="1" rot="10800000">
            <a:off x="4640013" y="4553725"/>
            <a:ext cx="453000" cy="2100"/>
          </a:xfrm>
          <a:prstGeom prst="straightConnector1">
            <a:avLst/>
          </a:prstGeom>
          <a:noFill/>
          <a:ln cap="flat" cmpd="sng" w="28575">
            <a:solidFill>
              <a:schemeClr val="dk1"/>
            </a:solidFill>
            <a:prstDash val="solid"/>
            <a:round/>
            <a:headEnd len="sm" w="sm" type="none"/>
            <a:tailEnd len="sm" w="sm" type="none"/>
          </a:ln>
        </p:spPr>
      </p:cxnSp>
      <p:cxnSp>
        <p:nvCxnSpPr>
          <p:cNvPr id="223" name="Google Shape;223;g21d5f25ace6_0_49"/>
          <p:cNvCxnSpPr>
            <a:stCxn id="217" idx="1"/>
            <a:endCxn id="218" idx="0"/>
          </p:cNvCxnSpPr>
          <p:nvPr/>
        </p:nvCxnSpPr>
        <p:spPr>
          <a:xfrm>
            <a:off x="5288038" y="4553725"/>
            <a:ext cx="453000" cy="23700"/>
          </a:xfrm>
          <a:prstGeom prst="straightConnector1">
            <a:avLst/>
          </a:prstGeom>
          <a:noFill/>
          <a:ln cap="flat" cmpd="sng" w="28575">
            <a:solidFill>
              <a:schemeClr val="dk1"/>
            </a:solidFill>
            <a:prstDash val="solid"/>
            <a:round/>
            <a:headEnd len="sm" w="sm" type="none"/>
            <a:tailEnd len="sm" w="sm" type="none"/>
          </a:ln>
        </p:spPr>
      </p:cxnSp>
      <p:cxnSp>
        <p:nvCxnSpPr>
          <p:cNvPr id="224" name="Google Shape;224;g21d5f25ace6_0_49"/>
          <p:cNvCxnSpPr>
            <a:stCxn id="218" idx="1"/>
          </p:cNvCxnSpPr>
          <p:nvPr/>
        </p:nvCxnSpPr>
        <p:spPr>
          <a:xfrm flipH="1" rot="10800000">
            <a:off x="5936051" y="4555825"/>
            <a:ext cx="453000" cy="21600"/>
          </a:xfrm>
          <a:prstGeom prst="straightConnector1">
            <a:avLst/>
          </a:prstGeom>
          <a:noFill/>
          <a:ln cap="flat" cmpd="sng" w="28575">
            <a:solidFill>
              <a:schemeClr val="dk1"/>
            </a:solidFill>
            <a:prstDash val="solid"/>
            <a:round/>
            <a:headEnd len="sm" w="sm" type="none"/>
            <a:tailEnd len="sm" w="sm" type="none"/>
          </a:ln>
        </p:spPr>
      </p:cxnSp>
      <p:sp>
        <p:nvSpPr>
          <p:cNvPr id="220" name="Google Shape;220;g21d5f25ace6_0_49"/>
          <p:cNvSpPr txBox="1"/>
          <p:nvPr/>
        </p:nvSpPr>
        <p:spPr>
          <a:xfrm>
            <a:off x="2087775" y="4377325"/>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4</a:t>
            </a:r>
            <a:endParaRPr b="0" i="0" sz="1400" u="none" cap="none" strike="noStrike">
              <a:solidFill>
                <a:srgbClr val="000000"/>
              </a:solidFill>
              <a:latin typeface="Arial"/>
              <a:ea typeface="Arial"/>
              <a:cs typeface="Arial"/>
              <a:sym typeface="Arial"/>
            </a:endParaRPr>
          </a:p>
        </p:txBody>
      </p:sp>
      <p:sp>
        <p:nvSpPr>
          <p:cNvPr id="225" name="Google Shape;225;g21d5f25ace6_0_49"/>
          <p:cNvSpPr/>
          <p:nvPr/>
        </p:nvSpPr>
        <p:spPr>
          <a:xfrm>
            <a:off x="37199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6" name="Google Shape;226;g21d5f25ace6_0_49"/>
          <p:cNvSpPr/>
          <p:nvPr/>
        </p:nvSpPr>
        <p:spPr>
          <a:xfrm>
            <a:off x="44057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g21d5f25ace6_0_49"/>
          <p:cNvSpPr/>
          <p:nvPr/>
        </p:nvSpPr>
        <p:spPr>
          <a:xfrm>
            <a:off x="50915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8" name="Google Shape;228;g21d5f25ace6_0_49"/>
          <p:cNvSpPr/>
          <p:nvPr/>
        </p:nvSpPr>
        <p:spPr>
          <a:xfrm>
            <a:off x="5727363" y="50437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29" name="Google Shape;229;g21d5f25ace6_0_49"/>
          <p:cNvCxnSpPr/>
          <p:nvPr/>
        </p:nvCxnSpPr>
        <p:spPr>
          <a:xfrm>
            <a:off x="2926463" y="5173250"/>
            <a:ext cx="825900" cy="0"/>
          </a:xfrm>
          <a:prstGeom prst="straightConnector1">
            <a:avLst/>
          </a:prstGeom>
          <a:noFill/>
          <a:ln cap="flat" cmpd="sng" w="28575">
            <a:solidFill>
              <a:schemeClr val="dk1"/>
            </a:solidFill>
            <a:prstDash val="solid"/>
            <a:round/>
            <a:headEnd len="sm" w="sm" type="none"/>
            <a:tailEnd len="sm" w="sm" type="none"/>
          </a:ln>
        </p:spPr>
      </p:cxnSp>
      <p:cxnSp>
        <p:nvCxnSpPr>
          <p:cNvPr id="230" name="Google Shape;230;g21d5f25ace6_0_49"/>
          <p:cNvCxnSpPr>
            <a:stCxn id="225" idx="1"/>
            <a:endCxn id="226" idx="0"/>
          </p:cNvCxnSpPr>
          <p:nvPr/>
        </p:nvCxnSpPr>
        <p:spPr>
          <a:xfrm>
            <a:off x="3947501" y="5173250"/>
            <a:ext cx="490800" cy="0"/>
          </a:xfrm>
          <a:prstGeom prst="straightConnector1">
            <a:avLst/>
          </a:prstGeom>
          <a:noFill/>
          <a:ln cap="flat" cmpd="sng" w="28575">
            <a:solidFill>
              <a:schemeClr val="dk1"/>
            </a:solidFill>
            <a:prstDash val="solid"/>
            <a:round/>
            <a:headEnd len="sm" w="sm" type="none"/>
            <a:tailEnd len="sm" w="sm" type="none"/>
          </a:ln>
        </p:spPr>
      </p:cxnSp>
      <p:cxnSp>
        <p:nvCxnSpPr>
          <p:cNvPr id="231" name="Google Shape;231;g21d5f25ace6_0_49"/>
          <p:cNvCxnSpPr>
            <a:stCxn id="226" idx="1"/>
            <a:endCxn id="227" idx="0"/>
          </p:cNvCxnSpPr>
          <p:nvPr/>
        </p:nvCxnSpPr>
        <p:spPr>
          <a:xfrm>
            <a:off x="4633301" y="5173250"/>
            <a:ext cx="490800" cy="0"/>
          </a:xfrm>
          <a:prstGeom prst="straightConnector1">
            <a:avLst/>
          </a:prstGeom>
          <a:noFill/>
          <a:ln cap="flat" cmpd="sng" w="28575">
            <a:solidFill>
              <a:schemeClr val="dk1"/>
            </a:solidFill>
            <a:prstDash val="solid"/>
            <a:round/>
            <a:headEnd len="sm" w="sm" type="none"/>
            <a:tailEnd len="sm" w="sm" type="none"/>
          </a:ln>
        </p:spPr>
      </p:cxnSp>
      <p:cxnSp>
        <p:nvCxnSpPr>
          <p:cNvPr id="232" name="Google Shape;232;g21d5f25ace6_0_49"/>
          <p:cNvCxnSpPr>
            <a:stCxn id="227" idx="1"/>
            <a:endCxn id="228" idx="0"/>
          </p:cNvCxnSpPr>
          <p:nvPr/>
        </p:nvCxnSpPr>
        <p:spPr>
          <a:xfrm>
            <a:off x="5319101" y="5173250"/>
            <a:ext cx="440700" cy="12000"/>
          </a:xfrm>
          <a:prstGeom prst="straightConnector1">
            <a:avLst/>
          </a:prstGeom>
          <a:noFill/>
          <a:ln cap="flat" cmpd="sng" w="28575">
            <a:solidFill>
              <a:schemeClr val="dk1"/>
            </a:solidFill>
            <a:prstDash val="solid"/>
            <a:round/>
            <a:headEnd len="sm" w="sm" type="none"/>
            <a:tailEnd len="sm" w="sm" type="none"/>
          </a:ln>
        </p:spPr>
      </p:cxnSp>
      <p:cxnSp>
        <p:nvCxnSpPr>
          <p:cNvPr id="233" name="Google Shape;233;g21d5f25ace6_0_49"/>
          <p:cNvCxnSpPr>
            <a:stCxn id="228" idx="1"/>
          </p:cNvCxnSpPr>
          <p:nvPr/>
        </p:nvCxnSpPr>
        <p:spPr>
          <a:xfrm flipH="1" rot="10800000">
            <a:off x="5954951" y="5173350"/>
            <a:ext cx="440700" cy="12000"/>
          </a:xfrm>
          <a:prstGeom prst="straightConnector1">
            <a:avLst/>
          </a:prstGeom>
          <a:noFill/>
          <a:ln cap="flat" cmpd="sng" w="28575">
            <a:solidFill>
              <a:schemeClr val="dk1"/>
            </a:solidFill>
            <a:prstDash val="solid"/>
            <a:round/>
            <a:headEnd len="sm" w="sm" type="none"/>
            <a:tailEnd len="sm" w="sm" type="none"/>
          </a:ln>
        </p:spPr>
      </p:cxnSp>
      <p:sp>
        <p:nvSpPr>
          <p:cNvPr id="234" name="Google Shape;234;g21d5f25ace6_0_49"/>
          <p:cNvSpPr txBox="1"/>
          <p:nvPr/>
        </p:nvSpPr>
        <p:spPr>
          <a:xfrm>
            <a:off x="2081063" y="49665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5</a:t>
            </a:r>
            <a:endParaRPr b="0" i="0" sz="1400" u="none" cap="none" strike="noStrike">
              <a:solidFill>
                <a:srgbClr val="000000"/>
              </a:solidFill>
              <a:latin typeface="Arial"/>
              <a:ea typeface="Arial"/>
              <a:cs typeface="Arial"/>
              <a:sym typeface="Arial"/>
            </a:endParaRPr>
          </a:p>
        </p:txBody>
      </p:sp>
      <p:sp>
        <p:nvSpPr>
          <p:cNvPr id="235" name="Google Shape;235;g21d5f25ace6_0_49"/>
          <p:cNvSpPr/>
          <p:nvPr/>
        </p:nvSpPr>
        <p:spPr>
          <a:xfrm>
            <a:off x="373305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g21d5f25ace6_0_49"/>
          <p:cNvSpPr/>
          <p:nvPr/>
        </p:nvSpPr>
        <p:spPr>
          <a:xfrm>
            <a:off x="434265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7" name="Google Shape;237;g21d5f25ace6_0_49"/>
          <p:cNvSpPr/>
          <p:nvPr/>
        </p:nvSpPr>
        <p:spPr>
          <a:xfrm>
            <a:off x="5041575"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8" name="Google Shape;238;g21d5f25ace6_0_49"/>
          <p:cNvSpPr/>
          <p:nvPr/>
        </p:nvSpPr>
        <p:spPr>
          <a:xfrm>
            <a:off x="574050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39" name="Google Shape;239;g21d5f25ace6_0_49"/>
          <p:cNvCxnSpPr>
            <a:endCxn id="235" idx="0"/>
          </p:cNvCxnSpPr>
          <p:nvPr/>
        </p:nvCxnSpPr>
        <p:spPr>
          <a:xfrm>
            <a:off x="2939663" y="3287400"/>
            <a:ext cx="825900" cy="0"/>
          </a:xfrm>
          <a:prstGeom prst="straightConnector1">
            <a:avLst/>
          </a:prstGeom>
          <a:noFill/>
          <a:ln cap="flat" cmpd="sng" w="28575">
            <a:solidFill>
              <a:schemeClr val="dk1"/>
            </a:solidFill>
            <a:prstDash val="solid"/>
            <a:round/>
            <a:headEnd len="sm" w="sm" type="none"/>
            <a:tailEnd len="sm" w="sm" type="none"/>
          </a:ln>
        </p:spPr>
      </p:cxnSp>
      <p:cxnSp>
        <p:nvCxnSpPr>
          <p:cNvPr id="240" name="Google Shape;240;g21d5f25ace6_0_49"/>
          <p:cNvCxnSpPr>
            <a:stCxn id="235" idx="1"/>
            <a:endCxn id="236" idx="0"/>
          </p:cNvCxnSpPr>
          <p:nvPr/>
        </p:nvCxnSpPr>
        <p:spPr>
          <a:xfrm>
            <a:off x="3960638" y="3287400"/>
            <a:ext cx="414600" cy="0"/>
          </a:xfrm>
          <a:prstGeom prst="straightConnector1">
            <a:avLst/>
          </a:prstGeom>
          <a:noFill/>
          <a:ln cap="flat" cmpd="sng" w="28575">
            <a:solidFill>
              <a:schemeClr val="dk1"/>
            </a:solidFill>
            <a:prstDash val="solid"/>
            <a:round/>
            <a:headEnd len="sm" w="sm" type="none"/>
            <a:tailEnd len="sm" w="sm" type="none"/>
          </a:ln>
        </p:spPr>
      </p:cxnSp>
      <p:cxnSp>
        <p:nvCxnSpPr>
          <p:cNvPr id="241" name="Google Shape;241;g21d5f25ace6_0_49"/>
          <p:cNvCxnSpPr>
            <a:stCxn id="237" idx="1"/>
            <a:endCxn id="238" idx="0"/>
          </p:cNvCxnSpPr>
          <p:nvPr/>
        </p:nvCxnSpPr>
        <p:spPr>
          <a:xfrm>
            <a:off x="5269163" y="3287400"/>
            <a:ext cx="504000" cy="0"/>
          </a:xfrm>
          <a:prstGeom prst="straightConnector1">
            <a:avLst/>
          </a:prstGeom>
          <a:noFill/>
          <a:ln cap="flat" cmpd="sng" w="28575">
            <a:solidFill>
              <a:schemeClr val="dk1"/>
            </a:solidFill>
            <a:prstDash val="solid"/>
            <a:round/>
            <a:headEnd len="sm" w="sm" type="none"/>
            <a:tailEnd len="sm" w="sm" type="none"/>
          </a:ln>
        </p:spPr>
      </p:cxnSp>
      <p:cxnSp>
        <p:nvCxnSpPr>
          <p:cNvPr id="242" name="Google Shape;242;g21d5f25ace6_0_49"/>
          <p:cNvCxnSpPr>
            <a:stCxn id="236" idx="1"/>
            <a:endCxn id="237" idx="0"/>
          </p:cNvCxnSpPr>
          <p:nvPr/>
        </p:nvCxnSpPr>
        <p:spPr>
          <a:xfrm>
            <a:off x="4570238" y="3287400"/>
            <a:ext cx="504000" cy="0"/>
          </a:xfrm>
          <a:prstGeom prst="straightConnector1">
            <a:avLst/>
          </a:prstGeom>
          <a:noFill/>
          <a:ln cap="flat" cmpd="sng" w="28575">
            <a:solidFill>
              <a:schemeClr val="dk1"/>
            </a:solidFill>
            <a:prstDash val="solid"/>
            <a:round/>
            <a:headEnd len="sm" w="sm" type="none"/>
            <a:tailEnd len="sm" w="sm" type="none"/>
          </a:ln>
        </p:spPr>
      </p:cxnSp>
      <p:cxnSp>
        <p:nvCxnSpPr>
          <p:cNvPr id="243" name="Google Shape;243;g21d5f25ace6_0_49"/>
          <p:cNvCxnSpPr>
            <a:stCxn id="238" idx="1"/>
          </p:cNvCxnSpPr>
          <p:nvPr/>
        </p:nvCxnSpPr>
        <p:spPr>
          <a:xfrm>
            <a:off x="5968088" y="3287400"/>
            <a:ext cx="414600" cy="0"/>
          </a:xfrm>
          <a:prstGeom prst="straightConnector1">
            <a:avLst/>
          </a:prstGeom>
          <a:noFill/>
          <a:ln cap="flat" cmpd="sng" w="28575">
            <a:solidFill>
              <a:schemeClr val="dk1"/>
            </a:solidFill>
            <a:prstDash val="solid"/>
            <a:round/>
            <a:headEnd len="sm" w="sm" type="none"/>
            <a:tailEnd len="sm" w="sm" type="none"/>
          </a:ln>
        </p:spPr>
      </p:cxnSp>
      <p:sp>
        <p:nvSpPr>
          <p:cNvPr id="244" name="Google Shape;244;g21d5f25ace6_0_49"/>
          <p:cNvSpPr txBox="1"/>
          <p:nvPr/>
        </p:nvSpPr>
        <p:spPr>
          <a:xfrm>
            <a:off x="2131900" y="31039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2</a:t>
            </a:r>
            <a:endParaRPr b="0" i="0" sz="1400" u="none" cap="none" strike="noStrike">
              <a:solidFill>
                <a:srgbClr val="000000"/>
              </a:solidFill>
              <a:latin typeface="Arial"/>
              <a:ea typeface="Arial"/>
              <a:cs typeface="Arial"/>
              <a:sym typeface="Arial"/>
            </a:endParaRPr>
          </a:p>
        </p:txBody>
      </p:sp>
      <p:sp>
        <p:nvSpPr>
          <p:cNvPr id="245" name="Google Shape;245;g21d5f25ace6_0_49"/>
          <p:cNvSpPr/>
          <p:nvPr/>
        </p:nvSpPr>
        <p:spPr>
          <a:xfrm>
            <a:off x="37199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6" name="Google Shape;246;g21d5f25ace6_0_49"/>
          <p:cNvSpPr/>
          <p:nvPr/>
        </p:nvSpPr>
        <p:spPr>
          <a:xfrm>
            <a:off x="44057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7" name="Google Shape;247;g21d5f25ace6_0_49"/>
          <p:cNvSpPr/>
          <p:nvPr/>
        </p:nvSpPr>
        <p:spPr>
          <a:xfrm>
            <a:off x="50915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8" name="Google Shape;248;g21d5f25ace6_0_49"/>
          <p:cNvSpPr/>
          <p:nvPr/>
        </p:nvSpPr>
        <p:spPr>
          <a:xfrm>
            <a:off x="5727363" y="57279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49" name="Google Shape;249;g21d5f25ace6_0_49"/>
          <p:cNvCxnSpPr/>
          <p:nvPr/>
        </p:nvCxnSpPr>
        <p:spPr>
          <a:xfrm>
            <a:off x="2926463" y="5857400"/>
            <a:ext cx="825900" cy="0"/>
          </a:xfrm>
          <a:prstGeom prst="straightConnector1">
            <a:avLst/>
          </a:prstGeom>
          <a:noFill/>
          <a:ln cap="flat" cmpd="sng" w="28575">
            <a:solidFill>
              <a:schemeClr val="dk1"/>
            </a:solidFill>
            <a:prstDash val="solid"/>
            <a:round/>
            <a:headEnd len="sm" w="sm" type="none"/>
            <a:tailEnd len="sm" w="sm" type="none"/>
          </a:ln>
        </p:spPr>
      </p:cxnSp>
      <p:cxnSp>
        <p:nvCxnSpPr>
          <p:cNvPr id="250" name="Google Shape;250;g21d5f25ace6_0_49"/>
          <p:cNvCxnSpPr>
            <a:stCxn id="245" idx="1"/>
            <a:endCxn id="246" idx="0"/>
          </p:cNvCxnSpPr>
          <p:nvPr/>
        </p:nvCxnSpPr>
        <p:spPr>
          <a:xfrm>
            <a:off x="3947501" y="5857400"/>
            <a:ext cx="490800" cy="0"/>
          </a:xfrm>
          <a:prstGeom prst="straightConnector1">
            <a:avLst/>
          </a:prstGeom>
          <a:noFill/>
          <a:ln cap="flat" cmpd="sng" w="28575">
            <a:solidFill>
              <a:schemeClr val="dk1"/>
            </a:solidFill>
            <a:prstDash val="solid"/>
            <a:round/>
            <a:headEnd len="sm" w="sm" type="none"/>
            <a:tailEnd len="sm" w="sm" type="none"/>
          </a:ln>
        </p:spPr>
      </p:cxnSp>
      <p:cxnSp>
        <p:nvCxnSpPr>
          <p:cNvPr id="251" name="Google Shape;251;g21d5f25ace6_0_49"/>
          <p:cNvCxnSpPr>
            <a:stCxn id="246" idx="1"/>
            <a:endCxn id="247" idx="0"/>
          </p:cNvCxnSpPr>
          <p:nvPr/>
        </p:nvCxnSpPr>
        <p:spPr>
          <a:xfrm>
            <a:off x="4633301" y="5857400"/>
            <a:ext cx="490800" cy="0"/>
          </a:xfrm>
          <a:prstGeom prst="straightConnector1">
            <a:avLst/>
          </a:prstGeom>
          <a:noFill/>
          <a:ln cap="flat" cmpd="sng" w="28575">
            <a:solidFill>
              <a:schemeClr val="dk1"/>
            </a:solidFill>
            <a:prstDash val="solid"/>
            <a:round/>
            <a:headEnd len="sm" w="sm" type="none"/>
            <a:tailEnd len="sm" w="sm" type="none"/>
          </a:ln>
        </p:spPr>
      </p:cxnSp>
      <p:cxnSp>
        <p:nvCxnSpPr>
          <p:cNvPr id="252" name="Google Shape;252;g21d5f25ace6_0_49"/>
          <p:cNvCxnSpPr>
            <a:stCxn id="247" idx="1"/>
            <a:endCxn id="248" idx="0"/>
          </p:cNvCxnSpPr>
          <p:nvPr/>
        </p:nvCxnSpPr>
        <p:spPr>
          <a:xfrm>
            <a:off x="5319101" y="5857400"/>
            <a:ext cx="440700" cy="12000"/>
          </a:xfrm>
          <a:prstGeom prst="straightConnector1">
            <a:avLst/>
          </a:prstGeom>
          <a:noFill/>
          <a:ln cap="flat" cmpd="sng" w="28575">
            <a:solidFill>
              <a:schemeClr val="dk1"/>
            </a:solidFill>
            <a:prstDash val="solid"/>
            <a:round/>
            <a:headEnd len="sm" w="sm" type="none"/>
            <a:tailEnd len="sm" w="sm" type="none"/>
          </a:ln>
        </p:spPr>
      </p:cxnSp>
      <p:cxnSp>
        <p:nvCxnSpPr>
          <p:cNvPr id="253" name="Google Shape;253;g21d5f25ace6_0_49"/>
          <p:cNvCxnSpPr>
            <a:stCxn id="248" idx="1"/>
          </p:cNvCxnSpPr>
          <p:nvPr/>
        </p:nvCxnSpPr>
        <p:spPr>
          <a:xfrm flipH="1" rot="10800000">
            <a:off x="5954951" y="5857500"/>
            <a:ext cx="440700" cy="12000"/>
          </a:xfrm>
          <a:prstGeom prst="straightConnector1">
            <a:avLst/>
          </a:prstGeom>
          <a:noFill/>
          <a:ln cap="flat" cmpd="sng" w="28575">
            <a:solidFill>
              <a:schemeClr val="dk1"/>
            </a:solidFill>
            <a:prstDash val="solid"/>
            <a:round/>
            <a:headEnd len="sm" w="sm" type="none"/>
            <a:tailEnd len="sm" w="sm" type="none"/>
          </a:ln>
        </p:spPr>
      </p:cxnSp>
      <p:sp>
        <p:nvSpPr>
          <p:cNvPr id="254" name="Google Shape;254;g21d5f25ace6_0_49"/>
          <p:cNvSpPr txBox="1"/>
          <p:nvPr/>
        </p:nvSpPr>
        <p:spPr>
          <a:xfrm>
            <a:off x="2081063" y="56507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6</a:t>
            </a:r>
            <a:endParaRPr b="0" i="0" sz="1400" u="none" cap="none" strike="noStrike">
              <a:solidFill>
                <a:srgbClr val="000000"/>
              </a:solidFill>
              <a:latin typeface="Arial"/>
              <a:ea typeface="Arial"/>
              <a:cs typeface="Arial"/>
              <a:sym typeface="Arial"/>
            </a:endParaRPr>
          </a:p>
        </p:txBody>
      </p:sp>
      <p:sp>
        <p:nvSpPr>
          <p:cNvPr id="255" name="Google Shape;255;g21d5f25ace6_0_49"/>
          <p:cNvSpPr txBox="1"/>
          <p:nvPr/>
        </p:nvSpPr>
        <p:spPr>
          <a:xfrm>
            <a:off x="340055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1</a:t>
            </a:r>
            <a:endParaRPr b="0" i="0" sz="1400" u="none" cap="none" strike="noStrike">
              <a:solidFill>
                <a:srgbClr val="000000"/>
              </a:solidFill>
              <a:latin typeface="Arial"/>
              <a:ea typeface="Arial"/>
              <a:cs typeface="Arial"/>
              <a:sym typeface="Arial"/>
            </a:endParaRPr>
          </a:p>
        </p:txBody>
      </p:sp>
      <p:sp>
        <p:nvSpPr>
          <p:cNvPr id="256" name="Google Shape;256;g21d5f25ace6_0_49"/>
          <p:cNvSpPr txBox="1"/>
          <p:nvPr/>
        </p:nvSpPr>
        <p:spPr>
          <a:xfrm>
            <a:off x="414915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2</a:t>
            </a:r>
            <a:endParaRPr b="0" i="0" sz="1400" u="none" cap="none" strike="noStrike">
              <a:solidFill>
                <a:srgbClr val="000000"/>
              </a:solidFill>
              <a:latin typeface="Arial"/>
              <a:ea typeface="Arial"/>
              <a:cs typeface="Arial"/>
              <a:sym typeface="Arial"/>
            </a:endParaRPr>
          </a:p>
        </p:txBody>
      </p:sp>
      <p:sp>
        <p:nvSpPr>
          <p:cNvPr id="257" name="Google Shape;257;g21d5f25ace6_0_49"/>
          <p:cNvSpPr txBox="1"/>
          <p:nvPr/>
        </p:nvSpPr>
        <p:spPr>
          <a:xfrm>
            <a:off x="477420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3</a:t>
            </a:r>
            <a:endParaRPr b="0" i="0" sz="1400" u="none" cap="none" strike="noStrike">
              <a:solidFill>
                <a:srgbClr val="000000"/>
              </a:solidFill>
              <a:latin typeface="Arial"/>
              <a:ea typeface="Arial"/>
              <a:cs typeface="Arial"/>
              <a:sym typeface="Arial"/>
            </a:endParaRPr>
          </a:p>
        </p:txBody>
      </p:sp>
      <p:sp>
        <p:nvSpPr>
          <p:cNvPr id="258" name="Google Shape;258;g21d5f25ace6_0_49"/>
          <p:cNvSpPr txBox="1"/>
          <p:nvPr/>
        </p:nvSpPr>
        <p:spPr>
          <a:xfrm>
            <a:off x="5444625"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4</a:t>
            </a:r>
            <a:endParaRPr b="0" i="0" sz="1400" u="none" cap="none" strike="noStrike">
              <a:solidFill>
                <a:srgbClr val="000000"/>
              </a:solidFill>
              <a:latin typeface="Arial"/>
              <a:ea typeface="Arial"/>
              <a:cs typeface="Arial"/>
              <a:sym typeface="Arial"/>
            </a:endParaRPr>
          </a:p>
        </p:txBody>
      </p:sp>
      <p:sp>
        <p:nvSpPr>
          <p:cNvPr id="259" name="Google Shape;259;g21d5f25ace6_0_49"/>
          <p:cNvSpPr txBox="1"/>
          <p:nvPr/>
        </p:nvSpPr>
        <p:spPr>
          <a:xfrm>
            <a:off x="614785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5</a:t>
            </a:r>
            <a:endParaRPr b="0" i="0" sz="1400" u="none" cap="none" strike="noStrike">
              <a:solidFill>
                <a:srgbClr val="000000"/>
              </a:solidFill>
              <a:latin typeface="Arial"/>
              <a:ea typeface="Arial"/>
              <a:cs typeface="Arial"/>
              <a:sym typeface="Arial"/>
            </a:endParaRPr>
          </a:p>
        </p:txBody>
      </p:sp>
      <p:cxnSp>
        <p:nvCxnSpPr>
          <p:cNvPr id="260" name="Google Shape;260;g21d5f25ace6_0_49"/>
          <p:cNvCxnSpPr/>
          <p:nvPr/>
        </p:nvCxnSpPr>
        <p:spPr>
          <a:xfrm>
            <a:off x="7200261" y="2074108"/>
            <a:ext cx="39300" cy="3976800"/>
          </a:xfrm>
          <a:prstGeom prst="straightConnector1">
            <a:avLst/>
          </a:prstGeom>
          <a:noFill/>
          <a:ln cap="flat" cmpd="sng" w="28575">
            <a:solidFill>
              <a:schemeClr val="dk1"/>
            </a:solidFill>
            <a:prstDash val="solid"/>
            <a:round/>
            <a:headEnd len="sm" w="sm" type="none"/>
            <a:tailEnd len="sm" w="sm" type="none"/>
          </a:ln>
        </p:spPr>
      </p:cxnSp>
      <p:grpSp>
        <p:nvGrpSpPr>
          <p:cNvPr id="261" name="Google Shape;261;g21d5f25ace6_0_49"/>
          <p:cNvGrpSpPr/>
          <p:nvPr/>
        </p:nvGrpSpPr>
        <p:grpSpPr>
          <a:xfrm>
            <a:off x="6350100" y="2478300"/>
            <a:ext cx="273213" cy="3520700"/>
            <a:chOff x="6350100" y="2478300"/>
            <a:chExt cx="273213" cy="3520700"/>
          </a:xfrm>
        </p:grpSpPr>
        <p:sp>
          <p:nvSpPr>
            <p:cNvPr id="262" name="Google Shape;262;g21d5f25ace6_0_49"/>
            <p:cNvSpPr/>
            <p:nvPr/>
          </p:nvSpPr>
          <p:spPr>
            <a:xfrm>
              <a:off x="635010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3" name="Google Shape;263;g21d5f25ace6_0_49"/>
            <p:cNvSpPr/>
            <p:nvPr/>
          </p:nvSpPr>
          <p:spPr>
            <a:xfrm>
              <a:off x="6350100"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4" name="Google Shape;264;g21d5f25ace6_0_49"/>
            <p:cNvSpPr/>
            <p:nvPr/>
          </p:nvSpPr>
          <p:spPr>
            <a:xfrm>
              <a:off x="6356500"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g21d5f25ace6_0_49"/>
            <p:cNvSpPr/>
            <p:nvPr/>
          </p:nvSpPr>
          <p:spPr>
            <a:xfrm>
              <a:off x="63632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6" name="Google Shape;266;g21d5f25ace6_0_49"/>
            <p:cNvSpPr/>
            <p:nvPr/>
          </p:nvSpPr>
          <p:spPr>
            <a:xfrm>
              <a:off x="635010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7" name="Google Shape;267;g21d5f25ace6_0_49"/>
            <p:cNvSpPr/>
            <p:nvPr/>
          </p:nvSpPr>
          <p:spPr>
            <a:xfrm>
              <a:off x="63632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grpSp>
        <p:nvGrpSpPr>
          <p:cNvPr id="268" name="Google Shape;268;g21d5f25ace6_0_49"/>
          <p:cNvGrpSpPr/>
          <p:nvPr/>
        </p:nvGrpSpPr>
        <p:grpSpPr>
          <a:xfrm>
            <a:off x="7094525" y="2478300"/>
            <a:ext cx="273213" cy="3520700"/>
            <a:chOff x="6350100" y="2478300"/>
            <a:chExt cx="273213" cy="3520700"/>
          </a:xfrm>
        </p:grpSpPr>
        <p:sp>
          <p:nvSpPr>
            <p:cNvPr id="269" name="Google Shape;269;g21d5f25ace6_0_49"/>
            <p:cNvSpPr/>
            <p:nvPr/>
          </p:nvSpPr>
          <p:spPr>
            <a:xfrm>
              <a:off x="635010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0" name="Google Shape;270;g21d5f25ace6_0_49"/>
            <p:cNvSpPr/>
            <p:nvPr/>
          </p:nvSpPr>
          <p:spPr>
            <a:xfrm>
              <a:off x="6350100"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1" name="Google Shape;271;g21d5f25ace6_0_49"/>
            <p:cNvSpPr/>
            <p:nvPr/>
          </p:nvSpPr>
          <p:spPr>
            <a:xfrm>
              <a:off x="6356500"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2" name="Google Shape;272;g21d5f25ace6_0_49"/>
            <p:cNvSpPr/>
            <p:nvPr/>
          </p:nvSpPr>
          <p:spPr>
            <a:xfrm>
              <a:off x="63632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3" name="Google Shape;273;g21d5f25ace6_0_49"/>
            <p:cNvSpPr/>
            <p:nvPr/>
          </p:nvSpPr>
          <p:spPr>
            <a:xfrm>
              <a:off x="635010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g21d5f25ace6_0_49"/>
            <p:cNvSpPr/>
            <p:nvPr/>
          </p:nvSpPr>
          <p:spPr>
            <a:xfrm>
              <a:off x="63632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cxnSp>
        <p:nvCxnSpPr>
          <p:cNvPr id="275" name="Google Shape;275;g21d5f25ace6_0_49"/>
          <p:cNvCxnSpPr>
            <a:stCxn id="262" idx="1"/>
            <a:endCxn id="269" idx="0"/>
          </p:cNvCxnSpPr>
          <p:nvPr/>
        </p:nvCxnSpPr>
        <p:spPr>
          <a:xfrm>
            <a:off x="6577688" y="2619900"/>
            <a:ext cx="549300" cy="0"/>
          </a:xfrm>
          <a:prstGeom prst="straightConnector1">
            <a:avLst/>
          </a:prstGeom>
          <a:noFill/>
          <a:ln cap="flat" cmpd="sng" w="28575">
            <a:solidFill>
              <a:schemeClr val="dk1"/>
            </a:solidFill>
            <a:prstDash val="solid"/>
            <a:round/>
            <a:headEnd len="sm" w="sm" type="none"/>
            <a:tailEnd len="sm" w="sm" type="none"/>
          </a:ln>
        </p:spPr>
      </p:cxnSp>
      <p:cxnSp>
        <p:nvCxnSpPr>
          <p:cNvPr id="276" name="Google Shape;276;g21d5f25ace6_0_49"/>
          <p:cNvCxnSpPr>
            <a:stCxn id="266" idx="1"/>
            <a:endCxn id="273" idx="0"/>
          </p:cNvCxnSpPr>
          <p:nvPr/>
        </p:nvCxnSpPr>
        <p:spPr>
          <a:xfrm>
            <a:off x="6577688" y="3287400"/>
            <a:ext cx="549300" cy="0"/>
          </a:xfrm>
          <a:prstGeom prst="straightConnector1">
            <a:avLst/>
          </a:prstGeom>
          <a:noFill/>
          <a:ln cap="flat" cmpd="sng" w="28575">
            <a:solidFill>
              <a:schemeClr val="dk1"/>
            </a:solidFill>
            <a:prstDash val="solid"/>
            <a:round/>
            <a:headEnd len="sm" w="sm" type="none"/>
            <a:tailEnd len="sm" w="sm" type="none"/>
          </a:ln>
        </p:spPr>
      </p:cxnSp>
      <p:cxnSp>
        <p:nvCxnSpPr>
          <p:cNvPr id="277" name="Google Shape;277;g21d5f25ace6_0_49"/>
          <p:cNvCxnSpPr>
            <a:stCxn id="263" idx="1"/>
            <a:endCxn id="270" idx="0"/>
          </p:cNvCxnSpPr>
          <p:nvPr/>
        </p:nvCxnSpPr>
        <p:spPr>
          <a:xfrm>
            <a:off x="6577688" y="3954900"/>
            <a:ext cx="549300" cy="0"/>
          </a:xfrm>
          <a:prstGeom prst="straightConnector1">
            <a:avLst/>
          </a:prstGeom>
          <a:noFill/>
          <a:ln cap="flat" cmpd="sng" w="28575">
            <a:solidFill>
              <a:schemeClr val="dk1"/>
            </a:solidFill>
            <a:prstDash val="solid"/>
            <a:round/>
            <a:headEnd len="sm" w="sm" type="none"/>
            <a:tailEnd len="sm" w="sm" type="none"/>
          </a:ln>
        </p:spPr>
      </p:cxnSp>
      <p:cxnSp>
        <p:nvCxnSpPr>
          <p:cNvPr id="278" name="Google Shape;278;g21d5f25ace6_0_49"/>
          <p:cNvCxnSpPr>
            <a:stCxn id="264" idx="1"/>
            <a:endCxn id="271" idx="0"/>
          </p:cNvCxnSpPr>
          <p:nvPr/>
        </p:nvCxnSpPr>
        <p:spPr>
          <a:xfrm>
            <a:off x="6584088" y="4555825"/>
            <a:ext cx="549300" cy="0"/>
          </a:xfrm>
          <a:prstGeom prst="straightConnector1">
            <a:avLst/>
          </a:prstGeom>
          <a:noFill/>
          <a:ln cap="flat" cmpd="sng" w="28575">
            <a:solidFill>
              <a:schemeClr val="dk1"/>
            </a:solidFill>
            <a:prstDash val="solid"/>
            <a:round/>
            <a:headEnd len="sm" w="sm" type="none"/>
            <a:tailEnd len="sm" w="sm" type="none"/>
          </a:ln>
        </p:spPr>
      </p:cxnSp>
      <p:cxnSp>
        <p:nvCxnSpPr>
          <p:cNvPr id="279" name="Google Shape;279;g21d5f25ace6_0_49"/>
          <p:cNvCxnSpPr>
            <a:stCxn id="265" idx="1"/>
            <a:endCxn id="272" idx="0"/>
          </p:cNvCxnSpPr>
          <p:nvPr/>
        </p:nvCxnSpPr>
        <p:spPr>
          <a:xfrm>
            <a:off x="6590801" y="5173250"/>
            <a:ext cx="549300" cy="0"/>
          </a:xfrm>
          <a:prstGeom prst="straightConnector1">
            <a:avLst/>
          </a:prstGeom>
          <a:noFill/>
          <a:ln cap="flat" cmpd="sng" w="28575">
            <a:solidFill>
              <a:schemeClr val="dk1"/>
            </a:solidFill>
            <a:prstDash val="solid"/>
            <a:round/>
            <a:headEnd len="sm" w="sm" type="none"/>
            <a:tailEnd len="sm" w="sm" type="none"/>
          </a:ln>
        </p:spPr>
      </p:cxnSp>
      <p:cxnSp>
        <p:nvCxnSpPr>
          <p:cNvPr id="280" name="Google Shape;280;g21d5f25ace6_0_49"/>
          <p:cNvCxnSpPr>
            <a:stCxn id="267" idx="1"/>
            <a:endCxn id="274" idx="0"/>
          </p:cNvCxnSpPr>
          <p:nvPr/>
        </p:nvCxnSpPr>
        <p:spPr>
          <a:xfrm>
            <a:off x="6590801" y="5857400"/>
            <a:ext cx="549300" cy="0"/>
          </a:xfrm>
          <a:prstGeom prst="straightConnector1">
            <a:avLst/>
          </a:prstGeom>
          <a:noFill/>
          <a:ln cap="flat" cmpd="sng" w="28575">
            <a:solidFill>
              <a:schemeClr val="dk1"/>
            </a:solidFill>
            <a:prstDash val="solid"/>
            <a:round/>
            <a:headEnd len="sm" w="sm" type="none"/>
            <a:tailEnd len="sm" w="sm" type="none"/>
          </a:ln>
        </p:spPr>
      </p:cxnSp>
      <p:sp>
        <p:nvSpPr>
          <p:cNvPr id="281" name="Google Shape;281;g21d5f25ace6_0_49"/>
          <p:cNvSpPr txBox="1"/>
          <p:nvPr/>
        </p:nvSpPr>
        <p:spPr>
          <a:xfrm>
            <a:off x="6808438"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6</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g21d5f25ace6_0_196"/>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 Crossbar switches</a:t>
            </a:r>
            <a:endParaRPr/>
          </a:p>
        </p:txBody>
      </p:sp>
      <p:cxnSp>
        <p:nvCxnSpPr>
          <p:cNvPr id="288" name="Google Shape;288;g21d5f25ace6_0_196"/>
          <p:cNvCxnSpPr/>
          <p:nvPr/>
        </p:nvCxnSpPr>
        <p:spPr>
          <a:xfrm>
            <a:off x="3852509" y="2146258"/>
            <a:ext cx="39300" cy="3976800"/>
          </a:xfrm>
          <a:prstGeom prst="straightConnector1">
            <a:avLst/>
          </a:prstGeom>
          <a:noFill/>
          <a:ln cap="flat" cmpd="sng" w="28575">
            <a:solidFill>
              <a:schemeClr val="dk1"/>
            </a:solidFill>
            <a:prstDash val="solid"/>
            <a:round/>
            <a:headEnd len="sm" w="sm" type="none"/>
            <a:tailEnd len="sm" w="sm" type="none"/>
          </a:ln>
        </p:spPr>
      </p:cxnSp>
      <p:cxnSp>
        <p:nvCxnSpPr>
          <p:cNvPr id="289" name="Google Shape;289;g21d5f25ace6_0_196"/>
          <p:cNvCxnSpPr/>
          <p:nvPr/>
        </p:nvCxnSpPr>
        <p:spPr>
          <a:xfrm>
            <a:off x="4513475" y="2705475"/>
            <a:ext cx="40800" cy="3417600"/>
          </a:xfrm>
          <a:prstGeom prst="straightConnector1">
            <a:avLst/>
          </a:prstGeom>
          <a:noFill/>
          <a:ln cap="flat" cmpd="sng" w="28575">
            <a:solidFill>
              <a:schemeClr val="dk1"/>
            </a:solidFill>
            <a:prstDash val="solid"/>
            <a:round/>
            <a:headEnd len="sm" w="sm" type="none"/>
            <a:tailEnd len="sm" w="sm" type="none"/>
          </a:ln>
        </p:spPr>
      </p:cxnSp>
      <p:cxnSp>
        <p:nvCxnSpPr>
          <p:cNvPr id="290" name="Google Shape;290;g21d5f25ace6_0_196"/>
          <p:cNvCxnSpPr/>
          <p:nvPr/>
        </p:nvCxnSpPr>
        <p:spPr>
          <a:xfrm>
            <a:off x="5177322" y="2146258"/>
            <a:ext cx="39300" cy="3976800"/>
          </a:xfrm>
          <a:prstGeom prst="straightConnector1">
            <a:avLst/>
          </a:prstGeom>
          <a:noFill/>
          <a:ln cap="flat" cmpd="sng" w="28575">
            <a:solidFill>
              <a:schemeClr val="dk1"/>
            </a:solidFill>
            <a:prstDash val="solid"/>
            <a:round/>
            <a:headEnd len="sm" w="sm" type="none"/>
            <a:tailEnd len="sm" w="sm" type="none"/>
          </a:ln>
        </p:spPr>
      </p:cxnSp>
      <p:cxnSp>
        <p:nvCxnSpPr>
          <p:cNvPr id="291" name="Google Shape;291;g21d5f25ace6_0_196"/>
          <p:cNvCxnSpPr/>
          <p:nvPr/>
        </p:nvCxnSpPr>
        <p:spPr>
          <a:xfrm>
            <a:off x="5839729" y="2146258"/>
            <a:ext cx="39600" cy="1833900"/>
          </a:xfrm>
          <a:prstGeom prst="straightConnector1">
            <a:avLst/>
          </a:prstGeom>
          <a:noFill/>
          <a:ln cap="flat" cmpd="sng" w="28575">
            <a:solidFill>
              <a:schemeClr val="dk1"/>
            </a:solidFill>
            <a:prstDash val="solid"/>
            <a:round/>
            <a:headEnd len="sm" w="sm" type="none"/>
            <a:tailEnd len="sm" w="sm" type="none"/>
          </a:ln>
        </p:spPr>
      </p:cxnSp>
      <p:cxnSp>
        <p:nvCxnSpPr>
          <p:cNvPr id="292" name="Google Shape;292;g21d5f25ace6_0_196"/>
          <p:cNvCxnSpPr/>
          <p:nvPr/>
        </p:nvCxnSpPr>
        <p:spPr>
          <a:xfrm>
            <a:off x="6502136" y="2146258"/>
            <a:ext cx="39300" cy="3976800"/>
          </a:xfrm>
          <a:prstGeom prst="straightConnector1">
            <a:avLst/>
          </a:prstGeom>
          <a:noFill/>
          <a:ln cap="flat" cmpd="sng" w="28575">
            <a:solidFill>
              <a:schemeClr val="dk1"/>
            </a:solidFill>
            <a:prstDash val="solid"/>
            <a:round/>
            <a:headEnd len="sm" w="sm" type="none"/>
            <a:tailEnd len="sm" w="sm" type="none"/>
          </a:ln>
        </p:spPr>
      </p:cxnSp>
      <p:sp>
        <p:nvSpPr>
          <p:cNvPr id="293" name="Google Shape;293;g21d5f25ace6_0_196"/>
          <p:cNvSpPr txBox="1"/>
          <p:nvPr/>
        </p:nvSpPr>
        <p:spPr>
          <a:xfrm>
            <a:off x="2094200" y="24198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1</a:t>
            </a:r>
            <a:endParaRPr b="0" i="0" sz="1400" u="none" cap="none" strike="noStrike">
              <a:solidFill>
                <a:srgbClr val="000000"/>
              </a:solidFill>
              <a:latin typeface="Arial"/>
              <a:ea typeface="Arial"/>
              <a:cs typeface="Arial"/>
              <a:sym typeface="Arial"/>
            </a:endParaRPr>
          </a:p>
        </p:txBody>
      </p:sp>
      <p:sp>
        <p:nvSpPr>
          <p:cNvPr id="294" name="Google Shape;294;g21d5f25ace6_0_196"/>
          <p:cNvSpPr/>
          <p:nvPr/>
        </p:nvSpPr>
        <p:spPr>
          <a:xfrm>
            <a:off x="373305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5" name="Google Shape;295;g21d5f25ace6_0_196"/>
          <p:cNvSpPr/>
          <p:nvPr/>
        </p:nvSpPr>
        <p:spPr>
          <a:xfrm>
            <a:off x="5041575"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6" name="Google Shape;296;g21d5f25ace6_0_196"/>
          <p:cNvSpPr/>
          <p:nvPr/>
        </p:nvSpPr>
        <p:spPr>
          <a:xfrm>
            <a:off x="5675475"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297" name="Google Shape;297;g21d5f25ace6_0_196"/>
          <p:cNvCxnSpPr>
            <a:stCxn id="293" idx="3"/>
            <a:endCxn id="294" idx="0"/>
          </p:cNvCxnSpPr>
          <p:nvPr/>
        </p:nvCxnSpPr>
        <p:spPr>
          <a:xfrm>
            <a:off x="2939600" y="2619900"/>
            <a:ext cx="825900" cy="0"/>
          </a:xfrm>
          <a:prstGeom prst="straightConnector1">
            <a:avLst/>
          </a:prstGeom>
          <a:noFill/>
          <a:ln cap="flat" cmpd="sng" w="28575">
            <a:solidFill>
              <a:schemeClr val="dk1"/>
            </a:solidFill>
            <a:prstDash val="solid"/>
            <a:round/>
            <a:headEnd len="sm" w="sm" type="none"/>
            <a:tailEnd len="sm" w="sm" type="none"/>
          </a:ln>
        </p:spPr>
      </p:cxnSp>
      <p:cxnSp>
        <p:nvCxnSpPr>
          <p:cNvPr id="298" name="Google Shape;298;g21d5f25ace6_0_196"/>
          <p:cNvCxnSpPr>
            <a:stCxn id="294" idx="1"/>
          </p:cNvCxnSpPr>
          <p:nvPr/>
        </p:nvCxnSpPr>
        <p:spPr>
          <a:xfrm flipH="1" rot="10800000">
            <a:off x="3960638" y="2614500"/>
            <a:ext cx="565800" cy="5400"/>
          </a:xfrm>
          <a:prstGeom prst="straightConnector1">
            <a:avLst/>
          </a:prstGeom>
          <a:noFill/>
          <a:ln cap="flat" cmpd="sng" w="28575">
            <a:solidFill>
              <a:schemeClr val="dk1"/>
            </a:solidFill>
            <a:prstDash val="solid"/>
            <a:round/>
            <a:headEnd len="sm" w="sm" type="none"/>
            <a:tailEnd len="sm" w="sm" type="none"/>
          </a:ln>
        </p:spPr>
      </p:cxnSp>
      <p:cxnSp>
        <p:nvCxnSpPr>
          <p:cNvPr id="299" name="Google Shape;299;g21d5f25ace6_0_196"/>
          <p:cNvCxnSpPr>
            <a:endCxn id="295" idx="0"/>
          </p:cNvCxnSpPr>
          <p:nvPr/>
        </p:nvCxnSpPr>
        <p:spPr>
          <a:xfrm flipH="1" rot="10800000">
            <a:off x="4682588" y="2619900"/>
            <a:ext cx="391500" cy="7500"/>
          </a:xfrm>
          <a:prstGeom prst="straightConnector1">
            <a:avLst/>
          </a:prstGeom>
          <a:noFill/>
          <a:ln cap="flat" cmpd="sng" w="28575">
            <a:solidFill>
              <a:schemeClr val="dk1"/>
            </a:solidFill>
            <a:prstDash val="solid"/>
            <a:round/>
            <a:headEnd len="sm" w="sm" type="none"/>
            <a:tailEnd len="sm" w="sm" type="none"/>
          </a:ln>
        </p:spPr>
      </p:cxnSp>
      <p:cxnSp>
        <p:nvCxnSpPr>
          <p:cNvPr id="300" name="Google Shape;300;g21d5f25ace6_0_196"/>
          <p:cNvCxnSpPr>
            <a:stCxn id="295" idx="1"/>
            <a:endCxn id="296" idx="0"/>
          </p:cNvCxnSpPr>
          <p:nvPr/>
        </p:nvCxnSpPr>
        <p:spPr>
          <a:xfrm>
            <a:off x="5269163" y="2619900"/>
            <a:ext cx="438900" cy="0"/>
          </a:xfrm>
          <a:prstGeom prst="straightConnector1">
            <a:avLst/>
          </a:prstGeom>
          <a:noFill/>
          <a:ln cap="flat" cmpd="sng" w="28575">
            <a:solidFill>
              <a:schemeClr val="dk1"/>
            </a:solidFill>
            <a:prstDash val="solid"/>
            <a:round/>
            <a:headEnd len="sm" w="sm" type="none"/>
            <a:tailEnd len="sm" w="sm" type="none"/>
          </a:ln>
        </p:spPr>
      </p:cxnSp>
      <p:cxnSp>
        <p:nvCxnSpPr>
          <p:cNvPr id="301" name="Google Shape;301;g21d5f25ace6_0_196"/>
          <p:cNvCxnSpPr>
            <a:stCxn id="296" idx="1"/>
          </p:cNvCxnSpPr>
          <p:nvPr/>
        </p:nvCxnSpPr>
        <p:spPr>
          <a:xfrm>
            <a:off x="5903063" y="2619900"/>
            <a:ext cx="479700" cy="0"/>
          </a:xfrm>
          <a:prstGeom prst="straightConnector1">
            <a:avLst/>
          </a:prstGeom>
          <a:noFill/>
          <a:ln cap="flat" cmpd="sng" w="28575">
            <a:solidFill>
              <a:schemeClr val="dk1"/>
            </a:solidFill>
            <a:prstDash val="solid"/>
            <a:round/>
            <a:headEnd len="sm" w="sm" type="none"/>
            <a:tailEnd len="sm" w="sm" type="none"/>
          </a:ln>
        </p:spPr>
      </p:cxnSp>
      <p:sp>
        <p:nvSpPr>
          <p:cNvPr id="302" name="Google Shape;302;g21d5f25ace6_0_196"/>
          <p:cNvSpPr/>
          <p:nvPr/>
        </p:nvSpPr>
        <p:spPr>
          <a:xfrm>
            <a:off x="3733050"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3" name="Google Shape;303;g21d5f25ace6_0_196"/>
          <p:cNvSpPr/>
          <p:nvPr/>
        </p:nvSpPr>
        <p:spPr>
          <a:xfrm>
            <a:off x="4418850" y="38214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g21d5f25ace6_0_196"/>
          <p:cNvSpPr/>
          <p:nvPr/>
        </p:nvSpPr>
        <p:spPr>
          <a:xfrm>
            <a:off x="5041575"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05" name="Google Shape;305;g21d5f25ace6_0_196"/>
          <p:cNvCxnSpPr>
            <a:endCxn id="302" idx="0"/>
          </p:cNvCxnSpPr>
          <p:nvPr/>
        </p:nvCxnSpPr>
        <p:spPr>
          <a:xfrm>
            <a:off x="2939663" y="3954900"/>
            <a:ext cx="825900" cy="0"/>
          </a:xfrm>
          <a:prstGeom prst="straightConnector1">
            <a:avLst/>
          </a:prstGeom>
          <a:noFill/>
          <a:ln cap="flat" cmpd="sng" w="28575">
            <a:solidFill>
              <a:schemeClr val="dk1"/>
            </a:solidFill>
            <a:prstDash val="solid"/>
            <a:round/>
            <a:headEnd len="sm" w="sm" type="none"/>
            <a:tailEnd len="sm" w="sm" type="none"/>
          </a:ln>
        </p:spPr>
      </p:cxnSp>
      <p:cxnSp>
        <p:nvCxnSpPr>
          <p:cNvPr id="306" name="Google Shape;306;g21d5f25ace6_0_196"/>
          <p:cNvCxnSpPr>
            <a:stCxn id="302" idx="1"/>
            <a:endCxn id="303" idx="0"/>
          </p:cNvCxnSpPr>
          <p:nvPr/>
        </p:nvCxnSpPr>
        <p:spPr>
          <a:xfrm>
            <a:off x="3960638" y="3954900"/>
            <a:ext cx="490800" cy="8100"/>
          </a:xfrm>
          <a:prstGeom prst="straightConnector1">
            <a:avLst/>
          </a:prstGeom>
          <a:noFill/>
          <a:ln cap="flat" cmpd="sng" w="28575">
            <a:solidFill>
              <a:schemeClr val="dk1"/>
            </a:solidFill>
            <a:prstDash val="solid"/>
            <a:round/>
            <a:headEnd len="sm" w="sm" type="none"/>
            <a:tailEnd len="sm" w="sm" type="none"/>
          </a:ln>
        </p:spPr>
      </p:cxnSp>
      <p:cxnSp>
        <p:nvCxnSpPr>
          <p:cNvPr id="307" name="Google Shape;307;g21d5f25ace6_0_196"/>
          <p:cNvCxnSpPr>
            <a:stCxn id="303" idx="1"/>
            <a:endCxn id="304" idx="0"/>
          </p:cNvCxnSpPr>
          <p:nvPr/>
        </p:nvCxnSpPr>
        <p:spPr>
          <a:xfrm flipH="1" rot="10800000">
            <a:off x="4646438" y="3954900"/>
            <a:ext cx="427800" cy="8100"/>
          </a:xfrm>
          <a:prstGeom prst="straightConnector1">
            <a:avLst/>
          </a:prstGeom>
          <a:noFill/>
          <a:ln cap="flat" cmpd="sng" w="28575">
            <a:solidFill>
              <a:schemeClr val="dk1"/>
            </a:solidFill>
            <a:prstDash val="solid"/>
            <a:round/>
            <a:headEnd len="sm" w="sm" type="none"/>
            <a:tailEnd len="sm" w="sm" type="none"/>
          </a:ln>
        </p:spPr>
      </p:cxnSp>
      <p:cxnSp>
        <p:nvCxnSpPr>
          <p:cNvPr id="308" name="Google Shape;308;g21d5f25ace6_0_196"/>
          <p:cNvCxnSpPr>
            <a:stCxn id="304" idx="1"/>
          </p:cNvCxnSpPr>
          <p:nvPr/>
        </p:nvCxnSpPr>
        <p:spPr>
          <a:xfrm flipH="1" rot="10800000">
            <a:off x="5269163" y="3954300"/>
            <a:ext cx="597000" cy="600"/>
          </a:xfrm>
          <a:prstGeom prst="straightConnector1">
            <a:avLst/>
          </a:prstGeom>
          <a:noFill/>
          <a:ln cap="flat" cmpd="sng" w="28575">
            <a:solidFill>
              <a:schemeClr val="dk1"/>
            </a:solidFill>
            <a:prstDash val="solid"/>
            <a:round/>
            <a:headEnd len="sm" w="sm" type="none"/>
            <a:tailEnd len="sm" w="sm" type="none"/>
          </a:ln>
        </p:spPr>
      </p:cxnSp>
      <p:cxnSp>
        <p:nvCxnSpPr>
          <p:cNvPr id="309" name="Google Shape;309;g21d5f25ace6_0_196"/>
          <p:cNvCxnSpPr/>
          <p:nvPr/>
        </p:nvCxnSpPr>
        <p:spPr>
          <a:xfrm flipH="1" rot="10800000">
            <a:off x="6022300" y="3955175"/>
            <a:ext cx="360300" cy="12000"/>
          </a:xfrm>
          <a:prstGeom prst="straightConnector1">
            <a:avLst/>
          </a:prstGeom>
          <a:noFill/>
          <a:ln cap="flat" cmpd="sng" w="28575">
            <a:solidFill>
              <a:schemeClr val="dk1"/>
            </a:solidFill>
            <a:prstDash val="solid"/>
            <a:round/>
            <a:headEnd len="sm" w="sm" type="none"/>
            <a:tailEnd len="sm" w="sm" type="none"/>
          </a:ln>
        </p:spPr>
      </p:cxnSp>
      <p:sp>
        <p:nvSpPr>
          <p:cNvPr id="310" name="Google Shape;310;g21d5f25ace6_0_196"/>
          <p:cNvSpPr txBox="1"/>
          <p:nvPr/>
        </p:nvSpPr>
        <p:spPr>
          <a:xfrm>
            <a:off x="2094200" y="37881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3</a:t>
            </a:r>
            <a:endParaRPr b="0" i="0" sz="1400" u="none" cap="none" strike="noStrike">
              <a:solidFill>
                <a:srgbClr val="000000"/>
              </a:solidFill>
              <a:latin typeface="Arial"/>
              <a:ea typeface="Arial"/>
              <a:cs typeface="Arial"/>
              <a:sym typeface="Arial"/>
            </a:endParaRPr>
          </a:p>
        </p:txBody>
      </p:sp>
      <p:sp>
        <p:nvSpPr>
          <p:cNvPr id="311" name="Google Shape;311;g21d5f25ace6_0_196"/>
          <p:cNvSpPr/>
          <p:nvPr/>
        </p:nvSpPr>
        <p:spPr>
          <a:xfrm>
            <a:off x="3726625" y="44358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g21d5f25ace6_0_196"/>
          <p:cNvSpPr/>
          <p:nvPr/>
        </p:nvSpPr>
        <p:spPr>
          <a:xfrm>
            <a:off x="4412425"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3" name="Google Shape;313;g21d5f25ace6_0_196"/>
          <p:cNvSpPr/>
          <p:nvPr/>
        </p:nvSpPr>
        <p:spPr>
          <a:xfrm>
            <a:off x="5060450" y="44121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4" name="Google Shape;314;g21d5f25ace6_0_196"/>
          <p:cNvSpPr/>
          <p:nvPr/>
        </p:nvSpPr>
        <p:spPr>
          <a:xfrm>
            <a:off x="5708463" y="44358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15" name="Google Shape;315;g21d5f25ace6_0_196"/>
          <p:cNvCxnSpPr>
            <a:stCxn id="316" idx="3"/>
            <a:endCxn id="311" idx="0"/>
          </p:cNvCxnSpPr>
          <p:nvPr/>
        </p:nvCxnSpPr>
        <p:spPr>
          <a:xfrm>
            <a:off x="2933175" y="4577425"/>
            <a:ext cx="825900" cy="0"/>
          </a:xfrm>
          <a:prstGeom prst="straightConnector1">
            <a:avLst/>
          </a:prstGeom>
          <a:noFill/>
          <a:ln cap="flat" cmpd="sng" w="28575">
            <a:solidFill>
              <a:schemeClr val="dk1"/>
            </a:solidFill>
            <a:prstDash val="solid"/>
            <a:round/>
            <a:headEnd len="sm" w="sm" type="none"/>
            <a:tailEnd len="sm" w="sm" type="none"/>
          </a:ln>
        </p:spPr>
      </p:cxnSp>
      <p:cxnSp>
        <p:nvCxnSpPr>
          <p:cNvPr id="317" name="Google Shape;317;g21d5f25ace6_0_196"/>
          <p:cNvCxnSpPr>
            <a:stCxn id="311" idx="1"/>
            <a:endCxn id="312" idx="0"/>
          </p:cNvCxnSpPr>
          <p:nvPr/>
        </p:nvCxnSpPr>
        <p:spPr>
          <a:xfrm flipH="1" rot="10800000">
            <a:off x="3954213" y="4555825"/>
            <a:ext cx="490800" cy="21600"/>
          </a:xfrm>
          <a:prstGeom prst="straightConnector1">
            <a:avLst/>
          </a:prstGeom>
          <a:noFill/>
          <a:ln cap="flat" cmpd="sng" w="28575">
            <a:solidFill>
              <a:schemeClr val="dk1"/>
            </a:solidFill>
            <a:prstDash val="solid"/>
            <a:round/>
            <a:headEnd len="sm" w="sm" type="none"/>
            <a:tailEnd len="sm" w="sm" type="none"/>
          </a:ln>
        </p:spPr>
      </p:cxnSp>
      <p:cxnSp>
        <p:nvCxnSpPr>
          <p:cNvPr id="318" name="Google Shape;318;g21d5f25ace6_0_196"/>
          <p:cNvCxnSpPr>
            <a:stCxn id="312" idx="1"/>
            <a:endCxn id="313" idx="0"/>
          </p:cNvCxnSpPr>
          <p:nvPr/>
        </p:nvCxnSpPr>
        <p:spPr>
          <a:xfrm flipH="1" rot="10800000">
            <a:off x="4640013" y="4553725"/>
            <a:ext cx="453000" cy="2100"/>
          </a:xfrm>
          <a:prstGeom prst="straightConnector1">
            <a:avLst/>
          </a:prstGeom>
          <a:noFill/>
          <a:ln cap="flat" cmpd="sng" w="28575">
            <a:solidFill>
              <a:schemeClr val="dk1"/>
            </a:solidFill>
            <a:prstDash val="solid"/>
            <a:round/>
            <a:headEnd len="sm" w="sm" type="none"/>
            <a:tailEnd len="sm" w="sm" type="none"/>
          </a:ln>
        </p:spPr>
      </p:cxnSp>
      <p:cxnSp>
        <p:nvCxnSpPr>
          <p:cNvPr id="319" name="Google Shape;319;g21d5f25ace6_0_196"/>
          <p:cNvCxnSpPr>
            <a:stCxn id="313" idx="1"/>
            <a:endCxn id="314" idx="0"/>
          </p:cNvCxnSpPr>
          <p:nvPr/>
        </p:nvCxnSpPr>
        <p:spPr>
          <a:xfrm>
            <a:off x="5288038" y="4553725"/>
            <a:ext cx="453000" cy="23700"/>
          </a:xfrm>
          <a:prstGeom prst="straightConnector1">
            <a:avLst/>
          </a:prstGeom>
          <a:noFill/>
          <a:ln cap="flat" cmpd="sng" w="28575">
            <a:solidFill>
              <a:schemeClr val="dk1"/>
            </a:solidFill>
            <a:prstDash val="solid"/>
            <a:round/>
            <a:headEnd len="sm" w="sm" type="none"/>
            <a:tailEnd len="sm" w="sm" type="none"/>
          </a:ln>
        </p:spPr>
      </p:cxnSp>
      <p:cxnSp>
        <p:nvCxnSpPr>
          <p:cNvPr id="320" name="Google Shape;320;g21d5f25ace6_0_196"/>
          <p:cNvCxnSpPr>
            <a:stCxn id="314" idx="1"/>
          </p:cNvCxnSpPr>
          <p:nvPr/>
        </p:nvCxnSpPr>
        <p:spPr>
          <a:xfrm flipH="1" rot="10800000">
            <a:off x="5936051" y="4555825"/>
            <a:ext cx="453000" cy="21600"/>
          </a:xfrm>
          <a:prstGeom prst="straightConnector1">
            <a:avLst/>
          </a:prstGeom>
          <a:noFill/>
          <a:ln cap="flat" cmpd="sng" w="28575">
            <a:solidFill>
              <a:schemeClr val="dk1"/>
            </a:solidFill>
            <a:prstDash val="solid"/>
            <a:round/>
            <a:headEnd len="sm" w="sm" type="none"/>
            <a:tailEnd len="sm" w="sm" type="none"/>
          </a:ln>
        </p:spPr>
      </p:cxnSp>
      <p:sp>
        <p:nvSpPr>
          <p:cNvPr id="316" name="Google Shape;316;g21d5f25ace6_0_196"/>
          <p:cNvSpPr txBox="1"/>
          <p:nvPr/>
        </p:nvSpPr>
        <p:spPr>
          <a:xfrm>
            <a:off x="2087775" y="4377325"/>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4</a:t>
            </a:r>
            <a:endParaRPr b="0" i="0" sz="1400" u="none" cap="none" strike="noStrike">
              <a:solidFill>
                <a:srgbClr val="000000"/>
              </a:solidFill>
              <a:latin typeface="Arial"/>
              <a:ea typeface="Arial"/>
              <a:cs typeface="Arial"/>
              <a:sym typeface="Arial"/>
            </a:endParaRPr>
          </a:p>
        </p:txBody>
      </p:sp>
      <p:sp>
        <p:nvSpPr>
          <p:cNvPr id="321" name="Google Shape;321;g21d5f25ace6_0_196"/>
          <p:cNvSpPr/>
          <p:nvPr/>
        </p:nvSpPr>
        <p:spPr>
          <a:xfrm>
            <a:off x="37199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2" name="Google Shape;322;g21d5f25ace6_0_196"/>
          <p:cNvSpPr/>
          <p:nvPr/>
        </p:nvSpPr>
        <p:spPr>
          <a:xfrm>
            <a:off x="44057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3" name="Google Shape;323;g21d5f25ace6_0_196"/>
          <p:cNvSpPr/>
          <p:nvPr/>
        </p:nvSpPr>
        <p:spPr>
          <a:xfrm>
            <a:off x="50915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4" name="Google Shape;324;g21d5f25ace6_0_196"/>
          <p:cNvSpPr/>
          <p:nvPr/>
        </p:nvSpPr>
        <p:spPr>
          <a:xfrm>
            <a:off x="5727363" y="50437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25" name="Google Shape;325;g21d5f25ace6_0_196"/>
          <p:cNvCxnSpPr/>
          <p:nvPr/>
        </p:nvCxnSpPr>
        <p:spPr>
          <a:xfrm>
            <a:off x="2926463" y="5173250"/>
            <a:ext cx="825900" cy="0"/>
          </a:xfrm>
          <a:prstGeom prst="straightConnector1">
            <a:avLst/>
          </a:prstGeom>
          <a:noFill/>
          <a:ln cap="flat" cmpd="sng" w="28575">
            <a:solidFill>
              <a:schemeClr val="dk1"/>
            </a:solidFill>
            <a:prstDash val="solid"/>
            <a:round/>
            <a:headEnd len="sm" w="sm" type="none"/>
            <a:tailEnd len="sm" w="sm" type="none"/>
          </a:ln>
        </p:spPr>
      </p:cxnSp>
      <p:cxnSp>
        <p:nvCxnSpPr>
          <p:cNvPr id="326" name="Google Shape;326;g21d5f25ace6_0_196"/>
          <p:cNvCxnSpPr>
            <a:stCxn id="321" idx="1"/>
            <a:endCxn id="322" idx="0"/>
          </p:cNvCxnSpPr>
          <p:nvPr/>
        </p:nvCxnSpPr>
        <p:spPr>
          <a:xfrm>
            <a:off x="3947501" y="5173250"/>
            <a:ext cx="490800" cy="0"/>
          </a:xfrm>
          <a:prstGeom prst="straightConnector1">
            <a:avLst/>
          </a:prstGeom>
          <a:noFill/>
          <a:ln cap="flat" cmpd="sng" w="28575">
            <a:solidFill>
              <a:schemeClr val="dk1"/>
            </a:solidFill>
            <a:prstDash val="solid"/>
            <a:round/>
            <a:headEnd len="sm" w="sm" type="none"/>
            <a:tailEnd len="sm" w="sm" type="none"/>
          </a:ln>
        </p:spPr>
      </p:cxnSp>
      <p:cxnSp>
        <p:nvCxnSpPr>
          <p:cNvPr id="327" name="Google Shape;327;g21d5f25ace6_0_196"/>
          <p:cNvCxnSpPr>
            <a:stCxn id="322" idx="1"/>
            <a:endCxn id="323" idx="0"/>
          </p:cNvCxnSpPr>
          <p:nvPr/>
        </p:nvCxnSpPr>
        <p:spPr>
          <a:xfrm>
            <a:off x="4633301" y="5173250"/>
            <a:ext cx="490800" cy="0"/>
          </a:xfrm>
          <a:prstGeom prst="straightConnector1">
            <a:avLst/>
          </a:prstGeom>
          <a:noFill/>
          <a:ln cap="flat" cmpd="sng" w="28575">
            <a:solidFill>
              <a:schemeClr val="dk1"/>
            </a:solidFill>
            <a:prstDash val="solid"/>
            <a:round/>
            <a:headEnd len="sm" w="sm" type="none"/>
            <a:tailEnd len="sm" w="sm" type="none"/>
          </a:ln>
        </p:spPr>
      </p:cxnSp>
      <p:cxnSp>
        <p:nvCxnSpPr>
          <p:cNvPr id="328" name="Google Shape;328;g21d5f25ace6_0_196"/>
          <p:cNvCxnSpPr>
            <a:stCxn id="323" idx="1"/>
            <a:endCxn id="324" idx="0"/>
          </p:cNvCxnSpPr>
          <p:nvPr/>
        </p:nvCxnSpPr>
        <p:spPr>
          <a:xfrm>
            <a:off x="5319101" y="5173250"/>
            <a:ext cx="440700" cy="12000"/>
          </a:xfrm>
          <a:prstGeom prst="straightConnector1">
            <a:avLst/>
          </a:prstGeom>
          <a:noFill/>
          <a:ln cap="flat" cmpd="sng" w="28575">
            <a:solidFill>
              <a:schemeClr val="dk1"/>
            </a:solidFill>
            <a:prstDash val="solid"/>
            <a:round/>
            <a:headEnd len="sm" w="sm" type="none"/>
            <a:tailEnd len="sm" w="sm" type="none"/>
          </a:ln>
        </p:spPr>
      </p:cxnSp>
      <p:cxnSp>
        <p:nvCxnSpPr>
          <p:cNvPr id="329" name="Google Shape;329;g21d5f25ace6_0_196"/>
          <p:cNvCxnSpPr>
            <a:stCxn id="324" idx="1"/>
          </p:cNvCxnSpPr>
          <p:nvPr/>
        </p:nvCxnSpPr>
        <p:spPr>
          <a:xfrm flipH="1" rot="10800000">
            <a:off x="5954951" y="5173350"/>
            <a:ext cx="440700" cy="12000"/>
          </a:xfrm>
          <a:prstGeom prst="straightConnector1">
            <a:avLst/>
          </a:prstGeom>
          <a:noFill/>
          <a:ln cap="flat" cmpd="sng" w="28575">
            <a:solidFill>
              <a:schemeClr val="dk1"/>
            </a:solidFill>
            <a:prstDash val="solid"/>
            <a:round/>
            <a:headEnd len="sm" w="sm" type="none"/>
            <a:tailEnd len="sm" w="sm" type="none"/>
          </a:ln>
        </p:spPr>
      </p:cxnSp>
      <p:sp>
        <p:nvSpPr>
          <p:cNvPr id="330" name="Google Shape;330;g21d5f25ace6_0_196"/>
          <p:cNvSpPr txBox="1"/>
          <p:nvPr/>
        </p:nvSpPr>
        <p:spPr>
          <a:xfrm>
            <a:off x="2081063" y="49665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5</a:t>
            </a:r>
            <a:endParaRPr b="0" i="0" sz="1400" u="none" cap="none" strike="noStrike">
              <a:solidFill>
                <a:srgbClr val="000000"/>
              </a:solidFill>
              <a:latin typeface="Arial"/>
              <a:ea typeface="Arial"/>
              <a:cs typeface="Arial"/>
              <a:sym typeface="Arial"/>
            </a:endParaRPr>
          </a:p>
        </p:txBody>
      </p:sp>
      <p:sp>
        <p:nvSpPr>
          <p:cNvPr id="331" name="Google Shape;331;g21d5f25ace6_0_196"/>
          <p:cNvSpPr/>
          <p:nvPr/>
        </p:nvSpPr>
        <p:spPr>
          <a:xfrm>
            <a:off x="373305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2" name="Google Shape;332;g21d5f25ace6_0_196"/>
          <p:cNvSpPr/>
          <p:nvPr/>
        </p:nvSpPr>
        <p:spPr>
          <a:xfrm>
            <a:off x="434265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3" name="Google Shape;333;g21d5f25ace6_0_196"/>
          <p:cNvSpPr/>
          <p:nvPr/>
        </p:nvSpPr>
        <p:spPr>
          <a:xfrm>
            <a:off x="5041575"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g21d5f25ace6_0_196"/>
          <p:cNvSpPr/>
          <p:nvPr/>
        </p:nvSpPr>
        <p:spPr>
          <a:xfrm>
            <a:off x="574050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35" name="Google Shape;335;g21d5f25ace6_0_196"/>
          <p:cNvCxnSpPr>
            <a:endCxn id="331" idx="0"/>
          </p:cNvCxnSpPr>
          <p:nvPr/>
        </p:nvCxnSpPr>
        <p:spPr>
          <a:xfrm>
            <a:off x="2939663" y="3287400"/>
            <a:ext cx="825900" cy="0"/>
          </a:xfrm>
          <a:prstGeom prst="straightConnector1">
            <a:avLst/>
          </a:prstGeom>
          <a:noFill/>
          <a:ln cap="flat" cmpd="sng" w="28575">
            <a:solidFill>
              <a:schemeClr val="dk1"/>
            </a:solidFill>
            <a:prstDash val="solid"/>
            <a:round/>
            <a:headEnd len="sm" w="sm" type="none"/>
            <a:tailEnd len="sm" w="sm" type="none"/>
          </a:ln>
        </p:spPr>
      </p:cxnSp>
      <p:cxnSp>
        <p:nvCxnSpPr>
          <p:cNvPr id="336" name="Google Shape;336;g21d5f25ace6_0_196"/>
          <p:cNvCxnSpPr>
            <a:stCxn id="331" idx="1"/>
            <a:endCxn id="332" idx="0"/>
          </p:cNvCxnSpPr>
          <p:nvPr/>
        </p:nvCxnSpPr>
        <p:spPr>
          <a:xfrm>
            <a:off x="3960638" y="3287400"/>
            <a:ext cx="414600" cy="0"/>
          </a:xfrm>
          <a:prstGeom prst="straightConnector1">
            <a:avLst/>
          </a:prstGeom>
          <a:noFill/>
          <a:ln cap="flat" cmpd="sng" w="28575">
            <a:solidFill>
              <a:schemeClr val="dk1"/>
            </a:solidFill>
            <a:prstDash val="solid"/>
            <a:round/>
            <a:headEnd len="sm" w="sm" type="none"/>
            <a:tailEnd len="sm" w="sm" type="none"/>
          </a:ln>
        </p:spPr>
      </p:cxnSp>
      <p:cxnSp>
        <p:nvCxnSpPr>
          <p:cNvPr id="337" name="Google Shape;337;g21d5f25ace6_0_196"/>
          <p:cNvCxnSpPr>
            <a:stCxn id="333" idx="1"/>
            <a:endCxn id="334" idx="0"/>
          </p:cNvCxnSpPr>
          <p:nvPr/>
        </p:nvCxnSpPr>
        <p:spPr>
          <a:xfrm>
            <a:off x="5269163" y="3287400"/>
            <a:ext cx="504000" cy="0"/>
          </a:xfrm>
          <a:prstGeom prst="straightConnector1">
            <a:avLst/>
          </a:prstGeom>
          <a:noFill/>
          <a:ln cap="flat" cmpd="sng" w="28575">
            <a:solidFill>
              <a:schemeClr val="dk1"/>
            </a:solidFill>
            <a:prstDash val="solid"/>
            <a:round/>
            <a:headEnd len="sm" w="sm" type="none"/>
            <a:tailEnd len="sm" w="sm" type="none"/>
          </a:ln>
        </p:spPr>
      </p:cxnSp>
      <p:cxnSp>
        <p:nvCxnSpPr>
          <p:cNvPr id="338" name="Google Shape;338;g21d5f25ace6_0_196"/>
          <p:cNvCxnSpPr>
            <a:stCxn id="332" idx="1"/>
            <a:endCxn id="333" idx="0"/>
          </p:cNvCxnSpPr>
          <p:nvPr/>
        </p:nvCxnSpPr>
        <p:spPr>
          <a:xfrm>
            <a:off x="4570238" y="3287400"/>
            <a:ext cx="504000" cy="0"/>
          </a:xfrm>
          <a:prstGeom prst="straightConnector1">
            <a:avLst/>
          </a:prstGeom>
          <a:noFill/>
          <a:ln cap="flat" cmpd="sng" w="28575">
            <a:solidFill>
              <a:schemeClr val="dk1"/>
            </a:solidFill>
            <a:prstDash val="solid"/>
            <a:round/>
            <a:headEnd len="sm" w="sm" type="none"/>
            <a:tailEnd len="sm" w="sm" type="none"/>
          </a:ln>
        </p:spPr>
      </p:cxnSp>
      <p:cxnSp>
        <p:nvCxnSpPr>
          <p:cNvPr id="339" name="Google Shape;339;g21d5f25ace6_0_196"/>
          <p:cNvCxnSpPr>
            <a:stCxn id="334" idx="1"/>
          </p:cNvCxnSpPr>
          <p:nvPr/>
        </p:nvCxnSpPr>
        <p:spPr>
          <a:xfrm>
            <a:off x="5968088" y="3287400"/>
            <a:ext cx="414600" cy="0"/>
          </a:xfrm>
          <a:prstGeom prst="straightConnector1">
            <a:avLst/>
          </a:prstGeom>
          <a:noFill/>
          <a:ln cap="flat" cmpd="sng" w="28575">
            <a:solidFill>
              <a:schemeClr val="dk1"/>
            </a:solidFill>
            <a:prstDash val="solid"/>
            <a:round/>
            <a:headEnd len="sm" w="sm" type="none"/>
            <a:tailEnd len="sm" w="sm" type="none"/>
          </a:ln>
        </p:spPr>
      </p:cxnSp>
      <p:sp>
        <p:nvSpPr>
          <p:cNvPr id="340" name="Google Shape;340;g21d5f25ace6_0_196"/>
          <p:cNvSpPr txBox="1"/>
          <p:nvPr/>
        </p:nvSpPr>
        <p:spPr>
          <a:xfrm>
            <a:off x="2131900" y="31039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2</a:t>
            </a:r>
            <a:endParaRPr b="0" i="0" sz="1400" u="none" cap="none" strike="noStrike">
              <a:solidFill>
                <a:srgbClr val="000000"/>
              </a:solidFill>
              <a:latin typeface="Arial"/>
              <a:ea typeface="Arial"/>
              <a:cs typeface="Arial"/>
              <a:sym typeface="Arial"/>
            </a:endParaRPr>
          </a:p>
        </p:txBody>
      </p:sp>
      <p:sp>
        <p:nvSpPr>
          <p:cNvPr id="341" name="Google Shape;341;g21d5f25ace6_0_196"/>
          <p:cNvSpPr/>
          <p:nvPr/>
        </p:nvSpPr>
        <p:spPr>
          <a:xfrm>
            <a:off x="37199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g21d5f25ace6_0_196"/>
          <p:cNvSpPr/>
          <p:nvPr/>
        </p:nvSpPr>
        <p:spPr>
          <a:xfrm>
            <a:off x="44057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3" name="Google Shape;343;g21d5f25ace6_0_196"/>
          <p:cNvSpPr/>
          <p:nvPr/>
        </p:nvSpPr>
        <p:spPr>
          <a:xfrm>
            <a:off x="50915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4" name="Google Shape;344;g21d5f25ace6_0_196"/>
          <p:cNvSpPr/>
          <p:nvPr/>
        </p:nvSpPr>
        <p:spPr>
          <a:xfrm>
            <a:off x="5727363" y="57279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45" name="Google Shape;345;g21d5f25ace6_0_196"/>
          <p:cNvCxnSpPr/>
          <p:nvPr/>
        </p:nvCxnSpPr>
        <p:spPr>
          <a:xfrm>
            <a:off x="2926463" y="5857400"/>
            <a:ext cx="825900" cy="0"/>
          </a:xfrm>
          <a:prstGeom prst="straightConnector1">
            <a:avLst/>
          </a:prstGeom>
          <a:noFill/>
          <a:ln cap="flat" cmpd="sng" w="28575">
            <a:solidFill>
              <a:schemeClr val="dk1"/>
            </a:solidFill>
            <a:prstDash val="solid"/>
            <a:round/>
            <a:headEnd len="sm" w="sm" type="none"/>
            <a:tailEnd len="sm" w="sm" type="none"/>
          </a:ln>
        </p:spPr>
      </p:cxnSp>
      <p:cxnSp>
        <p:nvCxnSpPr>
          <p:cNvPr id="346" name="Google Shape;346;g21d5f25ace6_0_196"/>
          <p:cNvCxnSpPr>
            <a:stCxn id="341" idx="1"/>
            <a:endCxn id="342" idx="0"/>
          </p:cNvCxnSpPr>
          <p:nvPr/>
        </p:nvCxnSpPr>
        <p:spPr>
          <a:xfrm>
            <a:off x="3947501" y="5857400"/>
            <a:ext cx="490800" cy="0"/>
          </a:xfrm>
          <a:prstGeom prst="straightConnector1">
            <a:avLst/>
          </a:prstGeom>
          <a:noFill/>
          <a:ln cap="flat" cmpd="sng" w="28575">
            <a:solidFill>
              <a:schemeClr val="dk1"/>
            </a:solidFill>
            <a:prstDash val="solid"/>
            <a:round/>
            <a:headEnd len="sm" w="sm" type="none"/>
            <a:tailEnd len="sm" w="sm" type="none"/>
          </a:ln>
        </p:spPr>
      </p:cxnSp>
      <p:cxnSp>
        <p:nvCxnSpPr>
          <p:cNvPr id="347" name="Google Shape;347;g21d5f25ace6_0_196"/>
          <p:cNvCxnSpPr>
            <a:stCxn id="342" idx="1"/>
            <a:endCxn id="343" idx="0"/>
          </p:cNvCxnSpPr>
          <p:nvPr/>
        </p:nvCxnSpPr>
        <p:spPr>
          <a:xfrm>
            <a:off x="4633301" y="5857400"/>
            <a:ext cx="490800" cy="0"/>
          </a:xfrm>
          <a:prstGeom prst="straightConnector1">
            <a:avLst/>
          </a:prstGeom>
          <a:noFill/>
          <a:ln cap="flat" cmpd="sng" w="28575">
            <a:solidFill>
              <a:schemeClr val="dk1"/>
            </a:solidFill>
            <a:prstDash val="solid"/>
            <a:round/>
            <a:headEnd len="sm" w="sm" type="none"/>
            <a:tailEnd len="sm" w="sm" type="none"/>
          </a:ln>
        </p:spPr>
      </p:cxnSp>
      <p:cxnSp>
        <p:nvCxnSpPr>
          <p:cNvPr id="348" name="Google Shape;348;g21d5f25ace6_0_196"/>
          <p:cNvCxnSpPr>
            <a:stCxn id="343" idx="1"/>
            <a:endCxn id="344" idx="0"/>
          </p:cNvCxnSpPr>
          <p:nvPr/>
        </p:nvCxnSpPr>
        <p:spPr>
          <a:xfrm>
            <a:off x="5319101" y="5857400"/>
            <a:ext cx="440700" cy="12000"/>
          </a:xfrm>
          <a:prstGeom prst="straightConnector1">
            <a:avLst/>
          </a:prstGeom>
          <a:noFill/>
          <a:ln cap="flat" cmpd="sng" w="28575">
            <a:solidFill>
              <a:schemeClr val="dk1"/>
            </a:solidFill>
            <a:prstDash val="solid"/>
            <a:round/>
            <a:headEnd len="sm" w="sm" type="none"/>
            <a:tailEnd len="sm" w="sm" type="none"/>
          </a:ln>
        </p:spPr>
      </p:cxnSp>
      <p:cxnSp>
        <p:nvCxnSpPr>
          <p:cNvPr id="349" name="Google Shape;349;g21d5f25ace6_0_196"/>
          <p:cNvCxnSpPr>
            <a:stCxn id="344" idx="1"/>
          </p:cNvCxnSpPr>
          <p:nvPr/>
        </p:nvCxnSpPr>
        <p:spPr>
          <a:xfrm flipH="1" rot="10800000">
            <a:off x="5954951" y="5857500"/>
            <a:ext cx="440700" cy="12000"/>
          </a:xfrm>
          <a:prstGeom prst="straightConnector1">
            <a:avLst/>
          </a:prstGeom>
          <a:noFill/>
          <a:ln cap="flat" cmpd="sng" w="28575">
            <a:solidFill>
              <a:schemeClr val="dk1"/>
            </a:solidFill>
            <a:prstDash val="solid"/>
            <a:round/>
            <a:headEnd len="sm" w="sm" type="none"/>
            <a:tailEnd len="sm" w="sm" type="none"/>
          </a:ln>
        </p:spPr>
      </p:cxnSp>
      <p:sp>
        <p:nvSpPr>
          <p:cNvPr id="350" name="Google Shape;350;g21d5f25ace6_0_196"/>
          <p:cNvSpPr txBox="1"/>
          <p:nvPr/>
        </p:nvSpPr>
        <p:spPr>
          <a:xfrm>
            <a:off x="2081063" y="565070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6</a:t>
            </a:r>
            <a:endParaRPr b="0" i="0" sz="1400" u="none" cap="none" strike="noStrike">
              <a:solidFill>
                <a:srgbClr val="000000"/>
              </a:solidFill>
              <a:latin typeface="Arial"/>
              <a:ea typeface="Arial"/>
              <a:cs typeface="Arial"/>
              <a:sym typeface="Arial"/>
            </a:endParaRPr>
          </a:p>
        </p:txBody>
      </p:sp>
      <p:sp>
        <p:nvSpPr>
          <p:cNvPr id="351" name="Google Shape;351;g21d5f25ace6_0_196"/>
          <p:cNvSpPr txBox="1"/>
          <p:nvPr/>
        </p:nvSpPr>
        <p:spPr>
          <a:xfrm>
            <a:off x="340055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1</a:t>
            </a:r>
            <a:endParaRPr b="0" i="0" sz="1400" u="none" cap="none" strike="noStrike">
              <a:solidFill>
                <a:srgbClr val="000000"/>
              </a:solidFill>
              <a:latin typeface="Arial"/>
              <a:ea typeface="Arial"/>
              <a:cs typeface="Arial"/>
              <a:sym typeface="Arial"/>
            </a:endParaRPr>
          </a:p>
        </p:txBody>
      </p:sp>
      <p:sp>
        <p:nvSpPr>
          <p:cNvPr id="352" name="Google Shape;352;g21d5f25ace6_0_196"/>
          <p:cNvSpPr txBox="1"/>
          <p:nvPr/>
        </p:nvSpPr>
        <p:spPr>
          <a:xfrm>
            <a:off x="4064900" y="1760363"/>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2</a:t>
            </a:r>
            <a:endParaRPr b="0" i="0" sz="1400" u="none" cap="none" strike="noStrike">
              <a:solidFill>
                <a:srgbClr val="000000"/>
              </a:solidFill>
              <a:latin typeface="Arial"/>
              <a:ea typeface="Arial"/>
              <a:cs typeface="Arial"/>
              <a:sym typeface="Arial"/>
            </a:endParaRPr>
          </a:p>
        </p:txBody>
      </p:sp>
      <p:sp>
        <p:nvSpPr>
          <p:cNvPr id="353" name="Google Shape;353;g21d5f25ace6_0_196"/>
          <p:cNvSpPr txBox="1"/>
          <p:nvPr/>
        </p:nvSpPr>
        <p:spPr>
          <a:xfrm>
            <a:off x="477420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3</a:t>
            </a:r>
            <a:endParaRPr b="0" i="0" sz="1400" u="none" cap="none" strike="noStrike">
              <a:solidFill>
                <a:srgbClr val="000000"/>
              </a:solidFill>
              <a:latin typeface="Arial"/>
              <a:ea typeface="Arial"/>
              <a:cs typeface="Arial"/>
              <a:sym typeface="Arial"/>
            </a:endParaRPr>
          </a:p>
        </p:txBody>
      </p:sp>
      <p:sp>
        <p:nvSpPr>
          <p:cNvPr id="354" name="Google Shape;354;g21d5f25ace6_0_196"/>
          <p:cNvSpPr txBox="1"/>
          <p:nvPr/>
        </p:nvSpPr>
        <p:spPr>
          <a:xfrm>
            <a:off x="5444625"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4</a:t>
            </a:r>
            <a:endParaRPr b="0" i="0" sz="1400" u="none" cap="none" strike="noStrike">
              <a:solidFill>
                <a:srgbClr val="000000"/>
              </a:solidFill>
              <a:latin typeface="Arial"/>
              <a:ea typeface="Arial"/>
              <a:cs typeface="Arial"/>
              <a:sym typeface="Arial"/>
            </a:endParaRPr>
          </a:p>
        </p:txBody>
      </p:sp>
      <p:sp>
        <p:nvSpPr>
          <p:cNvPr id="355" name="Google Shape;355;g21d5f25ace6_0_196"/>
          <p:cNvSpPr txBox="1"/>
          <p:nvPr/>
        </p:nvSpPr>
        <p:spPr>
          <a:xfrm>
            <a:off x="6147850"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5</a:t>
            </a:r>
            <a:endParaRPr b="0" i="0" sz="1400" u="none" cap="none" strike="noStrike">
              <a:solidFill>
                <a:srgbClr val="000000"/>
              </a:solidFill>
              <a:latin typeface="Arial"/>
              <a:ea typeface="Arial"/>
              <a:cs typeface="Arial"/>
              <a:sym typeface="Arial"/>
            </a:endParaRPr>
          </a:p>
        </p:txBody>
      </p:sp>
      <p:cxnSp>
        <p:nvCxnSpPr>
          <p:cNvPr id="356" name="Google Shape;356;g21d5f25ace6_0_196"/>
          <p:cNvCxnSpPr/>
          <p:nvPr/>
        </p:nvCxnSpPr>
        <p:spPr>
          <a:xfrm flipH="1">
            <a:off x="7193061" y="2074108"/>
            <a:ext cx="7200" cy="3115800"/>
          </a:xfrm>
          <a:prstGeom prst="straightConnector1">
            <a:avLst/>
          </a:prstGeom>
          <a:noFill/>
          <a:ln cap="flat" cmpd="sng" w="28575">
            <a:solidFill>
              <a:schemeClr val="dk1"/>
            </a:solidFill>
            <a:prstDash val="solid"/>
            <a:round/>
            <a:headEnd len="sm" w="sm" type="none"/>
            <a:tailEnd len="sm" w="sm" type="none"/>
          </a:ln>
        </p:spPr>
      </p:cxnSp>
      <p:grpSp>
        <p:nvGrpSpPr>
          <p:cNvPr id="357" name="Google Shape;357;g21d5f25ace6_0_196"/>
          <p:cNvGrpSpPr/>
          <p:nvPr/>
        </p:nvGrpSpPr>
        <p:grpSpPr>
          <a:xfrm>
            <a:off x="6350100" y="2478300"/>
            <a:ext cx="273213" cy="3520700"/>
            <a:chOff x="6350100" y="2478300"/>
            <a:chExt cx="273213" cy="3520700"/>
          </a:xfrm>
        </p:grpSpPr>
        <p:sp>
          <p:nvSpPr>
            <p:cNvPr id="358" name="Google Shape;358;g21d5f25ace6_0_196"/>
            <p:cNvSpPr/>
            <p:nvPr/>
          </p:nvSpPr>
          <p:spPr>
            <a:xfrm>
              <a:off x="6350100"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g21d5f25ace6_0_196"/>
            <p:cNvSpPr/>
            <p:nvPr/>
          </p:nvSpPr>
          <p:spPr>
            <a:xfrm>
              <a:off x="6350100"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0" name="Google Shape;360;g21d5f25ace6_0_196"/>
            <p:cNvSpPr/>
            <p:nvPr/>
          </p:nvSpPr>
          <p:spPr>
            <a:xfrm>
              <a:off x="6356500"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g21d5f25ace6_0_196"/>
            <p:cNvSpPr/>
            <p:nvPr/>
          </p:nvSpPr>
          <p:spPr>
            <a:xfrm>
              <a:off x="6363213" y="503165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2" name="Google Shape;362;g21d5f25ace6_0_196"/>
            <p:cNvSpPr/>
            <p:nvPr/>
          </p:nvSpPr>
          <p:spPr>
            <a:xfrm>
              <a:off x="6350100"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3" name="Google Shape;363;g21d5f25ace6_0_196"/>
            <p:cNvSpPr/>
            <p:nvPr/>
          </p:nvSpPr>
          <p:spPr>
            <a:xfrm>
              <a:off x="6363213"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64" name="Google Shape;364;g21d5f25ace6_0_196"/>
          <p:cNvSpPr/>
          <p:nvPr/>
        </p:nvSpPr>
        <p:spPr>
          <a:xfrm>
            <a:off x="7094525" y="2478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5" name="Google Shape;365;g21d5f25ace6_0_196"/>
          <p:cNvSpPr/>
          <p:nvPr/>
        </p:nvSpPr>
        <p:spPr>
          <a:xfrm>
            <a:off x="7094525" y="38133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6" name="Google Shape;366;g21d5f25ace6_0_196"/>
          <p:cNvSpPr/>
          <p:nvPr/>
        </p:nvSpPr>
        <p:spPr>
          <a:xfrm>
            <a:off x="7100925" y="4414225"/>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7" name="Google Shape;367;g21d5f25ace6_0_196"/>
          <p:cNvSpPr/>
          <p:nvPr/>
        </p:nvSpPr>
        <p:spPr>
          <a:xfrm>
            <a:off x="7094525" y="314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8" name="Google Shape;368;g21d5f25ace6_0_196"/>
          <p:cNvSpPr/>
          <p:nvPr/>
        </p:nvSpPr>
        <p:spPr>
          <a:xfrm>
            <a:off x="7107638" y="5715800"/>
            <a:ext cx="260100" cy="283200"/>
          </a:xfrm>
          <a:prstGeom prst="blockArc">
            <a:avLst>
              <a:gd fmla="val 10800000" name="adj1"/>
              <a:gd fmla="val 0" name="adj2"/>
              <a:gd fmla="val 25000" name="adj3"/>
            </a:avLst>
          </a:prstGeom>
          <a:solidFill>
            <a:schemeClr val="dk1"/>
          </a:solidFill>
          <a:ln cap="flat" cmpd="sng" w="19050">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369" name="Google Shape;369;g21d5f25ace6_0_196"/>
          <p:cNvCxnSpPr>
            <a:stCxn id="358" idx="1"/>
            <a:endCxn id="364" idx="0"/>
          </p:cNvCxnSpPr>
          <p:nvPr/>
        </p:nvCxnSpPr>
        <p:spPr>
          <a:xfrm>
            <a:off x="6577688" y="2619900"/>
            <a:ext cx="549300" cy="0"/>
          </a:xfrm>
          <a:prstGeom prst="straightConnector1">
            <a:avLst/>
          </a:prstGeom>
          <a:noFill/>
          <a:ln cap="flat" cmpd="sng" w="28575">
            <a:solidFill>
              <a:schemeClr val="dk1"/>
            </a:solidFill>
            <a:prstDash val="solid"/>
            <a:round/>
            <a:headEnd len="sm" w="sm" type="none"/>
            <a:tailEnd len="sm" w="sm" type="none"/>
          </a:ln>
        </p:spPr>
      </p:cxnSp>
      <p:cxnSp>
        <p:nvCxnSpPr>
          <p:cNvPr id="370" name="Google Shape;370;g21d5f25ace6_0_196"/>
          <p:cNvCxnSpPr>
            <a:stCxn id="362" idx="1"/>
            <a:endCxn id="367" idx="0"/>
          </p:cNvCxnSpPr>
          <p:nvPr/>
        </p:nvCxnSpPr>
        <p:spPr>
          <a:xfrm>
            <a:off x="6577688" y="3287400"/>
            <a:ext cx="549300" cy="0"/>
          </a:xfrm>
          <a:prstGeom prst="straightConnector1">
            <a:avLst/>
          </a:prstGeom>
          <a:noFill/>
          <a:ln cap="flat" cmpd="sng" w="28575">
            <a:solidFill>
              <a:schemeClr val="dk1"/>
            </a:solidFill>
            <a:prstDash val="solid"/>
            <a:round/>
            <a:headEnd len="sm" w="sm" type="none"/>
            <a:tailEnd len="sm" w="sm" type="none"/>
          </a:ln>
        </p:spPr>
      </p:cxnSp>
      <p:cxnSp>
        <p:nvCxnSpPr>
          <p:cNvPr id="371" name="Google Shape;371;g21d5f25ace6_0_196"/>
          <p:cNvCxnSpPr>
            <a:stCxn id="359" idx="1"/>
            <a:endCxn id="365" idx="0"/>
          </p:cNvCxnSpPr>
          <p:nvPr/>
        </p:nvCxnSpPr>
        <p:spPr>
          <a:xfrm>
            <a:off x="6577688" y="3954900"/>
            <a:ext cx="549300" cy="0"/>
          </a:xfrm>
          <a:prstGeom prst="straightConnector1">
            <a:avLst/>
          </a:prstGeom>
          <a:noFill/>
          <a:ln cap="flat" cmpd="sng" w="28575">
            <a:solidFill>
              <a:schemeClr val="dk1"/>
            </a:solidFill>
            <a:prstDash val="solid"/>
            <a:round/>
            <a:headEnd len="sm" w="sm" type="none"/>
            <a:tailEnd len="sm" w="sm" type="none"/>
          </a:ln>
        </p:spPr>
      </p:cxnSp>
      <p:cxnSp>
        <p:nvCxnSpPr>
          <p:cNvPr id="372" name="Google Shape;372;g21d5f25ace6_0_196"/>
          <p:cNvCxnSpPr>
            <a:stCxn id="360" idx="1"/>
            <a:endCxn id="366" idx="0"/>
          </p:cNvCxnSpPr>
          <p:nvPr/>
        </p:nvCxnSpPr>
        <p:spPr>
          <a:xfrm>
            <a:off x="6584088" y="4555825"/>
            <a:ext cx="549300" cy="0"/>
          </a:xfrm>
          <a:prstGeom prst="straightConnector1">
            <a:avLst/>
          </a:prstGeom>
          <a:noFill/>
          <a:ln cap="flat" cmpd="sng" w="28575">
            <a:solidFill>
              <a:schemeClr val="dk1"/>
            </a:solidFill>
            <a:prstDash val="solid"/>
            <a:round/>
            <a:headEnd len="sm" w="sm" type="none"/>
            <a:tailEnd len="sm" w="sm" type="none"/>
          </a:ln>
        </p:spPr>
      </p:cxnSp>
      <p:cxnSp>
        <p:nvCxnSpPr>
          <p:cNvPr id="373" name="Google Shape;373;g21d5f25ace6_0_196"/>
          <p:cNvCxnSpPr>
            <a:stCxn id="361" idx="1"/>
          </p:cNvCxnSpPr>
          <p:nvPr/>
        </p:nvCxnSpPr>
        <p:spPr>
          <a:xfrm>
            <a:off x="6590801" y="5173250"/>
            <a:ext cx="641100" cy="3600"/>
          </a:xfrm>
          <a:prstGeom prst="straightConnector1">
            <a:avLst/>
          </a:prstGeom>
          <a:noFill/>
          <a:ln cap="flat" cmpd="sng" w="28575">
            <a:solidFill>
              <a:schemeClr val="dk1"/>
            </a:solidFill>
            <a:prstDash val="solid"/>
            <a:round/>
            <a:headEnd len="sm" w="sm" type="none"/>
            <a:tailEnd len="sm" w="sm" type="none"/>
          </a:ln>
        </p:spPr>
      </p:cxnSp>
      <p:cxnSp>
        <p:nvCxnSpPr>
          <p:cNvPr id="374" name="Google Shape;374;g21d5f25ace6_0_196"/>
          <p:cNvCxnSpPr>
            <a:stCxn id="363" idx="1"/>
            <a:endCxn id="368" idx="0"/>
          </p:cNvCxnSpPr>
          <p:nvPr/>
        </p:nvCxnSpPr>
        <p:spPr>
          <a:xfrm>
            <a:off x="6590801" y="5857400"/>
            <a:ext cx="549300" cy="0"/>
          </a:xfrm>
          <a:prstGeom prst="straightConnector1">
            <a:avLst/>
          </a:prstGeom>
          <a:noFill/>
          <a:ln cap="flat" cmpd="sng" w="28575">
            <a:solidFill>
              <a:schemeClr val="dk1"/>
            </a:solidFill>
            <a:prstDash val="solid"/>
            <a:round/>
            <a:headEnd len="sm" w="sm" type="none"/>
            <a:tailEnd len="sm" w="sm" type="none"/>
          </a:ln>
        </p:spPr>
      </p:cxnSp>
      <p:sp>
        <p:nvSpPr>
          <p:cNvPr id="375" name="Google Shape;375;g21d5f25ace6_0_196"/>
          <p:cNvSpPr txBox="1"/>
          <p:nvPr/>
        </p:nvSpPr>
        <p:spPr>
          <a:xfrm>
            <a:off x="6808438" y="1748250"/>
            <a:ext cx="845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Host 6</a:t>
            </a:r>
            <a:endParaRPr b="0" i="0" sz="1400" u="none" cap="none" strike="noStrike">
              <a:solidFill>
                <a:srgbClr val="000000"/>
              </a:solidFill>
              <a:latin typeface="Arial"/>
              <a:ea typeface="Arial"/>
              <a:cs typeface="Arial"/>
              <a:sym typeface="Arial"/>
            </a:endParaRPr>
          </a:p>
        </p:txBody>
      </p:sp>
      <p:cxnSp>
        <p:nvCxnSpPr>
          <p:cNvPr id="376" name="Google Shape;376;g21d5f25ace6_0_196"/>
          <p:cNvCxnSpPr>
            <a:endCxn id="352" idx="2"/>
          </p:cNvCxnSpPr>
          <p:nvPr/>
        </p:nvCxnSpPr>
        <p:spPr>
          <a:xfrm rot="10800000">
            <a:off x="4487600" y="2160563"/>
            <a:ext cx="26100" cy="466800"/>
          </a:xfrm>
          <a:prstGeom prst="straightConnector1">
            <a:avLst/>
          </a:prstGeom>
          <a:noFill/>
          <a:ln cap="flat" cmpd="sng" w="28575">
            <a:solidFill>
              <a:schemeClr val="dk1"/>
            </a:solidFill>
            <a:prstDash val="solid"/>
            <a:round/>
            <a:headEnd len="sm" w="sm" type="none"/>
            <a:tailEnd len="sm" w="sm" type="none"/>
          </a:ln>
        </p:spPr>
      </p:cxnSp>
      <p:cxnSp>
        <p:nvCxnSpPr>
          <p:cNvPr id="377" name="Google Shape;377;g21d5f25ace6_0_196"/>
          <p:cNvCxnSpPr/>
          <p:nvPr/>
        </p:nvCxnSpPr>
        <p:spPr>
          <a:xfrm>
            <a:off x="5851363" y="4119200"/>
            <a:ext cx="14700" cy="2033100"/>
          </a:xfrm>
          <a:prstGeom prst="straightConnector1">
            <a:avLst/>
          </a:prstGeom>
          <a:noFill/>
          <a:ln cap="flat" cmpd="sng" w="28575">
            <a:solidFill>
              <a:schemeClr val="dk1"/>
            </a:solidFill>
            <a:prstDash val="solid"/>
            <a:round/>
            <a:headEnd len="sm" w="sm" type="none"/>
            <a:tailEnd len="sm" w="sm" type="none"/>
          </a:ln>
        </p:spPr>
      </p:cxnSp>
      <p:cxnSp>
        <p:nvCxnSpPr>
          <p:cNvPr id="378" name="Google Shape;378;g21d5f25ace6_0_196"/>
          <p:cNvCxnSpPr/>
          <p:nvPr/>
        </p:nvCxnSpPr>
        <p:spPr>
          <a:xfrm>
            <a:off x="7218950" y="5332925"/>
            <a:ext cx="12900" cy="819300"/>
          </a:xfrm>
          <a:prstGeom prst="straightConnector1">
            <a:avLst/>
          </a:prstGeom>
          <a:noFill/>
          <a:ln cap="flat" cmpd="sng" w="28575">
            <a:solidFill>
              <a:schemeClr val="dk1"/>
            </a:solidFill>
            <a:prstDash val="solid"/>
            <a:round/>
            <a:headEnd len="sm" w="sm" type="none"/>
            <a:tailEnd len="sm" w="sm" type="none"/>
          </a:ln>
        </p:spPr>
      </p:cxn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3" name="Shape 383"/>
        <p:cNvGrpSpPr/>
        <p:nvPr/>
      </p:nvGrpSpPr>
      <p:grpSpPr>
        <a:xfrm>
          <a:off x="0" y="0"/>
          <a:ext cx="0" cy="0"/>
          <a:chOff x="0" y="0"/>
          <a:chExt cx="0" cy="0"/>
        </a:xfrm>
      </p:grpSpPr>
      <p:sp>
        <p:nvSpPr>
          <p:cNvPr id="384" name="Google Shape;384;g21d5f25ace6_0_407"/>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a:t>
            </a:r>
            <a:endParaRPr/>
          </a:p>
        </p:txBody>
      </p:sp>
      <p:sp>
        <p:nvSpPr>
          <p:cNvPr id="385" name="Google Shape;385;g21d5f25ace6_0_407"/>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SzPts val="1800"/>
              <a:buNone/>
            </a:pPr>
            <a:r>
              <a:rPr lang="en-US" sz="2400">
                <a:solidFill>
                  <a:srgbClr val="000000"/>
                </a:solidFill>
              </a:rPr>
              <a:t>For the jobs that aren’t sensitive to network bandwidth and latency, having IB won’t hurt them, but for the jobs that are, not having IB will hurt their performance.</a:t>
            </a:r>
            <a:endParaRPr sz="2400">
              <a:solidFill>
                <a:srgbClr val="000000"/>
              </a:solidFill>
            </a:endParaRPr>
          </a:p>
          <a:p>
            <a:pPr indent="0" lvl="0" marL="0" rtl="0" algn="l">
              <a:lnSpc>
                <a:spcPct val="115000"/>
              </a:lnSpc>
              <a:spcBef>
                <a:spcPts val="0"/>
              </a:spcBef>
              <a:spcAft>
                <a:spcPts val="0"/>
              </a:spcAft>
              <a:buSzPts val="1800"/>
              <a:buNone/>
            </a:pPr>
            <a:r>
              <a:t/>
            </a:r>
            <a:endParaRPr>
              <a:solidFill>
                <a:srgbClr val="000000"/>
              </a:solidFill>
            </a:endParaRPr>
          </a:p>
          <a:p>
            <a:pPr indent="0" lvl="0" marL="0" rtl="0" algn="l">
              <a:lnSpc>
                <a:spcPct val="115000"/>
              </a:lnSpc>
              <a:spcBef>
                <a:spcPts val="0"/>
              </a:spcBef>
              <a:spcAft>
                <a:spcPts val="0"/>
              </a:spcAft>
              <a:buClr>
                <a:schemeClr val="dk1"/>
              </a:buClr>
              <a:buSzPts val="1100"/>
              <a:buFont typeface="Arial"/>
              <a:buNone/>
            </a:pPr>
            <a:r>
              <a:rPr lang="en-US" sz="2400">
                <a:solidFill>
                  <a:schemeClr val="dk1"/>
                </a:solidFill>
              </a:rPr>
              <a:t>Therefore, it’s better to have Infiniband and not need it, than to need Infiniband and not have it</a:t>
            </a:r>
            <a:endParaRPr>
              <a:solidFill>
                <a:srgbClr val="00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0" name="Shape 390"/>
        <p:cNvGrpSpPr/>
        <p:nvPr/>
      </p:nvGrpSpPr>
      <p:grpSpPr>
        <a:xfrm>
          <a:off x="0" y="0"/>
          <a:ext cx="0" cy="0"/>
          <a:chOff x="0" y="0"/>
          <a:chExt cx="0" cy="0"/>
        </a:xfrm>
      </p:grpSpPr>
      <p:sp>
        <p:nvSpPr>
          <p:cNvPr id="391" name="Google Shape;391;g21d5f25ace6_0_413"/>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 Fat-trees and oversubscription</a:t>
            </a:r>
            <a:endParaRPr/>
          </a:p>
        </p:txBody>
      </p:sp>
      <p:pic>
        <p:nvPicPr>
          <p:cNvPr id="392" name="Google Shape;392;g21d5f25ace6_0_413"/>
          <p:cNvPicPr preferRelativeResize="0"/>
          <p:nvPr/>
        </p:nvPicPr>
        <p:blipFill rotWithShape="1">
          <a:blip r:embed="rId3">
            <a:alphaModFix/>
          </a:blip>
          <a:srcRect b="0" l="0" r="0" t="0"/>
          <a:stretch/>
        </p:blipFill>
        <p:spPr>
          <a:xfrm>
            <a:off x="224974" y="2434450"/>
            <a:ext cx="2726224" cy="1635750"/>
          </a:xfrm>
          <a:prstGeom prst="rect">
            <a:avLst/>
          </a:prstGeom>
          <a:noFill/>
          <a:ln>
            <a:noFill/>
          </a:ln>
        </p:spPr>
      </p:pic>
      <p:sp>
        <p:nvSpPr>
          <p:cNvPr id="393" name="Google Shape;393;g21d5f25ace6_0_413"/>
          <p:cNvSpPr txBox="1"/>
          <p:nvPr/>
        </p:nvSpPr>
        <p:spPr>
          <a:xfrm>
            <a:off x="1167488" y="1733675"/>
            <a:ext cx="8412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Fat-treetheory:</a:t>
            </a:r>
            <a:endParaRPr b="1" i="0" sz="1400" u="none" cap="none" strike="noStrike">
              <a:solidFill>
                <a:srgbClr val="000000"/>
              </a:solidFill>
              <a:latin typeface="Arial"/>
              <a:ea typeface="Arial"/>
              <a:cs typeface="Arial"/>
              <a:sym typeface="Arial"/>
            </a:endParaRPr>
          </a:p>
        </p:txBody>
      </p:sp>
      <p:sp>
        <p:nvSpPr>
          <p:cNvPr id="394" name="Google Shape;394;g21d5f25ace6_0_413"/>
          <p:cNvSpPr txBox="1"/>
          <p:nvPr/>
        </p:nvSpPr>
        <p:spPr>
          <a:xfrm>
            <a:off x="3235013" y="3467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sp>
        <p:nvSpPr>
          <p:cNvPr id="395" name="Google Shape;395;g21d5f25ace6_0_413"/>
          <p:cNvSpPr txBox="1"/>
          <p:nvPr/>
        </p:nvSpPr>
        <p:spPr>
          <a:xfrm>
            <a:off x="3914138" y="2547875"/>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Core</a:t>
            </a:r>
            <a:endParaRPr b="0" i="0" sz="1200" u="none" cap="none" strike="noStrike">
              <a:solidFill>
                <a:srgbClr val="000000"/>
              </a:solidFill>
              <a:latin typeface="Arial"/>
              <a:ea typeface="Arial"/>
              <a:cs typeface="Arial"/>
              <a:sym typeface="Arial"/>
            </a:endParaRPr>
          </a:p>
        </p:txBody>
      </p:sp>
      <p:sp>
        <p:nvSpPr>
          <p:cNvPr id="396" name="Google Shape;396;g21d5f25ace6_0_413"/>
          <p:cNvSpPr txBox="1"/>
          <p:nvPr/>
        </p:nvSpPr>
        <p:spPr>
          <a:xfrm>
            <a:off x="4755350" y="2547875"/>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Core</a:t>
            </a:r>
            <a:endParaRPr b="0" i="0" sz="1200" u="none" cap="none" strike="noStrike">
              <a:solidFill>
                <a:srgbClr val="000000"/>
              </a:solidFill>
              <a:latin typeface="Arial"/>
              <a:ea typeface="Arial"/>
              <a:cs typeface="Arial"/>
              <a:sym typeface="Arial"/>
            </a:endParaRPr>
          </a:p>
        </p:txBody>
      </p:sp>
      <p:sp>
        <p:nvSpPr>
          <p:cNvPr id="397" name="Google Shape;397;g21d5f25ace6_0_413"/>
          <p:cNvSpPr txBox="1"/>
          <p:nvPr/>
        </p:nvSpPr>
        <p:spPr>
          <a:xfrm>
            <a:off x="3995188" y="3467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sp>
        <p:nvSpPr>
          <p:cNvPr id="398" name="Google Shape;398;g21d5f25ace6_0_413"/>
          <p:cNvSpPr txBox="1"/>
          <p:nvPr/>
        </p:nvSpPr>
        <p:spPr>
          <a:xfrm>
            <a:off x="4755363" y="3467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sp>
        <p:nvSpPr>
          <p:cNvPr id="399" name="Google Shape;399;g21d5f25ace6_0_413"/>
          <p:cNvSpPr txBox="1"/>
          <p:nvPr/>
        </p:nvSpPr>
        <p:spPr>
          <a:xfrm>
            <a:off x="5515538" y="3467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cxnSp>
        <p:nvCxnSpPr>
          <p:cNvPr id="400" name="Google Shape;400;g21d5f25ace6_0_413"/>
          <p:cNvCxnSpPr>
            <a:stCxn id="394" idx="0"/>
            <a:endCxn id="395" idx="2"/>
          </p:cNvCxnSpPr>
          <p:nvPr/>
        </p:nvCxnSpPr>
        <p:spPr>
          <a:xfrm flipH="1" rot="10800000">
            <a:off x="3543413" y="2917200"/>
            <a:ext cx="679200" cy="549900"/>
          </a:xfrm>
          <a:prstGeom prst="straightConnector1">
            <a:avLst/>
          </a:prstGeom>
          <a:noFill/>
          <a:ln cap="flat" cmpd="sng" w="38100">
            <a:solidFill>
              <a:schemeClr val="dk2"/>
            </a:solidFill>
            <a:prstDash val="solid"/>
            <a:round/>
            <a:headEnd len="sm" w="sm" type="none"/>
            <a:tailEnd len="sm" w="sm" type="none"/>
          </a:ln>
        </p:spPr>
      </p:cxnSp>
      <p:cxnSp>
        <p:nvCxnSpPr>
          <p:cNvPr id="401" name="Google Shape;401;g21d5f25ace6_0_413"/>
          <p:cNvCxnSpPr>
            <a:stCxn id="394" idx="0"/>
            <a:endCxn id="396" idx="2"/>
          </p:cNvCxnSpPr>
          <p:nvPr/>
        </p:nvCxnSpPr>
        <p:spPr>
          <a:xfrm flipH="1" rot="10800000">
            <a:off x="3543413" y="2917200"/>
            <a:ext cx="1520400" cy="549900"/>
          </a:xfrm>
          <a:prstGeom prst="straightConnector1">
            <a:avLst/>
          </a:prstGeom>
          <a:noFill/>
          <a:ln cap="flat" cmpd="sng" w="38100">
            <a:solidFill>
              <a:schemeClr val="dk2"/>
            </a:solidFill>
            <a:prstDash val="solid"/>
            <a:round/>
            <a:headEnd len="sm" w="sm" type="none"/>
            <a:tailEnd len="sm" w="sm" type="none"/>
          </a:ln>
        </p:spPr>
      </p:cxnSp>
      <p:cxnSp>
        <p:nvCxnSpPr>
          <p:cNvPr id="402" name="Google Shape;402;g21d5f25ace6_0_413"/>
          <p:cNvCxnSpPr>
            <a:stCxn id="397" idx="0"/>
            <a:endCxn id="395" idx="2"/>
          </p:cNvCxnSpPr>
          <p:nvPr/>
        </p:nvCxnSpPr>
        <p:spPr>
          <a:xfrm rot="10800000">
            <a:off x="4222588" y="2917200"/>
            <a:ext cx="81000" cy="549900"/>
          </a:xfrm>
          <a:prstGeom prst="straightConnector1">
            <a:avLst/>
          </a:prstGeom>
          <a:noFill/>
          <a:ln cap="flat" cmpd="sng" w="38100">
            <a:solidFill>
              <a:schemeClr val="dk2"/>
            </a:solidFill>
            <a:prstDash val="solid"/>
            <a:round/>
            <a:headEnd len="sm" w="sm" type="none"/>
            <a:tailEnd len="sm" w="sm" type="none"/>
          </a:ln>
        </p:spPr>
      </p:cxnSp>
      <p:cxnSp>
        <p:nvCxnSpPr>
          <p:cNvPr id="403" name="Google Shape;403;g21d5f25ace6_0_413"/>
          <p:cNvCxnSpPr>
            <a:stCxn id="397" idx="0"/>
            <a:endCxn id="396" idx="2"/>
          </p:cNvCxnSpPr>
          <p:nvPr/>
        </p:nvCxnSpPr>
        <p:spPr>
          <a:xfrm flipH="1" rot="10800000">
            <a:off x="4303588" y="2917200"/>
            <a:ext cx="760200" cy="549900"/>
          </a:xfrm>
          <a:prstGeom prst="straightConnector1">
            <a:avLst/>
          </a:prstGeom>
          <a:noFill/>
          <a:ln cap="flat" cmpd="sng" w="38100">
            <a:solidFill>
              <a:schemeClr val="dk2"/>
            </a:solidFill>
            <a:prstDash val="solid"/>
            <a:round/>
            <a:headEnd len="sm" w="sm" type="none"/>
            <a:tailEnd len="sm" w="sm" type="none"/>
          </a:ln>
        </p:spPr>
      </p:cxnSp>
      <p:cxnSp>
        <p:nvCxnSpPr>
          <p:cNvPr id="404" name="Google Shape;404;g21d5f25ace6_0_413"/>
          <p:cNvCxnSpPr>
            <a:stCxn id="398" idx="0"/>
            <a:endCxn id="395" idx="2"/>
          </p:cNvCxnSpPr>
          <p:nvPr/>
        </p:nvCxnSpPr>
        <p:spPr>
          <a:xfrm rot="10800000">
            <a:off x="4222563" y="2917200"/>
            <a:ext cx="841200" cy="549900"/>
          </a:xfrm>
          <a:prstGeom prst="straightConnector1">
            <a:avLst/>
          </a:prstGeom>
          <a:noFill/>
          <a:ln cap="flat" cmpd="sng" w="38100">
            <a:solidFill>
              <a:schemeClr val="dk2"/>
            </a:solidFill>
            <a:prstDash val="solid"/>
            <a:round/>
            <a:headEnd len="sm" w="sm" type="none"/>
            <a:tailEnd len="sm" w="sm" type="none"/>
          </a:ln>
        </p:spPr>
      </p:cxnSp>
      <p:cxnSp>
        <p:nvCxnSpPr>
          <p:cNvPr id="405" name="Google Shape;405;g21d5f25ace6_0_413"/>
          <p:cNvCxnSpPr>
            <a:stCxn id="398" idx="0"/>
            <a:endCxn id="396" idx="2"/>
          </p:cNvCxnSpPr>
          <p:nvPr/>
        </p:nvCxnSpPr>
        <p:spPr>
          <a:xfrm rot="10800000">
            <a:off x="5063763" y="2917200"/>
            <a:ext cx="0" cy="549900"/>
          </a:xfrm>
          <a:prstGeom prst="straightConnector1">
            <a:avLst/>
          </a:prstGeom>
          <a:noFill/>
          <a:ln cap="flat" cmpd="sng" w="19050">
            <a:solidFill>
              <a:schemeClr val="dk2"/>
            </a:solidFill>
            <a:prstDash val="solid"/>
            <a:round/>
            <a:headEnd len="sm" w="sm" type="none"/>
            <a:tailEnd len="sm" w="sm" type="none"/>
          </a:ln>
        </p:spPr>
      </p:cxnSp>
      <p:cxnSp>
        <p:nvCxnSpPr>
          <p:cNvPr id="406" name="Google Shape;406;g21d5f25ace6_0_413"/>
          <p:cNvCxnSpPr>
            <a:stCxn id="399" idx="0"/>
            <a:endCxn id="395" idx="2"/>
          </p:cNvCxnSpPr>
          <p:nvPr/>
        </p:nvCxnSpPr>
        <p:spPr>
          <a:xfrm rot="10800000">
            <a:off x="4222538" y="2917200"/>
            <a:ext cx="1601400" cy="549900"/>
          </a:xfrm>
          <a:prstGeom prst="straightConnector1">
            <a:avLst/>
          </a:prstGeom>
          <a:noFill/>
          <a:ln cap="flat" cmpd="sng" w="38100">
            <a:solidFill>
              <a:schemeClr val="dk2"/>
            </a:solidFill>
            <a:prstDash val="solid"/>
            <a:round/>
            <a:headEnd len="sm" w="sm" type="none"/>
            <a:tailEnd len="sm" w="sm" type="none"/>
          </a:ln>
        </p:spPr>
      </p:cxnSp>
      <p:cxnSp>
        <p:nvCxnSpPr>
          <p:cNvPr id="407" name="Google Shape;407;g21d5f25ace6_0_413"/>
          <p:cNvCxnSpPr>
            <a:stCxn id="399" idx="0"/>
            <a:endCxn id="396" idx="2"/>
          </p:cNvCxnSpPr>
          <p:nvPr/>
        </p:nvCxnSpPr>
        <p:spPr>
          <a:xfrm rot="10800000">
            <a:off x="5063738" y="2917200"/>
            <a:ext cx="760200" cy="549900"/>
          </a:xfrm>
          <a:prstGeom prst="straightConnector1">
            <a:avLst/>
          </a:prstGeom>
          <a:noFill/>
          <a:ln cap="flat" cmpd="sng" w="38100">
            <a:solidFill>
              <a:schemeClr val="dk2"/>
            </a:solidFill>
            <a:prstDash val="solid"/>
            <a:round/>
            <a:headEnd len="sm" w="sm" type="none"/>
            <a:tailEnd len="sm" w="sm" type="none"/>
          </a:ln>
        </p:spPr>
      </p:cxnSp>
      <p:cxnSp>
        <p:nvCxnSpPr>
          <p:cNvPr id="408" name="Google Shape;408;g21d5f25ace6_0_413"/>
          <p:cNvCxnSpPr>
            <a:stCxn id="394" idx="2"/>
          </p:cNvCxnSpPr>
          <p:nvPr/>
        </p:nvCxnSpPr>
        <p:spPr>
          <a:xfrm flipH="1">
            <a:off x="3279113" y="3836400"/>
            <a:ext cx="264300" cy="297600"/>
          </a:xfrm>
          <a:prstGeom prst="straightConnector1">
            <a:avLst/>
          </a:prstGeom>
          <a:noFill/>
          <a:ln cap="flat" cmpd="sng" w="19050">
            <a:solidFill>
              <a:schemeClr val="dk2"/>
            </a:solidFill>
            <a:prstDash val="solid"/>
            <a:round/>
            <a:headEnd len="sm" w="sm" type="none"/>
            <a:tailEnd len="sm" w="sm" type="none"/>
          </a:ln>
        </p:spPr>
      </p:cxnSp>
      <p:cxnSp>
        <p:nvCxnSpPr>
          <p:cNvPr id="409" name="Google Shape;409;g21d5f25ace6_0_413"/>
          <p:cNvCxnSpPr>
            <a:stCxn id="394" idx="2"/>
          </p:cNvCxnSpPr>
          <p:nvPr/>
        </p:nvCxnSpPr>
        <p:spPr>
          <a:xfrm flipH="1">
            <a:off x="3436313" y="3836400"/>
            <a:ext cx="107100" cy="333900"/>
          </a:xfrm>
          <a:prstGeom prst="straightConnector1">
            <a:avLst/>
          </a:prstGeom>
          <a:noFill/>
          <a:ln cap="flat" cmpd="sng" w="19050">
            <a:solidFill>
              <a:schemeClr val="dk2"/>
            </a:solidFill>
            <a:prstDash val="solid"/>
            <a:round/>
            <a:headEnd len="sm" w="sm" type="none"/>
            <a:tailEnd len="sm" w="sm" type="none"/>
          </a:ln>
        </p:spPr>
      </p:cxnSp>
      <p:cxnSp>
        <p:nvCxnSpPr>
          <p:cNvPr id="410" name="Google Shape;410;g21d5f25ace6_0_413"/>
          <p:cNvCxnSpPr>
            <a:stCxn id="394" idx="2"/>
          </p:cNvCxnSpPr>
          <p:nvPr/>
        </p:nvCxnSpPr>
        <p:spPr>
          <a:xfrm>
            <a:off x="3543413" y="3836400"/>
            <a:ext cx="147000" cy="345900"/>
          </a:xfrm>
          <a:prstGeom prst="straightConnector1">
            <a:avLst/>
          </a:prstGeom>
          <a:noFill/>
          <a:ln cap="flat" cmpd="sng" w="19050">
            <a:solidFill>
              <a:schemeClr val="dk2"/>
            </a:solidFill>
            <a:prstDash val="solid"/>
            <a:round/>
            <a:headEnd len="sm" w="sm" type="none"/>
            <a:tailEnd len="sm" w="sm" type="none"/>
          </a:ln>
        </p:spPr>
      </p:cxnSp>
      <p:cxnSp>
        <p:nvCxnSpPr>
          <p:cNvPr id="411" name="Google Shape;411;g21d5f25ace6_0_413"/>
          <p:cNvCxnSpPr>
            <a:stCxn id="394" idx="2"/>
          </p:cNvCxnSpPr>
          <p:nvPr/>
        </p:nvCxnSpPr>
        <p:spPr>
          <a:xfrm>
            <a:off x="3543413" y="3836400"/>
            <a:ext cx="352500" cy="285300"/>
          </a:xfrm>
          <a:prstGeom prst="straightConnector1">
            <a:avLst/>
          </a:prstGeom>
          <a:noFill/>
          <a:ln cap="flat" cmpd="sng" w="19050">
            <a:solidFill>
              <a:schemeClr val="dk2"/>
            </a:solidFill>
            <a:prstDash val="solid"/>
            <a:round/>
            <a:headEnd len="sm" w="sm" type="none"/>
            <a:tailEnd len="sm" w="sm" type="none"/>
          </a:ln>
        </p:spPr>
      </p:cxnSp>
      <p:cxnSp>
        <p:nvCxnSpPr>
          <p:cNvPr id="412" name="Google Shape;412;g21d5f25ace6_0_413"/>
          <p:cNvCxnSpPr>
            <a:stCxn id="397" idx="2"/>
          </p:cNvCxnSpPr>
          <p:nvPr/>
        </p:nvCxnSpPr>
        <p:spPr>
          <a:xfrm flipH="1">
            <a:off x="4220788" y="3836400"/>
            <a:ext cx="82800" cy="364200"/>
          </a:xfrm>
          <a:prstGeom prst="straightConnector1">
            <a:avLst/>
          </a:prstGeom>
          <a:noFill/>
          <a:ln cap="flat" cmpd="sng" w="19050">
            <a:solidFill>
              <a:schemeClr val="dk2"/>
            </a:solidFill>
            <a:prstDash val="solid"/>
            <a:round/>
            <a:headEnd len="sm" w="sm" type="none"/>
            <a:tailEnd len="sm" w="sm" type="none"/>
          </a:ln>
        </p:spPr>
      </p:cxnSp>
      <p:cxnSp>
        <p:nvCxnSpPr>
          <p:cNvPr id="413" name="Google Shape;413;g21d5f25ace6_0_413"/>
          <p:cNvCxnSpPr>
            <a:stCxn id="397" idx="2"/>
          </p:cNvCxnSpPr>
          <p:nvPr/>
        </p:nvCxnSpPr>
        <p:spPr>
          <a:xfrm>
            <a:off x="4303588" y="3836400"/>
            <a:ext cx="148800" cy="345900"/>
          </a:xfrm>
          <a:prstGeom prst="straightConnector1">
            <a:avLst/>
          </a:prstGeom>
          <a:noFill/>
          <a:ln cap="flat" cmpd="sng" w="19050">
            <a:solidFill>
              <a:schemeClr val="dk2"/>
            </a:solidFill>
            <a:prstDash val="solid"/>
            <a:round/>
            <a:headEnd len="sm" w="sm" type="none"/>
            <a:tailEnd len="sm" w="sm" type="none"/>
          </a:ln>
        </p:spPr>
      </p:cxnSp>
      <p:cxnSp>
        <p:nvCxnSpPr>
          <p:cNvPr id="414" name="Google Shape;414;g21d5f25ace6_0_413"/>
          <p:cNvCxnSpPr>
            <a:stCxn id="397" idx="2"/>
          </p:cNvCxnSpPr>
          <p:nvPr/>
        </p:nvCxnSpPr>
        <p:spPr>
          <a:xfrm>
            <a:off x="4303588" y="3836400"/>
            <a:ext cx="390600" cy="309600"/>
          </a:xfrm>
          <a:prstGeom prst="straightConnector1">
            <a:avLst/>
          </a:prstGeom>
          <a:noFill/>
          <a:ln cap="flat" cmpd="sng" w="19050">
            <a:solidFill>
              <a:schemeClr val="dk2"/>
            </a:solidFill>
            <a:prstDash val="solid"/>
            <a:round/>
            <a:headEnd len="sm" w="sm" type="none"/>
            <a:tailEnd len="sm" w="sm" type="none"/>
          </a:ln>
        </p:spPr>
      </p:cxnSp>
      <p:cxnSp>
        <p:nvCxnSpPr>
          <p:cNvPr id="415" name="Google Shape;415;g21d5f25ace6_0_413"/>
          <p:cNvCxnSpPr/>
          <p:nvPr/>
        </p:nvCxnSpPr>
        <p:spPr>
          <a:xfrm flipH="1">
            <a:off x="4012138" y="3836400"/>
            <a:ext cx="274500" cy="333900"/>
          </a:xfrm>
          <a:prstGeom prst="straightConnector1">
            <a:avLst/>
          </a:prstGeom>
          <a:noFill/>
          <a:ln cap="flat" cmpd="sng" w="19050">
            <a:solidFill>
              <a:schemeClr val="dk2"/>
            </a:solidFill>
            <a:prstDash val="solid"/>
            <a:round/>
            <a:headEnd len="sm" w="sm" type="none"/>
            <a:tailEnd len="sm" w="sm" type="none"/>
          </a:ln>
        </p:spPr>
      </p:cxnSp>
      <p:cxnSp>
        <p:nvCxnSpPr>
          <p:cNvPr id="416" name="Google Shape;416;g21d5f25ace6_0_413"/>
          <p:cNvCxnSpPr>
            <a:stCxn id="398" idx="2"/>
          </p:cNvCxnSpPr>
          <p:nvPr/>
        </p:nvCxnSpPr>
        <p:spPr>
          <a:xfrm>
            <a:off x="5063763" y="3836400"/>
            <a:ext cx="307800" cy="285300"/>
          </a:xfrm>
          <a:prstGeom prst="straightConnector1">
            <a:avLst/>
          </a:prstGeom>
          <a:noFill/>
          <a:ln cap="flat" cmpd="sng" w="19050">
            <a:solidFill>
              <a:schemeClr val="dk2"/>
            </a:solidFill>
            <a:prstDash val="solid"/>
            <a:round/>
            <a:headEnd len="sm" w="sm" type="none"/>
            <a:tailEnd len="sm" w="sm" type="none"/>
          </a:ln>
        </p:spPr>
      </p:cxnSp>
      <p:cxnSp>
        <p:nvCxnSpPr>
          <p:cNvPr id="417" name="Google Shape;417;g21d5f25ace6_0_413"/>
          <p:cNvCxnSpPr>
            <a:stCxn id="398" idx="2"/>
          </p:cNvCxnSpPr>
          <p:nvPr/>
        </p:nvCxnSpPr>
        <p:spPr>
          <a:xfrm flipH="1">
            <a:off x="4851363" y="3836400"/>
            <a:ext cx="212400" cy="321600"/>
          </a:xfrm>
          <a:prstGeom prst="straightConnector1">
            <a:avLst/>
          </a:prstGeom>
          <a:noFill/>
          <a:ln cap="flat" cmpd="sng" w="19050">
            <a:solidFill>
              <a:schemeClr val="dk2"/>
            </a:solidFill>
            <a:prstDash val="solid"/>
            <a:round/>
            <a:headEnd len="sm" w="sm" type="none"/>
            <a:tailEnd len="sm" w="sm" type="none"/>
          </a:ln>
        </p:spPr>
      </p:cxnSp>
      <p:cxnSp>
        <p:nvCxnSpPr>
          <p:cNvPr id="418" name="Google Shape;418;g21d5f25ace6_0_413"/>
          <p:cNvCxnSpPr>
            <a:stCxn id="398" idx="2"/>
          </p:cNvCxnSpPr>
          <p:nvPr/>
        </p:nvCxnSpPr>
        <p:spPr>
          <a:xfrm flipH="1">
            <a:off x="5045163" y="3836400"/>
            <a:ext cx="18600" cy="333900"/>
          </a:xfrm>
          <a:prstGeom prst="straightConnector1">
            <a:avLst/>
          </a:prstGeom>
          <a:noFill/>
          <a:ln cap="flat" cmpd="sng" w="19050">
            <a:solidFill>
              <a:schemeClr val="dk2"/>
            </a:solidFill>
            <a:prstDash val="solid"/>
            <a:round/>
            <a:headEnd len="sm" w="sm" type="none"/>
            <a:tailEnd len="sm" w="sm" type="none"/>
          </a:ln>
        </p:spPr>
      </p:cxnSp>
      <p:cxnSp>
        <p:nvCxnSpPr>
          <p:cNvPr id="419" name="Google Shape;419;g21d5f25ace6_0_413"/>
          <p:cNvCxnSpPr>
            <a:stCxn id="398" idx="2"/>
          </p:cNvCxnSpPr>
          <p:nvPr/>
        </p:nvCxnSpPr>
        <p:spPr>
          <a:xfrm>
            <a:off x="5063763" y="3836400"/>
            <a:ext cx="162600" cy="321600"/>
          </a:xfrm>
          <a:prstGeom prst="straightConnector1">
            <a:avLst/>
          </a:prstGeom>
          <a:noFill/>
          <a:ln cap="flat" cmpd="sng" w="19050">
            <a:solidFill>
              <a:schemeClr val="dk2"/>
            </a:solidFill>
            <a:prstDash val="solid"/>
            <a:round/>
            <a:headEnd len="sm" w="sm" type="none"/>
            <a:tailEnd len="sm" w="sm" type="none"/>
          </a:ln>
        </p:spPr>
      </p:cxnSp>
      <p:cxnSp>
        <p:nvCxnSpPr>
          <p:cNvPr id="420" name="Google Shape;420;g21d5f25ace6_0_413"/>
          <p:cNvCxnSpPr>
            <a:stCxn id="399" idx="2"/>
          </p:cNvCxnSpPr>
          <p:nvPr/>
        </p:nvCxnSpPr>
        <p:spPr>
          <a:xfrm flipH="1">
            <a:off x="5577338" y="3836400"/>
            <a:ext cx="246600" cy="261300"/>
          </a:xfrm>
          <a:prstGeom prst="straightConnector1">
            <a:avLst/>
          </a:prstGeom>
          <a:noFill/>
          <a:ln cap="flat" cmpd="sng" w="19050">
            <a:solidFill>
              <a:schemeClr val="dk2"/>
            </a:solidFill>
            <a:prstDash val="solid"/>
            <a:round/>
            <a:headEnd len="sm" w="sm" type="none"/>
            <a:tailEnd len="sm" w="sm" type="none"/>
          </a:ln>
        </p:spPr>
      </p:cxnSp>
      <p:cxnSp>
        <p:nvCxnSpPr>
          <p:cNvPr id="421" name="Google Shape;421;g21d5f25ace6_0_413"/>
          <p:cNvCxnSpPr>
            <a:stCxn id="399" idx="2"/>
          </p:cNvCxnSpPr>
          <p:nvPr/>
        </p:nvCxnSpPr>
        <p:spPr>
          <a:xfrm>
            <a:off x="5823938" y="3836400"/>
            <a:ext cx="273300" cy="261300"/>
          </a:xfrm>
          <a:prstGeom prst="straightConnector1">
            <a:avLst/>
          </a:prstGeom>
          <a:noFill/>
          <a:ln cap="flat" cmpd="sng" w="19050">
            <a:solidFill>
              <a:schemeClr val="dk2"/>
            </a:solidFill>
            <a:prstDash val="solid"/>
            <a:round/>
            <a:headEnd len="sm" w="sm" type="none"/>
            <a:tailEnd len="sm" w="sm" type="none"/>
          </a:ln>
        </p:spPr>
      </p:cxnSp>
      <p:cxnSp>
        <p:nvCxnSpPr>
          <p:cNvPr id="422" name="Google Shape;422;g21d5f25ace6_0_413"/>
          <p:cNvCxnSpPr>
            <a:stCxn id="399" idx="2"/>
          </p:cNvCxnSpPr>
          <p:nvPr/>
        </p:nvCxnSpPr>
        <p:spPr>
          <a:xfrm>
            <a:off x="5823938" y="3836400"/>
            <a:ext cx="104100" cy="309600"/>
          </a:xfrm>
          <a:prstGeom prst="straightConnector1">
            <a:avLst/>
          </a:prstGeom>
          <a:noFill/>
          <a:ln cap="flat" cmpd="sng" w="19050">
            <a:solidFill>
              <a:schemeClr val="dk2"/>
            </a:solidFill>
            <a:prstDash val="solid"/>
            <a:round/>
            <a:headEnd len="sm" w="sm" type="none"/>
            <a:tailEnd len="sm" w="sm" type="none"/>
          </a:ln>
        </p:spPr>
      </p:cxnSp>
      <p:cxnSp>
        <p:nvCxnSpPr>
          <p:cNvPr id="423" name="Google Shape;423;g21d5f25ace6_0_413"/>
          <p:cNvCxnSpPr>
            <a:stCxn id="399" idx="2"/>
          </p:cNvCxnSpPr>
          <p:nvPr/>
        </p:nvCxnSpPr>
        <p:spPr>
          <a:xfrm flipH="1">
            <a:off x="5698238" y="3836400"/>
            <a:ext cx="125700" cy="297600"/>
          </a:xfrm>
          <a:prstGeom prst="straightConnector1">
            <a:avLst/>
          </a:prstGeom>
          <a:noFill/>
          <a:ln cap="flat" cmpd="sng" w="19050">
            <a:solidFill>
              <a:schemeClr val="dk2"/>
            </a:solidFill>
            <a:prstDash val="solid"/>
            <a:round/>
            <a:headEnd len="sm" w="sm" type="none"/>
            <a:tailEnd len="sm" w="sm" type="none"/>
          </a:ln>
        </p:spPr>
      </p:cxnSp>
      <p:sp>
        <p:nvSpPr>
          <p:cNvPr id="424" name="Google Shape;424;g21d5f25ace6_0_413"/>
          <p:cNvSpPr txBox="1"/>
          <p:nvPr/>
        </p:nvSpPr>
        <p:spPr>
          <a:xfrm>
            <a:off x="2783238" y="2742975"/>
            <a:ext cx="679200" cy="338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000"/>
              <a:buFont typeface="Arial"/>
              <a:buNone/>
            </a:pPr>
            <a:r>
              <a:rPr b="0" i="0" lang="en-US" sz="1000" u="none" cap="none" strike="noStrike">
                <a:solidFill>
                  <a:srgbClr val="000000"/>
                </a:solidFill>
                <a:latin typeface="Arial"/>
                <a:ea typeface="Arial"/>
                <a:cs typeface="Arial"/>
                <a:sym typeface="Arial"/>
              </a:rPr>
              <a:t>2x links</a:t>
            </a:r>
            <a:endParaRPr b="0" i="0" sz="1000" u="none" cap="none" strike="noStrike">
              <a:solidFill>
                <a:srgbClr val="000000"/>
              </a:solidFill>
              <a:latin typeface="Arial"/>
              <a:ea typeface="Arial"/>
              <a:cs typeface="Arial"/>
              <a:sym typeface="Arial"/>
            </a:endParaRPr>
          </a:p>
        </p:txBody>
      </p:sp>
      <p:cxnSp>
        <p:nvCxnSpPr>
          <p:cNvPr id="425" name="Google Shape;425;g21d5f25ace6_0_413"/>
          <p:cNvCxnSpPr>
            <a:stCxn id="424" idx="3"/>
          </p:cNvCxnSpPr>
          <p:nvPr/>
        </p:nvCxnSpPr>
        <p:spPr>
          <a:xfrm>
            <a:off x="3462438" y="2912325"/>
            <a:ext cx="373200" cy="181500"/>
          </a:xfrm>
          <a:prstGeom prst="straightConnector1">
            <a:avLst/>
          </a:prstGeom>
          <a:noFill/>
          <a:ln cap="flat" cmpd="sng" w="9525">
            <a:solidFill>
              <a:schemeClr val="dk2"/>
            </a:solidFill>
            <a:prstDash val="solid"/>
            <a:round/>
            <a:headEnd len="sm" w="sm" type="none"/>
            <a:tailEnd len="med" w="med" type="triangle"/>
          </a:ln>
        </p:spPr>
      </p:cxnSp>
      <p:sp>
        <p:nvSpPr>
          <p:cNvPr id="426" name="Google Shape;426;g21d5f25ace6_0_413"/>
          <p:cNvSpPr txBox="1"/>
          <p:nvPr/>
        </p:nvSpPr>
        <p:spPr>
          <a:xfrm>
            <a:off x="3895913" y="1501200"/>
            <a:ext cx="1714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Fat-tree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practice:</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(8-port switches)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
        <p:nvSpPr>
          <p:cNvPr id="427" name="Google Shape;427;g21d5f25ace6_0_413"/>
          <p:cNvSpPr txBox="1"/>
          <p:nvPr/>
        </p:nvSpPr>
        <p:spPr>
          <a:xfrm>
            <a:off x="6598475" y="3427325"/>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sp>
        <p:nvSpPr>
          <p:cNvPr id="428" name="Google Shape;428;g21d5f25ace6_0_413"/>
          <p:cNvSpPr txBox="1"/>
          <p:nvPr/>
        </p:nvSpPr>
        <p:spPr>
          <a:xfrm>
            <a:off x="7110300" y="2508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Core</a:t>
            </a:r>
            <a:endParaRPr b="0" i="0" sz="1200" u="none" cap="none" strike="noStrike">
              <a:solidFill>
                <a:srgbClr val="000000"/>
              </a:solidFill>
              <a:latin typeface="Arial"/>
              <a:ea typeface="Arial"/>
              <a:cs typeface="Arial"/>
              <a:sym typeface="Arial"/>
            </a:endParaRPr>
          </a:p>
        </p:txBody>
      </p:sp>
      <p:sp>
        <p:nvSpPr>
          <p:cNvPr id="429" name="Google Shape;429;g21d5f25ace6_0_413"/>
          <p:cNvSpPr txBox="1"/>
          <p:nvPr/>
        </p:nvSpPr>
        <p:spPr>
          <a:xfrm>
            <a:off x="7815838" y="2508100"/>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Core</a:t>
            </a:r>
            <a:endParaRPr b="0" i="0" sz="1200" u="none" cap="none" strike="noStrike">
              <a:solidFill>
                <a:srgbClr val="000000"/>
              </a:solidFill>
              <a:latin typeface="Arial"/>
              <a:ea typeface="Arial"/>
              <a:cs typeface="Arial"/>
              <a:sym typeface="Arial"/>
            </a:endParaRPr>
          </a:p>
        </p:txBody>
      </p:sp>
      <p:sp>
        <p:nvSpPr>
          <p:cNvPr id="430" name="Google Shape;430;g21d5f25ace6_0_413"/>
          <p:cNvSpPr txBox="1"/>
          <p:nvPr/>
        </p:nvSpPr>
        <p:spPr>
          <a:xfrm>
            <a:off x="7358650" y="3427325"/>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sp>
        <p:nvSpPr>
          <p:cNvPr id="431" name="Google Shape;431;g21d5f25ace6_0_413"/>
          <p:cNvSpPr txBox="1"/>
          <p:nvPr/>
        </p:nvSpPr>
        <p:spPr>
          <a:xfrm>
            <a:off x="8118825" y="3427325"/>
            <a:ext cx="616800" cy="369300"/>
          </a:xfrm>
          <a:prstGeom prst="rect">
            <a:avLst/>
          </a:prstGeom>
          <a:noFill/>
          <a:ln cap="flat" cmpd="sng" w="19050">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200"/>
              <a:buFont typeface="Arial"/>
              <a:buNone/>
            </a:pPr>
            <a:r>
              <a:rPr b="0" i="0" lang="en-US" sz="1200" u="none" cap="none" strike="noStrike">
                <a:solidFill>
                  <a:srgbClr val="000000"/>
                </a:solidFill>
                <a:latin typeface="Arial"/>
                <a:ea typeface="Arial"/>
                <a:cs typeface="Arial"/>
                <a:sym typeface="Arial"/>
              </a:rPr>
              <a:t>Leaf</a:t>
            </a:r>
            <a:endParaRPr b="0" i="0" sz="1200" u="none" cap="none" strike="noStrike">
              <a:solidFill>
                <a:srgbClr val="000000"/>
              </a:solidFill>
              <a:latin typeface="Arial"/>
              <a:ea typeface="Arial"/>
              <a:cs typeface="Arial"/>
              <a:sym typeface="Arial"/>
            </a:endParaRPr>
          </a:p>
        </p:txBody>
      </p:sp>
      <p:cxnSp>
        <p:nvCxnSpPr>
          <p:cNvPr id="432" name="Google Shape;432;g21d5f25ace6_0_413"/>
          <p:cNvCxnSpPr>
            <a:stCxn id="427" idx="0"/>
            <a:endCxn id="428" idx="2"/>
          </p:cNvCxnSpPr>
          <p:nvPr/>
        </p:nvCxnSpPr>
        <p:spPr>
          <a:xfrm flipH="1" rot="10800000">
            <a:off x="6906875" y="2877425"/>
            <a:ext cx="511800" cy="549900"/>
          </a:xfrm>
          <a:prstGeom prst="straightConnector1">
            <a:avLst/>
          </a:prstGeom>
          <a:noFill/>
          <a:ln cap="flat" cmpd="sng" w="19050">
            <a:solidFill>
              <a:schemeClr val="dk2"/>
            </a:solidFill>
            <a:prstDash val="solid"/>
            <a:round/>
            <a:headEnd len="sm" w="sm" type="none"/>
            <a:tailEnd len="sm" w="sm" type="none"/>
          </a:ln>
        </p:spPr>
      </p:cxnSp>
      <p:cxnSp>
        <p:nvCxnSpPr>
          <p:cNvPr id="433" name="Google Shape;433;g21d5f25ace6_0_413"/>
          <p:cNvCxnSpPr>
            <a:stCxn id="427" idx="0"/>
            <a:endCxn id="429" idx="2"/>
          </p:cNvCxnSpPr>
          <p:nvPr/>
        </p:nvCxnSpPr>
        <p:spPr>
          <a:xfrm flipH="1" rot="10800000">
            <a:off x="6906875" y="2877425"/>
            <a:ext cx="1217400" cy="549900"/>
          </a:xfrm>
          <a:prstGeom prst="straightConnector1">
            <a:avLst/>
          </a:prstGeom>
          <a:noFill/>
          <a:ln cap="flat" cmpd="sng" w="19050">
            <a:solidFill>
              <a:schemeClr val="dk2"/>
            </a:solidFill>
            <a:prstDash val="solid"/>
            <a:round/>
            <a:headEnd len="sm" w="sm" type="none"/>
            <a:tailEnd len="sm" w="sm" type="none"/>
          </a:ln>
        </p:spPr>
      </p:cxnSp>
      <p:cxnSp>
        <p:nvCxnSpPr>
          <p:cNvPr id="434" name="Google Shape;434;g21d5f25ace6_0_413"/>
          <p:cNvCxnSpPr>
            <a:stCxn id="430" idx="0"/>
            <a:endCxn id="428" idx="2"/>
          </p:cNvCxnSpPr>
          <p:nvPr/>
        </p:nvCxnSpPr>
        <p:spPr>
          <a:xfrm rot="10800000">
            <a:off x="7418650" y="2877425"/>
            <a:ext cx="248400" cy="549900"/>
          </a:xfrm>
          <a:prstGeom prst="straightConnector1">
            <a:avLst/>
          </a:prstGeom>
          <a:noFill/>
          <a:ln cap="flat" cmpd="sng" w="19050">
            <a:solidFill>
              <a:schemeClr val="dk2"/>
            </a:solidFill>
            <a:prstDash val="solid"/>
            <a:round/>
            <a:headEnd len="sm" w="sm" type="none"/>
            <a:tailEnd len="sm" w="sm" type="none"/>
          </a:ln>
        </p:spPr>
      </p:cxnSp>
      <p:cxnSp>
        <p:nvCxnSpPr>
          <p:cNvPr id="435" name="Google Shape;435;g21d5f25ace6_0_413"/>
          <p:cNvCxnSpPr>
            <a:stCxn id="430" idx="0"/>
            <a:endCxn id="429" idx="2"/>
          </p:cNvCxnSpPr>
          <p:nvPr/>
        </p:nvCxnSpPr>
        <p:spPr>
          <a:xfrm flipH="1" rot="10800000">
            <a:off x="7667050" y="2877425"/>
            <a:ext cx="457200" cy="549900"/>
          </a:xfrm>
          <a:prstGeom prst="straightConnector1">
            <a:avLst/>
          </a:prstGeom>
          <a:noFill/>
          <a:ln cap="flat" cmpd="sng" w="19050">
            <a:solidFill>
              <a:schemeClr val="dk2"/>
            </a:solidFill>
            <a:prstDash val="solid"/>
            <a:round/>
            <a:headEnd len="sm" w="sm" type="none"/>
            <a:tailEnd len="sm" w="sm" type="none"/>
          </a:ln>
        </p:spPr>
      </p:cxnSp>
      <p:cxnSp>
        <p:nvCxnSpPr>
          <p:cNvPr id="436" name="Google Shape;436;g21d5f25ace6_0_413"/>
          <p:cNvCxnSpPr>
            <a:stCxn id="431" idx="0"/>
            <a:endCxn id="428" idx="2"/>
          </p:cNvCxnSpPr>
          <p:nvPr/>
        </p:nvCxnSpPr>
        <p:spPr>
          <a:xfrm rot="10800000">
            <a:off x="7418625" y="2877425"/>
            <a:ext cx="1008600" cy="549900"/>
          </a:xfrm>
          <a:prstGeom prst="straightConnector1">
            <a:avLst/>
          </a:prstGeom>
          <a:noFill/>
          <a:ln cap="flat" cmpd="sng" w="19050">
            <a:solidFill>
              <a:schemeClr val="dk2"/>
            </a:solidFill>
            <a:prstDash val="solid"/>
            <a:round/>
            <a:headEnd len="sm" w="sm" type="none"/>
            <a:tailEnd len="sm" w="sm" type="none"/>
          </a:ln>
        </p:spPr>
      </p:cxnSp>
      <p:cxnSp>
        <p:nvCxnSpPr>
          <p:cNvPr id="437" name="Google Shape;437;g21d5f25ace6_0_413"/>
          <p:cNvCxnSpPr>
            <a:stCxn id="431" idx="0"/>
            <a:endCxn id="429" idx="2"/>
          </p:cNvCxnSpPr>
          <p:nvPr/>
        </p:nvCxnSpPr>
        <p:spPr>
          <a:xfrm rot="10800000">
            <a:off x="8124225" y="2877425"/>
            <a:ext cx="303000" cy="549900"/>
          </a:xfrm>
          <a:prstGeom prst="straightConnector1">
            <a:avLst/>
          </a:prstGeom>
          <a:noFill/>
          <a:ln cap="flat" cmpd="sng" w="19050">
            <a:solidFill>
              <a:schemeClr val="dk2"/>
            </a:solidFill>
            <a:prstDash val="solid"/>
            <a:round/>
            <a:headEnd len="sm" w="sm" type="none"/>
            <a:tailEnd len="sm" w="sm" type="none"/>
          </a:ln>
        </p:spPr>
      </p:cxnSp>
      <p:cxnSp>
        <p:nvCxnSpPr>
          <p:cNvPr id="438" name="Google Shape;438;g21d5f25ace6_0_413"/>
          <p:cNvCxnSpPr>
            <a:stCxn id="427" idx="2"/>
          </p:cNvCxnSpPr>
          <p:nvPr/>
        </p:nvCxnSpPr>
        <p:spPr>
          <a:xfrm flipH="1">
            <a:off x="6642575" y="3796625"/>
            <a:ext cx="264300" cy="297600"/>
          </a:xfrm>
          <a:prstGeom prst="straightConnector1">
            <a:avLst/>
          </a:prstGeom>
          <a:noFill/>
          <a:ln cap="flat" cmpd="sng" w="19050">
            <a:solidFill>
              <a:schemeClr val="dk2"/>
            </a:solidFill>
            <a:prstDash val="solid"/>
            <a:round/>
            <a:headEnd len="sm" w="sm" type="none"/>
            <a:tailEnd len="sm" w="sm" type="none"/>
          </a:ln>
        </p:spPr>
      </p:cxnSp>
      <p:cxnSp>
        <p:nvCxnSpPr>
          <p:cNvPr id="439" name="Google Shape;439;g21d5f25ace6_0_413"/>
          <p:cNvCxnSpPr>
            <a:stCxn id="427" idx="2"/>
          </p:cNvCxnSpPr>
          <p:nvPr/>
        </p:nvCxnSpPr>
        <p:spPr>
          <a:xfrm flipH="1">
            <a:off x="6799775" y="3796625"/>
            <a:ext cx="107100" cy="333900"/>
          </a:xfrm>
          <a:prstGeom prst="straightConnector1">
            <a:avLst/>
          </a:prstGeom>
          <a:noFill/>
          <a:ln cap="flat" cmpd="sng" w="19050">
            <a:solidFill>
              <a:schemeClr val="dk2"/>
            </a:solidFill>
            <a:prstDash val="solid"/>
            <a:round/>
            <a:headEnd len="sm" w="sm" type="none"/>
            <a:tailEnd len="sm" w="sm" type="none"/>
          </a:ln>
        </p:spPr>
      </p:cxnSp>
      <p:cxnSp>
        <p:nvCxnSpPr>
          <p:cNvPr id="440" name="Google Shape;440;g21d5f25ace6_0_413"/>
          <p:cNvCxnSpPr>
            <a:stCxn id="427" idx="2"/>
          </p:cNvCxnSpPr>
          <p:nvPr/>
        </p:nvCxnSpPr>
        <p:spPr>
          <a:xfrm>
            <a:off x="6906875" y="3796625"/>
            <a:ext cx="147000" cy="345900"/>
          </a:xfrm>
          <a:prstGeom prst="straightConnector1">
            <a:avLst/>
          </a:prstGeom>
          <a:noFill/>
          <a:ln cap="flat" cmpd="sng" w="19050">
            <a:solidFill>
              <a:schemeClr val="dk2"/>
            </a:solidFill>
            <a:prstDash val="solid"/>
            <a:round/>
            <a:headEnd len="sm" w="sm" type="none"/>
            <a:tailEnd len="sm" w="sm" type="none"/>
          </a:ln>
        </p:spPr>
      </p:cxnSp>
      <p:cxnSp>
        <p:nvCxnSpPr>
          <p:cNvPr id="441" name="Google Shape;441;g21d5f25ace6_0_413"/>
          <p:cNvCxnSpPr>
            <a:stCxn id="427" idx="2"/>
          </p:cNvCxnSpPr>
          <p:nvPr/>
        </p:nvCxnSpPr>
        <p:spPr>
          <a:xfrm>
            <a:off x="6906875" y="3796625"/>
            <a:ext cx="352500" cy="285300"/>
          </a:xfrm>
          <a:prstGeom prst="straightConnector1">
            <a:avLst/>
          </a:prstGeom>
          <a:noFill/>
          <a:ln cap="flat" cmpd="sng" w="19050">
            <a:solidFill>
              <a:schemeClr val="dk2"/>
            </a:solidFill>
            <a:prstDash val="solid"/>
            <a:round/>
            <a:headEnd len="sm" w="sm" type="none"/>
            <a:tailEnd len="sm" w="sm" type="none"/>
          </a:ln>
        </p:spPr>
      </p:cxnSp>
      <p:cxnSp>
        <p:nvCxnSpPr>
          <p:cNvPr id="442" name="Google Shape;442;g21d5f25ace6_0_413"/>
          <p:cNvCxnSpPr>
            <a:stCxn id="430" idx="2"/>
          </p:cNvCxnSpPr>
          <p:nvPr/>
        </p:nvCxnSpPr>
        <p:spPr>
          <a:xfrm flipH="1">
            <a:off x="7584250" y="3796625"/>
            <a:ext cx="82800" cy="364200"/>
          </a:xfrm>
          <a:prstGeom prst="straightConnector1">
            <a:avLst/>
          </a:prstGeom>
          <a:noFill/>
          <a:ln cap="flat" cmpd="sng" w="19050">
            <a:solidFill>
              <a:schemeClr val="dk2"/>
            </a:solidFill>
            <a:prstDash val="solid"/>
            <a:round/>
            <a:headEnd len="sm" w="sm" type="none"/>
            <a:tailEnd len="sm" w="sm" type="none"/>
          </a:ln>
        </p:spPr>
      </p:cxnSp>
      <p:cxnSp>
        <p:nvCxnSpPr>
          <p:cNvPr id="443" name="Google Shape;443;g21d5f25ace6_0_413"/>
          <p:cNvCxnSpPr>
            <a:stCxn id="430" idx="2"/>
          </p:cNvCxnSpPr>
          <p:nvPr/>
        </p:nvCxnSpPr>
        <p:spPr>
          <a:xfrm>
            <a:off x="7667050" y="3796625"/>
            <a:ext cx="148800" cy="345900"/>
          </a:xfrm>
          <a:prstGeom prst="straightConnector1">
            <a:avLst/>
          </a:prstGeom>
          <a:noFill/>
          <a:ln cap="flat" cmpd="sng" w="19050">
            <a:solidFill>
              <a:schemeClr val="dk2"/>
            </a:solidFill>
            <a:prstDash val="solid"/>
            <a:round/>
            <a:headEnd len="sm" w="sm" type="none"/>
            <a:tailEnd len="sm" w="sm" type="none"/>
          </a:ln>
        </p:spPr>
      </p:cxnSp>
      <p:cxnSp>
        <p:nvCxnSpPr>
          <p:cNvPr id="444" name="Google Shape;444;g21d5f25ace6_0_413"/>
          <p:cNvCxnSpPr>
            <a:stCxn id="430" idx="2"/>
          </p:cNvCxnSpPr>
          <p:nvPr/>
        </p:nvCxnSpPr>
        <p:spPr>
          <a:xfrm>
            <a:off x="7667050" y="3796625"/>
            <a:ext cx="390600" cy="309600"/>
          </a:xfrm>
          <a:prstGeom prst="straightConnector1">
            <a:avLst/>
          </a:prstGeom>
          <a:noFill/>
          <a:ln cap="flat" cmpd="sng" w="19050">
            <a:solidFill>
              <a:schemeClr val="dk2"/>
            </a:solidFill>
            <a:prstDash val="solid"/>
            <a:round/>
            <a:headEnd len="sm" w="sm" type="none"/>
            <a:tailEnd len="sm" w="sm" type="none"/>
          </a:ln>
        </p:spPr>
      </p:cxnSp>
      <p:cxnSp>
        <p:nvCxnSpPr>
          <p:cNvPr id="445" name="Google Shape;445;g21d5f25ace6_0_413"/>
          <p:cNvCxnSpPr/>
          <p:nvPr/>
        </p:nvCxnSpPr>
        <p:spPr>
          <a:xfrm flipH="1">
            <a:off x="7375600" y="3796625"/>
            <a:ext cx="274500" cy="333900"/>
          </a:xfrm>
          <a:prstGeom prst="straightConnector1">
            <a:avLst/>
          </a:prstGeom>
          <a:noFill/>
          <a:ln cap="flat" cmpd="sng" w="19050">
            <a:solidFill>
              <a:schemeClr val="dk2"/>
            </a:solidFill>
            <a:prstDash val="solid"/>
            <a:round/>
            <a:headEnd len="sm" w="sm" type="none"/>
            <a:tailEnd len="sm" w="sm" type="none"/>
          </a:ln>
        </p:spPr>
      </p:cxnSp>
      <p:cxnSp>
        <p:nvCxnSpPr>
          <p:cNvPr id="446" name="Google Shape;446;g21d5f25ace6_0_413"/>
          <p:cNvCxnSpPr>
            <a:stCxn id="431" idx="2"/>
          </p:cNvCxnSpPr>
          <p:nvPr/>
        </p:nvCxnSpPr>
        <p:spPr>
          <a:xfrm>
            <a:off x="8427225" y="3796625"/>
            <a:ext cx="307800" cy="285300"/>
          </a:xfrm>
          <a:prstGeom prst="straightConnector1">
            <a:avLst/>
          </a:prstGeom>
          <a:noFill/>
          <a:ln cap="flat" cmpd="sng" w="19050">
            <a:solidFill>
              <a:schemeClr val="dk2"/>
            </a:solidFill>
            <a:prstDash val="solid"/>
            <a:round/>
            <a:headEnd len="sm" w="sm" type="none"/>
            <a:tailEnd len="sm" w="sm" type="none"/>
          </a:ln>
        </p:spPr>
      </p:cxnSp>
      <p:cxnSp>
        <p:nvCxnSpPr>
          <p:cNvPr id="447" name="Google Shape;447;g21d5f25ace6_0_413"/>
          <p:cNvCxnSpPr>
            <a:stCxn id="431" idx="2"/>
          </p:cNvCxnSpPr>
          <p:nvPr/>
        </p:nvCxnSpPr>
        <p:spPr>
          <a:xfrm flipH="1">
            <a:off x="8214825" y="3796625"/>
            <a:ext cx="212400" cy="321600"/>
          </a:xfrm>
          <a:prstGeom prst="straightConnector1">
            <a:avLst/>
          </a:prstGeom>
          <a:noFill/>
          <a:ln cap="flat" cmpd="sng" w="19050">
            <a:solidFill>
              <a:schemeClr val="dk2"/>
            </a:solidFill>
            <a:prstDash val="solid"/>
            <a:round/>
            <a:headEnd len="sm" w="sm" type="none"/>
            <a:tailEnd len="sm" w="sm" type="none"/>
          </a:ln>
        </p:spPr>
      </p:cxnSp>
      <p:cxnSp>
        <p:nvCxnSpPr>
          <p:cNvPr id="448" name="Google Shape;448;g21d5f25ace6_0_413"/>
          <p:cNvCxnSpPr>
            <a:stCxn id="431" idx="2"/>
          </p:cNvCxnSpPr>
          <p:nvPr/>
        </p:nvCxnSpPr>
        <p:spPr>
          <a:xfrm flipH="1">
            <a:off x="8408625" y="3796625"/>
            <a:ext cx="18600" cy="333900"/>
          </a:xfrm>
          <a:prstGeom prst="straightConnector1">
            <a:avLst/>
          </a:prstGeom>
          <a:noFill/>
          <a:ln cap="flat" cmpd="sng" w="19050">
            <a:solidFill>
              <a:schemeClr val="dk2"/>
            </a:solidFill>
            <a:prstDash val="solid"/>
            <a:round/>
            <a:headEnd len="sm" w="sm" type="none"/>
            <a:tailEnd len="sm" w="sm" type="none"/>
          </a:ln>
        </p:spPr>
      </p:cxnSp>
      <p:cxnSp>
        <p:nvCxnSpPr>
          <p:cNvPr id="449" name="Google Shape;449;g21d5f25ace6_0_413"/>
          <p:cNvCxnSpPr>
            <a:stCxn id="431" idx="2"/>
          </p:cNvCxnSpPr>
          <p:nvPr/>
        </p:nvCxnSpPr>
        <p:spPr>
          <a:xfrm>
            <a:off x="8427225" y="3796625"/>
            <a:ext cx="162600" cy="321600"/>
          </a:xfrm>
          <a:prstGeom prst="straightConnector1">
            <a:avLst/>
          </a:prstGeom>
          <a:noFill/>
          <a:ln cap="flat" cmpd="sng" w="19050">
            <a:solidFill>
              <a:schemeClr val="dk2"/>
            </a:solidFill>
            <a:prstDash val="solid"/>
            <a:round/>
            <a:headEnd len="sm" w="sm" type="none"/>
            <a:tailEnd len="sm" w="sm" type="none"/>
          </a:ln>
        </p:spPr>
      </p:cxnSp>
      <p:sp>
        <p:nvSpPr>
          <p:cNvPr id="450" name="Google Shape;450;g21d5f25ace6_0_413"/>
          <p:cNvSpPr txBox="1"/>
          <p:nvPr/>
        </p:nvSpPr>
        <p:spPr>
          <a:xfrm>
            <a:off x="7043100" y="1501188"/>
            <a:ext cx="1714200" cy="1046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2:1 oversubscription</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US" sz="1400" u="none" cap="none" strike="noStrike">
                <a:solidFill>
                  <a:srgbClr val="000000"/>
                </a:solidFill>
                <a:latin typeface="Arial"/>
                <a:ea typeface="Arial"/>
                <a:cs typeface="Arial"/>
                <a:sym typeface="Arial"/>
              </a:rPr>
              <a:t>(6-port switches)</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5" name="Shape 455"/>
        <p:cNvGrpSpPr/>
        <p:nvPr/>
      </p:nvGrpSpPr>
      <p:grpSpPr>
        <a:xfrm>
          <a:off x="0" y="0"/>
          <a:ext cx="0" cy="0"/>
          <a:chOff x="0" y="0"/>
          <a:chExt cx="0" cy="0"/>
        </a:xfrm>
      </p:grpSpPr>
      <p:sp>
        <p:nvSpPr>
          <p:cNvPr id="456" name="Google Shape;456;g2397adc27d3_1_117"/>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 hardware</a:t>
            </a:r>
            <a:endParaRPr/>
          </a:p>
        </p:txBody>
      </p:sp>
      <p:sp>
        <p:nvSpPr>
          <p:cNvPr id="457" name="Google Shape;457;g2397adc27d3_1_117"/>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lnSpcReduction="10000"/>
          </a:bodyPr>
          <a:lstStyle/>
          <a:p>
            <a:pPr indent="-342900" lvl="0" marL="457200" rtl="0" algn="l">
              <a:lnSpc>
                <a:spcPct val="115000"/>
              </a:lnSpc>
              <a:spcBef>
                <a:spcPts val="0"/>
              </a:spcBef>
              <a:spcAft>
                <a:spcPts val="0"/>
              </a:spcAft>
              <a:buClr>
                <a:schemeClr val="dk1"/>
              </a:buClr>
              <a:buSzPts val="1800"/>
              <a:buChar char="●"/>
            </a:pPr>
            <a:r>
              <a:rPr lang="en-US">
                <a:solidFill>
                  <a:schemeClr val="dk1"/>
                </a:solidFill>
              </a:rPr>
              <a:t>Fixed configuration switches - 40 ports (HDR) or 64 ports (NDR), managed and unmanaged</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Modular “director” switches - 512, 1024, and 2048 port capacities, managed</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Direct attached copper (DAC) cables - up to 2M in length</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Active copper cables (ACC)  cables - up to 4M in length</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Active Optical Cables (AOC) - 3 - 100 meter lengths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Fibre optic cables - much longer lengths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Infiniband Host Channel Adapters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Splitter cables: </a:t>
            </a:r>
            <a:endParaRPr>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2-way splitters for HDR convert 1 200 Gb/s port into 2x 100 Gb/s ports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2-way splitters for NDR convert 1 400 Gb/s port into 2x 200 Gb/s ports. </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4-way splitters for NDR convert 1 400 Gb/s port into 4x 100 Gb/s ports</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Copper cables ($100 - $200) are much cheaper than fiber optic (&gt; $1000)</a:t>
            </a:r>
            <a:endParaRPr sz="1800">
              <a:solidFill>
                <a:schemeClr val="dk1"/>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g2397adc27d3_1_123"/>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InfiniBand design decisions/specifications</a:t>
            </a:r>
            <a:endParaRPr/>
          </a:p>
        </p:txBody>
      </p:sp>
      <p:sp>
        <p:nvSpPr>
          <p:cNvPr id="464" name="Google Shape;464;g2397adc27d3_1_123"/>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42900" lvl="0" marL="457200" rtl="0" algn="l">
              <a:lnSpc>
                <a:spcPct val="115000"/>
              </a:lnSpc>
              <a:spcBef>
                <a:spcPts val="0"/>
              </a:spcBef>
              <a:spcAft>
                <a:spcPts val="0"/>
              </a:spcAft>
              <a:buClr>
                <a:schemeClr val="dk1"/>
              </a:buClr>
              <a:buSzPts val="1800"/>
              <a:buChar char="●"/>
            </a:pPr>
            <a:r>
              <a:rPr lang="en-US">
                <a:solidFill>
                  <a:schemeClr val="dk1"/>
                </a:solidFill>
              </a:rPr>
              <a:t>Use fixed configuration switches for the core, or use a modular “director” switch(es)?</a:t>
            </a:r>
            <a:endParaRPr>
              <a:solidFill>
                <a:schemeClr val="dk1"/>
              </a:solidFill>
            </a:endParaRPr>
          </a:p>
          <a:p>
            <a:pPr indent="-342900" lvl="0" marL="457200" rtl="0" algn="l">
              <a:lnSpc>
                <a:spcPct val="115000"/>
              </a:lnSpc>
              <a:spcBef>
                <a:spcPts val="0"/>
              </a:spcBef>
              <a:spcAft>
                <a:spcPts val="0"/>
              </a:spcAft>
              <a:buSzPts val="1800"/>
              <a:buChar char="●"/>
            </a:pPr>
            <a:r>
              <a:rPr lang="en-US">
                <a:solidFill>
                  <a:schemeClr val="dk1"/>
                </a:solidFill>
              </a:rPr>
              <a:t>Copper or Fibre cables between the leaf switches and racks? </a:t>
            </a:r>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Switch ports facing front or back of rack - depends on node design</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Airflow in switches - depends on whether ports face front or back - make sure this is correct!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Full non-blocking or oversubscription? </a:t>
            </a:r>
            <a:endParaRPr>
              <a:solidFill>
                <a:schemeClr val="dk1"/>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9" name="Shape 469"/>
        <p:cNvGrpSpPr/>
        <p:nvPr/>
      </p:nvGrpSpPr>
      <p:grpSpPr>
        <a:xfrm>
          <a:off x="0" y="0"/>
          <a:ext cx="0" cy="0"/>
          <a:chOff x="0" y="0"/>
          <a:chExt cx="0" cy="0"/>
        </a:xfrm>
      </p:grpSpPr>
      <p:sp>
        <p:nvSpPr>
          <p:cNvPr id="470" name="Google Shape;470;g2397adc27d3_1_129"/>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Selecting processors</a:t>
            </a:r>
            <a:endParaRPr/>
          </a:p>
        </p:txBody>
      </p:sp>
      <p:sp>
        <p:nvSpPr>
          <p:cNvPr id="471" name="Google Shape;471;g2397adc27d3_1_129"/>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55600" lvl="0" marL="457200" rtl="0" algn="l">
              <a:lnSpc>
                <a:spcPct val="115000"/>
              </a:lnSpc>
              <a:spcBef>
                <a:spcPts val="0"/>
              </a:spcBef>
              <a:spcAft>
                <a:spcPts val="0"/>
              </a:spcAft>
              <a:buClr>
                <a:schemeClr val="dk1"/>
              </a:buClr>
              <a:buSzPts val="2000"/>
              <a:buChar char="●"/>
            </a:pPr>
            <a:r>
              <a:rPr lang="en-US" sz="2000">
                <a:solidFill>
                  <a:schemeClr val="dk1"/>
                </a:solidFill>
              </a:rPr>
              <a:t>More cores != better performance</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Higher base frequency != better performance </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Hyperthreading shouldn’t provide any benefit for HPC workloads</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Use objective metrics to measure performance: </a:t>
            </a:r>
            <a:endParaRPr sz="20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High Performance LINPACK (HPL, </a:t>
            </a:r>
            <a:r>
              <a:rPr lang="en-US" sz="1600" u="sng">
                <a:solidFill>
                  <a:schemeClr val="hlink"/>
                </a:solidFill>
                <a:hlinkClick r:id="rId3"/>
              </a:rPr>
              <a:t>https://netlib.org/benchmark/hpl/</a:t>
            </a:r>
            <a:r>
              <a:rPr lang="en-US" sz="1600">
                <a:solidFill>
                  <a:schemeClr val="dk1"/>
                </a:solidFill>
              </a:rPr>
              <a:t>)</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High-Performance Conjugate Gradient (HPCG, </a:t>
            </a:r>
            <a:r>
              <a:rPr lang="en-US" sz="1600" u="sng">
                <a:solidFill>
                  <a:schemeClr val="hlink"/>
                </a:solidFill>
                <a:hlinkClick r:id="rId4"/>
              </a:rPr>
              <a:t>https://www.hpcg-benchmark.org/</a:t>
            </a:r>
            <a:r>
              <a:rPr lang="en-US" sz="1600">
                <a:solidFill>
                  <a:schemeClr val="dk1"/>
                </a:solidFill>
              </a:rPr>
              <a:t>)</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STREAM (https://www.cs.virginia.edu/stream) </a:t>
            </a:r>
            <a:endParaRPr sz="1600">
              <a:solidFill>
                <a:schemeClr val="dk1"/>
              </a:solidFill>
            </a:endParaRPr>
          </a:p>
          <a:p>
            <a:pPr indent="-330200" lvl="1" marL="914400" rtl="0" algn="l">
              <a:lnSpc>
                <a:spcPct val="115000"/>
              </a:lnSpc>
              <a:spcBef>
                <a:spcPts val="0"/>
              </a:spcBef>
              <a:spcAft>
                <a:spcPts val="0"/>
              </a:spcAft>
              <a:buClr>
                <a:schemeClr val="dk1"/>
              </a:buClr>
              <a:buSzPts val="1600"/>
              <a:buChar char="○"/>
            </a:pPr>
            <a:r>
              <a:rPr lang="en-US" sz="1600">
                <a:solidFill>
                  <a:schemeClr val="dk1"/>
                </a:solidFill>
              </a:rPr>
              <a:t>Several actual applications that you expect to run on your cluster</a:t>
            </a:r>
            <a:endParaRPr sz="16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Criteria should be performance/dollar or performance/W</a:t>
            </a:r>
            <a:endParaRPr sz="2000">
              <a:solidFill>
                <a:schemeClr val="dk1"/>
              </a:solidFill>
            </a:endParaRPr>
          </a:p>
          <a:p>
            <a:pPr indent="-355600" lvl="0" marL="457200" rtl="0" algn="l">
              <a:lnSpc>
                <a:spcPct val="115000"/>
              </a:lnSpc>
              <a:spcBef>
                <a:spcPts val="0"/>
              </a:spcBef>
              <a:spcAft>
                <a:spcPts val="0"/>
              </a:spcAft>
              <a:buClr>
                <a:schemeClr val="dk1"/>
              </a:buClr>
              <a:buSzPts val="2000"/>
              <a:buChar char="●"/>
            </a:pPr>
            <a:r>
              <a:rPr lang="en-US" sz="2000">
                <a:solidFill>
                  <a:schemeClr val="dk1"/>
                </a:solidFill>
              </a:rPr>
              <a:t>Measure </a:t>
            </a:r>
            <a:r>
              <a:rPr i="1" lang="en-US" sz="2000">
                <a:solidFill>
                  <a:schemeClr val="dk1"/>
                </a:solidFill>
              </a:rPr>
              <a:t>sustained</a:t>
            </a:r>
            <a:r>
              <a:rPr lang="en-US" sz="2000">
                <a:solidFill>
                  <a:schemeClr val="dk1"/>
                </a:solidFill>
              </a:rPr>
              <a:t> performance</a:t>
            </a:r>
            <a:endParaRPr sz="2000">
              <a:solidFill>
                <a:schemeClr val="dk1"/>
              </a:solidFill>
            </a:endParaRPr>
          </a:p>
          <a:p>
            <a:pPr indent="0" lvl="0" marL="457200" rtl="0" algn="l">
              <a:lnSpc>
                <a:spcPct val="115000"/>
              </a:lnSpc>
              <a:spcBef>
                <a:spcPts val="0"/>
              </a:spcBef>
              <a:spcAft>
                <a:spcPts val="0"/>
              </a:spcAft>
              <a:buSzPts val="1800"/>
              <a:buNone/>
            </a:pPr>
            <a:r>
              <a:t/>
            </a:r>
            <a:endParaRPr>
              <a:solidFill>
                <a:schemeClr val="dk1"/>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6" name="Shape 476"/>
        <p:cNvGrpSpPr/>
        <p:nvPr/>
      </p:nvGrpSpPr>
      <p:grpSpPr>
        <a:xfrm>
          <a:off x="0" y="0"/>
          <a:ext cx="0" cy="0"/>
          <a:chOff x="0" y="0"/>
          <a:chExt cx="0" cy="0"/>
        </a:xfrm>
      </p:grpSpPr>
      <p:sp>
        <p:nvSpPr>
          <p:cNvPr id="477" name="Google Shape;477;g23a26aacee0_0_0"/>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Selecting Processors </a:t>
            </a:r>
            <a:endParaRPr/>
          </a:p>
        </p:txBody>
      </p:sp>
      <p:sp>
        <p:nvSpPr>
          <p:cNvPr id="478" name="Google Shape;478;g23a26aacee0_0_0"/>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rgbClr val="000000"/>
              </a:buClr>
              <a:buSzPts val="2400"/>
              <a:buChar char="●"/>
            </a:pPr>
            <a:r>
              <a:rPr lang="en-US" sz="2400">
                <a:solidFill>
                  <a:srgbClr val="000000"/>
                </a:solidFill>
              </a:rPr>
              <a:t>Go with x86_64 processors (Intel or AMD)</a:t>
            </a:r>
            <a:endParaRPr sz="2400">
              <a:solidFill>
                <a:srgbClr val="000000"/>
              </a:solidFill>
            </a:endParaRPr>
          </a:p>
          <a:p>
            <a:pPr indent="-381000" lvl="0" marL="457200" rtl="0" algn="l">
              <a:lnSpc>
                <a:spcPct val="115000"/>
              </a:lnSpc>
              <a:spcBef>
                <a:spcPts val="0"/>
              </a:spcBef>
              <a:spcAft>
                <a:spcPts val="0"/>
              </a:spcAft>
              <a:buClr>
                <a:srgbClr val="000000"/>
              </a:buClr>
              <a:buSzPts val="2400"/>
              <a:buChar char="●"/>
            </a:pPr>
            <a:r>
              <a:rPr lang="en-US" sz="2400">
                <a:solidFill>
                  <a:srgbClr val="000000"/>
                </a:solidFill>
              </a:rPr>
              <a:t>POWER and ARM are interesting, but…</a:t>
            </a:r>
            <a:endParaRPr sz="2400">
              <a:solidFill>
                <a:srgbClr val="000000"/>
              </a:solidFill>
            </a:endParaRPr>
          </a:p>
          <a:p>
            <a:pPr indent="-342900" lvl="1" marL="914400" rtl="0" algn="l">
              <a:lnSpc>
                <a:spcPct val="115000"/>
              </a:lnSpc>
              <a:spcBef>
                <a:spcPts val="0"/>
              </a:spcBef>
              <a:spcAft>
                <a:spcPts val="0"/>
              </a:spcAft>
              <a:buClr>
                <a:srgbClr val="000000"/>
              </a:buClr>
              <a:buSzPts val="1800"/>
              <a:buChar char="○"/>
            </a:pPr>
            <a:r>
              <a:rPr lang="en-US" sz="1800">
                <a:solidFill>
                  <a:srgbClr val="000000"/>
                </a:solidFill>
              </a:rPr>
              <a:t>Limited support for precompiled binaries</a:t>
            </a:r>
            <a:endParaRPr sz="1800">
              <a:solidFill>
                <a:srgbClr val="000000"/>
              </a:solidFill>
            </a:endParaRPr>
          </a:p>
          <a:p>
            <a:pPr indent="-342900" lvl="1" marL="914400" rtl="0" algn="l">
              <a:lnSpc>
                <a:spcPct val="115000"/>
              </a:lnSpc>
              <a:spcBef>
                <a:spcPts val="0"/>
              </a:spcBef>
              <a:spcAft>
                <a:spcPts val="0"/>
              </a:spcAft>
              <a:buClr>
                <a:srgbClr val="000000"/>
              </a:buClr>
              <a:buSzPts val="1800"/>
              <a:buChar char="○"/>
            </a:pPr>
            <a:r>
              <a:rPr lang="en-US" sz="1800">
                <a:solidFill>
                  <a:srgbClr val="000000"/>
                </a:solidFill>
              </a:rPr>
              <a:t>Limited user community which means…</a:t>
            </a:r>
            <a:endParaRPr sz="1800">
              <a:solidFill>
                <a:srgbClr val="000000"/>
              </a:solidFill>
            </a:endParaRPr>
          </a:p>
          <a:p>
            <a:pPr indent="-342900" lvl="2" marL="1371600" rtl="0" algn="l">
              <a:lnSpc>
                <a:spcPct val="115000"/>
              </a:lnSpc>
              <a:spcBef>
                <a:spcPts val="0"/>
              </a:spcBef>
              <a:spcAft>
                <a:spcPts val="0"/>
              </a:spcAft>
              <a:buClr>
                <a:srgbClr val="000000"/>
              </a:buClr>
              <a:buSzPts val="1800"/>
              <a:buChar char="■"/>
            </a:pPr>
            <a:r>
              <a:rPr lang="en-US" sz="1800">
                <a:solidFill>
                  <a:srgbClr val="000000"/>
                </a:solidFill>
              </a:rPr>
              <a:t>Less probability that someone else encounters a bug before you do</a:t>
            </a:r>
            <a:endParaRPr sz="1800">
              <a:solidFill>
                <a:srgbClr val="000000"/>
              </a:solidFill>
            </a:endParaRPr>
          </a:p>
          <a:p>
            <a:pPr indent="-342900" lvl="2" marL="1371600" rtl="0" algn="l">
              <a:lnSpc>
                <a:spcPct val="115000"/>
              </a:lnSpc>
              <a:spcBef>
                <a:spcPts val="0"/>
              </a:spcBef>
              <a:spcAft>
                <a:spcPts val="0"/>
              </a:spcAft>
              <a:buClr>
                <a:srgbClr val="000000"/>
              </a:buClr>
              <a:buSzPts val="1800"/>
              <a:buChar char="■"/>
            </a:pPr>
            <a:r>
              <a:rPr lang="en-US" sz="1800">
                <a:solidFill>
                  <a:srgbClr val="000000"/>
                </a:solidFill>
              </a:rPr>
              <a:t>Smaller communities to ask for help</a:t>
            </a:r>
            <a:endParaRPr sz="1800">
              <a:solidFill>
                <a:srgbClr val="000000"/>
              </a:solidFill>
            </a:endParaRPr>
          </a:p>
          <a:p>
            <a:pPr indent="-381000" lvl="0" marL="457200" rtl="0" algn="l">
              <a:lnSpc>
                <a:spcPct val="115000"/>
              </a:lnSpc>
              <a:spcBef>
                <a:spcPts val="0"/>
              </a:spcBef>
              <a:spcAft>
                <a:spcPts val="0"/>
              </a:spcAft>
              <a:buClr>
                <a:srgbClr val="000000"/>
              </a:buClr>
              <a:buSzPts val="2400"/>
              <a:buChar char="●"/>
            </a:pPr>
            <a:r>
              <a:rPr lang="en-US" sz="2400">
                <a:solidFill>
                  <a:srgbClr val="000000"/>
                </a:solidFill>
              </a:rPr>
              <a:t>Processor specs are always changing as new chips come on the market.</a:t>
            </a:r>
            <a:endParaRPr sz="2400">
              <a:solidFill>
                <a:srgbClr val="000000"/>
              </a:solidFill>
            </a:endParaRPr>
          </a:p>
          <a:p>
            <a:pPr indent="0" lvl="0" marL="0" rtl="0" algn="l">
              <a:lnSpc>
                <a:spcPct val="115000"/>
              </a:lnSpc>
              <a:spcBef>
                <a:spcPts val="0"/>
              </a:spcBef>
              <a:spcAft>
                <a:spcPts val="0"/>
              </a:spcAft>
              <a:buSzPts val="1800"/>
              <a:buNone/>
            </a:pPr>
            <a:r>
              <a:t/>
            </a:r>
            <a:endParaRPr sz="2400">
              <a:solidFill>
                <a:srgbClr val="000000"/>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23a26aacee0_0_16"/>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Processor selection criteria</a:t>
            </a:r>
            <a:endParaRPr/>
          </a:p>
        </p:txBody>
      </p:sp>
      <p:sp>
        <p:nvSpPr>
          <p:cNvPr id="485" name="Google Shape;485;g23a26aacee0_0_16"/>
          <p:cNvSpPr txBox="1"/>
          <p:nvPr>
            <p:ph idx="1" type="body"/>
          </p:nvPr>
        </p:nvSpPr>
        <p:spPr>
          <a:xfrm>
            <a:off x="402325" y="1590795"/>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Get the </a:t>
            </a:r>
            <a:r>
              <a:rPr i="1" lang="en-US" sz="2400">
                <a:solidFill>
                  <a:schemeClr val="dk1"/>
                </a:solidFill>
              </a:rPr>
              <a:t>most performance, </a:t>
            </a:r>
            <a:r>
              <a:rPr lang="en-US" sz="2400">
                <a:solidFill>
                  <a:schemeClr val="dk1"/>
                </a:solidFill>
              </a:rPr>
              <a:t>not the most hardware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More cores != more performance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Most of the performance comes from Advanced Vector Extensions (AVX):</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AVX</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AVX2 </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AVX512</a:t>
            </a:r>
            <a:br>
              <a:rPr lang="en-US" sz="2400">
                <a:solidFill>
                  <a:schemeClr val="dk1"/>
                </a:solidFill>
              </a:rPr>
            </a:br>
            <a:r>
              <a:rPr lang="en-US" sz="2400">
                <a:solidFill>
                  <a:schemeClr val="dk1"/>
                </a:solidFill>
              </a:rPr>
              <a:t>therefore, larger AVX registers -&gt; better performance</a:t>
            </a:r>
            <a:endParaRPr sz="2400">
              <a:solidFill>
                <a:schemeClr val="dk1"/>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0" name="Shape 490"/>
        <p:cNvGrpSpPr/>
        <p:nvPr/>
      </p:nvGrpSpPr>
      <p:grpSpPr>
        <a:xfrm>
          <a:off x="0" y="0"/>
          <a:ext cx="0" cy="0"/>
          <a:chOff x="0" y="0"/>
          <a:chExt cx="0" cy="0"/>
        </a:xfrm>
      </p:grpSpPr>
      <p:sp>
        <p:nvSpPr>
          <p:cNvPr id="491" name="Google Shape;491;g2397adc27d3_1_138"/>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HPL Benchmark</a:t>
            </a:r>
            <a:endParaRPr/>
          </a:p>
        </p:txBody>
      </p:sp>
      <p:sp>
        <p:nvSpPr>
          <p:cNvPr id="492" name="Google Shape;492;g2397adc27d3_1_138"/>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42900" lvl="0" marL="457200" rtl="0" algn="l">
              <a:lnSpc>
                <a:spcPct val="115000"/>
              </a:lnSpc>
              <a:spcBef>
                <a:spcPts val="0"/>
              </a:spcBef>
              <a:spcAft>
                <a:spcPts val="0"/>
              </a:spcAft>
              <a:buClr>
                <a:schemeClr val="dk1"/>
              </a:buClr>
              <a:buSzPts val="1800"/>
              <a:buChar char="●"/>
            </a:pPr>
            <a:r>
              <a:rPr lang="en-US">
                <a:solidFill>
                  <a:schemeClr val="dk1"/>
                </a:solidFill>
              </a:rPr>
              <a:t>Can give reliable measure of actual </a:t>
            </a:r>
            <a:r>
              <a:rPr i="1" lang="en-US">
                <a:solidFill>
                  <a:schemeClr val="dk1"/>
                </a:solidFill>
              </a:rPr>
              <a:t>sustained</a:t>
            </a:r>
            <a:r>
              <a:rPr lang="en-US">
                <a:solidFill>
                  <a:schemeClr val="dk1"/>
                </a:solidFill>
              </a:rPr>
              <a:t> GFLOPS of performance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Can tackle some time and practice to learn how to compile optimally and tune for best performance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Can take some time to run with different parameters to get the best possible results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Great for measuring FLOPS/W </a:t>
            </a:r>
            <a:endParaRPr>
              <a:solidFill>
                <a:schemeClr val="dk1"/>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g23a26aacee0_0_24"/>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How to evaluate processor performance</a:t>
            </a:r>
            <a:endParaRPr/>
          </a:p>
        </p:txBody>
      </p:sp>
      <p:sp>
        <p:nvSpPr>
          <p:cNvPr id="499" name="Google Shape;499;g23a26aacee0_0_24"/>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Calculate theoretical max FLOPS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Use well-known benchmarks</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High-Performance LINPACK (HPL)</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High-performance Conjugate Gradient (HPCG)</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STREAM benchmark</a:t>
            </a:r>
            <a:endParaRPr sz="18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Use applications that will be used on your cluster that represent typical jobs. </a:t>
            </a:r>
            <a:endParaRPr sz="2400">
              <a:solidFill>
                <a:schemeClr val="dk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05" name="Google Shape;505;g23a26aacee0_0_30"/>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Calculating theoretical max flops</a:t>
            </a:r>
            <a:endParaRPr/>
          </a:p>
        </p:txBody>
      </p:sp>
      <p:sp>
        <p:nvSpPr>
          <p:cNvPr id="506" name="Google Shape;506;g23a26aacee0_0_30"/>
          <p:cNvSpPr txBox="1"/>
          <p:nvPr>
            <p:ph idx="1" type="body"/>
          </p:nvPr>
        </p:nvSpPr>
        <p:spPr>
          <a:xfrm>
            <a:off x="457200" y="1604523"/>
            <a:ext cx="8229300" cy="2181000"/>
          </a:xfrm>
          <a:prstGeom prst="rect">
            <a:avLst/>
          </a:prstGeom>
          <a:noFill/>
          <a:ln>
            <a:noFill/>
          </a:ln>
        </p:spPr>
        <p:txBody>
          <a:bodyPr anchorCtr="0" anchor="t" bIns="0" lIns="0" spcFirstLastPara="1" rIns="0" wrap="square" tIns="0">
            <a:normAutofit/>
          </a:bodyPr>
          <a:lstStyle/>
          <a:p>
            <a:pPr indent="-342900" lvl="0" marL="457200" rtl="0" algn="l">
              <a:lnSpc>
                <a:spcPct val="115000"/>
              </a:lnSpc>
              <a:spcBef>
                <a:spcPts val="0"/>
              </a:spcBef>
              <a:spcAft>
                <a:spcPts val="0"/>
              </a:spcAft>
              <a:buClr>
                <a:schemeClr val="dk1"/>
              </a:buClr>
              <a:buSzPts val="1800"/>
              <a:buChar char="●"/>
            </a:pPr>
            <a:r>
              <a:rPr lang="en-US">
                <a:solidFill>
                  <a:schemeClr val="dk1"/>
                </a:solidFill>
              </a:rPr>
              <a:t>Seldom reflects actual performance</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Requires research - AVX512 frequency isn’t the same as the base frequency of the processor, and is often hard to find</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Need to know how many AVX-512 units per core. </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Fused Multiply-Add (FMA) instruction counts as 2 FLOPS</a:t>
            </a:r>
            <a:endParaRPr>
              <a:solidFill>
                <a:schemeClr val="dk1"/>
              </a:solidFill>
            </a:endParaRPr>
          </a:p>
          <a:p>
            <a:pPr indent="-342900" lvl="0" marL="457200" rtl="0" algn="l">
              <a:lnSpc>
                <a:spcPct val="115000"/>
              </a:lnSpc>
              <a:spcBef>
                <a:spcPts val="0"/>
              </a:spcBef>
              <a:spcAft>
                <a:spcPts val="0"/>
              </a:spcAft>
              <a:buClr>
                <a:schemeClr val="dk1"/>
              </a:buClr>
              <a:buSzPts val="1800"/>
              <a:buChar char="●"/>
            </a:pPr>
            <a:r>
              <a:rPr lang="en-US">
                <a:solidFill>
                  <a:schemeClr val="dk1"/>
                </a:solidFill>
              </a:rPr>
              <a:t>Calculate for double-precision FLOPS</a:t>
            </a:r>
            <a:endParaRPr>
              <a:solidFill>
                <a:schemeClr val="dk1"/>
              </a:solidFill>
            </a:endParaRPr>
          </a:p>
          <a:p>
            <a:pPr indent="0" lvl="0" marL="0" rtl="0" algn="l">
              <a:lnSpc>
                <a:spcPct val="115000"/>
              </a:lnSpc>
              <a:spcBef>
                <a:spcPts val="0"/>
              </a:spcBef>
              <a:spcAft>
                <a:spcPts val="0"/>
              </a:spcAft>
              <a:buSzPts val="1800"/>
              <a:buNone/>
            </a:pPr>
            <a:r>
              <a:t/>
            </a:r>
            <a:endParaRPr>
              <a:solidFill>
                <a:schemeClr val="dk1"/>
              </a:solidFill>
            </a:endParaRPr>
          </a:p>
        </p:txBody>
      </p:sp>
      <p:sp>
        <p:nvSpPr>
          <p:cNvPr id="507" name="Google Shape;507;g23a26aacee0_0_30"/>
          <p:cNvSpPr txBox="1"/>
          <p:nvPr/>
        </p:nvSpPr>
        <p:spPr>
          <a:xfrm>
            <a:off x="669750" y="4067700"/>
            <a:ext cx="7804500" cy="1662300"/>
          </a:xfrm>
          <a:prstGeom prst="rect">
            <a:avLst/>
          </a:prstGeom>
          <a:noFill/>
          <a:ln cap="flat" cmpd="sng" w="9525">
            <a:solidFill>
              <a:srgbClr val="000000"/>
            </a:solidFill>
            <a:prstDash val="solid"/>
            <a:round/>
            <a:headEnd len="sm" w="sm" type="none"/>
            <a:tailEnd len="sm" w="sm" type="none"/>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Example: </a:t>
            </a:r>
            <a:r>
              <a:rPr b="0" i="0" lang="en-US" sz="1600" u="none" cap="none" strike="noStrike">
                <a:solidFill>
                  <a:schemeClr val="dk1"/>
                </a:solidFill>
                <a:latin typeface="Arial"/>
                <a:ea typeface="Arial"/>
                <a:cs typeface="Arial"/>
                <a:sym typeface="Arial"/>
              </a:rPr>
              <a:t>Cascade Lake AP processor:</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Theoretical FLOPS:</a:t>
            </a: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(512/64) * 2 FLOPS/Hz * 2.3 GHz * 2 * 48 Cores/socket * 2 sockets = </a:t>
            </a:r>
            <a:r>
              <a:rPr b="1" i="0" lang="en-US" sz="1600" u="none" cap="none" strike="noStrike">
                <a:solidFill>
                  <a:srgbClr val="000000"/>
                </a:solidFill>
                <a:latin typeface="Arial"/>
                <a:ea typeface="Arial"/>
                <a:cs typeface="Arial"/>
                <a:sym typeface="Arial"/>
              </a:rPr>
              <a:t>7065 GFLOPS</a:t>
            </a:r>
            <a:br>
              <a:rPr b="0" i="0" lang="en-US" sz="1600" u="none" cap="none" strike="noStrike">
                <a:solidFill>
                  <a:srgbClr val="000000"/>
                </a:solidFill>
                <a:latin typeface="Arial"/>
                <a:ea typeface="Arial"/>
                <a:cs typeface="Arial"/>
                <a:sym typeface="Arial"/>
              </a:rPr>
            </a:br>
            <a:endParaRPr b="0" i="0" sz="16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rgbClr val="000000"/>
                </a:solidFill>
                <a:latin typeface="Arial"/>
                <a:ea typeface="Arial"/>
                <a:cs typeface="Arial"/>
                <a:sym typeface="Arial"/>
              </a:rPr>
              <a:t>Measured FLOPS (HPL):  </a:t>
            </a:r>
            <a:r>
              <a:rPr b="1" i="0" lang="en-US" sz="1600" u="none" cap="none" strike="noStrike">
                <a:solidFill>
                  <a:srgbClr val="000000"/>
                </a:solidFill>
                <a:latin typeface="Arial"/>
                <a:ea typeface="Arial"/>
                <a:cs typeface="Arial"/>
                <a:sym typeface="Arial"/>
              </a:rPr>
              <a:t>4711.20 GFLOPS </a:t>
            </a:r>
            <a:endParaRPr b="1" i="0" sz="1600" u="none" cap="none" strike="noStrik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2397adc27d3_1_144"/>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Using your own applications as benchmarks</a:t>
            </a:r>
            <a:endParaRPr/>
          </a:p>
        </p:txBody>
      </p:sp>
      <p:sp>
        <p:nvSpPr>
          <p:cNvPr id="514" name="Google Shape;514;g2397adc27d3_1_144"/>
          <p:cNvSpPr txBox="1"/>
          <p:nvPr>
            <p:ph idx="1" type="body"/>
          </p:nvPr>
        </p:nvSpPr>
        <p:spPr>
          <a:xfrm>
            <a:off x="457350" y="1440295"/>
            <a:ext cx="8229300" cy="3977400"/>
          </a:xfrm>
          <a:prstGeom prst="rect">
            <a:avLst/>
          </a:prstGeom>
          <a:noFill/>
          <a:ln>
            <a:noFill/>
          </a:ln>
        </p:spPr>
        <p:txBody>
          <a:bodyPr anchorCtr="0" anchor="t" bIns="0" lIns="0" spcFirstLastPara="1" rIns="0" wrap="square" tIns="0">
            <a:normAutofit/>
          </a:bodyPr>
          <a:lstStyle/>
          <a:p>
            <a:pPr indent="-342900" lvl="0" marL="457200" rtl="0" algn="l">
              <a:lnSpc>
                <a:spcPct val="115000"/>
              </a:lnSpc>
              <a:spcBef>
                <a:spcPts val="0"/>
              </a:spcBef>
              <a:spcAft>
                <a:spcPts val="0"/>
              </a:spcAft>
              <a:buClr>
                <a:srgbClr val="000000"/>
              </a:buClr>
              <a:buSzPts val="1800"/>
              <a:buChar char="●"/>
            </a:pPr>
            <a:r>
              <a:rPr lang="en-US">
                <a:solidFill>
                  <a:srgbClr val="000000"/>
                </a:solidFill>
              </a:rPr>
              <a:t>Must be an application that represents the characteristics of average jobs on your cluster</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a:solidFill>
                  <a:srgbClr val="000000"/>
                </a:solidFill>
              </a:rPr>
              <a:t>Must have good, well-known scaling characteristics</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a:solidFill>
                  <a:srgbClr val="000000"/>
                </a:solidFill>
              </a:rPr>
              <a:t>Shouldn’t be I/O-bound</a:t>
            </a:r>
            <a:endParaRPr>
              <a:solidFill>
                <a:srgbClr val="000000"/>
              </a:solidFill>
            </a:endParaRPr>
          </a:p>
          <a:p>
            <a:pPr indent="-342900" lvl="0" marL="457200" rtl="0" algn="l">
              <a:lnSpc>
                <a:spcPct val="115000"/>
              </a:lnSpc>
              <a:spcBef>
                <a:spcPts val="0"/>
              </a:spcBef>
              <a:spcAft>
                <a:spcPts val="0"/>
              </a:spcAft>
              <a:buClr>
                <a:srgbClr val="000000"/>
              </a:buClr>
              <a:buSzPts val="1800"/>
              <a:buChar char="●"/>
            </a:pPr>
            <a:r>
              <a:rPr lang="en-US">
                <a:solidFill>
                  <a:srgbClr val="000000"/>
                </a:solidFill>
              </a:rPr>
              <a:t>Job size should be large enough that runtime is an hour or more on your largest test system</a:t>
            </a:r>
            <a:endParaRPr>
              <a:solidFill>
                <a:srgbClr val="000000"/>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g23a26aacee0_0_40"/>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Evaluation systems</a:t>
            </a:r>
            <a:endParaRPr/>
          </a:p>
        </p:txBody>
      </p:sp>
      <p:sp>
        <p:nvSpPr>
          <p:cNvPr id="521" name="Google Shape;521;g23a26aacee0_0_40"/>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fontScale="77500" lnSpcReduction="20000"/>
          </a:bodyPr>
          <a:lstStyle/>
          <a:p>
            <a:pPr indent="0" lvl="0" marL="0" rtl="0" algn="l">
              <a:lnSpc>
                <a:spcPct val="115000"/>
              </a:lnSpc>
              <a:spcBef>
                <a:spcPts val="0"/>
              </a:spcBef>
              <a:spcAft>
                <a:spcPts val="0"/>
              </a:spcAft>
              <a:buSzPct val="110599"/>
              <a:buNone/>
            </a:pPr>
            <a:r>
              <a:rPr lang="en-US" sz="2100">
                <a:solidFill>
                  <a:schemeClr val="dk1"/>
                </a:solidFill>
              </a:rPr>
              <a:t>Pros:</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Allows you to test real hardware</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Can access hardware that’s not available for sale yet. </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May be sent to your site </a:t>
            </a:r>
            <a:endParaRPr sz="2100">
              <a:solidFill>
                <a:schemeClr val="dk1"/>
              </a:solidFill>
            </a:endParaRPr>
          </a:p>
          <a:p>
            <a:pPr indent="0" lvl="0" marL="0" rtl="0" algn="l">
              <a:lnSpc>
                <a:spcPct val="115000"/>
              </a:lnSpc>
              <a:spcBef>
                <a:spcPts val="0"/>
              </a:spcBef>
              <a:spcAft>
                <a:spcPts val="0"/>
              </a:spcAft>
              <a:buSzPct val="110599"/>
              <a:buNone/>
            </a:pPr>
            <a:r>
              <a:rPr lang="en-US" sz="2100">
                <a:solidFill>
                  <a:schemeClr val="dk1"/>
                </a:solidFill>
              </a:rPr>
              <a:t>Cons:</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Usually a single, stand-alone unit</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May be only accessible from the Internet</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Can’t test scalability across multiple nodes</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Can’t test different networking options</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Can’t test different storage solutions</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May not be able to test large jobs due the difficulty of transferring large datasets to test unit</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Limited time to test</a:t>
            </a:r>
            <a:endParaRPr sz="2100">
              <a:solidFill>
                <a:schemeClr val="dk1"/>
              </a:solidFill>
            </a:endParaRPr>
          </a:p>
          <a:p>
            <a:pPr indent="-331977" lvl="0" marL="457200" rtl="0" algn="l">
              <a:lnSpc>
                <a:spcPct val="115000"/>
              </a:lnSpc>
              <a:spcBef>
                <a:spcPts val="0"/>
              </a:spcBef>
              <a:spcAft>
                <a:spcPts val="0"/>
              </a:spcAft>
              <a:buClr>
                <a:schemeClr val="dk1"/>
              </a:buClr>
              <a:buSzPct val="100000"/>
              <a:buChar char="●"/>
            </a:pPr>
            <a:r>
              <a:rPr lang="en-US" sz="2100">
                <a:solidFill>
                  <a:schemeClr val="dk1"/>
                </a:solidFill>
              </a:rPr>
              <a:t>May not be the exact processor model(s) you will end up buying</a:t>
            </a:r>
            <a:endParaRPr sz="2100">
              <a:solidFill>
                <a:schemeClr val="dk1"/>
              </a:solidFill>
            </a:endParaRPr>
          </a:p>
          <a:p>
            <a:pPr indent="0" lvl="0" marL="0" rtl="0" algn="l">
              <a:lnSpc>
                <a:spcPct val="115000"/>
              </a:lnSpc>
              <a:spcBef>
                <a:spcPts val="0"/>
              </a:spcBef>
              <a:spcAft>
                <a:spcPts val="0"/>
              </a:spcAft>
              <a:buSzPct val="129032"/>
              <a:buNone/>
            </a:pPr>
            <a:r>
              <a:t/>
            </a:r>
            <a:endParaRPr>
              <a:solidFill>
                <a:schemeClr val="dk1"/>
              </a:solidFill>
            </a:endParaRPr>
          </a:p>
          <a:p>
            <a:pPr indent="0" lvl="0" marL="457200" rtl="0" algn="l">
              <a:lnSpc>
                <a:spcPct val="115000"/>
              </a:lnSpc>
              <a:spcBef>
                <a:spcPts val="0"/>
              </a:spcBef>
              <a:spcAft>
                <a:spcPts val="0"/>
              </a:spcAft>
              <a:buSzPct val="129032"/>
              <a:buNone/>
            </a:pPr>
            <a:r>
              <a:t/>
            </a:r>
            <a:endParaRPr>
              <a:solidFill>
                <a:schemeClr val="dk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6" name="Shape 526"/>
        <p:cNvGrpSpPr/>
        <p:nvPr/>
      </p:nvGrpSpPr>
      <p:grpSpPr>
        <a:xfrm>
          <a:off x="0" y="0"/>
          <a:ext cx="0" cy="0"/>
          <a:chOff x="0" y="0"/>
          <a:chExt cx="0" cy="0"/>
        </a:xfrm>
      </p:grpSpPr>
      <p:sp>
        <p:nvSpPr>
          <p:cNvPr id="527" name="Google Shape;527;g238ec8bb9f9_0_1"/>
          <p:cNvSpPr txBox="1"/>
          <p:nvPr>
            <p:ph type="title"/>
          </p:nvPr>
        </p:nvSpPr>
        <p:spPr>
          <a:xfrm>
            <a:off x="311700" y="593367"/>
            <a:ext cx="8520600" cy="7635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en-US"/>
              <a:t>Stellar cluster - HPL results from evaluation systems</a:t>
            </a:r>
            <a:endParaRPr/>
          </a:p>
        </p:txBody>
      </p:sp>
      <p:pic>
        <p:nvPicPr>
          <p:cNvPr id="528" name="Google Shape;528;g238ec8bb9f9_0_1" title="GFLOPS per node"/>
          <p:cNvPicPr preferRelativeResize="0"/>
          <p:nvPr/>
        </p:nvPicPr>
        <p:blipFill rotWithShape="1">
          <a:blip r:embed="rId3">
            <a:alphaModFix/>
          </a:blip>
          <a:srcRect b="0" l="0" r="0" t="0"/>
          <a:stretch/>
        </p:blipFill>
        <p:spPr>
          <a:xfrm>
            <a:off x="311700" y="1510850"/>
            <a:ext cx="4100349" cy="2535375"/>
          </a:xfrm>
          <a:prstGeom prst="rect">
            <a:avLst/>
          </a:prstGeom>
          <a:noFill/>
          <a:ln cap="flat" cmpd="sng" w="9525">
            <a:solidFill>
              <a:schemeClr val="dk2"/>
            </a:solidFill>
            <a:prstDash val="solid"/>
            <a:round/>
            <a:headEnd len="sm" w="sm" type="none"/>
            <a:tailEnd len="sm" w="sm" type="none"/>
          </a:ln>
        </p:spPr>
      </p:pic>
      <p:pic>
        <p:nvPicPr>
          <p:cNvPr id="529" name="Google Shape;529;g238ec8bb9f9_0_1" title="GFLOPS per core"/>
          <p:cNvPicPr preferRelativeResize="0"/>
          <p:nvPr/>
        </p:nvPicPr>
        <p:blipFill rotWithShape="1">
          <a:blip r:embed="rId4">
            <a:alphaModFix/>
          </a:blip>
          <a:srcRect b="0" l="0" r="0" t="0"/>
          <a:stretch/>
        </p:blipFill>
        <p:spPr>
          <a:xfrm>
            <a:off x="4731950" y="1510850"/>
            <a:ext cx="4100349" cy="2535381"/>
          </a:xfrm>
          <a:prstGeom prst="rect">
            <a:avLst/>
          </a:prstGeom>
          <a:noFill/>
          <a:ln cap="flat" cmpd="sng" w="9525">
            <a:solidFill>
              <a:schemeClr val="dk2"/>
            </a:solidFill>
            <a:prstDash val="solid"/>
            <a:round/>
            <a:headEnd len="sm" w="sm" type="none"/>
            <a:tailEnd len="sm" w="sm" type="none"/>
          </a:ln>
        </p:spPr>
      </p:pic>
      <p:pic>
        <p:nvPicPr>
          <p:cNvPr id="530" name="Google Shape;530;g238ec8bb9f9_0_1" title="Relative Performance Per Node"/>
          <p:cNvPicPr preferRelativeResize="0"/>
          <p:nvPr/>
        </p:nvPicPr>
        <p:blipFill rotWithShape="1">
          <a:blip r:embed="rId5">
            <a:alphaModFix/>
          </a:blip>
          <a:srcRect b="0" l="0" r="0" t="0"/>
          <a:stretch/>
        </p:blipFill>
        <p:spPr>
          <a:xfrm>
            <a:off x="334675" y="4200200"/>
            <a:ext cx="4054407" cy="2506975"/>
          </a:xfrm>
          <a:prstGeom prst="rect">
            <a:avLst/>
          </a:prstGeom>
          <a:noFill/>
          <a:ln cap="flat" cmpd="sng" w="9525">
            <a:solidFill>
              <a:schemeClr val="dk2"/>
            </a:solidFill>
            <a:prstDash val="solid"/>
            <a:round/>
            <a:headEnd len="sm" w="sm" type="none"/>
            <a:tailEnd len="sm" w="sm" type="none"/>
          </a:ln>
        </p:spPr>
      </p:pic>
      <p:pic>
        <p:nvPicPr>
          <p:cNvPr id="531" name="Google Shape;531;g238ec8bb9f9_0_1" title="Relative Performance Per Core"/>
          <p:cNvPicPr preferRelativeResize="0"/>
          <p:nvPr/>
        </p:nvPicPr>
        <p:blipFill rotWithShape="1">
          <a:blip r:embed="rId6">
            <a:alphaModFix/>
          </a:blip>
          <a:srcRect b="0" l="0" r="0" t="0"/>
          <a:stretch/>
        </p:blipFill>
        <p:spPr>
          <a:xfrm>
            <a:off x="4754919" y="4200200"/>
            <a:ext cx="4054407" cy="2506975"/>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6" name="Shape 536"/>
        <p:cNvGrpSpPr/>
        <p:nvPr/>
      </p:nvGrpSpPr>
      <p:grpSpPr>
        <a:xfrm>
          <a:off x="0" y="0"/>
          <a:ext cx="0" cy="0"/>
          <a:chOff x="0" y="0"/>
          <a:chExt cx="0" cy="0"/>
        </a:xfrm>
      </p:grpSpPr>
      <p:sp>
        <p:nvSpPr>
          <p:cNvPr id="537" name="Google Shape;537;g23b06bc5b5a_0_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Tiger cluster replacement - HPL on eval. systems</a:t>
            </a:r>
            <a:endParaRPr/>
          </a:p>
        </p:txBody>
      </p:sp>
      <p:pic>
        <p:nvPicPr>
          <p:cNvPr id="538" name="Google Shape;538;g23b06bc5b5a_0_0" title="GFLOPS per node"/>
          <p:cNvPicPr preferRelativeResize="0"/>
          <p:nvPr/>
        </p:nvPicPr>
        <p:blipFill>
          <a:blip r:embed="rId3">
            <a:alphaModFix/>
          </a:blip>
          <a:stretch>
            <a:fillRect/>
          </a:stretch>
        </p:blipFill>
        <p:spPr>
          <a:xfrm>
            <a:off x="530300" y="3345275"/>
            <a:ext cx="3870699" cy="2393371"/>
          </a:xfrm>
          <a:prstGeom prst="rect">
            <a:avLst/>
          </a:prstGeom>
          <a:noFill/>
          <a:ln cap="flat" cmpd="sng" w="9525">
            <a:solidFill>
              <a:schemeClr val="dk2"/>
            </a:solidFill>
            <a:prstDash val="solid"/>
            <a:round/>
            <a:headEnd len="sm" w="sm" type="none"/>
            <a:tailEnd len="sm" w="sm" type="none"/>
          </a:ln>
        </p:spPr>
      </p:pic>
      <p:pic>
        <p:nvPicPr>
          <p:cNvPr id="539" name="Google Shape;539;g23b06bc5b5a_0_0" title="GFLOPS per core"/>
          <p:cNvPicPr preferRelativeResize="0"/>
          <p:nvPr/>
        </p:nvPicPr>
        <p:blipFill>
          <a:blip r:embed="rId4">
            <a:alphaModFix/>
          </a:blip>
          <a:stretch>
            <a:fillRect/>
          </a:stretch>
        </p:blipFill>
        <p:spPr>
          <a:xfrm>
            <a:off x="4504500" y="3345275"/>
            <a:ext cx="3870699" cy="2393371"/>
          </a:xfrm>
          <a:prstGeom prst="rect">
            <a:avLst/>
          </a:prstGeom>
          <a:noFill/>
          <a:ln cap="flat" cmpd="sng" w="9525">
            <a:solidFill>
              <a:schemeClr val="dk2"/>
            </a:solidFill>
            <a:prstDash val="solid"/>
            <a:round/>
            <a:headEnd len="sm" w="sm" type="none"/>
            <a:tailEnd len="sm" w="sm" type="none"/>
          </a:ln>
        </p:spPr>
      </p:pic>
      <p:graphicFrame>
        <p:nvGraphicFramePr>
          <p:cNvPr id="540" name="Google Shape;540;g23b06bc5b5a_0_0"/>
          <p:cNvGraphicFramePr/>
          <p:nvPr/>
        </p:nvGraphicFramePr>
        <p:xfrm>
          <a:off x="530288" y="1947900"/>
          <a:ext cx="3000000" cy="3000000"/>
        </p:xfrm>
        <a:graphic>
          <a:graphicData uri="http://schemas.openxmlformats.org/drawingml/2006/table">
            <a:tbl>
              <a:tblPr>
                <a:noFill/>
                <a:tableStyleId>{7E657F47-47D1-428B-B189-3E3B467AA6E8}</a:tableStyleId>
              </a:tblPr>
              <a:tblGrid>
                <a:gridCol w="2277025"/>
                <a:gridCol w="1203725"/>
                <a:gridCol w="1003100"/>
                <a:gridCol w="1003100"/>
                <a:gridCol w="1404325"/>
                <a:gridCol w="1003100"/>
              </a:tblGrid>
              <a:tr h="325800">
                <a:tc>
                  <a:txBody>
                    <a:bodyPr/>
                    <a:lstStyle/>
                    <a:p>
                      <a:pPr indent="0" lvl="0" marL="0" rtl="0" algn="l">
                        <a:lnSpc>
                          <a:spcPct val="115000"/>
                        </a:lnSpc>
                        <a:spcBef>
                          <a:spcPts val="0"/>
                        </a:spcBef>
                        <a:spcAft>
                          <a:spcPts val="0"/>
                        </a:spcAft>
                        <a:buNone/>
                      </a:pPr>
                      <a:r>
                        <a:rPr b="1" lang="en-US" sz="1000"/>
                        <a:t>Processor</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0"/>
                      </a:ext>
                    </a:extLst>
                  </a:tcPr>
                </a:tc>
                <a:tc>
                  <a:txBody>
                    <a:bodyPr/>
                    <a:lstStyle/>
                    <a:p>
                      <a:pPr indent="0" lvl="0" marL="0" rtl="0" algn="l">
                        <a:lnSpc>
                          <a:spcPct val="115000"/>
                        </a:lnSpc>
                        <a:spcBef>
                          <a:spcPts val="0"/>
                        </a:spcBef>
                        <a:spcAft>
                          <a:spcPts val="0"/>
                        </a:spcAft>
                        <a:buNone/>
                      </a:pPr>
                      <a:r>
                        <a:rPr b="1" lang="en-US" sz="1000"/>
                        <a:t>Cores per socket</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1"/>
                      </a:ext>
                    </a:extLst>
                  </a:tcPr>
                </a:tc>
                <a:tc>
                  <a:txBody>
                    <a:bodyPr/>
                    <a:lstStyle/>
                    <a:p>
                      <a:pPr indent="0" lvl="0" marL="0" rtl="0" algn="l">
                        <a:lnSpc>
                          <a:spcPct val="115000"/>
                        </a:lnSpc>
                        <a:spcBef>
                          <a:spcPts val="0"/>
                        </a:spcBef>
                        <a:spcAft>
                          <a:spcPts val="0"/>
                        </a:spcAft>
                        <a:buNone/>
                      </a:pPr>
                      <a:r>
                        <a:rPr b="1" lang="en-US" sz="1000"/>
                        <a:t>Sockets</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2"/>
                      </a:ext>
                    </a:extLst>
                  </a:tcPr>
                </a:tc>
                <a:tc>
                  <a:txBody>
                    <a:bodyPr/>
                    <a:lstStyle/>
                    <a:p>
                      <a:pPr indent="0" lvl="0" marL="0" rtl="0" algn="l">
                        <a:lnSpc>
                          <a:spcPct val="115000"/>
                        </a:lnSpc>
                        <a:spcBef>
                          <a:spcPts val="0"/>
                        </a:spcBef>
                        <a:spcAft>
                          <a:spcPts val="0"/>
                        </a:spcAft>
                        <a:buNone/>
                      </a:pPr>
                      <a:r>
                        <a:rPr b="1" lang="en-US" sz="1000"/>
                        <a:t>Total cores</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3"/>
                      </a:ext>
                    </a:extLst>
                  </a:tcPr>
                </a:tc>
                <a:tc>
                  <a:txBody>
                    <a:bodyPr/>
                    <a:lstStyle/>
                    <a:p>
                      <a:pPr indent="0" lvl="0" marL="0" rtl="0" algn="l">
                        <a:lnSpc>
                          <a:spcPct val="115000"/>
                        </a:lnSpc>
                        <a:spcBef>
                          <a:spcPts val="0"/>
                        </a:spcBef>
                        <a:spcAft>
                          <a:spcPts val="0"/>
                        </a:spcAft>
                        <a:buNone/>
                      </a:pPr>
                      <a:r>
                        <a:rPr b="1" lang="en-US" sz="1000"/>
                        <a:t>Measured GFLOPS</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4"/>
                      </a:ext>
                    </a:extLst>
                  </a:tcPr>
                </a:tc>
                <a:tc>
                  <a:txBody>
                    <a:bodyPr/>
                    <a:lstStyle/>
                    <a:p>
                      <a:pPr indent="0" lvl="0" marL="0" rtl="0" algn="l">
                        <a:lnSpc>
                          <a:spcPct val="115000"/>
                        </a:lnSpc>
                        <a:spcBef>
                          <a:spcPts val="0"/>
                        </a:spcBef>
                        <a:spcAft>
                          <a:spcPts val="0"/>
                        </a:spcAft>
                        <a:buNone/>
                      </a:pPr>
                      <a:r>
                        <a:rPr b="1" lang="en-US" sz="1000"/>
                        <a:t>GFLOPS/Core</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0:5"/>
                      </a:ext>
                    </a:extLst>
                  </a:tcPr>
                </a:tc>
              </a:tr>
              <a:tr h="325800">
                <a:tc>
                  <a:txBody>
                    <a:bodyPr/>
                    <a:lstStyle/>
                    <a:p>
                      <a:pPr indent="0" lvl="0" marL="0" rtl="0" algn="l">
                        <a:lnSpc>
                          <a:spcPct val="115000"/>
                        </a:lnSpc>
                        <a:spcBef>
                          <a:spcPts val="0"/>
                        </a:spcBef>
                        <a:spcAft>
                          <a:spcPts val="0"/>
                        </a:spcAft>
                        <a:buNone/>
                      </a:pPr>
                      <a:r>
                        <a:rPr b="1" lang="en-US" sz="1000"/>
                        <a:t>Intel Xeon Platinum 8480+</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0"/>
                      </a:ext>
                    </a:extLst>
                  </a:tcPr>
                </a:tc>
                <a:tc>
                  <a:txBody>
                    <a:bodyPr/>
                    <a:lstStyle/>
                    <a:p>
                      <a:pPr indent="0" lvl="0" marL="0" rtl="0" algn="r">
                        <a:lnSpc>
                          <a:spcPct val="115000"/>
                        </a:lnSpc>
                        <a:spcBef>
                          <a:spcPts val="0"/>
                        </a:spcBef>
                        <a:spcAft>
                          <a:spcPts val="0"/>
                        </a:spcAft>
                        <a:buNone/>
                      </a:pPr>
                      <a:r>
                        <a:rPr lang="en-US" sz="1000"/>
                        <a:t>56</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1"/>
                      </a:ext>
                    </a:extLst>
                  </a:tcPr>
                </a:tc>
                <a:tc>
                  <a:txBody>
                    <a:bodyPr/>
                    <a:lstStyle/>
                    <a:p>
                      <a:pPr indent="0" lvl="0" marL="0" rtl="0" algn="r">
                        <a:lnSpc>
                          <a:spcPct val="115000"/>
                        </a:lnSpc>
                        <a:spcBef>
                          <a:spcPts val="0"/>
                        </a:spcBef>
                        <a:spcAft>
                          <a:spcPts val="0"/>
                        </a:spcAft>
                        <a:buNone/>
                      </a:pPr>
                      <a:r>
                        <a:rPr lang="en-US" sz="1000"/>
                        <a:t>2</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2"/>
                      </a:ext>
                    </a:extLst>
                  </a:tcPr>
                </a:tc>
                <a:tc>
                  <a:txBody>
                    <a:bodyPr/>
                    <a:lstStyle/>
                    <a:p>
                      <a:pPr indent="0" lvl="0" marL="0" rtl="0" algn="r">
                        <a:lnSpc>
                          <a:spcPct val="115000"/>
                        </a:lnSpc>
                        <a:spcBef>
                          <a:spcPts val="0"/>
                        </a:spcBef>
                        <a:spcAft>
                          <a:spcPts val="0"/>
                        </a:spcAft>
                        <a:buNone/>
                      </a:pPr>
                      <a:r>
                        <a:rPr lang="en-US" sz="1000"/>
                        <a:t>112</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3"/>
                      </a:ext>
                    </a:extLst>
                  </a:tcPr>
                </a:tc>
                <a:tc>
                  <a:txBody>
                    <a:bodyPr/>
                    <a:lstStyle/>
                    <a:p>
                      <a:pPr indent="0" lvl="0" marL="0" rtl="0" algn="r">
                        <a:lnSpc>
                          <a:spcPct val="115000"/>
                        </a:lnSpc>
                        <a:spcBef>
                          <a:spcPts val="0"/>
                        </a:spcBef>
                        <a:spcAft>
                          <a:spcPts val="0"/>
                        </a:spcAft>
                        <a:buNone/>
                      </a:pPr>
                      <a:r>
                        <a:rPr lang="en-US" sz="1000"/>
                        <a:t>6,150.80</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4"/>
                      </a:ext>
                    </a:extLst>
                  </a:tcPr>
                </a:tc>
                <a:tc>
                  <a:txBody>
                    <a:bodyPr/>
                    <a:lstStyle/>
                    <a:p>
                      <a:pPr indent="0" lvl="0" marL="0" rtl="0" algn="r">
                        <a:lnSpc>
                          <a:spcPct val="115000"/>
                        </a:lnSpc>
                        <a:spcBef>
                          <a:spcPts val="0"/>
                        </a:spcBef>
                        <a:spcAft>
                          <a:spcPts val="0"/>
                        </a:spcAft>
                        <a:buNone/>
                      </a:pPr>
                      <a:r>
                        <a:rPr lang="en-US" sz="1000"/>
                        <a:t>54.92</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1:5"/>
                      </a:ext>
                    </a:extLst>
                  </a:tcPr>
                </a:tc>
              </a:tr>
              <a:tr h="325800">
                <a:tc>
                  <a:txBody>
                    <a:bodyPr/>
                    <a:lstStyle/>
                    <a:p>
                      <a:pPr indent="0" lvl="0" marL="0" rtl="0" algn="l">
                        <a:lnSpc>
                          <a:spcPct val="115000"/>
                        </a:lnSpc>
                        <a:spcBef>
                          <a:spcPts val="0"/>
                        </a:spcBef>
                        <a:spcAft>
                          <a:spcPts val="0"/>
                        </a:spcAft>
                        <a:buNone/>
                      </a:pPr>
                      <a:r>
                        <a:rPr b="1" lang="en-US" sz="1000"/>
                        <a:t>AMD EPYC 9654</a:t>
                      </a:r>
                      <a:endParaRPr b="1"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0"/>
                      </a:ext>
                    </a:extLst>
                  </a:tcPr>
                </a:tc>
                <a:tc>
                  <a:txBody>
                    <a:bodyPr/>
                    <a:lstStyle/>
                    <a:p>
                      <a:pPr indent="0" lvl="0" marL="0" rtl="0" algn="r">
                        <a:lnSpc>
                          <a:spcPct val="115000"/>
                        </a:lnSpc>
                        <a:spcBef>
                          <a:spcPts val="0"/>
                        </a:spcBef>
                        <a:spcAft>
                          <a:spcPts val="0"/>
                        </a:spcAft>
                        <a:buNone/>
                      </a:pPr>
                      <a:r>
                        <a:rPr lang="en-US" sz="1000"/>
                        <a:t>96</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1"/>
                      </a:ext>
                    </a:extLst>
                  </a:tcPr>
                </a:tc>
                <a:tc>
                  <a:txBody>
                    <a:bodyPr/>
                    <a:lstStyle/>
                    <a:p>
                      <a:pPr indent="0" lvl="0" marL="0" rtl="0" algn="r">
                        <a:lnSpc>
                          <a:spcPct val="115000"/>
                        </a:lnSpc>
                        <a:spcBef>
                          <a:spcPts val="0"/>
                        </a:spcBef>
                        <a:spcAft>
                          <a:spcPts val="0"/>
                        </a:spcAft>
                        <a:buNone/>
                      </a:pPr>
                      <a:r>
                        <a:rPr lang="en-US" sz="1000"/>
                        <a:t>2</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2"/>
                      </a:ext>
                    </a:extLst>
                  </a:tcPr>
                </a:tc>
                <a:tc>
                  <a:txBody>
                    <a:bodyPr/>
                    <a:lstStyle/>
                    <a:p>
                      <a:pPr indent="0" lvl="0" marL="0" rtl="0" algn="r">
                        <a:lnSpc>
                          <a:spcPct val="115000"/>
                        </a:lnSpc>
                        <a:spcBef>
                          <a:spcPts val="0"/>
                        </a:spcBef>
                        <a:spcAft>
                          <a:spcPts val="0"/>
                        </a:spcAft>
                        <a:buNone/>
                      </a:pPr>
                      <a:r>
                        <a:rPr lang="en-US" sz="1000"/>
                        <a:t>192</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3"/>
                      </a:ext>
                    </a:extLst>
                  </a:tcPr>
                </a:tc>
                <a:tc>
                  <a:txBody>
                    <a:bodyPr/>
                    <a:lstStyle/>
                    <a:p>
                      <a:pPr indent="0" lvl="0" marL="0" rtl="0" algn="r">
                        <a:lnSpc>
                          <a:spcPct val="115000"/>
                        </a:lnSpc>
                        <a:spcBef>
                          <a:spcPts val="0"/>
                        </a:spcBef>
                        <a:spcAft>
                          <a:spcPts val="0"/>
                        </a:spcAft>
                        <a:buNone/>
                      </a:pPr>
                      <a:r>
                        <a:rPr lang="en-US" sz="1000"/>
                        <a:t>6,333.70</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4"/>
                      </a:ext>
                    </a:extLst>
                  </a:tcPr>
                </a:tc>
                <a:tc>
                  <a:txBody>
                    <a:bodyPr/>
                    <a:lstStyle/>
                    <a:p>
                      <a:pPr indent="0" lvl="0" marL="0" rtl="0" algn="r">
                        <a:lnSpc>
                          <a:spcPct val="115000"/>
                        </a:lnSpc>
                        <a:spcBef>
                          <a:spcPts val="0"/>
                        </a:spcBef>
                        <a:spcAft>
                          <a:spcPts val="0"/>
                        </a:spcAft>
                        <a:buNone/>
                      </a:pPr>
                      <a:r>
                        <a:rPr lang="en-US" sz="1000"/>
                        <a:t>32.99</a:t>
                      </a:r>
                      <a:endParaRPr sz="1000"/>
                    </a:p>
                  </a:txBody>
                  <a:tcPr marT="19050" marB="19050" marR="28575" marL="28575" anchor="b">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noFill/>
                    <a:extLst>
                      <a:ext uri="http://customooxmlschemas.google.com/">
                        <go:slidesCustomData xmlns:go="http://customooxmlschemas.google.com/" cellId="540:2:5"/>
                      </a:ext>
                    </a:extLst>
                  </a:tcPr>
                </a:tc>
              </a:tr>
            </a:tbl>
          </a:graphicData>
        </a:graphic>
      </p:graphicFrame>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g23b1f49edfc_0_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Tiger replacement - STREAM on eval. systems</a:t>
            </a:r>
            <a:endParaRPr/>
          </a:p>
        </p:txBody>
      </p:sp>
      <p:pic>
        <p:nvPicPr>
          <p:cNvPr id="547" name="Google Shape;547;g23b1f49edfc_0_0" title="STREAM TRIAD (MB/s) vs. Processor"/>
          <p:cNvPicPr preferRelativeResize="0"/>
          <p:nvPr/>
        </p:nvPicPr>
        <p:blipFill>
          <a:blip r:embed="rId3">
            <a:alphaModFix/>
          </a:blip>
          <a:stretch>
            <a:fillRect/>
          </a:stretch>
        </p:blipFill>
        <p:spPr>
          <a:xfrm>
            <a:off x="1524100" y="2899775"/>
            <a:ext cx="6095799" cy="3769225"/>
          </a:xfrm>
          <a:prstGeom prst="rect">
            <a:avLst/>
          </a:prstGeom>
          <a:noFill/>
          <a:ln>
            <a:noFill/>
          </a:ln>
        </p:spPr>
      </p:pic>
      <p:graphicFrame>
        <p:nvGraphicFramePr>
          <p:cNvPr id="548" name="Google Shape;548;g23b1f49edfc_0_0"/>
          <p:cNvGraphicFramePr/>
          <p:nvPr/>
        </p:nvGraphicFramePr>
        <p:xfrm>
          <a:off x="2304338" y="1475400"/>
          <a:ext cx="3000000" cy="3000000"/>
        </p:xfrm>
        <a:graphic>
          <a:graphicData uri="http://schemas.openxmlformats.org/drawingml/2006/table">
            <a:tbl>
              <a:tblPr>
                <a:noFill/>
                <a:tableStyleId>{7E657F47-47D1-428B-B189-3E3B467AA6E8}</a:tableStyleId>
              </a:tblPr>
              <a:tblGrid>
                <a:gridCol w="2267650"/>
                <a:gridCol w="2281775"/>
              </a:tblGrid>
              <a:tr h="489700">
                <a:tc>
                  <a:txBody>
                    <a:bodyPr/>
                    <a:lstStyle/>
                    <a:p>
                      <a:pPr indent="0" lvl="0" marL="0" rtl="0" algn="l">
                        <a:lnSpc>
                          <a:spcPct val="115000"/>
                        </a:lnSpc>
                        <a:spcBef>
                          <a:spcPts val="0"/>
                        </a:spcBef>
                        <a:spcAft>
                          <a:spcPts val="0"/>
                        </a:spcAft>
                        <a:buNone/>
                      </a:pPr>
                      <a:r>
                        <a:rPr b="1" lang="en-US"/>
                        <a:t>Processor</a:t>
                      </a:r>
                      <a:endParaRPr b="1"/>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0:0"/>
                      </a:ext>
                    </a:extLst>
                  </a:tcPr>
                </a:tc>
                <a:tc>
                  <a:txBody>
                    <a:bodyPr/>
                    <a:lstStyle/>
                    <a:p>
                      <a:pPr indent="0" lvl="0" marL="0" rtl="0" algn="l">
                        <a:lnSpc>
                          <a:spcPct val="115000"/>
                        </a:lnSpc>
                        <a:spcBef>
                          <a:spcPts val="0"/>
                        </a:spcBef>
                        <a:spcAft>
                          <a:spcPts val="0"/>
                        </a:spcAft>
                        <a:buNone/>
                      </a:pPr>
                      <a:r>
                        <a:rPr b="1" lang="en-US"/>
                        <a:t>STREAM TRIAD (MB/s)</a:t>
                      </a:r>
                      <a:endParaRPr b="1"/>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0:1"/>
                      </a:ext>
                    </a:extLst>
                  </a:tcPr>
                </a:tc>
              </a:tr>
              <a:tr h="269325">
                <a:tc>
                  <a:txBody>
                    <a:bodyPr/>
                    <a:lstStyle/>
                    <a:p>
                      <a:pPr indent="0" lvl="0" marL="0" rtl="0" algn="l">
                        <a:lnSpc>
                          <a:spcPct val="115000"/>
                        </a:lnSpc>
                        <a:spcBef>
                          <a:spcPts val="0"/>
                        </a:spcBef>
                        <a:spcAft>
                          <a:spcPts val="0"/>
                        </a:spcAft>
                        <a:buNone/>
                      </a:pPr>
                      <a:r>
                        <a:rPr lang="en-US"/>
                        <a:t>Intel Xeon Platinum 8480+</a:t>
                      </a:r>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1:0"/>
                      </a:ext>
                    </a:extLst>
                  </a:tcPr>
                </a:tc>
                <a:tc>
                  <a:txBody>
                    <a:bodyPr/>
                    <a:lstStyle/>
                    <a:p>
                      <a:pPr indent="0" lvl="0" marL="0" rtl="0" algn="r">
                        <a:lnSpc>
                          <a:spcPct val="115000"/>
                        </a:lnSpc>
                        <a:spcBef>
                          <a:spcPts val="0"/>
                        </a:spcBef>
                        <a:spcAft>
                          <a:spcPts val="0"/>
                        </a:spcAft>
                        <a:buNone/>
                      </a:pPr>
                      <a:r>
                        <a:rPr lang="en-US"/>
                        <a:t>479,386.80</a:t>
                      </a:r>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1:1"/>
                      </a:ext>
                    </a:extLst>
                  </a:tcPr>
                </a:tc>
              </a:tr>
              <a:tr h="269325">
                <a:tc>
                  <a:txBody>
                    <a:bodyPr/>
                    <a:lstStyle/>
                    <a:p>
                      <a:pPr indent="0" lvl="0" marL="0" rtl="0" algn="l">
                        <a:lnSpc>
                          <a:spcPct val="115000"/>
                        </a:lnSpc>
                        <a:spcBef>
                          <a:spcPts val="0"/>
                        </a:spcBef>
                        <a:spcAft>
                          <a:spcPts val="0"/>
                        </a:spcAft>
                        <a:buNone/>
                      </a:pPr>
                      <a:r>
                        <a:rPr lang="en-US"/>
                        <a:t>AMD EPYC 9654</a:t>
                      </a:r>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2:0"/>
                      </a:ext>
                    </a:extLst>
                  </a:tcPr>
                </a:tc>
                <a:tc>
                  <a:txBody>
                    <a:bodyPr/>
                    <a:lstStyle/>
                    <a:p>
                      <a:pPr indent="0" lvl="0" marL="0" rtl="0" algn="r">
                        <a:lnSpc>
                          <a:spcPct val="115000"/>
                        </a:lnSpc>
                        <a:spcBef>
                          <a:spcPts val="0"/>
                        </a:spcBef>
                        <a:spcAft>
                          <a:spcPts val="0"/>
                        </a:spcAft>
                        <a:buNone/>
                      </a:pPr>
                      <a:r>
                        <a:rPr lang="en-US"/>
                        <a:t>727,619.00</a:t>
                      </a:r>
                      <a:endParaRPr/>
                    </a:p>
                  </a:txBody>
                  <a:tcPr marT="19050" marB="19050" marR="28575" marL="28575" anchor="b">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noFill/>
                    <a:extLst>
                      <a:ext uri="http://customooxmlschemas.google.com/">
                        <go:slidesCustomData xmlns:go="http://customooxmlschemas.google.com/" cellId="548:2:1"/>
                      </a:ext>
                    </a:extLst>
                  </a:tcPr>
                </a:tc>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3" name="Shape 553"/>
        <p:cNvGrpSpPr/>
        <p:nvPr/>
      </p:nvGrpSpPr>
      <p:grpSpPr>
        <a:xfrm>
          <a:off x="0" y="0"/>
          <a:ext cx="0" cy="0"/>
          <a:chOff x="0" y="0"/>
          <a:chExt cx="0" cy="0"/>
        </a:xfrm>
      </p:grpSpPr>
      <p:sp>
        <p:nvSpPr>
          <p:cNvPr id="554" name="Google Shape;554;g23b06bc713a_0_0"/>
          <p:cNvSpPr txBox="1"/>
          <p:nvPr>
            <p:ph type="title"/>
          </p:nvPr>
        </p:nvSpPr>
        <p:spPr>
          <a:xfrm>
            <a:off x="311700" y="593367"/>
            <a:ext cx="8520600" cy="7635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US"/>
              <a:t>Tiger cluster - User feedback on eval. systems: </a:t>
            </a:r>
            <a:endParaRPr/>
          </a:p>
        </p:txBody>
      </p:sp>
      <p:sp>
        <p:nvSpPr>
          <p:cNvPr id="555" name="Google Shape;555;g23b06bc713a_0_0"/>
          <p:cNvSpPr txBox="1"/>
          <p:nvPr/>
        </p:nvSpPr>
        <p:spPr>
          <a:xfrm>
            <a:off x="513000" y="1701600"/>
            <a:ext cx="4266000" cy="2339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a:t>
            </a:r>
            <a:r>
              <a:rPr lang="en-US"/>
              <a:t>Ran the same benchmark on the Intel Sapphire Rapids chip. On a full node, I'm getting ~1.6x faster performance on the EPYC. I think this makes sense -- 12 memory channels vs 8 and ~3x more cache.</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In typical CFD applications I see the memory bandwidth get saturated at lower core counts; are you looking at lower core count / higher frequency chips?”</a:t>
            </a:r>
            <a:endParaRPr/>
          </a:p>
          <a:p>
            <a:pPr indent="0" lvl="0" marL="0" rtl="0" algn="l">
              <a:spcBef>
                <a:spcPts val="0"/>
              </a:spcBef>
              <a:spcAft>
                <a:spcPts val="0"/>
              </a:spcAft>
              <a:buNone/>
            </a:pPr>
            <a:r>
              <a:t/>
            </a:r>
            <a:endParaRPr/>
          </a:p>
        </p:txBody>
      </p:sp>
      <p:pic>
        <p:nvPicPr>
          <p:cNvPr id="556" name="Google Shape;556;g23b06bc713a_0_0"/>
          <p:cNvPicPr preferRelativeResize="0"/>
          <p:nvPr/>
        </p:nvPicPr>
        <p:blipFill>
          <a:blip r:embed="rId3">
            <a:alphaModFix/>
          </a:blip>
          <a:stretch>
            <a:fillRect/>
          </a:stretch>
        </p:blipFill>
        <p:spPr>
          <a:xfrm>
            <a:off x="5116500" y="1287900"/>
            <a:ext cx="3408199" cy="3167100"/>
          </a:xfrm>
          <a:prstGeom prst="rect">
            <a:avLst/>
          </a:prstGeom>
          <a:noFill/>
          <a:ln>
            <a:noFill/>
          </a:ln>
        </p:spPr>
      </p:pic>
      <p:pic>
        <p:nvPicPr>
          <p:cNvPr id="557" name="Google Shape;557;g23b06bc713a_0_0"/>
          <p:cNvPicPr preferRelativeResize="0"/>
          <p:nvPr/>
        </p:nvPicPr>
        <p:blipFill>
          <a:blip r:embed="rId4">
            <a:alphaModFix/>
          </a:blip>
          <a:stretch>
            <a:fillRect/>
          </a:stretch>
        </p:blipFill>
        <p:spPr>
          <a:xfrm>
            <a:off x="614850" y="4386025"/>
            <a:ext cx="7914307" cy="2339700"/>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23a26aacee0_0_46"/>
          <p:cNvSpPr txBox="1"/>
          <p:nvPr>
            <p:ph type="title"/>
          </p:nvPr>
        </p:nvSpPr>
        <p:spPr>
          <a:xfrm>
            <a:off x="490275" y="235025"/>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GPUs</a:t>
            </a:r>
            <a:endParaRPr/>
          </a:p>
        </p:txBody>
      </p:sp>
      <p:sp>
        <p:nvSpPr>
          <p:cNvPr id="564" name="Google Shape;564;g23a26aacee0_0_46"/>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lnSpcReduction="20000"/>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No longer the future of HPC - they are the present</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Been around for ~20 years now. </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Dominate the Top500 and Green500 </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Most leadership-class systems are GPU-based</a:t>
            </a:r>
            <a:endParaRPr sz="18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Unfortunately</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Many commercial applications still don’t support GPUs or have limited support</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Still a lot of laggards who are  reluctant to port their codes to GPUs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Still dominated by one vendor - NVIDIA</a:t>
            </a:r>
            <a:endParaRPr sz="1800">
              <a:solidFill>
                <a:schemeClr val="dk1"/>
              </a:solidFill>
            </a:endParaRPr>
          </a:p>
          <a:p>
            <a:pPr indent="-342900" lvl="2" marL="1371600" rtl="0" algn="l">
              <a:lnSpc>
                <a:spcPct val="115000"/>
              </a:lnSpc>
              <a:spcBef>
                <a:spcPts val="0"/>
              </a:spcBef>
              <a:spcAft>
                <a:spcPts val="0"/>
              </a:spcAft>
              <a:buClr>
                <a:schemeClr val="dk1"/>
              </a:buClr>
              <a:buSzPts val="1800"/>
              <a:buChar char="■"/>
            </a:pPr>
            <a:r>
              <a:rPr lang="en-US" sz="1800">
                <a:solidFill>
                  <a:schemeClr val="dk1"/>
                </a:solidFill>
              </a:rPr>
              <a:t>Less competition -&gt; higher prices and less innovation</a:t>
            </a:r>
            <a:endParaRPr sz="1800">
              <a:solidFill>
                <a:schemeClr val="dk1"/>
              </a:solidFill>
            </a:endParaRPr>
          </a:p>
          <a:p>
            <a:pPr indent="-342900" lvl="2" marL="1371600" rtl="0" algn="l">
              <a:lnSpc>
                <a:spcPct val="115000"/>
              </a:lnSpc>
              <a:spcBef>
                <a:spcPts val="0"/>
              </a:spcBef>
              <a:spcAft>
                <a:spcPts val="0"/>
              </a:spcAft>
              <a:buClr>
                <a:schemeClr val="dk1"/>
              </a:buClr>
              <a:buSzPts val="1800"/>
              <a:buChar char="■"/>
            </a:pPr>
            <a:r>
              <a:rPr lang="en-US" sz="1800">
                <a:solidFill>
                  <a:schemeClr val="dk1"/>
                </a:solidFill>
              </a:rPr>
              <a:t>What is NVIDIA goes out of business? </a:t>
            </a:r>
            <a:endParaRPr sz="18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GPUs are expensive, but</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More powerful than CPUs for many HPC workloads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More energy efficient than CPUs </a:t>
            </a:r>
            <a:r>
              <a:rPr lang="en-US" sz="1800">
                <a:solidFill>
                  <a:schemeClr val="dk1"/>
                </a:solidFill>
              </a:rPr>
              <a:t>(in most cases)</a:t>
            </a:r>
            <a:endParaRPr sz="1800">
              <a:solidFill>
                <a:schemeClr val="dk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9" name="Shape 569"/>
        <p:cNvGrpSpPr/>
        <p:nvPr/>
      </p:nvGrpSpPr>
      <p:grpSpPr>
        <a:xfrm>
          <a:off x="0" y="0"/>
          <a:ext cx="0" cy="0"/>
          <a:chOff x="0" y="0"/>
          <a:chExt cx="0" cy="0"/>
        </a:xfrm>
      </p:grpSpPr>
      <p:sp>
        <p:nvSpPr>
          <p:cNvPr id="570" name="Google Shape;570;g23a26aacee0_0_6"/>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Selecting GPUs</a:t>
            </a:r>
            <a:endParaRPr/>
          </a:p>
        </p:txBody>
      </p:sp>
      <p:sp>
        <p:nvSpPr>
          <p:cNvPr id="571" name="Google Shape;571;g23a26aacee0_0_6"/>
          <p:cNvSpPr txBox="1"/>
          <p:nvPr>
            <p:ph idx="1" type="body"/>
          </p:nvPr>
        </p:nvSpPr>
        <p:spPr>
          <a:xfrm>
            <a:off x="457200" y="1604525"/>
            <a:ext cx="84582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Go with NVIDIA GPUs</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AMD GPUs aren’t nearly as widely used as NVIDIA (but that may change soon)</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Intel has had lots of issues getting GPUs to market</a:t>
            </a:r>
            <a:endParaRPr sz="1800">
              <a:solidFill>
                <a:schemeClr val="dk1"/>
              </a:solidFill>
            </a:endParaRPr>
          </a:p>
          <a:p>
            <a:pPr indent="-342900" lvl="0" marL="457200" rtl="0" algn="l">
              <a:lnSpc>
                <a:spcPct val="115000"/>
              </a:lnSpc>
              <a:spcBef>
                <a:spcPts val="0"/>
              </a:spcBef>
              <a:spcAft>
                <a:spcPts val="0"/>
              </a:spcAft>
              <a:buClr>
                <a:schemeClr val="dk1"/>
              </a:buClr>
              <a:buSzPts val="1800"/>
              <a:buChar char="●"/>
            </a:pPr>
            <a:r>
              <a:rPr lang="en-US" sz="1800">
                <a:solidFill>
                  <a:schemeClr val="dk1"/>
                </a:solidFill>
              </a:rPr>
              <a:t>NVIDIA GPUs </a:t>
            </a:r>
            <a:r>
              <a:rPr lang="en-US">
                <a:solidFill>
                  <a:schemeClr val="dk1"/>
                </a:solidFill>
              </a:rPr>
              <a:t>have been around for 20 years and NVIDIA dominates the field so…</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If an application or library is going to support GPUs, it’s most likely going to support NVIDIA GPUS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Lots of existing expertise out there for programming CUDA</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Large community of NVIDIA GPU users. </a:t>
            </a:r>
            <a:endParaRPr sz="1800">
              <a:solidFill>
                <a:schemeClr val="dk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6" name="Shape 576"/>
        <p:cNvGrpSpPr/>
        <p:nvPr/>
      </p:nvGrpSpPr>
      <p:grpSpPr>
        <a:xfrm>
          <a:off x="0" y="0"/>
          <a:ext cx="0" cy="0"/>
          <a:chOff x="0" y="0"/>
          <a:chExt cx="0" cy="0"/>
        </a:xfrm>
      </p:grpSpPr>
      <p:sp>
        <p:nvSpPr>
          <p:cNvPr id="577" name="Google Shape;577;g23a26aacee0_0_52"/>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Design </a:t>
            </a:r>
            <a:endParaRPr/>
          </a:p>
        </p:txBody>
      </p:sp>
      <p:sp>
        <p:nvSpPr>
          <p:cNvPr id="578" name="Google Shape;578;g23a26aacee0_0_52"/>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SzPts val="1800"/>
              <a:buNone/>
            </a:pPr>
            <a:r>
              <a:t/>
            </a:r>
            <a:endParaRPr/>
          </a:p>
        </p:txBody>
      </p:sp>
      <p:pic>
        <p:nvPicPr>
          <p:cNvPr id="579" name="Google Shape;579;g23a26aacee0_0_52" title="Top 500 performance by architecture (TFLOPS)"/>
          <p:cNvPicPr preferRelativeResize="0"/>
          <p:nvPr/>
        </p:nvPicPr>
        <p:blipFill rotWithShape="1">
          <a:blip r:embed="rId3">
            <a:alphaModFix/>
          </a:blip>
          <a:srcRect b="0" l="0" r="0" t="0"/>
          <a:stretch/>
        </p:blipFill>
        <p:spPr>
          <a:xfrm>
            <a:off x="314488" y="275438"/>
            <a:ext cx="8515026" cy="6635573"/>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4" name="Shape 584"/>
        <p:cNvGrpSpPr/>
        <p:nvPr/>
      </p:nvGrpSpPr>
      <p:grpSpPr>
        <a:xfrm>
          <a:off x="0" y="0"/>
          <a:ext cx="0" cy="0"/>
          <a:chOff x="0" y="0"/>
          <a:chExt cx="0" cy="0"/>
        </a:xfrm>
      </p:grpSpPr>
      <p:sp>
        <p:nvSpPr>
          <p:cNvPr id="585" name="Google Shape;585;g23a26aacee0_0_59"/>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t/>
            </a:r>
            <a:endParaRPr/>
          </a:p>
        </p:txBody>
      </p:sp>
      <p:sp>
        <p:nvSpPr>
          <p:cNvPr id="586" name="Google Shape;586;g23a26aacee0_0_59"/>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SzPts val="1800"/>
              <a:buNone/>
            </a:pPr>
            <a:r>
              <a:t/>
            </a:r>
            <a:endParaRPr/>
          </a:p>
        </p:txBody>
      </p:sp>
      <p:pic>
        <p:nvPicPr>
          <p:cNvPr id="587" name="Google Shape;587;g23a26aacee0_0_59" title="Green500 List results, GFLOPS/W"/>
          <p:cNvPicPr preferRelativeResize="0"/>
          <p:nvPr/>
        </p:nvPicPr>
        <p:blipFill rotWithShape="1">
          <a:blip r:embed="rId3">
            <a:alphaModFix/>
          </a:blip>
          <a:srcRect b="0" l="0" r="0" t="0"/>
          <a:stretch/>
        </p:blipFill>
        <p:spPr>
          <a:xfrm>
            <a:off x="316048" y="0"/>
            <a:ext cx="8511904" cy="6857999"/>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2" name="Shape 592"/>
        <p:cNvGrpSpPr/>
        <p:nvPr/>
      </p:nvGrpSpPr>
      <p:grpSpPr>
        <a:xfrm>
          <a:off x="0" y="0"/>
          <a:ext cx="0" cy="0"/>
          <a:chOff x="0" y="0"/>
          <a:chExt cx="0" cy="0"/>
        </a:xfrm>
      </p:grpSpPr>
      <p:sp>
        <p:nvSpPr>
          <p:cNvPr id="593" name="Google Shape;593;g23a26aacee0_0_66"/>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Design Decisions for GPUs</a:t>
            </a:r>
            <a:endParaRPr/>
          </a:p>
        </p:txBody>
      </p:sp>
      <p:sp>
        <p:nvSpPr>
          <p:cNvPr id="594" name="Google Shape;594;g23a26aacee0_0_66"/>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What percentage of your nodes should have GPUs?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Should your GPU nodes have a lot of GPUs, or only 1 or 2?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Do you need the high-memory GPU models? </a:t>
            </a:r>
            <a:endParaRPr sz="2400">
              <a:solidFill>
                <a:schemeClr val="dk1"/>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g23a26aacee0_0_72"/>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High-Performance Parallel Storage</a:t>
            </a:r>
            <a:endParaRPr/>
          </a:p>
        </p:txBody>
      </p:sp>
      <p:sp>
        <p:nvSpPr>
          <p:cNvPr id="601" name="Google Shape;601;g23a26aacee0_0_72"/>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You need it, but I’ll leave the details to its own lecture</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3 main options: </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GPFS (IBM)</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Lustre (Open-source / who even knows anymore?)</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BeeGFS(Open-source/Fraunhofer Center/ThinkParQ)</a:t>
            </a:r>
            <a:endParaRPr sz="18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More disks, more servers -&gt; more performance</a:t>
            </a:r>
            <a:endParaRPr sz="2400">
              <a:solidFill>
                <a:schemeClr val="dk1"/>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sp>
        <p:nvSpPr>
          <p:cNvPr id="607" name="Google Shape;607;g23a26aacee0_0_78"/>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Other considerations</a:t>
            </a:r>
            <a:endParaRPr/>
          </a:p>
        </p:txBody>
      </p:sp>
      <p:sp>
        <p:nvSpPr>
          <p:cNvPr id="608" name="Google Shape;608;g23a26aacee0_0_78"/>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Power</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Cooling</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Physical space</a:t>
            </a:r>
            <a:endParaRPr sz="2400">
              <a:solidFill>
                <a:schemeClr val="dk1"/>
              </a:solidFill>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3" name="Shape 613"/>
        <p:cNvGrpSpPr/>
        <p:nvPr/>
      </p:nvGrpSpPr>
      <p:grpSpPr>
        <a:xfrm>
          <a:off x="0" y="0"/>
          <a:ext cx="0" cy="0"/>
          <a:chOff x="0" y="0"/>
          <a:chExt cx="0" cy="0"/>
        </a:xfrm>
      </p:grpSpPr>
      <p:sp>
        <p:nvSpPr>
          <p:cNvPr id="614" name="Google Shape;614;g23a26aacee0_0_84"/>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Power</a:t>
            </a:r>
            <a:endParaRPr/>
          </a:p>
        </p:txBody>
      </p:sp>
      <p:sp>
        <p:nvSpPr>
          <p:cNvPr id="615" name="Google Shape;615;g23a26aacee0_0_84"/>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A full rack of compute nodes under load can draw ~35 KW of power, or even more. </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May require multiple PDUs in the rack</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May require higher current PDUs</a:t>
            </a:r>
            <a:endParaRPr sz="2400">
              <a:solidFill>
                <a:schemeClr val="dk1"/>
              </a:solidFill>
            </a:endParaRPr>
          </a:p>
          <a:p>
            <a:pPr indent="-381000" lvl="1" marL="914400" rtl="0" algn="l">
              <a:lnSpc>
                <a:spcPct val="115000"/>
              </a:lnSpc>
              <a:spcBef>
                <a:spcPts val="0"/>
              </a:spcBef>
              <a:spcAft>
                <a:spcPts val="0"/>
              </a:spcAft>
              <a:buClr>
                <a:schemeClr val="dk1"/>
              </a:buClr>
              <a:buSzPts val="2400"/>
              <a:buChar char="○"/>
            </a:pPr>
            <a:r>
              <a:rPr lang="en-US" sz="2400">
                <a:solidFill>
                  <a:schemeClr val="dk1"/>
                </a:solidFill>
              </a:rPr>
              <a:t>May require higher voltage to the rack (208 V or higher)</a:t>
            </a:r>
            <a:endParaRPr sz="2400">
              <a:solidFill>
                <a:schemeClr val="dk1"/>
              </a:solidFill>
            </a:endParaRPr>
          </a:p>
        </p:txBody>
      </p:sp>
      <p:pic>
        <p:nvPicPr>
          <p:cNvPr id="616" name="Google Shape;616;g23a26aacee0_0_84"/>
          <p:cNvPicPr preferRelativeResize="0"/>
          <p:nvPr/>
        </p:nvPicPr>
        <p:blipFill rotWithShape="1">
          <a:blip r:embed="rId3">
            <a:alphaModFix/>
          </a:blip>
          <a:srcRect b="0" l="0" r="0" t="0"/>
          <a:stretch/>
        </p:blipFill>
        <p:spPr>
          <a:xfrm>
            <a:off x="5299888" y="4113088"/>
            <a:ext cx="3152775" cy="21431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1" name="Shape 621"/>
        <p:cNvGrpSpPr/>
        <p:nvPr/>
      </p:nvGrpSpPr>
      <p:grpSpPr>
        <a:xfrm>
          <a:off x="0" y="0"/>
          <a:ext cx="0" cy="0"/>
          <a:chOff x="0" y="0"/>
          <a:chExt cx="0" cy="0"/>
        </a:xfrm>
      </p:grpSpPr>
      <p:sp>
        <p:nvSpPr>
          <p:cNvPr id="622" name="Google Shape;622;g23a26aacee0_0_92"/>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Cooling</a:t>
            </a:r>
            <a:endParaRPr/>
          </a:p>
        </p:txBody>
      </p:sp>
      <p:sp>
        <p:nvSpPr>
          <p:cNvPr id="623" name="Google Shape;623;g23a26aacee0_0_92"/>
          <p:cNvSpPr txBox="1"/>
          <p:nvPr>
            <p:ph idx="1" type="body"/>
          </p:nvPr>
        </p:nvSpPr>
        <p:spPr>
          <a:xfrm>
            <a:off x="457350" y="1604520"/>
            <a:ext cx="8229300" cy="3977400"/>
          </a:xfrm>
          <a:prstGeom prst="rect">
            <a:avLst/>
          </a:prstGeom>
          <a:noFill/>
          <a:ln>
            <a:noFill/>
          </a:ln>
        </p:spPr>
        <p:txBody>
          <a:bodyPr anchorCtr="0" anchor="t" bIns="0" lIns="0" spcFirstLastPara="1" rIns="0" wrap="square" tIns="0">
            <a:normAutofit/>
          </a:bodyPr>
          <a:lstStyle/>
          <a:p>
            <a:pPr indent="0" lvl="0" marL="0" rtl="0" algn="l">
              <a:lnSpc>
                <a:spcPct val="115000"/>
              </a:lnSpc>
              <a:spcBef>
                <a:spcPts val="0"/>
              </a:spcBef>
              <a:spcAft>
                <a:spcPts val="0"/>
              </a:spcAft>
              <a:buSzPts val="1800"/>
              <a:buNone/>
            </a:pPr>
            <a:r>
              <a:rPr lang="en-US" sz="2400">
                <a:solidFill>
                  <a:schemeClr val="dk1"/>
                </a:solidFill>
              </a:rPr>
              <a:t>All that electricity is converted to heat, and that heat has to go somewhere! You may need to consider: </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Rear door heat exchangers</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Hot-aisle or cold-aisle containment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Other datacenter improvements (larger/more cracs)</a:t>
            </a:r>
            <a:endParaRPr sz="2400">
              <a:solidFill>
                <a:schemeClr val="dk1"/>
              </a:solidFill>
            </a:endParaRPr>
          </a:p>
          <a:p>
            <a:pPr indent="0" lvl="0" marL="0" rtl="0" algn="l">
              <a:lnSpc>
                <a:spcPct val="115000"/>
              </a:lnSpc>
              <a:spcBef>
                <a:spcPts val="0"/>
              </a:spcBef>
              <a:spcAft>
                <a:spcPts val="0"/>
              </a:spcAft>
              <a:buSzPts val="1800"/>
              <a:buNone/>
            </a:pPr>
            <a:r>
              <a:t/>
            </a:r>
            <a:endParaRPr sz="2400">
              <a:solidFill>
                <a:schemeClr val="dk1"/>
              </a:solidFill>
            </a:endParaRPr>
          </a:p>
          <a:p>
            <a:pPr indent="0" lvl="0" marL="0" rtl="0" algn="l">
              <a:lnSpc>
                <a:spcPct val="115000"/>
              </a:lnSpc>
              <a:spcBef>
                <a:spcPts val="0"/>
              </a:spcBef>
              <a:spcAft>
                <a:spcPts val="0"/>
              </a:spcAft>
              <a:buSzPts val="1800"/>
              <a:buNone/>
            </a:pPr>
            <a:r>
              <a:t/>
            </a:r>
            <a:endParaRPr sz="2400">
              <a:solidFill>
                <a:schemeClr val="dk1"/>
              </a:solidFill>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8" name="Shape 628"/>
        <p:cNvGrpSpPr/>
        <p:nvPr/>
      </p:nvGrpSpPr>
      <p:grpSpPr>
        <a:xfrm>
          <a:off x="0" y="0"/>
          <a:ext cx="0" cy="0"/>
          <a:chOff x="0" y="0"/>
          <a:chExt cx="0" cy="0"/>
        </a:xfrm>
      </p:grpSpPr>
      <p:sp>
        <p:nvSpPr>
          <p:cNvPr id="629" name="Google Shape;629;g23a26aacee0_0_98"/>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Rear-door heat exchangers</a:t>
            </a:r>
            <a:endParaRPr/>
          </a:p>
        </p:txBody>
      </p:sp>
      <p:pic>
        <p:nvPicPr>
          <p:cNvPr id="630" name="Google Shape;630;g23a26aacee0_0_98"/>
          <p:cNvPicPr preferRelativeResize="0"/>
          <p:nvPr/>
        </p:nvPicPr>
        <p:blipFill rotWithShape="1">
          <a:blip r:embed="rId3">
            <a:alphaModFix/>
          </a:blip>
          <a:srcRect b="0" l="0" r="0" t="0"/>
          <a:stretch/>
        </p:blipFill>
        <p:spPr>
          <a:xfrm>
            <a:off x="6877550" y="3429000"/>
            <a:ext cx="1944225" cy="3456425"/>
          </a:xfrm>
          <a:prstGeom prst="rect">
            <a:avLst/>
          </a:prstGeom>
          <a:noFill/>
          <a:ln>
            <a:noFill/>
          </a:ln>
        </p:spPr>
      </p:pic>
      <p:pic>
        <p:nvPicPr>
          <p:cNvPr id="631" name="Google Shape;631;g23a26aacee0_0_98"/>
          <p:cNvPicPr preferRelativeResize="0"/>
          <p:nvPr/>
        </p:nvPicPr>
        <p:blipFill rotWithShape="1">
          <a:blip r:embed="rId4">
            <a:alphaModFix/>
          </a:blip>
          <a:srcRect b="0" l="0" r="0" t="0"/>
          <a:stretch/>
        </p:blipFill>
        <p:spPr>
          <a:xfrm>
            <a:off x="5202975" y="1281250"/>
            <a:ext cx="1801325" cy="3202376"/>
          </a:xfrm>
          <a:prstGeom prst="rect">
            <a:avLst/>
          </a:prstGeom>
          <a:noFill/>
          <a:ln>
            <a:noFill/>
          </a:ln>
        </p:spPr>
      </p:pic>
      <p:pic>
        <p:nvPicPr>
          <p:cNvPr id="632" name="Google Shape;632;g23a26aacee0_0_98"/>
          <p:cNvPicPr preferRelativeResize="0"/>
          <p:nvPr/>
        </p:nvPicPr>
        <p:blipFill rotWithShape="1">
          <a:blip r:embed="rId5">
            <a:alphaModFix/>
          </a:blip>
          <a:srcRect b="0" l="0" r="0" t="0"/>
          <a:stretch/>
        </p:blipFill>
        <p:spPr>
          <a:xfrm>
            <a:off x="4102600" y="3818700"/>
            <a:ext cx="1709600" cy="3039299"/>
          </a:xfrm>
          <a:prstGeom prst="rect">
            <a:avLst/>
          </a:prstGeom>
          <a:noFill/>
          <a:ln>
            <a:noFill/>
          </a:ln>
        </p:spPr>
      </p:pic>
      <p:sp>
        <p:nvSpPr>
          <p:cNvPr id="633" name="Google Shape;633;g23a26aacee0_0_98"/>
          <p:cNvSpPr txBox="1"/>
          <p:nvPr/>
        </p:nvSpPr>
        <p:spPr>
          <a:xfrm>
            <a:off x="384050" y="1563625"/>
            <a:ext cx="3182100" cy="26781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Not water-cooling</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Air-to-water heat exchangers that remove heat from air before it leaves the rack</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Active and passive models</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Require chilled water or glycol in the data center</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39" name="Google Shape;639;g23a26aacee0_0_109"/>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Hot-aisle/cold-aisle containment</a:t>
            </a:r>
            <a:endParaRPr/>
          </a:p>
        </p:txBody>
      </p:sp>
      <p:pic>
        <p:nvPicPr>
          <p:cNvPr id="640" name="Google Shape;640;g23a26aacee0_0_109"/>
          <p:cNvPicPr preferRelativeResize="0"/>
          <p:nvPr/>
        </p:nvPicPr>
        <p:blipFill rotWithShape="1">
          <a:blip r:embed="rId3">
            <a:alphaModFix/>
          </a:blip>
          <a:srcRect b="0" l="0" r="0" t="0"/>
          <a:stretch/>
        </p:blipFill>
        <p:spPr>
          <a:xfrm>
            <a:off x="4169425" y="2009725"/>
            <a:ext cx="4517074" cy="4148748"/>
          </a:xfrm>
          <a:prstGeom prst="rect">
            <a:avLst/>
          </a:prstGeom>
          <a:noFill/>
          <a:ln>
            <a:noFill/>
          </a:ln>
        </p:spPr>
      </p:pic>
      <p:sp>
        <p:nvSpPr>
          <p:cNvPr id="641" name="Google Shape;641;g23a26aacee0_0_109"/>
          <p:cNvSpPr txBox="1"/>
          <p:nvPr/>
        </p:nvSpPr>
        <p:spPr>
          <a:xfrm>
            <a:off x="356625" y="1824225"/>
            <a:ext cx="3538800" cy="3232500"/>
          </a:xfrm>
          <a:prstGeom prst="rect">
            <a:avLst/>
          </a:prstGeom>
          <a:noFill/>
          <a:ln>
            <a:noFill/>
          </a:ln>
        </p:spPr>
        <p:txBody>
          <a:bodyPr anchorCtr="0" anchor="t" bIns="91425" lIns="91425" spcFirstLastPara="1" rIns="91425" wrap="square" tIns="91425">
            <a:spAutoFit/>
          </a:bodyPr>
          <a:lstStyle/>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Physical barriers to prevent the air from the hot aisles and cold aisles from mixing </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More control over airflow</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Improves the efficiency of the datacenter air-conditioning</a:t>
            </a:r>
            <a:endParaRPr b="0" i="0" sz="1800" u="none" cap="none" strike="noStrike">
              <a:solidFill>
                <a:srgbClr val="000000"/>
              </a:solidFill>
              <a:latin typeface="Arial"/>
              <a:ea typeface="Arial"/>
              <a:cs typeface="Arial"/>
              <a:sym typeface="Arial"/>
            </a:endParaRPr>
          </a:p>
          <a:p>
            <a:pPr indent="-342900" lvl="0" marL="457200" marR="0" rtl="0" algn="l">
              <a:lnSpc>
                <a:spcPct val="100000"/>
              </a:lnSpc>
              <a:spcBef>
                <a:spcPts val="0"/>
              </a:spcBef>
              <a:spcAft>
                <a:spcPts val="0"/>
              </a:spcAft>
              <a:buClr>
                <a:srgbClr val="000000"/>
              </a:buClr>
              <a:buSzPts val="1800"/>
              <a:buFont typeface="Arial"/>
              <a:buChar char="●"/>
            </a:pPr>
            <a:r>
              <a:rPr b="0" i="0" lang="en-US" sz="1800" u="none" cap="none" strike="noStrike">
                <a:solidFill>
                  <a:srgbClr val="000000"/>
                </a:solidFill>
                <a:latin typeface="Arial"/>
                <a:ea typeface="Arial"/>
                <a:cs typeface="Arial"/>
                <a:sym typeface="Arial"/>
              </a:rPr>
              <a:t>Usually don’t know you need it until a few months after the cluster is up and running. </a:t>
            </a:r>
            <a:endParaRPr b="0" i="0" sz="1800" u="none" cap="none" strike="noStrike">
              <a:solidFill>
                <a:srgbClr val="000000"/>
              </a:solidFill>
              <a:latin typeface="Arial"/>
              <a:ea typeface="Arial"/>
              <a:cs typeface="Arial"/>
              <a:sym typeface="Aria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sp>
        <p:nvSpPr>
          <p:cNvPr id="647" name="Google Shape;647;g23a26aacee0_0_118"/>
          <p:cNvSpPr txBox="1"/>
          <p:nvPr>
            <p:ph type="title"/>
          </p:nvPr>
        </p:nvSpPr>
        <p:spPr>
          <a:xfrm>
            <a:off x="457200" y="273600"/>
            <a:ext cx="8229300" cy="1144800"/>
          </a:xfrm>
          <a:prstGeom prst="rect">
            <a:avLst/>
          </a:prstGeom>
          <a:noFill/>
          <a:ln>
            <a:noFill/>
          </a:ln>
        </p:spPr>
        <p:txBody>
          <a:bodyPr anchorCtr="0" anchor="ctr" bIns="0" lIns="0" spcFirstLastPara="1" rIns="0" wrap="square" tIns="0">
            <a:normAutofit/>
          </a:bodyPr>
          <a:lstStyle/>
          <a:p>
            <a:pPr indent="0" lvl="0" marL="0" rtl="0" algn="l">
              <a:lnSpc>
                <a:spcPct val="100000"/>
              </a:lnSpc>
              <a:spcBef>
                <a:spcPts val="0"/>
              </a:spcBef>
              <a:spcAft>
                <a:spcPts val="0"/>
              </a:spcAft>
              <a:buSzPts val="2800"/>
              <a:buNone/>
            </a:pPr>
            <a:r>
              <a:rPr lang="en-US"/>
              <a:t>Space</a:t>
            </a:r>
            <a:endParaRPr/>
          </a:p>
        </p:txBody>
      </p:sp>
      <p:sp>
        <p:nvSpPr>
          <p:cNvPr id="648" name="Google Shape;648;g23a26aacee0_0_118"/>
          <p:cNvSpPr txBox="1"/>
          <p:nvPr>
            <p:ph idx="1" type="body"/>
          </p:nvPr>
        </p:nvSpPr>
        <p:spPr>
          <a:xfrm>
            <a:off x="457200" y="1604520"/>
            <a:ext cx="8229300" cy="3977400"/>
          </a:xfrm>
          <a:prstGeom prst="rect">
            <a:avLst/>
          </a:prstGeom>
          <a:noFill/>
          <a:ln>
            <a:noFill/>
          </a:ln>
        </p:spPr>
        <p:txBody>
          <a:bodyPr anchorCtr="0" anchor="t" bIns="0" lIns="0" spcFirstLastPara="1" rIns="0" wrap="square" tIns="0">
            <a:normAutofit/>
          </a:bodyPr>
          <a:lstStyle/>
          <a:p>
            <a:pPr indent="-381000" lvl="0" marL="457200" rtl="0" algn="l">
              <a:lnSpc>
                <a:spcPct val="115000"/>
              </a:lnSpc>
              <a:spcBef>
                <a:spcPts val="0"/>
              </a:spcBef>
              <a:spcAft>
                <a:spcPts val="0"/>
              </a:spcAft>
              <a:buClr>
                <a:schemeClr val="dk1"/>
              </a:buClr>
              <a:buSzPts val="2400"/>
              <a:buChar char="●"/>
            </a:pPr>
            <a:r>
              <a:rPr lang="en-US" sz="2400">
                <a:solidFill>
                  <a:schemeClr val="dk1"/>
                </a:solidFill>
              </a:rPr>
              <a:t>Go with extra-deep racks:</a:t>
            </a:r>
            <a:endParaRPr sz="24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More processors, GPUs, power supplies, etc. -&gt; larger, deeper chassis</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Additional networking requires more space in back of rack</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Larger/more PDUs require more space. </a:t>
            </a:r>
            <a:endParaRPr sz="1800">
              <a:solidFill>
                <a:schemeClr val="dk1"/>
              </a:solidFill>
            </a:endParaRPr>
          </a:p>
          <a:p>
            <a:pPr indent="-342900" lvl="1" marL="914400" rtl="0" algn="l">
              <a:lnSpc>
                <a:spcPct val="115000"/>
              </a:lnSpc>
              <a:spcBef>
                <a:spcPts val="0"/>
              </a:spcBef>
              <a:spcAft>
                <a:spcPts val="0"/>
              </a:spcAft>
              <a:buClr>
                <a:schemeClr val="dk1"/>
              </a:buClr>
              <a:buSzPts val="1800"/>
              <a:buChar char="○"/>
            </a:pPr>
            <a:r>
              <a:rPr lang="en-US" sz="1800">
                <a:solidFill>
                  <a:schemeClr val="dk1"/>
                </a:solidFill>
              </a:rPr>
              <a:t>It’s better to have the space and not need it, than…</a:t>
            </a:r>
            <a:endParaRPr sz="18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Rear-door heat exchangers add even more to a racks’ footprint</a:t>
            </a:r>
            <a:endParaRPr sz="2400">
              <a:solidFill>
                <a:schemeClr val="dk1"/>
              </a:solidFill>
            </a:endParaRPr>
          </a:p>
          <a:p>
            <a:pPr indent="-381000" lvl="0" marL="457200" rtl="0" algn="l">
              <a:lnSpc>
                <a:spcPct val="115000"/>
              </a:lnSpc>
              <a:spcBef>
                <a:spcPts val="0"/>
              </a:spcBef>
              <a:spcAft>
                <a:spcPts val="0"/>
              </a:spcAft>
              <a:buClr>
                <a:schemeClr val="dk1"/>
              </a:buClr>
              <a:buSzPts val="2400"/>
              <a:buChar char="●"/>
            </a:pPr>
            <a:r>
              <a:rPr lang="en-US" sz="2400">
                <a:solidFill>
                  <a:schemeClr val="dk1"/>
                </a:solidFill>
              </a:rPr>
              <a:t>Racks full of dense servers weigh more - make sure the floor can support the weight of your HPC racks</a:t>
            </a:r>
            <a:endParaRPr sz="24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