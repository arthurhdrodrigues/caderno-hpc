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ieQ3yYz7LxrhbM0deJIVBOLr9M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85D6979-F4CF-43EA-BDD4-875C122CD469}">
  <a:tblStyle styleId="{885D6979-F4CF-43EA-BDD4-875C122CD46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14" Type="http://schemas.openxmlformats.org/officeDocument/2006/relationships/slide" Target="slides/slide9.xml"/><Relationship Id="rId58"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Note that I’m not going to talk about HPC clusters, programming, or specifics of different hardware, etc. - Instead I want to focus on defining/understanding HPC and the important concepts governing it. - more or less the </a:t>
            </a:r>
            <a:r>
              <a:rPr lang="en-US"/>
              <a:t>theory of HPC, rather than any implementation specifics. </a:t>
            </a:r>
            <a:r>
              <a:rPr lang="en-US"/>
              <a:t>There will be separate lectures on Cluster architecture, Parallel Programming, and Schedulers, so, I don’t want to repeat what will be said there.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My hope is for this talk to cover all the important, fundamental concepts about HPC, but I doubt I’ll achieve that goal. </a:t>
            </a:r>
            <a:endParaRPr/>
          </a:p>
        </p:txBody>
      </p:sp>
      <p:sp>
        <p:nvSpPr>
          <p:cNvPr id="98" name="Google Shape;9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2dbf17e82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2dbf17e82d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I’d like for us to try to define HPC </a:t>
            </a:r>
            <a:r>
              <a:rPr lang="en-US"/>
              <a:t>ourselves</a:t>
            </a:r>
            <a:r>
              <a:rPr lang="en-US"/>
              <a:t>, but before we do,  I’d like everyone to get a pen and piece of paper, or open a text editor and come up with your own definition of HPC. (Wait a minute or two, and then ask for volunteers to read their definitions</a:t>
            </a:r>
            <a:endParaRPr/>
          </a:p>
        </p:txBody>
      </p:sp>
      <p:sp>
        <p:nvSpPr>
          <p:cNvPr id="105" name="Google Shape;105;g22dbf17e82d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30f3c2a21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30f3c2a21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g230f3c2a219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2dbf17e82d_1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2dbf17e82d_1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g22dbf17e82d_1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2dbf17e82d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2dbf17e82d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First paragraph, dead-on. Second and third paragraphs are useful information, but go </a:t>
            </a:r>
            <a:r>
              <a:rPr lang="en-US"/>
              <a:t>beyond</a:t>
            </a:r>
            <a:r>
              <a:rPr lang="en-US"/>
              <a:t> the definition. </a:t>
            </a:r>
            <a:endParaRPr/>
          </a:p>
        </p:txBody>
      </p:sp>
      <p:sp>
        <p:nvSpPr>
          <p:cNvPr id="126" name="Google Shape;126;g22dbf17e82d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2dbf17e82d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2dbf17e82d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Note the “Not to be confused with…” note at the top. First sentence tells us what we do with HPC, but not what HPC is. The “Overview” is trying to be all things to everyone, and totally misses the mark. </a:t>
            </a:r>
            <a:endParaRPr/>
          </a:p>
        </p:txBody>
      </p:sp>
      <p:sp>
        <p:nvSpPr>
          <p:cNvPr id="134" name="Google Shape;134;g22dbf17e82d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2dbf17e82d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2dbf17e82d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Keeping the processors near 100% utliization is important here, and is also a big challenge for HPC programming. Many people forget about RAM, but many jobs just can’t run w/o enough RAM - Swap isn’t acceptable for HPC, and there’s limits to swap size. </a:t>
            </a:r>
            <a:endParaRPr/>
          </a:p>
        </p:txBody>
      </p:sp>
      <p:sp>
        <p:nvSpPr>
          <p:cNvPr id="142" name="Google Shape;142;g22dbf17e82d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2dcf9af772_1_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2dcf9af772_1_1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 All about maximum performance </a:t>
            </a:r>
            <a:endParaRPr/>
          </a:p>
          <a:p>
            <a:pPr indent="0" lvl="0" marL="0" rtl="0" algn="l">
              <a:spcBef>
                <a:spcPts val="0"/>
              </a:spcBef>
              <a:spcAft>
                <a:spcPts val="0"/>
              </a:spcAft>
              <a:buNone/>
            </a:pPr>
            <a:r>
              <a:rPr lang="en-US"/>
              <a:t>- Good performance requires both a highly-optimized machine, highly skilled users, and a skilled support team with highly specialized skills</a:t>
            </a:r>
            <a:endParaRPr/>
          </a:p>
          <a:p>
            <a:pPr indent="0" lvl="0" marL="0" rtl="0" algn="l">
              <a:spcBef>
                <a:spcPts val="0"/>
              </a:spcBef>
              <a:spcAft>
                <a:spcPts val="0"/>
              </a:spcAft>
              <a:buNone/>
            </a:pPr>
            <a:r>
              <a:rPr lang="en-US"/>
              <a:t>- It takes a large team to build and maintain a large HPC cluster and support the </a:t>
            </a:r>
            <a:r>
              <a:rPr lang="en-US"/>
              <a:t>researchers</a:t>
            </a:r>
            <a:r>
              <a:rPr lang="en-US"/>
              <a:t> </a:t>
            </a:r>
            <a:endParaRPr/>
          </a:p>
          <a:p>
            <a:pPr indent="0" lvl="0" marL="0" rtl="0" algn="l">
              <a:spcBef>
                <a:spcPts val="0"/>
              </a:spcBef>
              <a:spcAft>
                <a:spcPts val="0"/>
              </a:spcAft>
              <a:buNone/>
            </a:pPr>
            <a:r>
              <a:t/>
            </a:r>
            <a:endParaRPr/>
          </a:p>
        </p:txBody>
      </p:sp>
      <p:sp>
        <p:nvSpPr>
          <p:cNvPr id="149" name="Google Shape;149;g22dcf9af772_1_1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30d81c63cf_2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30d81c63cf_2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HPC has been dominated by the US, specifically by the DOE since the start of computing, but with the Earth Simulator by Japan in 2002, it has become an international competition used to </a:t>
            </a:r>
            <a:r>
              <a:rPr lang="en-US"/>
              <a:t>highlight</a:t>
            </a:r>
            <a:r>
              <a:rPr lang="en-US"/>
              <a:t> the technical know-how and scientific superiority of the countries at the top of the list, as serve as a point of nationa pride. Japan has had several systems on the Top500 list in the past 20 years: </a:t>
            </a:r>
            <a:r>
              <a:rPr lang="en-US"/>
              <a:t>Earth</a:t>
            </a:r>
            <a:r>
              <a:rPr lang="en-US"/>
              <a:t> Simulator, K Computer, and Fugaku.  Over the past 10 years or so, China has also made multiple </a:t>
            </a:r>
            <a:r>
              <a:rPr lang="en-US"/>
              <a:t>appearances near the top of the list: Tianhe-1, Tiane-1A, Tianhe-2, Sunway TaihuLight. Right now, China is the USA’s biggest rival in this race.</a:t>
            </a:r>
            <a:endParaRPr/>
          </a:p>
        </p:txBody>
      </p:sp>
      <p:sp>
        <p:nvSpPr>
          <p:cNvPr id="157" name="Google Shape;157;g230d81c63cf_2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2dbf17e82d_12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2dbf17e82d_12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22dbf17e82d_12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2dbf17e82d_12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2dbf17e82d_12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Not a conclusive list by any measure. </a:t>
            </a:r>
            <a:br>
              <a:rPr lang="en-US"/>
            </a:br>
            <a:r>
              <a:rPr lang="en-US"/>
              <a:t>Molecular</a:t>
            </a:r>
            <a:r>
              <a:rPr lang="en-US"/>
              <a:t> Dynamics - </a:t>
            </a:r>
            <a:r>
              <a:rPr lang="en-US"/>
              <a:t>observing</a:t>
            </a:r>
            <a:r>
              <a:rPr lang="en-US"/>
              <a:t> the movement of molecules in motion is very difficult, and happens very quickly.</a:t>
            </a:r>
            <a:br>
              <a:rPr lang="en-US"/>
            </a:br>
            <a:r>
              <a:rPr lang="en-US"/>
              <a:t>Fusion Energy - designing and building a Fusion reactor can take many years and an enormous amount of labor, and the </a:t>
            </a:r>
            <a:r>
              <a:rPr lang="en-US"/>
              <a:t>energy</a:t>
            </a:r>
            <a:r>
              <a:rPr lang="en-US"/>
              <a:t> needed to perform a single experiment is </a:t>
            </a:r>
            <a:r>
              <a:rPr lang="en-US"/>
              <a:t>enormous</a:t>
            </a:r>
            <a:endParaRPr/>
          </a:p>
          <a:p>
            <a:pPr indent="0" lvl="0" marL="0" rtl="0" algn="l">
              <a:spcBef>
                <a:spcPts val="0"/>
              </a:spcBef>
              <a:spcAft>
                <a:spcPts val="0"/>
              </a:spcAft>
              <a:buNone/>
            </a:pPr>
            <a:r>
              <a:rPr lang="en-US"/>
              <a:t>Weather prediction - just not possible without HPC - we can’t build a duplicate earth a couple days ahead of us, and even with HPC, it’s still a challenge since we need to get predictions several times a day, and they have to be far enough into the future to be useful to us! </a:t>
            </a:r>
            <a:endParaRPr/>
          </a:p>
          <a:p>
            <a:pPr indent="0" lvl="0" marL="0" rtl="0" algn="l">
              <a:spcBef>
                <a:spcPts val="0"/>
              </a:spcBef>
              <a:spcAft>
                <a:spcPts val="0"/>
              </a:spcAft>
              <a:buNone/>
            </a:pPr>
            <a:r>
              <a:rPr lang="en-US"/>
              <a:t>Large structures - bridges, skyscrapers, dam, etc. - Failure of any of these would be catastrophic, and scale models can be costly or not accurate enough</a:t>
            </a:r>
            <a:endParaRPr/>
          </a:p>
          <a:p>
            <a:pPr indent="0" lvl="0" marL="0" rtl="0" algn="l">
              <a:spcBef>
                <a:spcPts val="0"/>
              </a:spcBef>
              <a:spcAft>
                <a:spcPts val="0"/>
              </a:spcAft>
              <a:buNone/>
            </a:pPr>
            <a:r>
              <a:t/>
            </a:r>
            <a:endParaRPr/>
          </a:p>
        </p:txBody>
      </p:sp>
      <p:sp>
        <p:nvSpPr>
          <p:cNvPr id="179" name="Google Shape;179;g22dbf17e82d_12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2dbf17e82d_12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2dbf17e82d_12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That number is just the start. You have to calculate that number of </a:t>
            </a:r>
            <a:r>
              <a:rPr lang="en-US"/>
              <a:t>distances, and then </a:t>
            </a:r>
            <a:r>
              <a:rPr lang="en-US"/>
              <a:t>once you know the distances between the atoms, you then need to calculate the different forces each atom exerts on every other atom (gravitational, electrostatic), sum up those forces, and then integrate to get the new position of each atom. In reality, there’s a lot of approximations/simplifications that can be done: cut off distances for different forces, etc. Exascale may change this, but prior to exascale, the only system that has been able to do MD simulations at that 1 ms of simulation time has been the D.E. Shaw Research Anton systems, which are hardware implementations of the DESMOND MD algorithm - not a general purpose - or even programmable - computer!</a:t>
            </a:r>
            <a:endParaRPr/>
          </a:p>
        </p:txBody>
      </p:sp>
      <p:sp>
        <p:nvSpPr>
          <p:cNvPr id="186" name="Google Shape;186;g22dbf17e82d_12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2dbf17e82d_12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2dbf17e82d_12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F1 teams utilize CFD to optimize the </a:t>
            </a:r>
            <a:r>
              <a:rPr lang="en-US"/>
              <a:t>aerodynamic tuning of their car to match the characteristics of the track and and take into account the weather conditions (humidity, barometric pressure, etc.). Increasing downforce can increase drag, but it also increases traction, so on courses with long straights, less downforce is better, since you can hit higher top speeds on the straights at the cost of reduced cornering speeds. On tracks with a lot of tight turns, more downforce increases your cornering speed, but decreases your top speed. By running simulations in the days leading up the race, each team hopes to find the perfect balance of downforce and top speed. </a:t>
            </a:r>
            <a:endParaRPr/>
          </a:p>
        </p:txBody>
      </p:sp>
      <p:sp>
        <p:nvSpPr>
          <p:cNvPr id="197" name="Google Shape;197;g22dbf17e82d_12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2dcf9af77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2dcf9af772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 In most other computing use cases, processors are sitting idle and waiting for some kind of input to act on.</a:t>
            </a:r>
            <a:endParaRPr/>
          </a:p>
          <a:p>
            <a:pPr indent="0" lvl="0" marL="0" rtl="0" algn="l">
              <a:spcBef>
                <a:spcPts val="0"/>
              </a:spcBef>
              <a:spcAft>
                <a:spcPts val="0"/>
              </a:spcAft>
              <a:buNone/>
            </a:pPr>
            <a:r>
              <a:rPr lang="en-US"/>
              <a:t>- Since loop iterations need to be “data-independent of each other” and datasets are much larger than caches, the cache is seldom used, compared to general computing. Even prefetching is probably of limited use, since the calculations should be running through the processor faster than new data can be fed from main </a:t>
            </a:r>
            <a:r>
              <a:rPr lang="en-US"/>
              <a:t>memory</a:t>
            </a:r>
            <a:r>
              <a:rPr lang="en-US"/>
              <a:t> to cache.</a:t>
            </a:r>
            <a:endParaRPr/>
          </a:p>
          <a:p>
            <a:pPr indent="0" lvl="0" marL="0" rtl="0" algn="l">
              <a:spcBef>
                <a:spcPts val="0"/>
              </a:spcBef>
              <a:spcAft>
                <a:spcPts val="0"/>
              </a:spcAft>
              <a:buNone/>
            </a:pPr>
            <a:r>
              <a:rPr lang="en-US"/>
              <a:t>- Since features like branch-prediction and caches aren’t as critical, those features can be eliminated or reduced on a chip to provide more space on the die for arithmetic units  - this is one of the features of the GPU architectures. They have less branching hardware and more math hardware. Taking the wrong branch is every expensive on a GPU</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t/>
            </a:r>
            <a:endParaRPr/>
          </a:p>
        </p:txBody>
      </p:sp>
      <p:sp>
        <p:nvSpPr>
          <p:cNvPr id="206" name="Google Shape;206;g22dcf9af772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30d81c63cf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30d81c63cf_1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This technologies use similar hardware, and similar practices, but there are fundamental differences that set them apart from what I consider HPC. </a:t>
            </a:r>
            <a:endParaRPr/>
          </a:p>
        </p:txBody>
      </p:sp>
      <p:sp>
        <p:nvSpPr>
          <p:cNvPr id="213" name="Google Shape;213;g230d81c63cf_1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2dcf9af772_1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2dcf9af772_1_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This is a pet-peeve of mine. Others may consider HTC a type of HPC, but I don’t! </a:t>
            </a:r>
            <a:endParaRPr/>
          </a:p>
        </p:txBody>
      </p:sp>
      <p:sp>
        <p:nvSpPr>
          <p:cNvPr id="220" name="Google Shape;220;g22dcf9af772_1_9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30f3c2a219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30f3c2a219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230f3c2a219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30f3c2a219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30f3c2a219_1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g230f3c2a219_1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2dbf17e82d_12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2dbf17e82d_12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 - Notice I didn’t title this slide “THE 4 laws” of HPC. I’m not saying this is a definitive list of the laws governing HPC, but they are important laws. </a:t>
            </a:r>
            <a:endParaRPr/>
          </a:p>
          <a:p>
            <a:pPr indent="0" lvl="0" marL="0" rtl="0" algn="l">
              <a:spcBef>
                <a:spcPts val="0"/>
              </a:spcBef>
              <a:spcAft>
                <a:spcPts val="0"/>
              </a:spcAft>
              <a:buNone/>
            </a:pPr>
            <a:r>
              <a:rPr lang="en-US"/>
              <a:t>- Ask for a show of hands for each law, who has heard of the law and who knows what it means? </a:t>
            </a:r>
            <a:endParaRPr/>
          </a:p>
          <a:p>
            <a:pPr indent="0" lvl="0" marL="0" rtl="0" algn="l">
              <a:spcBef>
                <a:spcPts val="0"/>
              </a:spcBef>
              <a:spcAft>
                <a:spcPts val="0"/>
              </a:spcAft>
              <a:buNone/>
            </a:pPr>
            <a:r>
              <a:rPr lang="en-US"/>
              <a:t>- Ask for a show of hands - who thinks Moore’s law has ended? </a:t>
            </a:r>
            <a:endParaRPr/>
          </a:p>
          <a:p>
            <a:pPr indent="0" lvl="0" marL="0" rtl="0" algn="l">
              <a:spcBef>
                <a:spcPts val="0"/>
              </a:spcBef>
              <a:spcAft>
                <a:spcPts val="0"/>
              </a:spcAft>
              <a:buNone/>
            </a:pPr>
            <a:r>
              <a:t/>
            </a:r>
            <a:endParaRPr/>
          </a:p>
        </p:txBody>
      </p:sp>
      <p:sp>
        <p:nvSpPr>
          <p:cNvPr id="241" name="Google Shape;241;g22dbf17e82d_12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2dcf9af772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2dcf9af772_1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Observation</a:t>
            </a:r>
            <a:r>
              <a:rPr lang="en-US"/>
              <a:t> - NOT A LAW</a:t>
            </a:r>
            <a:endParaRPr/>
          </a:p>
        </p:txBody>
      </p:sp>
      <p:sp>
        <p:nvSpPr>
          <p:cNvPr id="248" name="Google Shape;248;g22dcf9af772_1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2dcf9af772_1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2dcf9af772_1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 - Dennard Scaling broke down in 2005 - 2006 </a:t>
            </a:r>
            <a:r>
              <a:rPr lang="en-US"/>
              <a:t>when</a:t>
            </a:r>
            <a:r>
              <a:rPr lang="en-US"/>
              <a:t> the physical and thermal limitations made it impractical to run processors at higher frequencies, even Moore’s Law is still holding. This is one of the reasons multi-core processors started coming on the market around that time - You still get the energy </a:t>
            </a:r>
            <a:r>
              <a:rPr lang="en-US"/>
              <a:t>efficiency of reducing transistor size, and with smaller transistors, you can fit more cores on same space to provide more computing power that way.  It’s unclear  if “energy density remains the same” applies as the frequency increases, or assumes the features stay at the same frequency (I need to read the original paper to figure it out!)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 Robert Dennard also invented Dynamic Ram, which is pretty big achievement, too!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9" name="Google Shape;259;g22dcf9af772_1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2dcf9af772_1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2dcf9af772_1_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g22dcf9af772_1_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2dcf9af772_1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2dcf9af772_1_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g22dcf9af772_1_7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2dcf9af772_1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2dcf9af772_1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g22dcf9af772_1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30d81c63cf_1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30d81c63cf_1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g230d81c63cf_1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2dcf9af772_1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2dcf9af772_1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My paraphrasing of the law, so inaccuracies of the paraphrasing are all mine.</a:t>
            </a:r>
            <a:endParaRPr/>
          </a:p>
        </p:txBody>
      </p:sp>
      <p:sp>
        <p:nvSpPr>
          <p:cNvPr id="319" name="Google Shape;319;g22dcf9af772_1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30c8651859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30c8651859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g230c8651859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30d81c63cf_1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30d81c63cf_1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Understanding memory architectures is important because the different parallelization techniques and overall performance of a processor are largely dictated by the memory architecture: Threads can only be used on shared-memory systems, and since internal processor speeds are so much faster than memory access speeds, anything you can do to speed up memory performance will have a noticeable impact on performance</a:t>
            </a:r>
            <a:endParaRPr/>
          </a:p>
        </p:txBody>
      </p:sp>
      <p:sp>
        <p:nvSpPr>
          <p:cNvPr id="336" name="Google Shape;336;g230d81c63cf_1_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30d81c63cf_1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30d81c63cf_1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g230d81c63cf_1_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30d81c63cf_1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30d81c63cf_1_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g230d81c63cf_1_7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30d81c63cf_1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30d81c63cf_1_8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Don’t worry too much about whether or not the processors talked to each other, or the memory controllers talked to each other - I’m not a hardware expert, and different vendors probably tried different designs over the years. The important thing to </a:t>
            </a:r>
            <a:r>
              <a:rPr lang="en-US"/>
              <a:t>remember</a:t>
            </a:r>
            <a:r>
              <a:rPr lang="en-US"/>
              <a:t> is that the memory access was non-uniform</a:t>
            </a:r>
            <a:endParaRPr/>
          </a:p>
          <a:p>
            <a:pPr indent="0" lvl="0" marL="0" rtl="0" algn="l">
              <a:spcBef>
                <a:spcPts val="0"/>
              </a:spcBef>
              <a:spcAft>
                <a:spcPts val="0"/>
              </a:spcAft>
              <a:buNone/>
            </a:pPr>
            <a:r>
              <a:t/>
            </a:r>
            <a:endParaRPr/>
          </a:p>
        </p:txBody>
      </p:sp>
      <p:sp>
        <p:nvSpPr>
          <p:cNvPr id="373" name="Google Shape;373;g230d81c63cf_1_8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30d81c63cf_1_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230d81c63cf_1_1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Don’t worry too much about exactly whether the cache was located on the CPU or the memory controller  - I’m not a hardware expert, and different vendors probably tried different designs over the years. The important thing to remember is that coherent caches were necessary to really take advantage of caching on NUMA processors - you really can’t have caches on NUMA systems without it. </a:t>
            </a:r>
            <a:endParaRPr/>
          </a:p>
        </p:txBody>
      </p:sp>
      <p:sp>
        <p:nvSpPr>
          <p:cNvPr id="401" name="Google Shape;401;g230d81c63cf_1_1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30d81c63cf_1_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230d81c63cf_1_1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This is a simplified illustration of a modern processor, and may not be the best! It’s  meant to show the memory layers of memory architectures. At the lowest level, you have several cores that may share a memory controller and a level-2 cache. Since all the cores access RAM through the same </a:t>
            </a:r>
            <a:r>
              <a:rPr lang="en-US"/>
              <a:t>memory controller, this would be symmetric multiprocessing at this level. As you Zoom out, there’s additional levels of ccNUMA. </a:t>
            </a:r>
            <a:endParaRPr/>
          </a:p>
        </p:txBody>
      </p:sp>
      <p:sp>
        <p:nvSpPr>
          <p:cNvPr id="432" name="Google Shape;432;g230d81c63cf_1_15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30d81c63cf_1_3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230d81c63cf_1_3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g230d81c63cf_1_3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230c8651859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230c8651859_1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g230c8651859_1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230c8651859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230c8651859_1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For scaling this scaling discussion, the </a:t>
            </a:r>
            <a:r>
              <a:rPr lang="en-US"/>
              <a:t>important</a:t>
            </a:r>
            <a:r>
              <a:rPr lang="en-US"/>
              <a:t> number is the 601,728 CPU cores, since each one of those can be a single MPI rank or thread, which is what we are </a:t>
            </a:r>
            <a:r>
              <a:rPr lang="en-US"/>
              <a:t>currently talking about for scaling. Those threads or MPI ranks would then orchestrate the work performed on the GPUs, which are essentially very large vector processors. Those 601,728 cores is much greater than the 4000 cores of the Blacklight system, which to my knowledge is the largest shared memory system ever. As far as I know, the only limitation to Frontier’s scaling is power consumption. When we broke the petascale barrier in 2008 with Roadrunner, it was stated that it was impractical to go beyond 20 MW of power consumption for a cluster. Frontier’s power consumption was estimated to be around 34 MW, and actual measured runs used about 28 MW. </a:t>
            </a:r>
            <a:endParaRPr/>
          </a:p>
        </p:txBody>
      </p:sp>
      <p:sp>
        <p:nvSpPr>
          <p:cNvPr id="564" name="Google Shape;564;g230c8651859_1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230d81c63cf_1_3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230d81c63cf_1_3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g230d81c63cf_1_3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22dcf9af772_1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22dcf9af772_1_10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Threads are considered lightweight because once the parent process is started, creating a new thread takes less effort than creating another process, since there’s no need to allocate the thread its own memory space, and other resources. </a:t>
            </a:r>
            <a:endParaRPr/>
          </a:p>
        </p:txBody>
      </p:sp>
      <p:sp>
        <p:nvSpPr>
          <p:cNvPr id="580" name="Google Shape;580;g22dcf9af772_1_10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230d81c63cf_1_3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230d81c63cf_1_3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g230d81c63cf_1_38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230c8651859_1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230c8651859_1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Scalar processing  - applying a single instruction to a single set of data</a:t>
            </a:r>
            <a:endParaRPr/>
          </a:p>
          <a:p>
            <a:pPr indent="0" lvl="0" marL="0" rtl="0" algn="l">
              <a:spcBef>
                <a:spcPts val="0"/>
              </a:spcBef>
              <a:spcAft>
                <a:spcPts val="0"/>
              </a:spcAft>
              <a:buNone/>
            </a:pPr>
            <a:r>
              <a:rPr lang="en-US"/>
              <a:t>Vector processing - </a:t>
            </a:r>
            <a:r>
              <a:rPr lang="en-US"/>
              <a:t>applying</a:t>
            </a:r>
            <a:r>
              <a:rPr lang="en-US"/>
              <a:t> the same </a:t>
            </a:r>
            <a:r>
              <a:rPr lang="en-US"/>
              <a:t>instructions</a:t>
            </a:r>
            <a:r>
              <a:rPr lang="en-US"/>
              <a:t> to multiple sets of data</a:t>
            </a:r>
            <a:endParaRPr/>
          </a:p>
          <a:p>
            <a:pPr indent="0" lvl="0" marL="0" rtl="0" algn="l">
              <a:spcBef>
                <a:spcPts val="0"/>
              </a:spcBef>
              <a:spcAft>
                <a:spcPts val="0"/>
              </a:spcAft>
              <a:buNone/>
            </a:pPr>
            <a:r>
              <a:rPr lang="en-US"/>
              <a:t>Vector processing can provide enormous speed up, but is not suited to sections of code where there is any kind of branching, since the condition checking slows down the performance. GPU accelerators are </a:t>
            </a:r>
            <a:r>
              <a:rPr lang="en-US"/>
              <a:t>essentially just massive vector processors, and most of the FLOPS performance in newer cores has come from increasing the size of the vector registers so that more numbers can be operated on in a single vector instruction.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early days of supercomputing (crays and such) the exotic processors often were vector processors. Then the performance of general-purpose processors improved to the point that the cost and limited applications of vector processors was no longer practical, they died our. With the end of Dennard Scaling in the early mid-2000s, vector processing is making a comeback, both in the form of GPUs and general-purpose cores like Intel Xeon and AMD EPYC processors which have Vector processing units that implement the AVX instruction sets. The Fugaku supercomputer uses 64-bit Arm-based Fujitsu processors with vector extensions. </a:t>
            </a:r>
            <a:endParaRPr/>
          </a:p>
        </p:txBody>
      </p:sp>
      <p:sp>
        <p:nvSpPr>
          <p:cNvPr id="625" name="Google Shape;625;g230c8651859_1_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230c8651859_1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230c8651859_1_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SISD - Scalar processors - </a:t>
            </a:r>
            <a:r>
              <a:rPr lang="en-US"/>
              <a:t>traditional</a:t>
            </a:r>
            <a:r>
              <a:rPr lang="en-US"/>
              <a:t> computer processing</a:t>
            </a:r>
            <a:br>
              <a:rPr lang="en-US"/>
            </a:br>
            <a:r>
              <a:rPr lang="en-US"/>
              <a:t>SIMD - Vector processors - specialized vector processors of old supercomputers, and even some modern ones (K computer), GPUs, AVX </a:t>
            </a:r>
            <a:endParaRPr/>
          </a:p>
          <a:p>
            <a:pPr indent="0" lvl="0" marL="0" rtl="0" algn="l">
              <a:spcBef>
                <a:spcPts val="0"/>
              </a:spcBef>
              <a:spcAft>
                <a:spcPts val="0"/>
              </a:spcAft>
              <a:buNone/>
            </a:pPr>
            <a:r>
              <a:rPr lang="en-US"/>
              <a:t>instructions in modern processors </a:t>
            </a:r>
            <a:endParaRPr/>
          </a:p>
          <a:p>
            <a:pPr indent="0" lvl="0" marL="0" rtl="0" algn="l">
              <a:spcBef>
                <a:spcPts val="0"/>
              </a:spcBef>
              <a:spcAft>
                <a:spcPts val="0"/>
              </a:spcAft>
              <a:buNone/>
            </a:pPr>
            <a:r>
              <a:rPr lang="en-US"/>
              <a:t>MIMD - Rare - only used in fault-tolerant systems: Examples: redundant computer </a:t>
            </a:r>
            <a:r>
              <a:rPr lang="en-US"/>
              <a:t>systems used in space missions, etc. </a:t>
            </a:r>
            <a:endParaRPr/>
          </a:p>
          <a:p>
            <a:pPr indent="0" lvl="0" marL="0" rtl="0" algn="l">
              <a:spcBef>
                <a:spcPts val="0"/>
              </a:spcBef>
              <a:spcAft>
                <a:spcPts val="0"/>
              </a:spcAft>
              <a:buNone/>
            </a:pPr>
            <a:r>
              <a:rPr lang="en-US"/>
              <a:t>MIMD - Modern parallel computing. Each MPI process (rank) is a separate process (multiple instructions)  operating on it’s own set of data. </a:t>
            </a:r>
            <a:endParaRPr/>
          </a:p>
        </p:txBody>
      </p:sp>
      <p:sp>
        <p:nvSpPr>
          <p:cNvPr id="640" name="Google Shape;640;g230c8651859_1_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22dcf9af772_1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22dcf9af772_1_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g22dcf9af772_1_8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230f3c2a219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230f3c2a219_1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9" name="Google Shape;659;g230f3c2a219_1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230f3c2a219_1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230f3c2a219_1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MPI is an open-standard that has been around since the 1990s to standardize the API to the MPI libraries that different Unix vendors had created over the years. It simplifies the programming necessary for HPC applications to coordinate and communicate with each other. </a:t>
            </a:r>
            <a:endParaRPr/>
          </a:p>
          <a:p>
            <a:pPr indent="0" lvl="0" marL="0" rtl="0" algn="l">
              <a:spcBef>
                <a:spcPts val="0"/>
              </a:spcBef>
              <a:spcAft>
                <a:spcPts val="0"/>
              </a:spcAft>
              <a:buNone/>
            </a:pPr>
            <a:r>
              <a:rPr lang="en-US"/>
              <a:t>PVM is largely a dead technology, but I include it here for educational purposes. It’s purpose is similar to MPI, but it relied on sending packed buffers between processes, </a:t>
            </a:r>
            <a:r>
              <a:rPr lang="en-US"/>
              <a:t>which</a:t>
            </a:r>
            <a:r>
              <a:rPr lang="en-US"/>
              <a:t> required extra programming steps to pack the buffers on the sender, and then unpack the buffers on the receiver - not very programmer friendly! </a:t>
            </a:r>
            <a:endParaRPr/>
          </a:p>
          <a:p>
            <a:pPr indent="0" lvl="0" marL="0" rtl="0" algn="l">
              <a:spcBef>
                <a:spcPts val="0"/>
              </a:spcBef>
              <a:spcAft>
                <a:spcPts val="0"/>
              </a:spcAft>
              <a:buNone/>
            </a:pPr>
            <a:r>
              <a:rPr lang="en-US"/>
              <a:t>MPI and PVM are implemented as libraries. MPI implementations are available for many different languages: C, C++, </a:t>
            </a:r>
            <a:r>
              <a:rPr lang="en-US"/>
              <a:t>Fortran</a:t>
            </a:r>
            <a:r>
              <a:rPr lang="en-US"/>
              <a:t>, </a:t>
            </a:r>
            <a:r>
              <a:rPr lang="en-US"/>
              <a:t>Python</a:t>
            </a:r>
            <a:r>
              <a:rPr lang="en-US"/>
              <a:t>, etc. Any compiler that understands those languages can use use MPI.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OpenMP is the most common </a:t>
            </a:r>
            <a:r>
              <a:rPr lang="en-US"/>
              <a:t>threading</a:t>
            </a:r>
            <a:r>
              <a:rPr lang="en-US"/>
              <a:t> technique for HPC. It is implemented as an extension of the languages, so the compilers must understand </a:t>
            </a:r>
            <a:br>
              <a:rPr lang="en-US"/>
            </a:br>
            <a:br>
              <a:rPr lang="en-US"/>
            </a:br>
            <a:r>
              <a:rPr lang="en-US"/>
              <a:t>OpenMP is the most common threading model used for HPC. It is implemented as “pragmas” that extend a language, so the compiler used to compile OpenMP programs must support OpenMP.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reality, most MPI implementations can detect when communication is going on between processes on the same node and use shared-memory in those situations, so there’s only a small performance penalty, if any,  for using MPI within a node. To maximize performance, it’s not uncommon to use “hybrid” programming where OpenMP is used within a node, and MPI is used internode communication.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While there are a number of ways for different programs or threads to </a:t>
            </a:r>
            <a:r>
              <a:rPr lang="en-US"/>
              <a:t>communicate</a:t>
            </a:r>
            <a:r>
              <a:rPr lang="en-US"/>
              <a:t>, both MPI and OpenMP act as abstractions layers that handle the details of these communications to make it easier for the scientific programmer to do their job, and they are also optimized for the work/communications patterns used by these jobs. </a:t>
            </a:r>
            <a:endParaRPr/>
          </a:p>
        </p:txBody>
      </p:sp>
      <p:sp>
        <p:nvSpPr>
          <p:cNvPr id="672" name="Google Shape;672;g230f3c2a219_1_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230f3c2a219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230f3c2a219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 think this simple example is a great example of how HPC works.  It demonstrates decomposing a task into smaller subtasks, and using collective operations (scatter and gather in this case) to work as a group to sum up all the subtotals, and then redistribute that answer to all the other nodes. Unfortunately, this example leaves out a lot of important details…</a:t>
            </a:r>
            <a:endParaRPr/>
          </a:p>
        </p:txBody>
      </p:sp>
      <p:sp>
        <p:nvSpPr>
          <p:cNvPr id="681" name="Google Shape;681;g230f3c2a219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230f3c2a219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230f3c2a219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This slide provides a better illustration of how communications for scatter and gather operations work. It shows the “fan-in” pattern used in the gather operation, and the “fan-out” </a:t>
            </a:r>
            <a:r>
              <a:rPr lang="en-US"/>
              <a:t>operation</a:t>
            </a:r>
            <a:r>
              <a:rPr lang="en-US"/>
              <a:t> used in the scatter operation. However, even this is simplified so I can fit it on one slide legibly (and because my slide animation skills stink!) - In the gather operation, I’m overlapping communication and adding in a single step. In reality, process one would communicate with Process 2, and then process 2 would do the addition, etc. In the scatter operation, Process 3 would communicate with only Process 2, and then in the next step, as process 2 is communication with process 1, it would </a:t>
            </a:r>
            <a:r>
              <a:rPr lang="en-US"/>
              <a:t>communicate</a:t>
            </a:r>
            <a:r>
              <a:rPr lang="en-US"/>
              <a:t> with Process 4. For the final step, either Process 2,3, or 1 would communicate with Process 5? Does everyone understand that? </a:t>
            </a:r>
            <a:br>
              <a:rPr lang="en-US"/>
            </a:br>
            <a:br>
              <a:rPr lang="en-US"/>
            </a:br>
            <a:r>
              <a:rPr lang="en-US"/>
              <a:t>Even with threads, a similar pattern would be used for the gather operation, since only one thread can write to a memory address at time, but for read operations, multiple threads can read the same address at the same time.  </a:t>
            </a:r>
            <a:endParaRPr/>
          </a:p>
        </p:txBody>
      </p:sp>
      <p:sp>
        <p:nvSpPr>
          <p:cNvPr id="711" name="Google Shape;711;g230f3c2a219_0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230f3c2a219_0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230f3c2a219_0_1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Ideally we want our job to scale perfectly linearly - that is if we double the number of cores being used, our job should take exactly half the time to run. In reality, that’s rarely, if ever, going to happen. Once different processes have to communicate with each other, there’s always going to be a performance cost for that. Ideally, that will be minimal, and the job will still scale largely linearly, if not at a </a:t>
            </a:r>
            <a:r>
              <a:rPr lang="en-US"/>
              <a:t>perfect</a:t>
            </a:r>
            <a:r>
              <a:rPr lang="en-US"/>
              <a:t> 1:1, as shown by the green line in this graph. The red line, which I’ve hand-drawn in (obviously) show what you may get with some codes: It scales line linearly up to a point. Then you hit an inflection point where communications starts to hinder performance and you enter a </a:t>
            </a:r>
            <a:r>
              <a:rPr lang="en-US"/>
              <a:t>regions</a:t>
            </a:r>
            <a:r>
              <a:rPr lang="en-US"/>
              <a:t> of diminishing returns as you scale to more and cores. You may eventually reach </a:t>
            </a:r>
            <a:r>
              <a:rPr lang="en-US"/>
              <a:t>a point where the performance curve flattens out and or even go negative. Before doing production runs on a new code, scaling studies should be done by varying the number of cores  for a fixed problem size and graphing the results. It’s okay to run in a region of diminishing returns, but you don’t want to go too far into that region or hit a point of no scaling or negative scaling. </a:t>
            </a:r>
            <a:br>
              <a:rPr lang="en-US"/>
            </a:br>
            <a:br>
              <a:rPr lang="en-US"/>
            </a:br>
            <a:r>
              <a:rPr lang="en-US"/>
              <a:t>All jobs should eventually hit an inflection point where scaling starts to diminish, but better networking and algorithm design can work to push that point further down the horizontal axis. </a:t>
            </a:r>
            <a:endParaRPr/>
          </a:p>
        </p:txBody>
      </p:sp>
      <p:sp>
        <p:nvSpPr>
          <p:cNvPr id="745" name="Google Shape;745;g230f3c2a219_0_1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230f3c2a219_0_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230f3c2a219_0_1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In practice, when doing a scaling </a:t>
            </a:r>
            <a:r>
              <a:rPr lang="en-US"/>
              <a:t>study</a:t>
            </a:r>
            <a:r>
              <a:rPr lang="en-US"/>
              <a:t>, you probably won’t know exactly how many FLOPS it takes to complete your task, so you’ll most likely be measuring execution time. Since execution time is inversely proportional to performance, the resulting graph for a scaling study using execution time </a:t>
            </a:r>
            <a:r>
              <a:rPr lang="en-US"/>
              <a:t>would</a:t>
            </a:r>
            <a:r>
              <a:rPr lang="en-US"/>
              <a:t> be inverted compared to the previous graph, as this one </a:t>
            </a:r>
            <a:r>
              <a:rPr lang="en-US"/>
              <a:t>shows. You can see, the trends of linear scaling, inflection point, diminishing returns and negative scaling would still be evident. </a:t>
            </a:r>
            <a:endParaRPr/>
          </a:p>
        </p:txBody>
      </p:sp>
      <p:sp>
        <p:nvSpPr>
          <p:cNvPr id="772" name="Google Shape;772;g230f3c2a219_0_1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230f3c2a219_0_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230f3c2a219_0_19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There is a separate lecture on networking, so I don’t want to discuss networking too much here. Suffice it to say that with the level of communication that goes in a parallel job, and the sensitivity to latency and bandwidth of these jobs, the star topology of your typical datacenter network doesn’t scale to HPC. Various </a:t>
            </a:r>
            <a:r>
              <a:rPr lang="en-US"/>
              <a:t>network topologies have been used over the years, with these two being the most common. A 2-d torus network is shown here because it’s much easier to visualize and understand than a torus network with higher dimensions. This network is called a torus because if you were to draw it with the ends wrapped around each other differently, you’d get a donut-shape, which is also known as a torus. If the ends didn’t wrap around like that, you’d have a “mesh” network. The IBM Blue Genes had a flexible mesh network that could be used as a mesh or torus, with the Blue Gene /Q having a 5-D torus. The K-Computer in Japan used a 6-D torus known as the “tofu” network. Mesh networks are best where most of the communications are limited to “nearest neighbors” such as particle-in-cell applications. Mesh networks are typically included in the design of more exotic system. The Fat-tree topology is typically used for Infiniband networks, and is more general purpose, and simpler to set up. It’s common in the Top500 systems as well as smaller , general purpose clusters. </a:t>
            </a:r>
            <a:endParaRPr/>
          </a:p>
        </p:txBody>
      </p:sp>
      <p:sp>
        <p:nvSpPr>
          <p:cNvPr id="799" name="Google Shape;799;g230f3c2a219_0_19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230f3c2a219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230f3c2a219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9" name="Google Shape;809;g230f3c2a219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230f3c2a219_0_2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230f3c2a219_0_2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6" name="Google Shape;816;g230f3c2a219_0_2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3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6" name="Google Shape;36;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Logo&#10;&#10;Description automatically generated" id="39" name="Google Shape;39;p33"/>
          <p:cNvPicPr preferRelativeResize="0"/>
          <p:nvPr/>
        </p:nvPicPr>
        <p:blipFill rotWithShape="1">
          <a:blip r:embed="rId2">
            <a:alphaModFix/>
          </a:blip>
          <a:srcRect b="0" l="0" r="0" t="0"/>
          <a:stretch/>
        </p:blipFill>
        <p:spPr>
          <a:xfrm>
            <a:off x="11682735" y="6080776"/>
            <a:ext cx="442414" cy="77985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3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3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3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3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3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3" name="Google Shape;63;p3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4" name="Google Shape;64;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8"/>
          <p:cNvSpPr/>
          <p:nvPr>
            <p:ph idx="2" type="pic"/>
          </p:nvPr>
        </p:nvSpPr>
        <p:spPr>
          <a:xfrm>
            <a:off x="5183188" y="987425"/>
            <a:ext cx="6172200" cy="4873625"/>
          </a:xfrm>
          <a:prstGeom prst="rect">
            <a:avLst/>
          </a:prstGeom>
          <a:noFill/>
          <a:ln>
            <a:noFill/>
          </a:ln>
        </p:spPr>
      </p:sp>
      <p:sp>
        <p:nvSpPr>
          <p:cNvPr id="70" name="Google Shape;70;p3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4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text&#10;&#10;Description automatically generated" id="15" name="Google Shape;15;p29"/>
          <p:cNvPicPr preferRelativeResize="0"/>
          <p:nvPr/>
        </p:nvPicPr>
        <p:blipFill rotWithShape="1">
          <a:blip r:embed="rId1">
            <a:alphaModFix/>
          </a:blip>
          <a:srcRect b="0" l="0" r="0" t="0"/>
          <a:stretch/>
        </p:blipFill>
        <p:spPr>
          <a:xfrm>
            <a:off x="10471414" y="232265"/>
            <a:ext cx="1409171" cy="41067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hyperlink" Target="https://chat.openai.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1" Type="http://schemas.openxmlformats.org/officeDocument/2006/relationships/hyperlink" Target="https://commons.wikimedia.org/wiki/File:%E4%BA%AC%E3%82%B3%E3%83%B3%E3%83%94%E3%83%A5%E3%83%BC%E3%82%BF_(32588659510).jpg" TargetMode="External"/><Relationship Id="rId10" Type="http://schemas.openxmlformats.org/officeDocument/2006/relationships/hyperlink" Target="https://www.flickr.com/people/44861631@N02" TargetMode="External"/><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1.jpg"/><Relationship Id="rId4" Type="http://schemas.openxmlformats.org/officeDocument/2006/relationships/hyperlink" Target="https://commons.wikimedia.org/wiki/User:Manatee_tw" TargetMode="External"/><Relationship Id="rId9" Type="http://schemas.openxmlformats.org/officeDocument/2006/relationships/image" Target="../media/image17.jpg"/><Relationship Id="rId5" Type="http://schemas.openxmlformats.org/officeDocument/2006/relationships/hyperlink" Target="https://www.flickr.com/photos/manatee_tw/3585719603/" TargetMode="External"/><Relationship Id="rId6" Type="http://schemas.openxmlformats.org/officeDocument/2006/relationships/hyperlink" Target="https://www.flickr.com/photos/manatee_tw/3585719603/" TargetMode="External"/><Relationship Id="rId7" Type="http://schemas.openxmlformats.org/officeDocument/2006/relationships/image" Target="../media/image1.jpg"/><Relationship Id="rId8" Type="http://schemas.openxmlformats.org/officeDocument/2006/relationships/hyperlink" Target="https://en.wikipedia.org/wiki/Tianhe-1#/media/File:Tianhe-1_supercomputer.jp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hyperlink" Target="https://en.wikipedia.org/wiki/File:Molecular_dynamics_algorithm.pn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hyperlink" Target="https://commons.wikimedia.org/wiki/File:F1_CFD_Simulation.png" TargetMode="External"/><Relationship Id="rId5" Type="http://schemas.openxmlformats.org/officeDocument/2006/relationships/hyperlink" Target="https://commons.wikimedia.org/wiki/Category:CC-BY-SA-4.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hyperlink" Target="https://www.flickr.com/photos/intelfreepress/8267616249/in/photostream/" TargetMode="External"/><Relationship Id="rId5"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jpg"/><Relationship Id="rId4" Type="http://schemas.openxmlformats.org/officeDocument/2006/relationships/hyperlink" Target="https://commons.wikimedia.org/wiki/File:Robert_Dennard.jpg"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jpg"/><Relationship Id="rId4" Type="http://schemas.openxmlformats.org/officeDocument/2006/relationships/hyperlink" Target="https://commons.wikimedia.org/wiki/File:Amdahl_march_13_2008.jpg"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2.jpg"/><Relationship Id="rId4" Type="http://schemas.openxmlformats.org/officeDocument/2006/relationships/hyperlink" Target="https://commons.wikimedia.org/wiki/File:John_L_Gustafson_CEO.jp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hyperlink" Target="https://oit.princeton.edu/document/8"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22.jpg"/><Relationship Id="rId4" Type="http://schemas.openxmlformats.org/officeDocument/2006/relationships/hyperlink" Target="https://www.flickr.com/photos/olcf/52117623843/in/album-72177720299483343/"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9.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5.png"/><Relationship Id="rId4" Type="http://schemas.openxmlformats.org/officeDocument/2006/relationships/hyperlink" Target="https://en.wikipedia.org/wiki/Fat_tree#/media/File:Fat_tree_network.svg" TargetMode="External"/><Relationship Id="rId5" Type="http://schemas.openxmlformats.org/officeDocument/2006/relationships/image" Target="../media/image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sp>
        <p:nvSpPr>
          <p:cNvPr id="91" name="Google Shape;91;p1"/>
          <p:cNvSpPr txBox="1"/>
          <p:nvPr>
            <p:ph type="ctrTitle"/>
          </p:nvPr>
        </p:nvSpPr>
        <p:spPr>
          <a:xfrm>
            <a:off x="1524000" y="145891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Intro</a:t>
            </a:r>
            <a:r>
              <a:rPr lang="en-US"/>
              <a:t> </a:t>
            </a:r>
            <a:r>
              <a:rPr lang="en-US"/>
              <a:t>to </a:t>
            </a:r>
            <a:r>
              <a:rPr lang="en-US"/>
              <a:t>HPC</a:t>
            </a:r>
            <a:endParaRPr/>
          </a:p>
        </p:txBody>
      </p:sp>
      <p:sp>
        <p:nvSpPr>
          <p:cNvPr id="92" name="Google Shape;92;p1"/>
          <p:cNvSpPr txBox="1"/>
          <p:nvPr>
            <p:ph idx="1" type="subTitle"/>
          </p:nvPr>
        </p:nvSpPr>
        <p:spPr>
          <a:xfrm>
            <a:off x="1524000" y="3932238"/>
            <a:ext cx="9144000" cy="1655762"/>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chemeClr val="dk1"/>
              </a:buClr>
              <a:buSzPts val="2400"/>
              <a:buNone/>
            </a:pPr>
            <a:r>
              <a:rPr lang="en-US"/>
              <a:t>Prentice Bisbal</a:t>
            </a:r>
            <a:endParaRPr/>
          </a:p>
          <a:p>
            <a:pPr indent="0" lvl="0" marL="0" rtl="0" algn="ctr">
              <a:lnSpc>
                <a:spcPct val="90000"/>
              </a:lnSpc>
              <a:spcBef>
                <a:spcPts val="0"/>
              </a:spcBef>
              <a:spcAft>
                <a:spcPts val="0"/>
              </a:spcAft>
              <a:buClr>
                <a:schemeClr val="dk1"/>
              </a:buClr>
              <a:buSzPts val="2400"/>
              <a:buNone/>
            </a:pPr>
            <a:r>
              <a:rPr lang="en-US"/>
              <a:t>Senior HPC Engineer</a:t>
            </a:r>
            <a:endParaRPr/>
          </a:p>
          <a:p>
            <a:pPr indent="0" lvl="0" marL="0" rtl="0" algn="ctr">
              <a:lnSpc>
                <a:spcPct val="90000"/>
              </a:lnSpc>
              <a:spcBef>
                <a:spcPts val="0"/>
              </a:spcBef>
              <a:spcAft>
                <a:spcPts val="0"/>
              </a:spcAft>
              <a:buClr>
                <a:schemeClr val="dk1"/>
              </a:buClr>
              <a:buSzPts val="2400"/>
              <a:buNone/>
            </a:pPr>
            <a:r>
              <a:rPr lang="en-US"/>
              <a:t>Computational Sciences Department</a:t>
            </a:r>
            <a:endParaRPr/>
          </a:p>
          <a:p>
            <a:pPr indent="0" lvl="0" marL="0" rtl="0" algn="ctr">
              <a:lnSpc>
                <a:spcPct val="90000"/>
              </a:lnSpc>
              <a:spcBef>
                <a:spcPts val="0"/>
              </a:spcBef>
              <a:spcAft>
                <a:spcPts val="0"/>
              </a:spcAft>
              <a:buClr>
                <a:schemeClr val="dk1"/>
              </a:buClr>
              <a:buSzPts val="2400"/>
              <a:buNone/>
            </a:pPr>
            <a:r>
              <a:rPr lang="en-US"/>
              <a:t>Princeton Plasma Physics Laboratory</a:t>
            </a:r>
            <a:endParaRPr/>
          </a:p>
          <a:p>
            <a:pPr indent="0" lvl="0" marL="0" rtl="0" algn="ctr">
              <a:lnSpc>
                <a:spcPct val="90000"/>
              </a:lnSpc>
              <a:spcBef>
                <a:spcPts val="0"/>
              </a:spcBef>
              <a:spcAft>
                <a:spcPts val="0"/>
              </a:spcAft>
              <a:buClr>
                <a:schemeClr val="dk1"/>
              </a:buClr>
              <a:buSzPts val="2400"/>
              <a:buNone/>
            </a:pPr>
            <a:r>
              <a:rPr lang="en-US"/>
              <a:t>pbisbal@pppl.gov</a:t>
            </a:r>
            <a:endParaRPr/>
          </a:p>
        </p:txBody>
      </p:sp>
      <p:pic>
        <p:nvPicPr>
          <p:cNvPr id="93" name="Google Shape;93;p1"/>
          <p:cNvPicPr preferRelativeResize="0"/>
          <p:nvPr/>
        </p:nvPicPr>
        <p:blipFill rotWithShape="1">
          <a:blip r:embed="rId3">
            <a:alphaModFix/>
          </a:blip>
          <a:srcRect b="0" l="0" r="0" t="0"/>
          <a:stretch/>
        </p:blipFill>
        <p:spPr>
          <a:xfrm>
            <a:off x="6096000" y="1"/>
            <a:ext cx="6038850" cy="1511300"/>
          </a:xfrm>
          <a:prstGeom prst="rect">
            <a:avLst/>
          </a:prstGeom>
          <a:noFill/>
          <a:ln>
            <a:noFill/>
          </a:ln>
        </p:spPr>
      </p:pic>
      <p:pic>
        <p:nvPicPr>
          <p:cNvPr id="94" name="Google Shape;94;p1"/>
          <p:cNvPicPr preferRelativeResize="0"/>
          <p:nvPr/>
        </p:nvPicPr>
        <p:blipFill rotWithShape="1">
          <a:blip r:embed="rId4">
            <a:alphaModFix/>
          </a:blip>
          <a:srcRect b="0" l="0" r="0" t="0"/>
          <a:stretch/>
        </p:blipFill>
        <p:spPr>
          <a:xfrm>
            <a:off x="0" y="0"/>
            <a:ext cx="6038850" cy="1511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Agenda</a:t>
            </a:r>
            <a:endParaRPr/>
          </a:p>
        </p:txBody>
      </p:sp>
      <p:sp>
        <p:nvSpPr>
          <p:cNvPr id="101" name="Google Shape;101;p2"/>
          <p:cNvSpPr txBox="1"/>
          <p:nvPr>
            <p:ph idx="1" type="body"/>
          </p:nvPr>
        </p:nvSpPr>
        <p:spPr>
          <a:xfrm>
            <a:off x="732053" y="2036800"/>
            <a:ext cx="10012200" cy="40233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AutoNum type="arabicPeriod"/>
            </a:pPr>
            <a:r>
              <a:rPr lang="en-US"/>
              <a:t>What is HPC (discussion)? </a:t>
            </a:r>
            <a:endParaRPr/>
          </a:p>
          <a:p>
            <a:pPr indent="-342900" lvl="0" marL="457200" rtl="0" algn="l">
              <a:lnSpc>
                <a:spcPct val="90000"/>
              </a:lnSpc>
              <a:spcBef>
                <a:spcPts val="0"/>
              </a:spcBef>
              <a:spcAft>
                <a:spcPts val="0"/>
              </a:spcAft>
              <a:buSzPts val="1800"/>
              <a:buAutoNum type="arabicPeriod"/>
            </a:pPr>
            <a:r>
              <a:rPr lang="en-US"/>
              <a:t>Some </a:t>
            </a:r>
            <a:r>
              <a:rPr lang="en-US"/>
              <a:t>definitions</a:t>
            </a:r>
            <a:r>
              <a:rPr lang="en-US"/>
              <a:t> of HPC </a:t>
            </a:r>
            <a:endParaRPr/>
          </a:p>
          <a:p>
            <a:pPr indent="-342900" lvl="0" marL="457200" rtl="0" algn="l">
              <a:lnSpc>
                <a:spcPct val="90000"/>
              </a:lnSpc>
              <a:spcBef>
                <a:spcPts val="0"/>
              </a:spcBef>
              <a:spcAft>
                <a:spcPts val="0"/>
              </a:spcAft>
              <a:buSzPts val="1800"/>
              <a:buAutoNum type="arabicPeriod"/>
            </a:pPr>
            <a:r>
              <a:rPr lang="en-US"/>
              <a:t>What makes HPC unique? </a:t>
            </a:r>
            <a:endParaRPr/>
          </a:p>
          <a:p>
            <a:pPr indent="-342900" lvl="0" marL="457200" rtl="0" algn="l">
              <a:lnSpc>
                <a:spcPct val="90000"/>
              </a:lnSpc>
              <a:spcBef>
                <a:spcPts val="0"/>
              </a:spcBef>
              <a:spcAft>
                <a:spcPts val="0"/>
              </a:spcAft>
              <a:buSzPts val="1800"/>
              <a:buAutoNum type="arabicPeriod"/>
            </a:pPr>
            <a:r>
              <a:rPr lang="en-US"/>
              <a:t>Why do we need HPC?</a:t>
            </a:r>
            <a:endParaRPr/>
          </a:p>
          <a:p>
            <a:pPr indent="-342900" lvl="0" marL="457200" rtl="0" algn="l">
              <a:lnSpc>
                <a:spcPct val="90000"/>
              </a:lnSpc>
              <a:spcBef>
                <a:spcPts val="0"/>
              </a:spcBef>
              <a:spcAft>
                <a:spcPts val="0"/>
              </a:spcAft>
              <a:buSzPts val="1800"/>
              <a:buAutoNum type="arabicPeriod"/>
            </a:pPr>
            <a:r>
              <a:rPr lang="en-US"/>
              <a:t>Fundamental laws that govern HPC.</a:t>
            </a:r>
            <a:endParaRPr/>
          </a:p>
          <a:p>
            <a:pPr indent="-342900" lvl="0" marL="457200" rtl="0" algn="l">
              <a:lnSpc>
                <a:spcPct val="90000"/>
              </a:lnSpc>
              <a:spcBef>
                <a:spcPts val="0"/>
              </a:spcBef>
              <a:spcAft>
                <a:spcPts val="0"/>
              </a:spcAft>
              <a:buSzPts val="1800"/>
              <a:buAutoNum type="arabicPeriod"/>
            </a:pPr>
            <a:r>
              <a:rPr lang="en-US"/>
              <a:t>Parallelism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22dbf17e82d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What is HPC? </a:t>
            </a:r>
            <a:endParaRPr/>
          </a:p>
        </p:txBody>
      </p:sp>
      <p:sp>
        <p:nvSpPr>
          <p:cNvPr id="108" name="Google Shape;108;g22dbf17e82d_0_0"/>
          <p:cNvSpPr txBox="1"/>
          <p:nvPr>
            <p:ph idx="1" type="body"/>
          </p:nvPr>
        </p:nvSpPr>
        <p:spPr>
          <a:xfrm>
            <a:off x="759825" y="1747250"/>
            <a:ext cx="10515600" cy="4351200"/>
          </a:xfrm>
          <a:prstGeom prst="rect">
            <a:avLst/>
          </a:prstGeom>
        </p:spPr>
        <p:txBody>
          <a:bodyPr anchorCtr="0" anchor="ctr" bIns="45700" lIns="91425" spcFirstLastPara="1" rIns="91425" wrap="square" tIns="45700">
            <a:normAutofit/>
          </a:bodyPr>
          <a:lstStyle/>
          <a:p>
            <a:pPr indent="0" lvl="0" marL="0" rtl="0" algn="ctr">
              <a:spcBef>
                <a:spcPts val="1000"/>
              </a:spcBef>
              <a:spcAft>
                <a:spcPts val="0"/>
              </a:spcAft>
              <a:buNone/>
            </a:pPr>
            <a:r>
              <a:rPr lang="en-US" sz="10200"/>
              <a:t>?</a:t>
            </a:r>
            <a:endParaRPr sz="10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230f3c2a219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Synonyms for HPC?</a:t>
            </a:r>
            <a:endParaRPr/>
          </a:p>
        </p:txBody>
      </p:sp>
      <p:sp>
        <p:nvSpPr>
          <p:cNvPr id="115" name="Google Shape;115;g230f3c2a219_0_0"/>
          <p:cNvSpPr txBox="1"/>
          <p:nvPr>
            <p:ph idx="1" type="body"/>
          </p:nvPr>
        </p:nvSpPr>
        <p:spPr>
          <a:xfrm>
            <a:off x="838200" y="1825625"/>
            <a:ext cx="10515600" cy="4351200"/>
          </a:xfrm>
          <a:prstGeom prst="rect">
            <a:avLst/>
          </a:prstGeom>
        </p:spPr>
        <p:txBody>
          <a:bodyPr anchorCtr="0" anchor="ctr" bIns="45700" lIns="91425" spcFirstLastPara="1" rIns="91425" wrap="square" tIns="45700">
            <a:normAutofit/>
          </a:bodyPr>
          <a:lstStyle/>
          <a:p>
            <a:pPr indent="0" lvl="0" marL="457200" rtl="0" algn="ctr">
              <a:spcBef>
                <a:spcPts val="1000"/>
              </a:spcBef>
              <a:spcAft>
                <a:spcPts val="0"/>
              </a:spcAft>
              <a:buNone/>
            </a:pPr>
            <a:r>
              <a:rPr lang="en-US" sz="9600"/>
              <a:t>?</a:t>
            </a:r>
            <a:endParaRPr sz="9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22dbf17e82d_12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Synonyms for HPC?</a:t>
            </a:r>
            <a:endParaRPr/>
          </a:p>
        </p:txBody>
      </p:sp>
      <p:sp>
        <p:nvSpPr>
          <p:cNvPr id="122" name="Google Shape;122;g22dbf17e82d_12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AutoNum type="arabicPeriod"/>
            </a:pPr>
            <a:r>
              <a:rPr lang="en-US"/>
              <a:t>Scientific Computing</a:t>
            </a:r>
            <a:endParaRPr/>
          </a:p>
          <a:p>
            <a:pPr indent="-342900" lvl="0" marL="457200" rtl="0" algn="l">
              <a:spcBef>
                <a:spcPts val="0"/>
              </a:spcBef>
              <a:spcAft>
                <a:spcPts val="0"/>
              </a:spcAft>
              <a:buSzPts val="1800"/>
              <a:buAutoNum type="arabicPeriod"/>
            </a:pPr>
            <a:r>
              <a:rPr lang="en-US"/>
              <a:t>Research Computing</a:t>
            </a:r>
            <a:endParaRPr/>
          </a:p>
          <a:p>
            <a:pPr indent="-342900" lvl="0" marL="457200" rtl="0" algn="l">
              <a:spcBef>
                <a:spcPts val="0"/>
              </a:spcBef>
              <a:spcAft>
                <a:spcPts val="0"/>
              </a:spcAft>
              <a:buSzPts val="1800"/>
              <a:buAutoNum type="arabicPeriod"/>
            </a:pPr>
            <a:r>
              <a:rPr lang="en-US"/>
              <a:t>Parallel Computing</a:t>
            </a:r>
            <a:endParaRPr/>
          </a:p>
          <a:p>
            <a:pPr indent="0" lvl="0" marL="457200" rtl="0" algn="l">
              <a:spcBef>
                <a:spcPts val="10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22dbf17e82d_0_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ChatGPT</a:t>
            </a:r>
            <a:endParaRPr/>
          </a:p>
        </p:txBody>
      </p:sp>
      <p:pic>
        <p:nvPicPr>
          <p:cNvPr id="129" name="Google Shape;129;g22dbf17e82d_0_6"/>
          <p:cNvPicPr preferRelativeResize="0"/>
          <p:nvPr/>
        </p:nvPicPr>
        <p:blipFill>
          <a:blip r:embed="rId3">
            <a:alphaModFix/>
          </a:blip>
          <a:stretch>
            <a:fillRect/>
          </a:stretch>
        </p:blipFill>
        <p:spPr>
          <a:xfrm>
            <a:off x="2297951" y="1398250"/>
            <a:ext cx="8024124" cy="4936400"/>
          </a:xfrm>
          <a:prstGeom prst="rect">
            <a:avLst/>
          </a:prstGeom>
          <a:noFill/>
          <a:ln>
            <a:noFill/>
          </a:ln>
        </p:spPr>
      </p:pic>
      <p:sp>
        <p:nvSpPr>
          <p:cNvPr id="130" name="Google Shape;130;g22dbf17e82d_0_6"/>
          <p:cNvSpPr txBox="1"/>
          <p:nvPr/>
        </p:nvSpPr>
        <p:spPr>
          <a:xfrm>
            <a:off x="2688125" y="6333500"/>
            <a:ext cx="7553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source: </a:t>
            </a:r>
            <a:r>
              <a:rPr lang="en-US" u="sng">
                <a:solidFill>
                  <a:schemeClr val="hlink"/>
                </a:solidFill>
                <a:latin typeface="Calibri"/>
                <a:ea typeface="Calibri"/>
                <a:cs typeface="Calibri"/>
                <a:sym typeface="Calibri"/>
                <a:hlinkClick r:id="rId4"/>
              </a:rPr>
              <a:t>https://chat.openai.com</a:t>
            </a:r>
            <a:endParaRPr>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22dbf17e82d_0_1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Wikipedia</a:t>
            </a:r>
            <a:endParaRPr/>
          </a:p>
        </p:txBody>
      </p:sp>
      <p:pic>
        <p:nvPicPr>
          <p:cNvPr id="137" name="Google Shape;137;g22dbf17e82d_0_13"/>
          <p:cNvPicPr preferRelativeResize="0"/>
          <p:nvPr/>
        </p:nvPicPr>
        <p:blipFill>
          <a:blip r:embed="rId3">
            <a:alphaModFix/>
          </a:blip>
          <a:stretch>
            <a:fillRect/>
          </a:stretch>
        </p:blipFill>
        <p:spPr>
          <a:xfrm>
            <a:off x="394653" y="1572825"/>
            <a:ext cx="11402701" cy="4280400"/>
          </a:xfrm>
          <a:prstGeom prst="rect">
            <a:avLst/>
          </a:prstGeom>
          <a:noFill/>
          <a:ln>
            <a:noFill/>
          </a:ln>
        </p:spPr>
      </p:pic>
      <p:sp>
        <p:nvSpPr>
          <p:cNvPr id="138" name="Google Shape;138;g22dbf17e82d_0_13"/>
          <p:cNvSpPr txBox="1"/>
          <p:nvPr/>
        </p:nvSpPr>
        <p:spPr>
          <a:xfrm>
            <a:off x="3002825" y="6228575"/>
            <a:ext cx="675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source: https://en.wikipedia.org/wiki/High-performance_computing</a:t>
            </a:r>
            <a:endParaRPr>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22dbf17e82d_0_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My own definition of HPC</a:t>
            </a:r>
            <a:endParaRPr/>
          </a:p>
        </p:txBody>
      </p:sp>
      <p:sp>
        <p:nvSpPr>
          <p:cNvPr id="145" name="Google Shape;145;g22dbf17e82d_0_2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High-performance </a:t>
            </a:r>
            <a:r>
              <a:rPr lang="en-US"/>
              <a:t>computing (HPC)  the study and practice of using of computers to solve computational problems that require sustained computations (processors at or near 100% utilization) for long periods of time. These days this is achieved through the use of parallel programming techniques to allow multiple computers to provide more computational power and RAM than a single computer can provide.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22dcf9af772_1_13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HPC is the Formula 1 of Computing</a:t>
            </a:r>
            <a:endParaRPr/>
          </a:p>
        </p:txBody>
      </p:sp>
      <p:pic>
        <p:nvPicPr>
          <p:cNvPr id="152" name="Google Shape;152;g22dcf9af772_1_139"/>
          <p:cNvPicPr preferRelativeResize="0"/>
          <p:nvPr/>
        </p:nvPicPr>
        <p:blipFill>
          <a:blip r:embed="rId3">
            <a:alphaModFix/>
          </a:blip>
          <a:stretch>
            <a:fillRect/>
          </a:stretch>
        </p:blipFill>
        <p:spPr>
          <a:xfrm>
            <a:off x="1998250" y="1690825"/>
            <a:ext cx="8195502" cy="4609976"/>
          </a:xfrm>
          <a:prstGeom prst="rect">
            <a:avLst/>
          </a:prstGeom>
          <a:noFill/>
          <a:ln>
            <a:noFill/>
          </a:ln>
        </p:spPr>
      </p:pic>
      <p:sp>
        <p:nvSpPr>
          <p:cNvPr id="153" name="Google Shape;153;g22dcf9af772_1_139"/>
          <p:cNvSpPr txBox="1"/>
          <p:nvPr/>
        </p:nvSpPr>
        <p:spPr>
          <a:xfrm>
            <a:off x="2052600" y="6300800"/>
            <a:ext cx="808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source: https://twitter.com/redbullracing/status/1593227499588431874/photo/1</a:t>
            </a:r>
            <a:endParaRPr>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230d81c63cf_2_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HPC is also the space race of computing</a:t>
            </a:r>
            <a:endParaRPr/>
          </a:p>
        </p:txBody>
      </p:sp>
      <p:grpSp>
        <p:nvGrpSpPr>
          <p:cNvPr id="160" name="Google Shape;160;g230d81c63cf_2_3"/>
          <p:cNvGrpSpPr/>
          <p:nvPr/>
        </p:nvGrpSpPr>
        <p:grpSpPr>
          <a:xfrm>
            <a:off x="409585" y="1962855"/>
            <a:ext cx="3419354" cy="3103096"/>
            <a:chOff x="495300" y="1486050"/>
            <a:chExt cx="4021350" cy="3631901"/>
          </a:xfrm>
        </p:grpSpPr>
        <p:pic>
          <p:nvPicPr>
            <p:cNvPr id="161" name="Google Shape;161;g230d81c63cf_2_3"/>
            <p:cNvPicPr preferRelativeResize="0"/>
            <p:nvPr/>
          </p:nvPicPr>
          <p:blipFill>
            <a:blip r:embed="rId3">
              <a:alphaModFix/>
            </a:blip>
            <a:stretch>
              <a:fillRect/>
            </a:stretch>
          </p:blipFill>
          <p:spPr>
            <a:xfrm>
              <a:off x="495300" y="1486050"/>
              <a:ext cx="4002552" cy="2646390"/>
            </a:xfrm>
            <a:prstGeom prst="rect">
              <a:avLst/>
            </a:prstGeom>
            <a:noFill/>
            <a:ln>
              <a:noFill/>
            </a:ln>
          </p:spPr>
        </p:pic>
        <p:sp>
          <p:nvSpPr>
            <p:cNvPr id="162" name="Google Shape;162;g230d81c63cf_2_3"/>
            <p:cNvSpPr txBox="1"/>
            <p:nvPr/>
          </p:nvSpPr>
          <p:spPr>
            <a:xfrm>
              <a:off x="514050" y="4217351"/>
              <a:ext cx="4002600" cy="9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Earth Simulator, Japan ( 2002)</a:t>
              </a:r>
              <a:endParaRPr>
                <a:latin typeface="Calibri"/>
                <a:ea typeface="Calibri"/>
                <a:cs typeface="Calibri"/>
                <a:sym typeface="Calibri"/>
              </a:endParaRPr>
            </a:p>
            <a:p>
              <a:pPr indent="0" lvl="0" marL="0" rtl="0" algn="l">
                <a:spcBef>
                  <a:spcPts val="0"/>
                </a:spcBef>
                <a:spcAft>
                  <a:spcPts val="0"/>
                </a:spcAft>
                <a:buNone/>
              </a:pPr>
              <a:r>
                <a:rPr lang="en-US" sz="800">
                  <a:latin typeface="Calibri"/>
                  <a:ea typeface="Calibri"/>
                  <a:cs typeface="Calibri"/>
                  <a:sym typeface="Calibri"/>
                </a:rPr>
                <a:t>Source: </a:t>
              </a:r>
              <a:r>
                <a:rPr lang="en-US" sz="800" u="sng">
                  <a:solidFill>
                    <a:schemeClr val="hlink"/>
                  </a:solidFill>
                  <a:hlinkClick r:id="rId4"/>
                </a:rPr>
                <a:t>Manatee_tw</a:t>
              </a:r>
              <a:r>
                <a:rPr lang="en-US" sz="800">
                  <a:solidFill>
                    <a:schemeClr val="dk1"/>
                  </a:solidFill>
                </a:rPr>
                <a:t> -</a:t>
              </a:r>
              <a:r>
                <a:rPr lang="en-US" sz="800">
                  <a:solidFill>
                    <a:schemeClr val="dk1"/>
                  </a:solidFill>
                  <a:uFill>
                    <a:noFill/>
                  </a:uFill>
                  <a:hlinkClick r:id="rId5">
                    <a:extLst>
                      <a:ext uri="{A12FA001-AC4F-418D-AE19-62706E023703}">
                        <ahyp:hlinkClr val="tx"/>
                      </a:ext>
                    </a:extLst>
                  </a:hlinkClick>
                </a:rPr>
                <a:t> </a:t>
              </a:r>
              <a:r>
                <a:rPr lang="en-US" sz="800" u="sng">
                  <a:solidFill>
                    <a:schemeClr val="hlink"/>
                  </a:solidFill>
                  <a:hlinkClick r:id="rId6"/>
                </a:rPr>
                <a:t>https://www.flickr.com/photos/manatee_tw/3585719603/</a:t>
              </a:r>
              <a:endParaRPr sz="800" u="sng">
                <a:solidFill>
                  <a:schemeClr val="hlink"/>
                </a:solidFill>
              </a:endParaRPr>
            </a:p>
            <a:p>
              <a:pPr indent="0" lvl="0" marL="0" rtl="0" algn="l">
                <a:spcBef>
                  <a:spcPts val="0"/>
                </a:spcBef>
                <a:spcAft>
                  <a:spcPts val="0"/>
                </a:spcAft>
                <a:buNone/>
              </a:pPr>
              <a:r>
                <a:rPr lang="en-US" sz="800">
                  <a:latin typeface="Calibri"/>
                  <a:ea typeface="Calibri"/>
                  <a:cs typeface="Calibri"/>
                  <a:sym typeface="Calibri"/>
                </a:rPr>
                <a:t>License: CC BY-SA 4.0</a:t>
              </a:r>
              <a:endParaRPr sz="800">
                <a:latin typeface="Calibri"/>
                <a:ea typeface="Calibri"/>
                <a:cs typeface="Calibri"/>
                <a:sym typeface="Calibri"/>
              </a:endParaRPr>
            </a:p>
          </p:txBody>
        </p:sp>
      </p:grpSp>
      <p:grpSp>
        <p:nvGrpSpPr>
          <p:cNvPr id="163" name="Google Shape;163;g230d81c63cf_2_3"/>
          <p:cNvGrpSpPr/>
          <p:nvPr/>
        </p:nvGrpSpPr>
        <p:grpSpPr>
          <a:xfrm>
            <a:off x="4336245" y="1971833"/>
            <a:ext cx="3300445" cy="3085167"/>
            <a:chOff x="5229225" y="1586075"/>
            <a:chExt cx="4021500" cy="3880225"/>
          </a:xfrm>
        </p:grpSpPr>
        <p:pic>
          <p:nvPicPr>
            <p:cNvPr id="164" name="Google Shape;164;g230d81c63cf_2_3"/>
            <p:cNvPicPr preferRelativeResize="0"/>
            <p:nvPr/>
          </p:nvPicPr>
          <p:blipFill>
            <a:blip r:embed="rId7">
              <a:alphaModFix/>
            </a:blip>
            <a:stretch>
              <a:fillRect/>
            </a:stretch>
          </p:blipFill>
          <p:spPr>
            <a:xfrm>
              <a:off x="5240575" y="1586075"/>
              <a:ext cx="3524026" cy="2643025"/>
            </a:xfrm>
            <a:prstGeom prst="rect">
              <a:avLst/>
            </a:prstGeom>
            <a:noFill/>
            <a:ln>
              <a:noFill/>
            </a:ln>
          </p:spPr>
        </p:pic>
        <p:sp>
          <p:nvSpPr>
            <p:cNvPr id="165" name="Google Shape;165;g230d81c63cf_2_3"/>
            <p:cNvSpPr txBox="1"/>
            <p:nvPr/>
          </p:nvSpPr>
          <p:spPr>
            <a:xfrm>
              <a:off x="5229225" y="4343400"/>
              <a:ext cx="4021500" cy="112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Tianhe-1, China (2009)</a:t>
              </a:r>
              <a:br>
                <a:rPr lang="en-US">
                  <a:latin typeface="Calibri"/>
                  <a:ea typeface="Calibri"/>
                  <a:cs typeface="Calibri"/>
                  <a:sym typeface="Calibri"/>
                </a:rPr>
              </a:br>
              <a:r>
                <a:rPr lang="en-US" sz="800">
                  <a:latin typeface="Calibri"/>
                  <a:ea typeface="Calibri"/>
                  <a:cs typeface="Calibri"/>
                  <a:sym typeface="Calibri"/>
                </a:rPr>
                <a:t>Source: Nakrut - </a:t>
              </a:r>
              <a:r>
                <a:rPr lang="en-US" sz="800" u="sng">
                  <a:solidFill>
                    <a:schemeClr val="hlink"/>
                  </a:solidFill>
                  <a:latin typeface="Calibri"/>
                  <a:ea typeface="Calibri"/>
                  <a:cs typeface="Calibri"/>
                  <a:sym typeface="Calibri"/>
                  <a:hlinkClick r:id="rId8"/>
                </a:rPr>
                <a:t>https://en.wikipedia.org/wiki/Tianhe-1#/media/File:Tianhe-1_supercomputer.jpg</a:t>
              </a:r>
              <a:endParaRPr sz="800">
                <a:latin typeface="Calibri"/>
                <a:ea typeface="Calibri"/>
                <a:cs typeface="Calibri"/>
                <a:sym typeface="Calibri"/>
              </a:endParaRPr>
            </a:p>
            <a:p>
              <a:pPr indent="0" lvl="0" marL="0" rtl="0" algn="l">
                <a:spcBef>
                  <a:spcPts val="0"/>
                </a:spcBef>
                <a:spcAft>
                  <a:spcPts val="0"/>
                </a:spcAft>
                <a:buNone/>
              </a:pPr>
              <a:r>
                <a:rPr lang="en-US" sz="800">
                  <a:latin typeface="Calibri"/>
                  <a:ea typeface="Calibri"/>
                  <a:cs typeface="Calibri"/>
                  <a:sym typeface="Calibri"/>
                </a:rPr>
                <a:t>LIcense: CC BY-SA 4.0</a:t>
              </a:r>
              <a:endParaRPr sz="800">
                <a:latin typeface="Calibri"/>
                <a:ea typeface="Calibri"/>
                <a:cs typeface="Calibri"/>
                <a:sym typeface="Calibri"/>
              </a:endParaRPr>
            </a:p>
          </p:txBody>
        </p:sp>
      </p:grpSp>
      <p:grpSp>
        <p:nvGrpSpPr>
          <p:cNvPr id="166" name="Google Shape;166;g230d81c63cf_2_3"/>
          <p:cNvGrpSpPr/>
          <p:nvPr/>
        </p:nvGrpSpPr>
        <p:grpSpPr>
          <a:xfrm>
            <a:off x="8144001" y="1971825"/>
            <a:ext cx="3122599" cy="3713425"/>
            <a:chOff x="7501051" y="1500350"/>
            <a:chExt cx="3122599" cy="3713425"/>
          </a:xfrm>
        </p:grpSpPr>
        <p:pic>
          <p:nvPicPr>
            <p:cNvPr id="167" name="Google Shape;167;g230d81c63cf_2_3"/>
            <p:cNvPicPr preferRelativeResize="0"/>
            <p:nvPr/>
          </p:nvPicPr>
          <p:blipFill>
            <a:blip r:embed="rId9">
              <a:alphaModFix/>
            </a:blip>
            <a:stretch>
              <a:fillRect/>
            </a:stretch>
          </p:blipFill>
          <p:spPr>
            <a:xfrm>
              <a:off x="7501051" y="1500350"/>
              <a:ext cx="3122599" cy="2081732"/>
            </a:xfrm>
            <a:prstGeom prst="rect">
              <a:avLst/>
            </a:prstGeom>
            <a:noFill/>
            <a:ln>
              <a:noFill/>
            </a:ln>
          </p:spPr>
        </p:pic>
        <p:sp>
          <p:nvSpPr>
            <p:cNvPr id="168" name="Google Shape;168;g230d81c63cf_2_3"/>
            <p:cNvSpPr txBox="1"/>
            <p:nvPr/>
          </p:nvSpPr>
          <p:spPr>
            <a:xfrm>
              <a:off x="7597900" y="3582075"/>
              <a:ext cx="2928900" cy="163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K Computer, Japan (2011)</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Source: </a:t>
              </a:r>
              <a:r>
                <a:rPr lang="en-US" sz="1100" u="sng">
                  <a:solidFill>
                    <a:schemeClr val="hlink"/>
                  </a:solidFill>
                  <a:hlinkClick r:id="rId10"/>
                </a:rPr>
                <a:t>Toshihiro Matsui</a:t>
              </a:r>
              <a:r>
                <a:rPr lang="en-US" sz="1100">
                  <a:solidFill>
                    <a:schemeClr val="dk1"/>
                  </a:solidFill>
                </a:rPr>
                <a:t> from Tsukuba and Yokohama, Japan, </a:t>
              </a:r>
              <a:br>
                <a:rPr lang="en-US" sz="1100">
                  <a:solidFill>
                    <a:schemeClr val="dk1"/>
                  </a:solidFill>
                </a:rPr>
              </a:br>
              <a:r>
                <a:rPr lang="en-US" sz="1100" u="sng">
                  <a:solidFill>
                    <a:schemeClr val="hlink"/>
                  </a:solidFill>
                  <a:hlinkClick r:id="rId11"/>
                </a:rPr>
                <a:t>https://commons.wikimedia.org/wiki/File:%E4%BA%AC%E3%82%B3%E3%83%B3%E3%83%94%E3%83%A5%E3%83%BC%E3%82%BF_(32588659510).jpg</a:t>
              </a:r>
              <a:br>
                <a:rPr lang="en-US" sz="1100">
                  <a:solidFill>
                    <a:schemeClr val="dk1"/>
                  </a:solidFill>
                </a:rPr>
              </a:br>
              <a:r>
                <a:rPr lang="en-US" sz="1100">
                  <a:solidFill>
                    <a:schemeClr val="dk1"/>
                  </a:solidFill>
                </a:rPr>
                <a:t>License: CC BY 2.0</a:t>
              </a:r>
              <a:endParaRPr>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22dbf17e82d_12_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Why do we need HPC?</a:t>
            </a:r>
            <a:endParaRPr/>
          </a:p>
        </p:txBody>
      </p:sp>
      <p:sp>
        <p:nvSpPr>
          <p:cNvPr id="175" name="Google Shape;175;g22dbf17e82d_12_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Compared</a:t>
            </a:r>
            <a:r>
              <a:rPr lang="en-US"/>
              <a:t> to physical experiments, simulations using HPC are </a:t>
            </a:r>
            <a:endParaRPr/>
          </a:p>
          <a:p>
            <a:pPr indent="-342900" lvl="0" marL="914400" rtl="0" algn="l">
              <a:spcBef>
                <a:spcPts val="1000"/>
              </a:spcBef>
              <a:spcAft>
                <a:spcPts val="0"/>
              </a:spcAft>
              <a:buSzPts val="1800"/>
              <a:buAutoNum type="arabicPeriod"/>
            </a:pPr>
            <a:r>
              <a:rPr lang="en-US"/>
              <a:t>Cheaper</a:t>
            </a:r>
            <a:endParaRPr/>
          </a:p>
          <a:p>
            <a:pPr indent="-342900" lvl="0" marL="914400" rtl="0" algn="l">
              <a:spcBef>
                <a:spcPts val="0"/>
              </a:spcBef>
              <a:spcAft>
                <a:spcPts val="0"/>
              </a:spcAft>
              <a:buSzPts val="1800"/>
              <a:buAutoNum type="arabicPeriod"/>
            </a:pPr>
            <a:r>
              <a:rPr lang="en-US"/>
              <a:t>Faster</a:t>
            </a:r>
            <a:endParaRPr/>
          </a:p>
          <a:p>
            <a:pPr indent="-342900" lvl="0" marL="914400" rtl="0" algn="l">
              <a:spcBef>
                <a:spcPts val="0"/>
              </a:spcBef>
              <a:spcAft>
                <a:spcPts val="0"/>
              </a:spcAft>
              <a:buSzPts val="1800"/>
              <a:buAutoNum type="arabicPeriod"/>
            </a:pPr>
            <a:r>
              <a:rPr lang="en-US"/>
              <a:t>More practical</a:t>
            </a:r>
            <a:endParaRPr/>
          </a:p>
          <a:p>
            <a:pPr indent="0" lvl="0" marL="0" rtl="0" algn="l">
              <a:spcBef>
                <a:spcPts val="1000"/>
              </a:spcBef>
              <a:spcAft>
                <a:spcPts val="0"/>
              </a:spcAft>
              <a:buNone/>
            </a:pPr>
            <a:r>
              <a:rPr lang="en-US"/>
              <a:t>And allow us to visualize things we can’t normally see:</a:t>
            </a:r>
            <a:endParaRPr/>
          </a:p>
          <a:p>
            <a:pPr indent="-342900" lvl="0" marL="914400" rtl="0" algn="l">
              <a:spcBef>
                <a:spcPts val="1000"/>
              </a:spcBef>
              <a:spcAft>
                <a:spcPts val="0"/>
              </a:spcAft>
              <a:buSzPts val="1800"/>
              <a:buAutoNum type="arabicPeriod"/>
            </a:pPr>
            <a:r>
              <a:rPr lang="en-US"/>
              <a:t>Molecular dynamics</a:t>
            </a:r>
            <a:endParaRPr/>
          </a:p>
          <a:p>
            <a:pPr indent="-342900" lvl="0" marL="914400" rtl="0" algn="l">
              <a:spcBef>
                <a:spcPts val="0"/>
              </a:spcBef>
              <a:spcAft>
                <a:spcPts val="0"/>
              </a:spcAft>
              <a:buSzPts val="1800"/>
              <a:buAutoNum type="arabicPeriod"/>
            </a:pPr>
            <a:r>
              <a:rPr lang="en-US"/>
              <a:t>Fluid flow around an object</a:t>
            </a:r>
            <a:endParaRPr/>
          </a:p>
          <a:p>
            <a:pPr indent="-342900" lvl="0" marL="914400" rtl="0" algn="l">
              <a:spcBef>
                <a:spcPts val="0"/>
              </a:spcBef>
              <a:spcAft>
                <a:spcPts val="0"/>
              </a:spcAft>
              <a:buSzPts val="1800"/>
              <a:buAutoNum type="arabicPeriod"/>
            </a:pPr>
            <a:r>
              <a:rPr lang="en-US"/>
              <a:t>Magnetic Fields</a:t>
            </a:r>
            <a:endParaRPr/>
          </a:p>
          <a:p>
            <a:pPr indent="-342900" lvl="0" marL="914400" rtl="0" algn="l">
              <a:spcBef>
                <a:spcPts val="0"/>
              </a:spcBef>
              <a:spcAft>
                <a:spcPts val="0"/>
              </a:spcAft>
              <a:buSzPts val="1800"/>
              <a:buAutoNum type="arabicPeriod"/>
            </a:pPr>
            <a:r>
              <a:rPr lang="en-US"/>
              <a:t>Stress in a solid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22dbf17e82d_12_1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Applications where HPC is critical</a:t>
            </a:r>
            <a:endParaRPr/>
          </a:p>
        </p:txBody>
      </p:sp>
      <p:sp>
        <p:nvSpPr>
          <p:cNvPr id="182" name="Google Shape;182;g22dbf17e82d_12_1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Molecular Dynamics</a:t>
            </a:r>
            <a:endParaRPr/>
          </a:p>
          <a:p>
            <a:pPr indent="-342900" lvl="0" marL="457200" rtl="0" algn="l">
              <a:spcBef>
                <a:spcPts val="0"/>
              </a:spcBef>
              <a:spcAft>
                <a:spcPts val="0"/>
              </a:spcAft>
              <a:buSzPts val="1800"/>
              <a:buChar char="•"/>
            </a:pPr>
            <a:r>
              <a:rPr lang="en-US"/>
              <a:t>Fusion Energy</a:t>
            </a:r>
            <a:endParaRPr/>
          </a:p>
          <a:p>
            <a:pPr indent="-342900" lvl="0" marL="457200" rtl="0" algn="l">
              <a:spcBef>
                <a:spcPts val="0"/>
              </a:spcBef>
              <a:spcAft>
                <a:spcPts val="0"/>
              </a:spcAft>
              <a:buSzPts val="1800"/>
              <a:buChar char="•"/>
            </a:pPr>
            <a:r>
              <a:rPr lang="en-US"/>
              <a:t>Weather prediction</a:t>
            </a:r>
            <a:endParaRPr/>
          </a:p>
          <a:p>
            <a:pPr indent="-342900" lvl="0" marL="457200" rtl="0" algn="l">
              <a:spcBef>
                <a:spcPts val="0"/>
              </a:spcBef>
              <a:spcAft>
                <a:spcPts val="0"/>
              </a:spcAft>
              <a:buSzPts val="1800"/>
              <a:buChar char="•"/>
            </a:pPr>
            <a:r>
              <a:rPr lang="en-US"/>
              <a:t>Studying stress/strain or feasibility of large structures</a:t>
            </a:r>
            <a:endParaRPr/>
          </a:p>
          <a:p>
            <a:pPr indent="-342900" lvl="0" marL="457200" rtl="0" algn="l">
              <a:spcBef>
                <a:spcPts val="0"/>
              </a:spcBef>
              <a:spcAft>
                <a:spcPts val="0"/>
              </a:spcAft>
              <a:buSzPts val="1800"/>
              <a:buChar char="•"/>
            </a:pPr>
            <a:r>
              <a:rPr lang="en-US"/>
              <a:t>Nuclear weapons development, testing, and stockpile stewardship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22dbf17e82d_12_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Example: Molecular dynamics</a:t>
            </a:r>
            <a:endParaRPr/>
          </a:p>
        </p:txBody>
      </p:sp>
      <p:sp>
        <p:nvSpPr>
          <p:cNvPr id="189" name="Google Shape;189;g22dbf17e82d_12_18"/>
          <p:cNvSpPr txBox="1"/>
          <p:nvPr>
            <p:ph idx="1" type="body"/>
          </p:nvPr>
        </p:nvSpPr>
        <p:spPr>
          <a:xfrm>
            <a:off x="838200" y="1825625"/>
            <a:ext cx="4849200" cy="2001300"/>
          </a:xfrm>
          <a:prstGeom prst="rect">
            <a:avLst/>
          </a:prstGeom>
        </p:spPr>
        <p:txBody>
          <a:bodyPr anchorCtr="0" anchor="t" bIns="45700" lIns="91425" spcFirstLastPara="1" rIns="91425" wrap="square" tIns="45700">
            <a:normAutofit fontScale="77500" lnSpcReduction="20000"/>
          </a:bodyPr>
          <a:lstStyle/>
          <a:p>
            <a:pPr indent="-317182" lvl="0" marL="457200" rtl="0" algn="l">
              <a:spcBef>
                <a:spcPts val="1000"/>
              </a:spcBef>
              <a:spcAft>
                <a:spcPts val="0"/>
              </a:spcAft>
              <a:buSzPct val="64285"/>
              <a:buChar char="•"/>
            </a:pPr>
            <a:r>
              <a:rPr lang="en-US"/>
              <a:t>Need a simulation time of at least 1 ms (10</a:t>
            </a:r>
            <a:r>
              <a:rPr baseline="30000" lang="en-US"/>
              <a:t>-3</a:t>
            </a:r>
            <a:r>
              <a:rPr lang="en-US"/>
              <a:t> s) </a:t>
            </a:r>
            <a:endParaRPr/>
          </a:p>
          <a:p>
            <a:pPr indent="-317182" lvl="0" marL="457200" rtl="0" algn="l">
              <a:spcBef>
                <a:spcPts val="0"/>
              </a:spcBef>
              <a:spcAft>
                <a:spcPts val="0"/>
              </a:spcAft>
              <a:buSzPct val="64285"/>
              <a:buChar char="•"/>
            </a:pPr>
            <a:r>
              <a:rPr lang="en-US"/>
              <a:t>Time step size is 1 femtosecond (10</a:t>
            </a:r>
            <a:r>
              <a:rPr baseline="30000" lang="en-US"/>
              <a:t>-15</a:t>
            </a:r>
            <a:r>
              <a:rPr lang="en-US"/>
              <a:t> s)</a:t>
            </a:r>
            <a:endParaRPr/>
          </a:p>
          <a:p>
            <a:pPr indent="-317182" lvl="0" marL="457200" rtl="0" algn="l">
              <a:spcBef>
                <a:spcPts val="0"/>
              </a:spcBef>
              <a:spcAft>
                <a:spcPts val="0"/>
              </a:spcAft>
              <a:buSzPct val="64285"/>
              <a:buChar char="•"/>
            </a:pPr>
            <a:r>
              <a:rPr lang="en-US"/>
              <a:t>Pairwise interactions of atoms - nbody problem of </a:t>
            </a:r>
            <a:r>
              <a:rPr i="1" lang="en-US"/>
              <a:t>O</a:t>
            </a:r>
            <a:r>
              <a:rPr lang="en-US"/>
              <a:t>(n</a:t>
            </a:r>
            <a:r>
              <a:rPr baseline="30000" lang="en-US"/>
              <a:t>2</a:t>
            </a:r>
            <a:r>
              <a:rPr lang="en-US"/>
              <a:t>)</a:t>
            </a:r>
            <a:endParaRPr/>
          </a:p>
          <a:p>
            <a:pPr indent="-317182" lvl="0" marL="457200" rtl="0" algn="l">
              <a:spcBef>
                <a:spcPts val="0"/>
              </a:spcBef>
              <a:spcAft>
                <a:spcPts val="0"/>
              </a:spcAft>
              <a:buSzPct val="64285"/>
              <a:buChar char="•"/>
            </a:pPr>
            <a:r>
              <a:rPr lang="en-US"/>
              <a:t>A large protein can have 100,000 or more atoms</a:t>
            </a:r>
            <a:endParaRPr/>
          </a:p>
        </p:txBody>
      </p:sp>
      <p:sp>
        <p:nvSpPr>
          <p:cNvPr id="190" name="Google Shape;190;g22dbf17e82d_12_18"/>
          <p:cNvSpPr/>
          <p:nvPr/>
        </p:nvSpPr>
        <p:spPr>
          <a:xfrm>
            <a:off x="2880150" y="3759775"/>
            <a:ext cx="765300" cy="918600"/>
          </a:xfrm>
          <a:prstGeom prst="downArrow">
            <a:avLst>
              <a:gd fmla="val 50000" name="adj1"/>
              <a:gd fmla="val 50000" name="adj2"/>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g22dbf17e82d_12_18"/>
          <p:cNvSpPr txBox="1"/>
          <p:nvPr/>
        </p:nvSpPr>
        <p:spPr>
          <a:xfrm>
            <a:off x="1090500" y="4826300"/>
            <a:ext cx="43446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2800">
                <a:latin typeface="Calibri"/>
                <a:ea typeface="Calibri"/>
                <a:cs typeface="Calibri"/>
                <a:sym typeface="Calibri"/>
              </a:rPr>
              <a:t>(10</a:t>
            </a:r>
            <a:r>
              <a:rPr baseline="30000" lang="en-US" sz="2800">
                <a:latin typeface="Calibri"/>
                <a:ea typeface="Calibri"/>
                <a:cs typeface="Calibri"/>
                <a:sym typeface="Calibri"/>
              </a:rPr>
              <a:t>5</a:t>
            </a:r>
            <a:r>
              <a:rPr lang="en-US" sz="2800">
                <a:latin typeface="Calibri"/>
                <a:ea typeface="Calibri"/>
                <a:cs typeface="Calibri"/>
                <a:sym typeface="Calibri"/>
              </a:rPr>
              <a:t>)</a:t>
            </a:r>
            <a:r>
              <a:rPr baseline="30000" lang="en-US" sz="2800">
                <a:latin typeface="Calibri"/>
                <a:ea typeface="Calibri"/>
                <a:cs typeface="Calibri"/>
                <a:sym typeface="Calibri"/>
              </a:rPr>
              <a:t>2</a:t>
            </a:r>
            <a:r>
              <a:rPr lang="en-US" sz="2800">
                <a:latin typeface="Calibri"/>
                <a:ea typeface="Calibri"/>
                <a:cs typeface="Calibri"/>
                <a:sym typeface="Calibri"/>
              </a:rPr>
              <a:t>(10</a:t>
            </a:r>
            <a:r>
              <a:rPr baseline="30000" lang="en-US" sz="2800">
                <a:latin typeface="Calibri"/>
                <a:ea typeface="Calibri"/>
                <a:cs typeface="Calibri"/>
                <a:sym typeface="Calibri"/>
              </a:rPr>
              <a:t>-3</a:t>
            </a:r>
            <a:r>
              <a:rPr lang="en-US" sz="2800">
                <a:latin typeface="Calibri"/>
                <a:ea typeface="Calibri"/>
                <a:cs typeface="Calibri"/>
                <a:sym typeface="Calibri"/>
              </a:rPr>
              <a:t>/10</a:t>
            </a:r>
            <a:r>
              <a:rPr baseline="30000" lang="en-US" sz="2800">
                <a:latin typeface="Calibri"/>
                <a:ea typeface="Calibri"/>
                <a:cs typeface="Calibri"/>
                <a:sym typeface="Calibri"/>
              </a:rPr>
              <a:t>-15</a:t>
            </a:r>
            <a:r>
              <a:rPr lang="en-US" sz="2800">
                <a:latin typeface="Calibri"/>
                <a:ea typeface="Calibri"/>
                <a:cs typeface="Calibri"/>
                <a:sym typeface="Calibri"/>
              </a:rPr>
              <a:t>) ≈ 10</a:t>
            </a:r>
            <a:r>
              <a:rPr baseline="30000" lang="en-US" sz="2800">
                <a:latin typeface="Calibri"/>
                <a:ea typeface="Calibri"/>
                <a:cs typeface="Calibri"/>
                <a:sym typeface="Calibri"/>
              </a:rPr>
              <a:t>22</a:t>
            </a:r>
            <a:r>
              <a:rPr lang="en-US" sz="2800">
                <a:latin typeface="Calibri"/>
                <a:ea typeface="Calibri"/>
                <a:cs typeface="Calibri"/>
                <a:sym typeface="Calibri"/>
              </a:rPr>
              <a:t> </a:t>
            </a:r>
            <a:r>
              <a:rPr lang="en-US" sz="2800">
                <a:latin typeface="Calibri"/>
                <a:ea typeface="Calibri"/>
                <a:cs typeface="Calibri"/>
                <a:sym typeface="Calibri"/>
              </a:rPr>
              <a:t>distances to calculate</a:t>
            </a:r>
            <a:endParaRPr sz="2800">
              <a:latin typeface="Calibri"/>
              <a:ea typeface="Calibri"/>
              <a:cs typeface="Calibri"/>
              <a:sym typeface="Calibri"/>
            </a:endParaRPr>
          </a:p>
        </p:txBody>
      </p:sp>
      <p:pic>
        <p:nvPicPr>
          <p:cNvPr id="192" name="Google Shape;192;g22dbf17e82d_12_18"/>
          <p:cNvPicPr preferRelativeResize="0"/>
          <p:nvPr/>
        </p:nvPicPr>
        <p:blipFill>
          <a:blip r:embed="rId3">
            <a:alphaModFix/>
          </a:blip>
          <a:stretch>
            <a:fillRect/>
          </a:stretch>
        </p:blipFill>
        <p:spPr>
          <a:xfrm>
            <a:off x="5839800" y="1545050"/>
            <a:ext cx="5397290" cy="4862375"/>
          </a:xfrm>
          <a:prstGeom prst="rect">
            <a:avLst/>
          </a:prstGeom>
          <a:noFill/>
          <a:ln>
            <a:noFill/>
          </a:ln>
        </p:spPr>
      </p:pic>
      <p:sp>
        <p:nvSpPr>
          <p:cNvPr id="193" name="Google Shape;193;g22dbf17e82d_12_18"/>
          <p:cNvSpPr txBox="1"/>
          <p:nvPr/>
        </p:nvSpPr>
        <p:spPr>
          <a:xfrm>
            <a:off x="6118075" y="6416250"/>
            <a:ext cx="506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a:latin typeface="Calibri"/>
                <a:ea typeface="Calibri"/>
                <a:cs typeface="Calibri"/>
                <a:sym typeface="Calibri"/>
              </a:rPr>
              <a:t>source: </a:t>
            </a:r>
            <a:r>
              <a:rPr lang="en-US" sz="900" u="sng">
                <a:solidFill>
                  <a:schemeClr val="hlink"/>
                </a:solidFill>
                <a:latin typeface="Calibri"/>
                <a:ea typeface="Calibri"/>
                <a:cs typeface="Calibri"/>
                <a:sym typeface="Calibri"/>
                <a:hlinkClick r:id="rId4"/>
              </a:rPr>
              <a:t>https://en.wikipedia.org/wiki/File:Molecular_dynamics_algorithm.png</a:t>
            </a:r>
            <a:br>
              <a:rPr lang="en-US" sz="900">
                <a:latin typeface="Calibri"/>
                <a:ea typeface="Calibri"/>
                <a:cs typeface="Calibri"/>
                <a:sym typeface="Calibri"/>
              </a:rPr>
            </a:br>
            <a:r>
              <a:rPr lang="en-US" sz="900">
                <a:latin typeface="Calibri"/>
                <a:ea typeface="Calibri"/>
                <a:cs typeface="Calibri"/>
                <a:sym typeface="Calibri"/>
              </a:rPr>
              <a:t>License: CC-BY-SA-3.0</a:t>
            </a:r>
            <a:endParaRPr sz="9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22dbf17e82d_12_2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Example: F1 CFD</a:t>
            </a:r>
            <a:endParaRPr/>
          </a:p>
        </p:txBody>
      </p:sp>
      <p:sp>
        <p:nvSpPr>
          <p:cNvPr id="200" name="Google Shape;200;g22dbf17e82d_12_27"/>
          <p:cNvSpPr txBox="1"/>
          <p:nvPr>
            <p:ph idx="1" type="body"/>
          </p:nvPr>
        </p:nvSpPr>
        <p:spPr>
          <a:xfrm>
            <a:off x="409575" y="1492200"/>
            <a:ext cx="5009400" cy="44934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F1 is the largest user of HPC for CFD in world</a:t>
            </a:r>
            <a:endParaRPr/>
          </a:p>
          <a:p>
            <a:pPr indent="-342900" lvl="0" marL="457200" rtl="0" algn="l">
              <a:spcBef>
                <a:spcPts val="0"/>
              </a:spcBef>
              <a:spcAft>
                <a:spcPts val="0"/>
              </a:spcAft>
              <a:buSzPts val="1800"/>
              <a:buChar char="•"/>
            </a:pPr>
            <a:r>
              <a:rPr lang="en-US"/>
              <a:t>Used to optimize car aerodynamics for each track, and for weather conditions</a:t>
            </a:r>
            <a:endParaRPr/>
          </a:p>
          <a:p>
            <a:pPr indent="-342900" lvl="0" marL="457200" rtl="0" algn="l">
              <a:spcBef>
                <a:spcPts val="0"/>
              </a:spcBef>
              <a:spcAft>
                <a:spcPts val="0"/>
              </a:spcAft>
              <a:buSzPts val="1800"/>
              <a:buChar char="•"/>
            </a:pPr>
            <a:r>
              <a:rPr lang="en-US"/>
              <a:t>F1 limits how much compute time each team could use for CFG</a:t>
            </a:r>
            <a:endParaRPr/>
          </a:p>
        </p:txBody>
      </p:sp>
      <p:pic>
        <p:nvPicPr>
          <p:cNvPr id="201" name="Google Shape;201;g22dbf17e82d_12_27"/>
          <p:cNvPicPr preferRelativeResize="0"/>
          <p:nvPr/>
        </p:nvPicPr>
        <p:blipFill>
          <a:blip r:embed="rId3">
            <a:alphaModFix/>
          </a:blip>
          <a:stretch>
            <a:fillRect/>
          </a:stretch>
        </p:blipFill>
        <p:spPr>
          <a:xfrm>
            <a:off x="5636075" y="1883662"/>
            <a:ext cx="6176976" cy="3090675"/>
          </a:xfrm>
          <a:prstGeom prst="rect">
            <a:avLst/>
          </a:prstGeom>
          <a:noFill/>
          <a:ln>
            <a:noFill/>
          </a:ln>
        </p:spPr>
      </p:pic>
      <p:sp>
        <p:nvSpPr>
          <p:cNvPr id="202" name="Google Shape;202;g22dbf17e82d_12_27"/>
          <p:cNvSpPr txBox="1"/>
          <p:nvPr/>
        </p:nvSpPr>
        <p:spPr>
          <a:xfrm>
            <a:off x="2801375" y="5954825"/>
            <a:ext cx="855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image source: </a:t>
            </a:r>
            <a:r>
              <a:rPr lang="en-US" u="sng">
                <a:solidFill>
                  <a:schemeClr val="hlink"/>
                </a:solidFill>
                <a:latin typeface="Calibri"/>
                <a:ea typeface="Calibri"/>
                <a:cs typeface="Calibri"/>
                <a:sym typeface="Calibri"/>
                <a:hlinkClick r:id="rId4"/>
              </a:rPr>
              <a:t>https://commons.wikimedia.org/wiki/File:F1_CFD_Simulation.png</a:t>
            </a:r>
            <a:r>
              <a:rPr lang="en-US">
                <a:latin typeface="Calibri"/>
                <a:ea typeface="Calibri"/>
                <a:cs typeface="Calibri"/>
                <a:sym typeface="Calibri"/>
              </a:rPr>
              <a:t>, </a:t>
            </a:r>
            <a:r>
              <a:rPr lang="en-US" sz="1100" u="sng">
                <a:solidFill>
                  <a:schemeClr val="hlink"/>
                </a:solidFill>
                <a:hlinkClick r:id="rId5"/>
              </a:rPr>
              <a:t>CC-BY-SA-4.0</a:t>
            </a:r>
            <a:endParaRPr>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22dcf9af772_1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How HPC differs from “regular computing”</a:t>
            </a:r>
            <a:endParaRPr/>
          </a:p>
        </p:txBody>
      </p:sp>
      <p:sp>
        <p:nvSpPr>
          <p:cNvPr id="209" name="Google Shape;209;g22dcf9af772_1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The processor (FPUs in particular) are at or near 100% utilization for extended periods of time (hours, days, weeks, months..)</a:t>
            </a:r>
            <a:endParaRPr/>
          </a:p>
          <a:p>
            <a:pPr indent="-342900" lvl="0" marL="457200" rtl="0" algn="l">
              <a:spcBef>
                <a:spcPts val="0"/>
              </a:spcBef>
              <a:spcAft>
                <a:spcPts val="0"/>
              </a:spcAft>
              <a:buSzPts val="1800"/>
              <a:buChar char="•"/>
            </a:pPr>
            <a:r>
              <a:rPr lang="en-US"/>
              <a:t>Caches and “latency hiding” aren’t as important</a:t>
            </a:r>
            <a:endParaRPr/>
          </a:p>
          <a:p>
            <a:pPr indent="-342900" lvl="0" marL="457200" rtl="0" algn="l">
              <a:spcBef>
                <a:spcPts val="0"/>
              </a:spcBef>
              <a:spcAft>
                <a:spcPts val="0"/>
              </a:spcAft>
              <a:buSzPts val="1800"/>
              <a:buChar char="•"/>
            </a:pPr>
            <a:r>
              <a:rPr lang="en-US"/>
              <a:t>There’s less context switching, since only one application should be running at a time</a:t>
            </a:r>
            <a:endParaRPr/>
          </a:p>
          <a:p>
            <a:pPr indent="-342900" lvl="0" marL="457200" rtl="0" algn="l">
              <a:spcBef>
                <a:spcPts val="0"/>
              </a:spcBef>
              <a:spcAft>
                <a:spcPts val="0"/>
              </a:spcAft>
              <a:buSzPts val="1800"/>
              <a:buChar char="•"/>
            </a:pPr>
            <a:r>
              <a:rPr lang="en-US"/>
              <a:t>Not as much branching as non-scientific codes</a:t>
            </a:r>
            <a:endParaRPr/>
          </a:p>
          <a:p>
            <a:pPr indent="-342900" lvl="0" marL="457200" rtl="0" algn="l">
              <a:spcBef>
                <a:spcPts val="0"/>
              </a:spcBef>
              <a:spcAft>
                <a:spcPts val="0"/>
              </a:spcAft>
              <a:buSzPts val="1800"/>
              <a:buChar char="•"/>
            </a:pPr>
            <a:r>
              <a:rPr lang="en-US"/>
              <a:t>Much more sensitive to memory and networking bandwidths and latencies. </a:t>
            </a:r>
            <a:endParaRPr/>
          </a:p>
          <a:p>
            <a:pPr indent="-342900" lvl="0" marL="457200" rtl="0" algn="l">
              <a:spcBef>
                <a:spcPts val="0"/>
              </a:spcBef>
              <a:spcAft>
                <a:spcPts val="0"/>
              </a:spcAft>
              <a:buSzPts val="1800"/>
              <a:buChar char="•"/>
            </a:pPr>
            <a:r>
              <a:rPr lang="en-US"/>
              <a:t>Often calculation need to be double-precision or even greater, so even individual calculations themselves take more work.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230d81c63cf_1_1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“HPC-adjacent” technologies</a:t>
            </a:r>
            <a:endParaRPr/>
          </a:p>
        </p:txBody>
      </p:sp>
      <p:sp>
        <p:nvSpPr>
          <p:cNvPr id="216" name="Google Shape;216;g230d81c63cf_1_1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High-throughput computing</a:t>
            </a:r>
            <a:endParaRPr/>
          </a:p>
          <a:p>
            <a:pPr indent="-342900" lvl="0" marL="457200" rtl="0" algn="l">
              <a:spcBef>
                <a:spcPts val="0"/>
              </a:spcBef>
              <a:spcAft>
                <a:spcPts val="0"/>
              </a:spcAft>
              <a:buSzPts val="1800"/>
              <a:buChar char="•"/>
            </a:pPr>
            <a:r>
              <a:rPr lang="en-US"/>
              <a:t>Data analytics (“big data”)</a:t>
            </a:r>
            <a:endParaRPr/>
          </a:p>
          <a:p>
            <a:pPr indent="-342900" lvl="0" marL="457200" rtl="0" algn="l">
              <a:spcBef>
                <a:spcPts val="0"/>
              </a:spcBef>
              <a:spcAft>
                <a:spcPts val="0"/>
              </a:spcAft>
              <a:buSzPts val="1800"/>
              <a:buChar char="•"/>
            </a:pPr>
            <a:r>
              <a:rPr lang="en-US"/>
              <a:t>Artificial Intelligence</a:t>
            </a:r>
            <a:endParaRPr/>
          </a:p>
          <a:p>
            <a:pPr indent="0" lvl="0" marL="457200" rtl="0" algn="l">
              <a:spcBef>
                <a:spcPts val="100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22dcf9af772_1_9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High-throughput Computing (HTC)</a:t>
            </a:r>
            <a:endParaRPr/>
          </a:p>
        </p:txBody>
      </p:sp>
      <p:sp>
        <p:nvSpPr>
          <p:cNvPr id="223" name="Google Shape;223;g22dcf9af772_1_9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US"/>
              <a:t>High-throughput computing (HTC) is the practice of running many serial jobs at once on a collection of computer resources, usually HPC clusters. This type of </a:t>
            </a:r>
            <a:r>
              <a:rPr lang="en-US"/>
              <a:t>computing is not considered HPC, but is often done on HPC clusters. </a:t>
            </a:r>
            <a:r>
              <a:rPr i="1" lang="en-US"/>
              <a:t>This is not the same as embarrassingly parallel</a:t>
            </a:r>
            <a:r>
              <a:rPr lang="en-US"/>
              <a:t>.</a:t>
            </a:r>
            <a:endParaRPr/>
          </a:p>
          <a:p>
            <a:pPr indent="-342900" lvl="0" marL="457200" rtl="0" algn="l">
              <a:spcBef>
                <a:spcPts val="1000"/>
              </a:spcBef>
              <a:spcAft>
                <a:spcPts val="0"/>
              </a:spcAft>
              <a:buSzPts val="1800"/>
              <a:buChar char="•"/>
            </a:pPr>
            <a:r>
              <a:rPr lang="en-US"/>
              <a:t>Often used for “parameter sweeps”, which is where you run the same program with many different combinations of input parameters to see how they impact the output of the simulation</a:t>
            </a:r>
            <a:endParaRPr/>
          </a:p>
          <a:p>
            <a:pPr indent="-342900" lvl="0" marL="457200" rtl="0" algn="l">
              <a:spcBef>
                <a:spcPts val="0"/>
              </a:spcBef>
              <a:spcAft>
                <a:spcPts val="0"/>
              </a:spcAft>
              <a:buSzPts val="1800"/>
              <a:buChar char="•"/>
            </a:pPr>
            <a:r>
              <a:rPr lang="en-US"/>
              <a:t>Most schedulers provide a “job array” feature to simplify submitting a large number of similar jobs at once. </a:t>
            </a:r>
            <a:endParaRPr/>
          </a:p>
          <a:p>
            <a:pPr indent="-342900" lvl="0" marL="457200" rtl="0" algn="l">
              <a:spcBef>
                <a:spcPts val="0"/>
              </a:spcBef>
              <a:spcAft>
                <a:spcPts val="0"/>
              </a:spcAft>
              <a:buSzPts val="1800"/>
              <a:buChar char="•"/>
            </a:pPr>
            <a:r>
              <a:rPr lang="en-US"/>
              <a:t>Job performance doesn’t scale to more processors</a:t>
            </a:r>
            <a:endParaRPr/>
          </a:p>
          <a:p>
            <a:pPr indent="0" lvl="0" marL="0" rtl="0" algn="l">
              <a:spcBef>
                <a:spcPts val="100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230f3c2a219_1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Data Analytics</a:t>
            </a:r>
            <a:endParaRPr/>
          </a:p>
        </p:txBody>
      </p:sp>
      <p:sp>
        <p:nvSpPr>
          <p:cNvPr id="230" name="Google Shape;230;g230f3c2a219_1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Similarities: </a:t>
            </a:r>
            <a:endParaRPr/>
          </a:p>
          <a:p>
            <a:pPr indent="-342900" lvl="0" marL="457200" rtl="0" algn="l">
              <a:spcBef>
                <a:spcPts val="1000"/>
              </a:spcBef>
              <a:spcAft>
                <a:spcPts val="0"/>
              </a:spcAft>
              <a:buSzPts val="1800"/>
              <a:buChar char="•"/>
            </a:pPr>
            <a:r>
              <a:rPr lang="en-US"/>
              <a:t>Uses a collection of computers and storage to achieve a goal</a:t>
            </a:r>
            <a:endParaRPr/>
          </a:p>
          <a:p>
            <a:pPr indent="-342900" lvl="0" marL="457200" rtl="0" algn="l">
              <a:spcBef>
                <a:spcPts val="0"/>
              </a:spcBef>
              <a:spcAft>
                <a:spcPts val="0"/>
              </a:spcAft>
              <a:buSzPts val="1800"/>
              <a:buChar char="•"/>
            </a:pPr>
            <a:r>
              <a:rPr lang="en-US"/>
              <a:t>Uses storage in a </a:t>
            </a:r>
            <a:r>
              <a:rPr lang="en-US"/>
              <a:t>parallel</a:t>
            </a:r>
            <a:r>
              <a:rPr lang="en-US"/>
              <a:t> manner</a:t>
            </a:r>
            <a:endParaRPr/>
          </a:p>
          <a:p>
            <a:pPr indent="0" lvl="0" marL="0" rtl="0" algn="l">
              <a:spcBef>
                <a:spcPts val="1000"/>
              </a:spcBef>
              <a:spcAft>
                <a:spcPts val="0"/>
              </a:spcAft>
              <a:buNone/>
            </a:pPr>
            <a:r>
              <a:rPr lang="en-US"/>
              <a:t>Differences</a:t>
            </a:r>
            <a:endParaRPr/>
          </a:p>
          <a:p>
            <a:pPr indent="-342900" lvl="0" marL="457200" rtl="0" algn="l">
              <a:spcBef>
                <a:spcPts val="1000"/>
              </a:spcBef>
              <a:spcAft>
                <a:spcPts val="0"/>
              </a:spcAft>
              <a:buSzPts val="1800"/>
              <a:buChar char="•"/>
            </a:pPr>
            <a:r>
              <a:rPr lang="en-US"/>
              <a:t>Not mathematically complex</a:t>
            </a:r>
            <a:endParaRPr/>
          </a:p>
          <a:p>
            <a:pPr indent="-342900" lvl="0" marL="457200" rtl="0" algn="l">
              <a:spcBef>
                <a:spcPts val="0"/>
              </a:spcBef>
              <a:spcAft>
                <a:spcPts val="0"/>
              </a:spcAft>
              <a:buSzPts val="1800"/>
              <a:buChar char="•"/>
            </a:pPr>
            <a:r>
              <a:rPr lang="en-US"/>
              <a:t>Largely serial - each process is sifting through it’s own chunk of data</a:t>
            </a:r>
            <a:endParaRPr/>
          </a:p>
          <a:p>
            <a:pPr indent="-342900" lvl="0" marL="457200" rtl="0" algn="l">
              <a:spcBef>
                <a:spcPts val="0"/>
              </a:spcBef>
              <a:spcAft>
                <a:spcPts val="0"/>
              </a:spcAft>
              <a:buSzPts val="1800"/>
              <a:buChar char="•"/>
            </a:pPr>
            <a:r>
              <a:rPr lang="en-US"/>
              <a:t>I/O bound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230f3c2a219_1_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Artificial</a:t>
            </a:r>
            <a:r>
              <a:rPr lang="en-US"/>
              <a:t> Intelligence</a:t>
            </a:r>
            <a:endParaRPr/>
          </a:p>
        </p:txBody>
      </p:sp>
      <p:sp>
        <p:nvSpPr>
          <p:cNvPr id="237" name="Google Shape;237;g230f3c2a219_1_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Similarities: </a:t>
            </a:r>
            <a:endParaRPr/>
          </a:p>
          <a:p>
            <a:pPr indent="-342900" lvl="0" marL="457200" rtl="0" algn="l">
              <a:spcBef>
                <a:spcPts val="1000"/>
              </a:spcBef>
              <a:spcAft>
                <a:spcPts val="0"/>
              </a:spcAft>
              <a:buSzPts val="1800"/>
              <a:buChar char="•"/>
            </a:pPr>
            <a:r>
              <a:rPr lang="en-US"/>
              <a:t>Uses a lot of </a:t>
            </a:r>
            <a:r>
              <a:rPr lang="en-US"/>
              <a:t>computer resources</a:t>
            </a:r>
            <a:endParaRPr/>
          </a:p>
          <a:p>
            <a:pPr indent="-342900" lvl="0" marL="457200" rtl="0" algn="l">
              <a:spcBef>
                <a:spcPts val="0"/>
              </a:spcBef>
              <a:spcAft>
                <a:spcPts val="0"/>
              </a:spcAft>
              <a:buSzPts val="1800"/>
              <a:buChar char="•"/>
            </a:pPr>
            <a:r>
              <a:rPr lang="en-US"/>
              <a:t>Uses GPUs</a:t>
            </a:r>
            <a:endParaRPr/>
          </a:p>
          <a:p>
            <a:pPr indent="0" lvl="0" marL="0" rtl="0" algn="l">
              <a:spcBef>
                <a:spcPts val="1000"/>
              </a:spcBef>
              <a:spcAft>
                <a:spcPts val="0"/>
              </a:spcAft>
              <a:buNone/>
            </a:pPr>
            <a:r>
              <a:rPr lang="en-US"/>
              <a:t>Differences </a:t>
            </a:r>
            <a:endParaRPr/>
          </a:p>
          <a:p>
            <a:pPr indent="-342900" lvl="0" marL="457200" rtl="0" algn="l">
              <a:spcBef>
                <a:spcPts val="1000"/>
              </a:spcBef>
              <a:spcAft>
                <a:spcPts val="0"/>
              </a:spcAft>
              <a:buSzPts val="1800"/>
              <a:buChar char="•"/>
            </a:pPr>
            <a:r>
              <a:rPr lang="en-US"/>
              <a:t>Not based on mathematical models pf physical processes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22dbf17e82d_12_3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 4 laws of HPC</a:t>
            </a:r>
            <a:endParaRPr/>
          </a:p>
        </p:txBody>
      </p:sp>
      <p:sp>
        <p:nvSpPr>
          <p:cNvPr id="244" name="Google Shape;244;g22dbf17e82d_12_3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AutoNum type="arabicPeriod"/>
            </a:pPr>
            <a:r>
              <a:rPr lang="en-US"/>
              <a:t>Moore’s Law</a:t>
            </a:r>
            <a:endParaRPr/>
          </a:p>
          <a:p>
            <a:pPr indent="-342900" lvl="0" marL="457200" rtl="0" algn="l">
              <a:spcBef>
                <a:spcPts val="0"/>
              </a:spcBef>
              <a:spcAft>
                <a:spcPts val="0"/>
              </a:spcAft>
              <a:buSzPts val="1800"/>
              <a:buAutoNum type="arabicPeriod"/>
            </a:pPr>
            <a:r>
              <a:rPr lang="en-US"/>
              <a:t>Dennard’s Law</a:t>
            </a:r>
            <a:endParaRPr/>
          </a:p>
          <a:p>
            <a:pPr indent="-342900" lvl="0" marL="457200" rtl="0" algn="l">
              <a:spcBef>
                <a:spcPts val="0"/>
              </a:spcBef>
              <a:spcAft>
                <a:spcPts val="0"/>
              </a:spcAft>
              <a:buSzPts val="1800"/>
              <a:buAutoNum type="arabicPeriod"/>
            </a:pPr>
            <a:r>
              <a:rPr lang="en-US"/>
              <a:t>Amdahl’s Law</a:t>
            </a:r>
            <a:endParaRPr/>
          </a:p>
          <a:p>
            <a:pPr indent="-342900" lvl="0" marL="457200" rtl="0" algn="l">
              <a:spcBef>
                <a:spcPts val="0"/>
              </a:spcBef>
              <a:spcAft>
                <a:spcPts val="0"/>
              </a:spcAft>
              <a:buSzPts val="1800"/>
              <a:buAutoNum type="arabicPeriod"/>
            </a:pPr>
            <a:r>
              <a:rPr lang="en-US"/>
              <a:t>Gustafson’s Law</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22dcf9af772_1_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Moore’s Law (1965)</a:t>
            </a:r>
            <a:endParaRPr/>
          </a:p>
        </p:txBody>
      </p:sp>
      <p:sp>
        <p:nvSpPr>
          <p:cNvPr id="251" name="Google Shape;251;g22dcf9af772_1_6"/>
          <p:cNvSpPr txBox="1"/>
          <p:nvPr>
            <p:ph idx="1" type="body"/>
          </p:nvPr>
        </p:nvSpPr>
        <p:spPr>
          <a:xfrm>
            <a:off x="772875" y="1690825"/>
            <a:ext cx="6868800" cy="1757700"/>
          </a:xfrm>
          <a:prstGeom prst="rect">
            <a:avLst/>
          </a:prstGeom>
        </p:spPr>
        <p:txBody>
          <a:bodyPr anchorCtr="0" anchor="t" bIns="45700" lIns="91425" spcFirstLastPara="1" rIns="91425" wrap="square" tIns="45700">
            <a:normAutofit/>
          </a:bodyPr>
          <a:lstStyle/>
          <a:p>
            <a:pPr indent="0" lvl="0" marL="0" rtl="0" algn="l">
              <a:lnSpc>
                <a:spcPct val="80000"/>
              </a:lnSpc>
              <a:spcBef>
                <a:spcPts val="1000"/>
              </a:spcBef>
              <a:spcAft>
                <a:spcPts val="0"/>
              </a:spcAft>
              <a:buNone/>
            </a:pPr>
            <a:r>
              <a:rPr lang="en-US" sz="2000"/>
              <a:t>“</a:t>
            </a:r>
            <a:r>
              <a:rPr lang="en-US" sz="2000"/>
              <a:t>The complexity for minimum component costs has increased at a rate of roughly a factor of two per year. Certainly over the short term this rate can be expected to continue, if not to increase. Over the longer term, the rate of increase is a bit more uncertain, although there is no reason to believe it will not remain nearly constant for at least 10 years.”</a:t>
            </a:r>
            <a:endParaRPr sz="2000"/>
          </a:p>
        </p:txBody>
      </p:sp>
      <p:pic>
        <p:nvPicPr>
          <p:cNvPr id="252" name="Google Shape;252;g22dcf9af772_1_6"/>
          <p:cNvPicPr preferRelativeResize="0"/>
          <p:nvPr/>
        </p:nvPicPr>
        <p:blipFill>
          <a:blip r:embed="rId3">
            <a:alphaModFix/>
          </a:blip>
          <a:stretch>
            <a:fillRect/>
          </a:stretch>
        </p:blipFill>
        <p:spPr>
          <a:xfrm>
            <a:off x="8160075" y="1690824"/>
            <a:ext cx="2480897" cy="3873975"/>
          </a:xfrm>
          <a:prstGeom prst="rect">
            <a:avLst/>
          </a:prstGeom>
          <a:noFill/>
          <a:ln>
            <a:noFill/>
          </a:ln>
        </p:spPr>
      </p:pic>
      <p:sp>
        <p:nvSpPr>
          <p:cNvPr id="253" name="Google Shape;253;g22dcf9af772_1_6"/>
          <p:cNvSpPr txBox="1"/>
          <p:nvPr/>
        </p:nvSpPr>
        <p:spPr>
          <a:xfrm>
            <a:off x="7916075" y="5564800"/>
            <a:ext cx="35793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latin typeface="Calibri"/>
                <a:ea typeface="Calibri"/>
                <a:cs typeface="Calibri"/>
                <a:sym typeface="Calibri"/>
              </a:rPr>
              <a:t>Gordon Moore in 1976</a:t>
            </a:r>
            <a:endParaRPr sz="2300">
              <a:latin typeface="Calibri"/>
              <a:ea typeface="Calibri"/>
              <a:cs typeface="Calibri"/>
              <a:sym typeface="Calibri"/>
            </a:endParaRPr>
          </a:p>
          <a:p>
            <a:pPr indent="0" lvl="0" marL="0" rtl="0" algn="l">
              <a:spcBef>
                <a:spcPts val="0"/>
              </a:spcBef>
              <a:spcAft>
                <a:spcPts val="0"/>
              </a:spcAft>
              <a:buNone/>
            </a:pPr>
            <a:r>
              <a:rPr lang="en-US" sz="1000">
                <a:latin typeface="Calibri"/>
                <a:ea typeface="Calibri"/>
                <a:cs typeface="Calibri"/>
                <a:sym typeface="Calibri"/>
              </a:rPr>
              <a:t>image source: </a:t>
            </a:r>
            <a:r>
              <a:rPr lang="en-US" sz="1000" u="sng">
                <a:solidFill>
                  <a:schemeClr val="hlink"/>
                </a:solidFill>
                <a:latin typeface="Calibri"/>
                <a:ea typeface="Calibri"/>
                <a:cs typeface="Calibri"/>
                <a:sym typeface="Calibri"/>
                <a:hlinkClick r:id="rId4"/>
              </a:rPr>
              <a:t>https://www.flickr.com/photos/intelfreepress/8267616249/in/photostream/</a:t>
            </a:r>
            <a:br>
              <a:rPr lang="en-US" sz="1000">
                <a:latin typeface="Calibri"/>
                <a:ea typeface="Calibri"/>
                <a:cs typeface="Calibri"/>
                <a:sym typeface="Calibri"/>
              </a:rPr>
            </a:br>
            <a:r>
              <a:rPr lang="en-US" sz="1000">
                <a:latin typeface="Calibri"/>
                <a:ea typeface="Calibri"/>
                <a:cs typeface="Calibri"/>
                <a:sym typeface="Calibri"/>
              </a:rPr>
              <a:t>Copyright Intel. Used with permission.</a:t>
            </a:r>
            <a:endParaRPr sz="1000">
              <a:latin typeface="Calibri"/>
              <a:ea typeface="Calibri"/>
              <a:cs typeface="Calibri"/>
              <a:sym typeface="Calibri"/>
            </a:endParaRPr>
          </a:p>
        </p:txBody>
      </p:sp>
      <p:pic>
        <p:nvPicPr>
          <p:cNvPr id="254" name="Google Shape;254;g22dcf9af772_1_6"/>
          <p:cNvPicPr preferRelativeResize="0"/>
          <p:nvPr/>
        </p:nvPicPr>
        <p:blipFill>
          <a:blip r:embed="rId5">
            <a:alphaModFix/>
          </a:blip>
          <a:stretch>
            <a:fillRect/>
          </a:stretch>
        </p:blipFill>
        <p:spPr>
          <a:xfrm>
            <a:off x="2346975" y="3261275"/>
            <a:ext cx="3283124" cy="2826800"/>
          </a:xfrm>
          <a:prstGeom prst="rect">
            <a:avLst/>
          </a:prstGeom>
          <a:noFill/>
          <a:ln>
            <a:noFill/>
          </a:ln>
        </p:spPr>
      </p:pic>
      <p:sp>
        <p:nvSpPr>
          <p:cNvPr id="255" name="Google Shape;255;g22dcf9af772_1_6"/>
          <p:cNvSpPr txBox="1"/>
          <p:nvPr/>
        </p:nvSpPr>
        <p:spPr>
          <a:xfrm>
            <a:off x="2586450" y="6191800"/>
            <a:ext cx="5172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Moore, Gordon E., “Cramming more components onto integrated circuits” </a:t>
            </a:r>
            <a:r>
              <a:rPr i="1" lang="en-US">
                <a:latin typeface="Calibri"/>
                <a:ea typeface="Calibri"/>
                <a:cs typeface="Calibri"/>
                <a:sym typeface="Calibri"/>
              </a:rPr>
              <a:t>Electronics</a:t>
            </a:r>
            <a:r>
              <a:rPr lang="en-US">
                <a:latin typeface="Calibri"/>
                <a:ea typeface="Calibri"/>
                <a:cs typeface="Calibri"/>
                <a:sym typeface="Calibri"/>
              </a:rPr>
              <a:t>, Volume 38, Number 8, April 19, 1965</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22dcf9af772_1_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Dennard Scaling (1974)</a:t>
            </a:r>
            <a:endParaRPr/>
          </a:p>
        </p:txBody>
      </p:sp>
      <p:sp>
        <p:nvSpPr>
          <p:cNvPr id="262" name="Google Shape;262;g22dcf9af772_1_20"/>
          <p:cNvSpPr txBox="1"/>
          <p:nvPr>
            <p:ph idx="1" type="body"/>
          </p:nvPr>
        </p:nvSpPr>
        <p:spPr>
          <a:xfrm>
            <a:off x="838200" y="1825625"/>
            <a:ext cx="6006600" cy="3203700"/>
          </a:xfrm>
          <a:prstGeom prst="rect">
            <a:avLst/>
          </a:prstGeom>
        </p:spPr>
        <p:txBody>
          <a:bodyPr anchorCtr="0" anchor="t" bIns="45700" lIns="91425" spcFirstLastPara="1" rIns="91425" wrap="square" tIns="45700">
            <a:normAutofit/>
          </a:bodyPr>
          <a:lstStyle/>
          <a:p>
            <a:pPr indent="-323850" lvl="0" marL="457200" rtl="0" algn="l">
              <a:spcBef>
                <a:spcPts val="1000"/>
              </a:spcBef>
              <a:spcAft>
                <a:spcPts val="0"/>
              </a:spcAft>
              <a:buSzPts val="1500"/>
              <a:buChar char="•"/>
            </a:pPr>
            <a:r>
              <a:rPr lang="en-US" sz="2500"/>
              <a:t>As transistor size goes down, operating </a:t>
            </a:r>
            <a:r>
              <a:rPr lang="en-US" sz="2500"/>
              <a:t>frequency goes up</a:t>
            </a:r>
            <a:endParaRPr sz="2500"/>
          </a:p>
          <a:p>
            <a:pPr indent="-323850" lvl="0" marL="457200" rtl="0" algn="l">
              <a:spcBef>
                <a:spcPts val="0"/>
              </a:spcBef>
              <a:spcAft>
                <a:spcPts val="0"/>
              </a:spcAft>
              <a:buSzPts val="1500"/>
              <a:buChar char="•"/>
            </a:pPr>
            <a:r>
              <a:rPr lang="en-US" sz="2500"/>
              <a:t>As transistor size decreases, energy density remains constant</a:t>
            </a:r>
            <a:endParaRPr sz="2500"/>
          </a:p>
          <a:p>
            <a:pPr indent="-323850" lvl="0" marL="457200" rtl="0" algn="l">
              <a:spcBef>
                <a:spcPts val="0"/>
              </a:spcBef>
              <a:spcAft>
                <a:spcPts val="0"/>
              </a:spcAft>
              <a:buSzPts val="1500"/>
              <a:buChar char="•"/>
            </a:pPr>
            <a:r>
              <a:rPr lang="en-US" sz="2500"/>
              <a:t>Dennard Scaling stopped in 2005 - 2006</a:t>
            </a:r>
            <a:endParaRPr sz="2500"/>
          </a:p>
        </p:txBody>
      </p:sp>
      <p:sp>
        <p:nvSpPr>
          <p:cNvPr id="263" name="Google Shape;263;g22dcf9af772_1_20"/>
          <p:cNvSpPr txBox="1"/>
          <p:nvPr/>
        </p:nvSpPr>
        <p:spPr>
          <a:xfrm>
            <a:off x="731525" y="5238225"/>
            <a:ext cx="5917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Dennard, Robert H., et al., “</a:t>
            </a:r>
            <a:r>
              <a:rPr lang="en-US">
                <a:latin typeface="Calibri"/>
                <a:ea typeface="Calibri"/>
                <a:cs typeface="Calibri"/>
                <a:sym typeface="Calibri"/>
              </a:rPr>
              <a:t>Design</a:t>
            </a:r>
            <a:r>
              <a:rPr lang="en-US">
                <a:latin typeface="Calibri"/>
                <a:ea typeface="Calibri"/>
                <a:cs typeface="Calibri"/>
                <a:sym typeface="Calibri"/>
              </a:rPr>
              <a:t> of Ion-Implanted MOSFET’s with Very Small Physical Dimensions”, </a:t>
            </a:r>
            <a:r>
              <a:rPr i="1" lang="en-US">
                <a:latin typeface="Calibri"/>
                <a:ea typeface="Calibri"/>
                <a:cs typeface="Calibri"/>
                <a:sym typeface="Calibri"/>
              </a:rPr>
              <a:t>IEEE Journal of Solid-State Circuits</a:t>
            </a:r>
            <a:r>
              <a:rPr lang="en-US">
                <a:latin typeface="Calibri"/>
                <a:ea typeface="Calibri"/>
                <a:cs typeface="Calibri"/>
                <a:sym typeface="Calibri"/>
              </a:rPr>
              <a:t>, Vol. 9, Issue 5, pp. 256-268, October, 1974</a:t>
            </a:r>
            <a:endParaRPr>
              <a:latin typeface="Calibri"/>
              <a:ea typeface="Calibri"/>
              <a:cs typeface="Calibri"/>
              <a:sym typeface="Calibri"/>
            </a:endParaRPr>
          </a:p>
        </p:txBody>
      </p:sp>
      <p:pic>
        <p:nvPicPr>
          <p:cNvPr id="264" name="Google Shape;264;g22dcf9af772_1_20"/>
          <p:cNvPicPr preferRelativeResize="0"/>
          <p:nvPr/>
        </p:nvPicPr>
        <p:blipFill>
          <a:blip r:embed="rId3">
            <a:alphaModFix/>
          </a:blip>
          <a:stretch>
            <a:fillRect/>
          </a:stretch>
        </p:blipFill>
        <p:spPr>
          <a:xfrm>
            <a:off x="6923325" y="1856100"/>
            <a:ext cx="4776648" cy="3818049"/>
          </a:xfrm>
          <a:prstGeom prst="rect">
            <a:avLst/>
          </a:prstGeom>
          <a:noFill/>
          <a:ln>
            <a:noFill/>
          </a:ln>
        </p:spPr>
      </p:pic>
      <p:sp>
        <p:nvSpPr>
          <p:cNvPr id="265" name="Google Shape;265;g22dcf9af772_1_20"/>
          <p:cNvSpPr txBox="1"/>
          <p:nvPr/>
        </p:nvSpPr>
        <p:spPr>
          <a:xfrm>
            <a:off x="6923325" y="5682350"/>
            <a:ext cx="46245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Calibri"/>
                <a:ea typeface="Calibri"/>
                <a:cs typeface="Calibri"/>
                <a:sym typeface="Calibri"/>
              </a:rPr>
              <a:t>image source: </a:t>
            </a:r>
            <a:r>
              <a:rPr lang="en-US" sz="1300" u="sng">
                <a:solidFill>
                  <a:schemeClr val="hlink"/>
                </a:solidFill>
                <a:latin typeface="Calibri"/>
                <a:ea typeface="Calibri"/>
                <a:cs typeface="Calibri"/>
                <a:sym typeface="Calibri"/>
                <a:hlinkClick r:id="rId4"/>
              </a:rPr>
              <a:t>https://commons.wikimedia.org/wiki/File:Robert_Dennard.jpg</a:t>
            </a:r>
            <a:br>
              <a:rPr lang="en-US" sz="1300">
                <a:latin typeface="Calibri"/>
                <a:ea typeface="Calibri"/>
                <a:cs typeface="Calibri"/>
                <a:sym typeface="Calibri"/>
              </a:rPr>
            </a:br>
            <a:r>
              <a:rPr lang="en-US" sz="1300">
                <a:latin typeface="Calibri"/>
                <a:ea typeface="Calibri"/>
                <a:cs typeface="Calibri"/>
                <a:sym typeface="Calibri"/>
              </a:rPr>
              <a:t>License: CC BY-SA 3.0</a:t>
            </a:r>
            <a:endParaRPr sz="130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22dcf9af772_1_5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4200"/>
              <a:t>Moore’s Law, Dennard Scaling and Mark Twain</a:t>
            </a:r>
            <a:endParaRPr sz="4200"/>
          </a:p>
        </p:txBody>
      </p:sp>
      <p:sp>
        <p:nvSpPr>
          <p:cNvPr id="272" name="Google Shape;272;g22dcf9af772_1_5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lang="en-US" sz="2700"/>
              <a:t>“I can understand perfectly how the report of my illness got about, I have even heard on good authority that I was dead. James Ross Clemens, a cousin of mine, was seriously ill two or three weeks ago in London, but is well now. The report of my illness grew out of his illness. The report of my death was an exaggeration”</a:t>
            </a:r>
            <a:endParaRPr sz="2700"/>
          </a:p>
          <a:p>
            <a:pPr indent="0" lvl="0" marL="0" rtl="0" algn="l">
              <a:lnSpc>
                <a:spcPct val="100000"/>
              </a:lnSpc>
              <a:spcBef>
                <a:spcPts val="0"/>
              </a:spcBef>
              <a:spcAft>
                <a:spcPts val="0"/>
              </a:spcAft>
              <a:buClr>
                <a:schemeClr val="dk1"/>
              </a:buClr>
              <a:buSzPts val="1100"/>
              <a:buFont typeface="Arial"/>
              <a:buNone/>
            </a:pPr>
            <a:r>
              <a:t/>
            </a:r>
            <a:endParaRPr sz="2700"/>
          </a:p>
          <a:p>
            <a:pPr indent="0" lvl="0" marL="0" rtl="0" algn="r">
              <a:lnSpc>
                <a:spcPct val="100000"/>
              </a:lnSpc>
              <a:spcBef>
                <a:spcPts val="0"/>
              </a:spcBef>
              <a:spcAft>
                <a:spcPts val="0"/>
              </a:spcAft>
              <a:buClr>
                <a:schemeClr val="dk1"/>
              </a:buClr>
              <a:buSzPts val="1100"/>
              <a:buFont typeface="Arial"/>
              <a:buNone/>
            </a:pPr>
            <a:r>
              <a:rPr lang="en-US" sz="2700"/>
              <a:t>– Mark Twain</a:t>
            </a:r>
            <a:endParaRPr sz="3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7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22dcf9af772_1_7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4200"/>
              <a:t>Moore’s Law, Dennard Scaling and Mark Twain</a:t>
            </a:r>
            <a:endParaRPr sz="4200"/>
          </a:p>
        </p:txBody>
      </p:sp>
      <p:sp>
        <p:nvSpPr>
          <p:cNvPr id="279" name="Google Shape;279;g22dcf9af772_1_7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lang="en-US" sz="2700"/>
              <a:t>“I can understand perfectly how the report of my illness got about, I have even heard on good authority that I was dead. </a:t>
            </a:r>
            <a:r>
              <a:rPr lang="en-US" sz="2700" strike="sngStrike"/>
              <a:t>James Ross Clemens </a:t>
            </a:r>
            <a:r>
              <a:rPr lang="en-US" sz="2700">
                <a:solidFill>
                  <a:srgbClr val="CC0000"/>
                </a:solidFill>
              </a:rPr>
              <a:t>Dennard Scaling</a:t>
            </a:r>
            <a:r>
              <a:rPr lang="en-US" sz="2700"/>
              <a:t>, a cousin of mine, </a:t>
            </a:r>
            <a:r>
              <a:rPr lang="en-US" sz="2700" strike="sngStrike"/>
              <a:t>was seriously ill</a:t>
            </a:r>
            <a:r>
              <a:rPr lang="en-US" sz="2700"/>
              <a:t> </a:t>
            </a:r>
            <a:r>
              <a:rPr lang="en-US" sz="2700">
                <a:solidFill>
                  <a:srgbClr val="CC0000"/>
                </a:solidFill>
              </a:rPr>
              <a:t>died</a:t>
            </a:r>
            <a:r>
              <a:rPr lang="en-US" sz="2700"/>
              <a:t> </a:t>
            </a:r>
            <a:r>
              <a:rPr lang="en-US" sz="2700" strike="sngStrike"/>
              <a:t>two or three weeks ago in London, but is well now</a:t>
            </a:r>
            <a:r>
              <a:rPr lang="en-US" sz="2700"/>
              <a:t> </a:t>
            </a:r>
            <a:r>
              <a:rPr lang="en-US" sz="2700">
                <a:solidFill>
                  <a:srgbClr val="CC0000"/>
                </a:solidFill>
              </a:rPr>
              <a:t>back in 2005 or 2006</a:t>
            </a:r>
            <a:r>
              <a:rPr lang="en-US" sz="2700"/>
              <a:t>.</a:t>
            </a:r>
            <a:r>
              <a:rPr lang="en-US" sz="2700"/>
              <a:t> The report of my illness grew out of </a:t>
            </a:r>
            <a:r>
              <a:rPr lang="en-US" sz="2700" strike="sngStrike"/>
              <a:t>his illness</a:t>
            </a:r>
            <a:r>
              <a:rPr lang="en-US" sz="2700"/>
              <a:t> </a:t>
            </a:r>
            <a:r>
              <a:rPr lang="en-US" sz="2700">
                <a:solidFill>
                  <a:srgbClr val="CC0000"/>
                </a:solidFill>
              </a:rPr>
              <a:t>its death</a:t>
            </a:r>
            <a:r>
              <a:rPr lang="en-US" sz="2700"/>
              <a:t>. The report of my death was an exaggeration”</a:t>
            </a:r>
            <a:endParaRPr sz="2700"/>
          </a:p>
          <a:p>
            <a:pPr indent="0" lvl="0" marL="0" rtl="0" algn="l">
              <a:lnSpc>
                <a:spcPct val="100000"/>
              </a:lnSpc>
              <a:spcBef>
                <a:spcPts val="0"/>
              </a:spcBef>
              <a:spcAft>
                <a:spcPts val="0"/>
              </a:spcAft>
              <a:buNone/>
            </a:pPr>
            <a:r>
              <a:t/>
            </a:r>
            <a:endParaRPr sz="2700"/>
          </a:p>
          <a:p>
            <a:pPr indent="0" lvl="0" marL="0" rtl="0" algn="r">
              <a:lnSpc>
                <a:spcPct val="100000"/>
              </a:lnSpc>
              <a:spcBef>
                <a:spcPts val="0"/>
              </a:spcBef>
              <a:spcAft>
                <a:spcPts val="0"/>
              </a:spcAft>
              <a:buNone/>
            </a:pPr>
            <a:r>
              <a:rPr lang="en-US" sz="2700"/>
              <a:t>– Moore’s Law</a:t>
            </a:r>
            <a:endParaRPr sz="3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7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22dcf9af772_1_3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Amdahl’s Law (1967)</a:t>
            </a:r>
            <a:endParaRPr/>
          </a:p>
        </p:txBody>
      </p:sp>
      <p:sp>
        <p:nvSpPr>
          <p:cNvPr id="286" name="Google Shape;286;g22dcf9af772_1_30"/>
          <p:cNvSpPr txBox="1"/>
          <p:nvPr>
            <p:ph idx="1" type="body"/>
          </p:nvPr>
        </p:nvSpPr>
        <p:spPr>
          <a:xfrm>
            <a:off x="838200" y="1825625"/>
            <a:ext cx="5432100" cy="19233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US"/>
              <a:t>The maximum speedup you can achieve is limited by the time spent in the serial portion of a code</a:t>
            </a:r>
            <a:br>
              <a:rPr lang="en-US"/>
            </a:br>
            <a:br>
              <a:rPr lang="en-US"/>
            </a:br>
            <a:endParaRPr/>
          </a:p>
        </p:txBody>
      </p:sp>
      <p:pic>
        <p:nvPicPr>
          <p:cNvPr id="287" name="Google Shape;287;g22dcf9af772_1_30"/>
          <p:cNvPicPr preferRelativeResize="0"/>
          <p:nvPr/>
        </p:nvPicPr>
        <p:blipFill>
          <a:blip r:embed="rId3">
            <a:alphaModFix/>
          </a:blip>
          <a:stretch>
            <a:fillRect/>
          </a:stretch>
        </p:blipFill>
        <p:spPr>
          <a:xfrm>
            <a:off x="7467725" y="1690825"/>
            <a:ext cx="3165450" cy="3957976"/>
          </a:xfrm>
          <a:prstGeom prst="rect">
            <a:avLst/>
          </a:prstGeom>
          <a:noFill/>
          <a:ln>
            <a:noFill/>
          </a:ln>
        </p:spPr>
      </p:pic>
      <p:sp>
        <p:nvSpPr>
          <p:cNvPr id="288" name="Google Shape;288;g22dcf9af772_1_30"/>
          <p:cNvSpPr txBox="1"/>
          <p:nvPr/>
        </p:nvSpPr>
        <p:spPr>
          <a:xfrm>
            <a:off x="7589525" y="5734600"/>
            <a:ext cx="30438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Gene Amdahl, 2008</a:t>
            </a:r>
            <a:br>
              <a:rPr lang="en-US">
                <a:latin typeface="Calibri"/>
                <a:ea typeface="Calibri"/>
                <a:cs typeface="Calibri"/>
                <a:sym typeface="Calibri"/>
              </a:rPr>
            </a:br>
            <a:r>
              <a:rPr lang="en-US">
                <a:latin typeface="Calibri"/>
                <a:ea typeface="Calibri"/>
                <a:cs typeface="Calibri"/>
                <a:sym typeface="Calibri"/>
              </a:rPr>
              <a:t>Source: </a:t>
            </a:r>
            <a:r>
              <a:rPr lang="en-US" u="sng">
                <a:solidFill>
                  <a:schemeClr val="hlink"/>
                </a:solidFill>
                <a:latin typeface="Calibri"/>
                <a:ea typeface="Calibri"/>
                <a:cs typeface="Calibri"/>
                <a:sym typeface="Calibri"/>
                <a:hlinkClick r:id="rId4"/>
              </a:rPr>
              <a:t>https://commons.wikimedia.org/wiki/File:Amdahl_march_13_2008.jpg</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License: CC BY 3.0</a:t>
            </a:r>
            <a:endParaRPr>
              <a:latin typeface="Calibri"/>
              <a:ea typeface="Calibri"/>
              <a:cs typeface="Calibri"/>
              <a:sym typeface="Calibri"/>
            </a:endParaRPr>
          </a:p>
        </p:txBody>
      </p:sp>
      <p:sp>
        <p:nvSpPr>
          <p:cNvPr id="289" name="Google Shape;289;g22dcf9af772_1_30"/>
          <p:cNvSpPr txBox="1"/>
          <p:nvPr/>
        </p:nvSpPr>
        <p:spPr>
          <a:xfrm>
            <a:off x="770700" y="5003075"/>
            <a:ext cx="5081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Amdahl, Gene M., “Validity of the Single Processor Approach to Achieving Large Scale Computing Capabilities”, AFIPS ‘67 (Spring): Proceedings of the April 18-20, 1967, Spring Joint Coomputer Conference, April 1967, pp. 483-485</a:t>
            </a:r>
            <a:endParaRPr>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230d81c63cf_1_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Amdahl’s Law (1967)</a:t>
            </a:r>
            <a:endParaRPr/>
          </a:p>
        </p:txBody>
      </p:sp>
      <p:grpSp>
        <p:nvGrpSpPr>
          <p:cNvPr id="296" name="Google Shape;296;g230d81c63cf_1_18"/>
          <p:cNvGrpSpPr/>
          <p:nvPr/>
        </p:nvGrpSpPr>
        <p:grpSpPr>
          <a:xfrm>
            <a:off x="838200" y="1690825"/>
            <a:ext cx="9401400" cy="414300"/>
            <a:chOff x="1157300" y="2328875"/>
            <a:chExt cx="9401400" cy="414300"/>
          </a:xfrm>
        </p:grpSpPr>
        <p:sp>
          <p:nvSpPr>
            <p:cNvPr id="297" name="Google Shape;297;g230d81c63cf_1_18"/>
            <p:cNvSpPr/>
            <p:nvPr/>
          </p:nvSpPr>
          <p:spPr>
            <a:xfrm>
              <a:off x="1157300" y="2328875"/>
              <a:ext cx="4700700" cy="414300"/>
            </a:xfrm>
            <a:prstGeom prst="rect">
              <a:avLst/>
            </a:prstGeom>
            <a:solidFill>
              <a:srgbClr val="0B53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EFEFEF"/>
                  </a:solidFill>
                </a:rPr>
                <a:t>Serial</a:t>
              </a:r>
              <a:endParaRPr b="1">
                <a:solidFill>
                  <a:srgbClr val="EFEFEF"/>
                </a:solidFill>
              </a:endParaRPr>
            </a:p>
          </p:txBody>
        </p:sp>
        <p:sp>
          <p:nvSpPr>
            <p:cNvPr id="298" name="Google Shape;298;g230d81c63cf_1_18"/>
            <p:cNvSpPr/>
            <p:nvPr/>
          </p:nvSpPr>
          <p:spPr>
            <a:xfrm>
              <a:off x="5858000" y="2328875"/>
              <a:ext cx="4700700" cy="4143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3F3F3"/>
                  </a:solidFill>
                </a:rPr>
                <a:t>Parallel</a:t>
              </a:r>
              <a:endParaRPr b="1">
                <a:solidFill>
                  <a:srgbClr val="F3F3F3"/>
                </a:solidFill>
              </a:endParaRPr>
            </a:p>
          </p:txBody>
        </p:sp>
      </p:grpSp>
      <p:grpSp>
        <p:nvGrpSpPr>
          <p:cNvPr id="299" name="Google Shape;299;g230d81c63cf_1_18"/>
          <p:cNvGrpSpPr/>
          <p:nvPr/>
        </p:nvGrpSpPr>
        <p:grpSpPr>
          <a:xfrm>
            <a:off x="838200" y="2438250"/>
            <a:ext cx="8029500" cy="414300"/>
            <a:chOff x="1085850" y="2438250"/>
            <a:chExt cx="8029500" cy="414300"/>
          </a:xfrm>
        </p:grpSpPr>
        <p:sp>
          <p:nvSpPr>
            <p:cNvPr id="300" name="Google Shape;300;g230d81c63cf_1_18"/>
            <p:cNvSpPr/>
            <p:nvPr/>
          </p:nvSpPr>
          <p:spPr>
            <a:xfrm>
              <a:off x="1085850" y="2438250"/>
              <a:ext cx="4700700" cy="414300"/>
            </a:xfrm>
            <a:prstGeom prst="rect">
              <a:avLst/>
            </a:prstGeom>
            <a:solidFill>
              <a:srgbClr val="0B53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EFEFEF"/>
                  </a:solidFill>
                </a:rPr>
                <a:t>Serial</a:t>
              </a:r>
              <a:endParaRPr b="1">
                <a:solidFill>
                  <a:srgbClr val="EFEFEF"/>
                </a:solidFill>
              </a:endParaRPr>
            </a:p>
          </p:txBody>
        </p:sp>
        <p:sp>
          <p:nvSpPr>
            <p:cNvPr id="301" name="Google Shape;301;g230d81c63cf_1_18"/>
            <p:cNvSpPr/>
            <p:nvPr/>
          </p:nvSpPr>
          <p:spPr>
            <a:xfrm>
              <a:off x="5786550" y="2438250"/>
              <a:ext cx="3328800" cy="4143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3F3F3"/>
                  </a:solidFill>
                </a:rPr>
                <a:t>Parallel</a:t>
              </a:r>
              <a:endParaRPr b="1">
                <a:solidFill>
                  <a:srgbClr val="F3F3F3"/>
                </a:solidFill>
              </a:endParaRPr>
            </a:p>
          </p:txBody>
        </p:sp>
      </p:grpSp>
      <p:grpSp>
        <p:nvGrpSpPr>
          <p:cNvPr id="302" name="Google Shape;302;g230d81c63cf_1_18"/>
          <p:cNvGrpSpPr/>
          <p:nvPr/>
        </p:nvGrpSpPr>
        <p:grpSpPr>
          <a:xfrm>
            <a:off x="838200" y="3185675"/>
            <a:ext cx="6200700" cy="414300"/>
            <a:chOff x="1157300" y="4319450"/>
            <a:chExt cx="6200700" cy="414300"/>
          </a:xfrm>
        </p:grpSpPr>
        <p:sp>
          <p:nvSpPr>
            <p:cNvPr id="303" name="Google Shape;303;g230d81c63cf_1_18"/>
            <p:cNvSpPr/>
            <p:nvPr/>
          </p:nvSpPr>
          <p:spPr>
            <a:xfrm>
              <a:off x="1157300" y="4319450"/>
              <a:ext cx="4700700" cy="414300"/>
            </a:xfrm>
            <a:prstGeom prst="rect">
              <a:avLst/>
            </a:prstGeom>
            <a:solidFill>
              <a:srgbClr val="0B53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EFEFEF"/>
                  </a:solidFill>
                </a:rPr>
                <a:t>Serial</a:t>
              </a:r>
              <a:endParaRPr b="1">
                <a:solidFill>
                  <a:srgbClr val="EFEFEF"/>
                </a:solidFill>
              </a:endParaRPr>
            </a:p>
          </p:txBody>
        </p:sp>
        <p:sp>
          <p:nvSpPr>
            <p:cNvPr id="304" name="Google Shape;304;g230d81c63cf_1_18"/>
            <p:cNvSpPr/>
            <p:nvPr/>
          </p:nvSpPr>
          <p:spPr>
            <a:xfrm>
              <a:off x="5858000" y="4319450"/>
              <a:ext cx="1500000" cy="4143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3F3F3"/>
                  </a:solidFill>
                </a:rPr>
                <a:t>Parallel</a:t>
              </a:r>
              <a:endParaRPr b="1">
                <a:solidFill>
                  <a:srgbClr val="F3F3F3"/>
                </a:solidFill>
              </a:endParaRPr>
            </a:p>
          </p:txBody>
        </p:sp>
      </p:grpSp>
      <p:grpSp>
        <p:nvGrpSpPr>
          <p:cNvPr id="305" name="Google Shape;305;g230d81c63cf_1_18"/>
          <p:cNvGrpSpPr/>
          <p:nvPr/>
        </p:nvGrpSpPr>
        <p:grpSpPr>
          <a:xfrm>
            <a:off x="838200" y="3933100"/>
            <a:ext cx="5314800" cy="414300"/>
            <a:chOff x="1085850" y="4181325"/>
            <a:chExt cx="5314800" cy="414300"/>
          </a:xfrm>
        </p:grpSpPr>
        <p:sp>
          <p:nvSpPr>
            <p:cNvPr id="306" name="Google Shape;306;g230d81c63cf_1_18"/>
            <p:cNvSpPr/>
            <p:nvPr/>
          </p:nvSpPr>
          <p:spPr>
            <a:xfrm>
              <a:off x="1085850" y="4181325"/>
              <a:ext cx="4700700" cy="414300"/>
            </a:xfrm>
            <a:prstGeom prst="rect">
              <a:avLst/>
            </a:prstGeom>
            <a:solidFill>
              <a:srgbClr val="0B53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EFEFEF"/>
                  </a:solidFill>
                </a:rPr>
                <a:t>Serial</a:t>
              </a:r>
              <a:endParaRPr b="1">
                <a:solidFill>
                  <a:srgbClr val="EFEFEF"/>
                </a:solidFill>
              </a:endParaRPr>
            </a:p>
          </p:txBody>
        </p:sp>
        <p:sp>
          <p:nvSpPr>
            <p:cNvPr id="307" name="Google Shape;307;g230d81c63cf_1_18"/>
            <p:cNvSpPr/>
            <p:nvPr/>
          </p:nvSpPr>
          <p:spPr>
            <a:xfrm>
              <a:off x="5786550" y="4181325"/>
              <a:ext cx="614100" cy="4143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rgbClr val="F3F3F3"/>
                </a:solidFill>
              </a:endParaRPr>
            </a:p>
          </p:txBody>
        </p:sp>
      </p:grpSp>
      <p:grpSp>
        <p:nvGrpSpPr>
          <p:cNvPr id="308" name="Google Shape;308;g230d81c63cf_1_18"/>
          <p:cNvGrpSpPr/>
          <p:nvPr/>
        </p:nvGrpSpPr>
        <p:grpSpPr>
          <a:xfrm>
            <a:off x="838200" y="4680525"/>
            <a:ext cx="4815000" cy="414325"/>
            <a:chOff x="1157300" y="5924400"/>
            <a:chExt cx="4815000" cy="414325"/>
          </a:xfrm>
        </p:grpSpPr>
        <p:sp>
          <p:nvSpPr>
            <p:cNvPr id="309" name="Google Shape;309;g230d81c63cf_1_18"/>
            <p:cNvSpPr/>
            <p:nvPr/>
          </p:nvSpPr>
          <p:spPr>
            <a:xfrm>
              <a:off x="1157300" y="5924400"/>
              <a:ext cx="4700700" cy="414300"/>
            </a:xfrm>
            <a:prstGeom prst="rect">
              <a:avLst/>
            </a:prstGeom>
            <a:solidFill>
              <a:srgbClr val="0B53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EFEFEF"/>
                  </a:solidFill>
                </a:rPr>
                <a:t>Serial</a:t>
              </a:r>
              <a:endParaRPr b="1">
                <a:solidFill>
                  <a:srgbClr val="EFEFEF"/>
                </a:solidFill>
              </a:endParaRPr>
            </a:p>
          </p:txBody>
        </p:sp>
        <p:sp>
          <p:nvSpPr>
            <p:cNvPr id="310" name="Google Shape;310;g230d81c63cf_1_18"/>
            <p:cNvSpPr/>
            <p:nvPr/>
          </p:nvSpPr>
          <p:spPr>
            <a:xfrm>
              <a:off x="5858000" y="5924425"/>
              <a:ext cx="114300" cy="4143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rgbClr val="F3F3F3"/>
                </a:solidFill>
              </a:endParaRPr>
            </a:p>
          </p:txBody>
        </p:sp>
      </p:grpSp>
      <p:sp>
        <p:nvSpPr>
          <p:cNvPr id="311" name="Google Shape;311;g230d81c63cf_1_18"/>
          <p:cNvSpPr/>
          <p:nvPr/>
        </p:nvSpPr>
        <p:spPr>
          <a:xfrm>
            <a:off x="838200" y="5427975"/>
            <a:ext cx="4700700" cy="414300"/>
          </a:xfrm>
          <a:prstGeom prst="rect">
            <a:avLst/>
          </a:prstGeom>
          <a:solidFill>
            <a:srgbClr val="0B539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EFEFEF"/>
                </a:solidFill>
              </a:rPr>
              <a:t>Serial</a:t>
            </a:r>
            <a:endParaRPr b="1">
              <a:solidFill>
                <a:srgbClr val="EFEFEF"/>
              </a:solidFill>
            </a:endParaRPr>
          </a:p>
        </p:txBody>
      </p:sp>
      <p:sp>
        <p:nvSpPr>
          <p:cNvPr id="312" name="Google Shape;312;g230d81c63cf_1_18"/>
          <p:cNvSpPr txBox="1"/>
          <p:nvPr/>
        </p:nvSpPr>
        <p:spPr>
          <a:xfrm>
            <a:off x="1043000" y="6115050"/>
            <a:ext cx="162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latin typeface="Calibri"/>
                <a:ea typeface="Calibri"/>
                <a:cs typeface="Calibri"/>
                <a:sym typeface="Calibri"/>
              </a:rPr>
              <a:t>Execution time </a:t>
            </a:r>
            <a:endParaRPr sz="1800">
              <a:latin typeface="Calibri"/>
              <a:ea typeface="Calibri"/>
              <a:cs typeface="Calibri"/>
              <a:sym typeface="Calibri"/>
            </a:endParaRPr>
          </a:p>
        </p:txBody>
      </p:sp>
      <p:cxnSp>
        <p:nvCxnSpPr>
          <p:cNvPr id="313" name="Google Shape;313;g230d81c63cf_1_18"/>
          <p:cNvCxnSpPr/>
          <p:nvPr/>
        </p:nvCxnSpPr>
        <p:spPr>
          <a:xfrm flipH="1" rot="10800000">
            <a:off x="2671700" y="6322800"/>
            <a:ext cx="6211800" cy="17100"/>
          </a:xfrm>
          <a:prstGeom prst="straightConnector1">
            <a:avLst/>
          </a:prstGeom>
          <a:noFill/>
          <a:ln cap="flat" cmpd="sng" w="38100">
            <a:solidFill>
              <a:schemeClr val="dk1"/>
            </a:solidFill>
            <a:prstDash val="solid"/>
            <a:round/>
            <a:headEnd len="med" w="med" type="none"/>
            <a:tailEnd len="med" w="med" type="triangle"/>
          </a:ln>
        </p:spPr>
      </p:cxnSp>
      <p:sp>
        <p:nvSpPr>
          <p:cNvPr id="314" name="Google Shape;314;g230d81c63cf_1_18"/>
          <p:cNvSpPr txBox="1"/>
          <p:nvPr/>
        </p:nvSpPr>
        <p:spPr>
          <a:xfrm>
            <a:off x="10388275" y="1690825"/>
            <a:ext cx="1504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latin typeface="Calibri"/>
                <a:ea typeface="Calibri"/>
                <a:cs typeface="Calibri"/>
                <a:sym typeface="Calibri"/>
              </a:rPr>
              <a:t>Increasing parallelization</a:t>
            </a:r>
            <a:endParaRPr sz="1800">
              <a:latin typeface="Calibri"/>
              <a:ea typeface="Calibri"/>
              <a:cs typeface="Calibri"/>
              <a:sym typeface="Calibri"/>
            </a:endParaRPr>
          </a:p>
        </p:txBody>
      </p:sp>
      <p:cxnSp>
        <p:nvCxnSpPr>
          <p:cNvPr id="315" name="Google Shape;315;g230d81c63cf_1_18"/>
          <p:cNvCxnSpPr>
            <a:stCxn id="314" idx="2"/>
          </p:cNvCxnSpPr>
          <p:nvPr/>
        </p:nvCxnSpPr>
        <p:spPr>
          <a:xfrm>
            <a:off x="11140675" y="2429725"/>
            <a:ext cx="43500" cy="3893100"/>
          </a:xfrm>
          <a:prstGeom prst="straightConnector1">
            <a:avLst/>
          </a:prstGeom>
          <a:noFill/>
          <a:ln cap="flat" cmpd="sng" w="38100">
            <a:solidFill>
              <a:schemeClr val="dk1"/>
            </a:solidFill>
            <a:prstDash val="solid"/>
            <a:round/>
            <a:headEnd len="med" w="med" type="none"/>
            <a:tailEnd len="med" w="med" type="triangl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22dcf9af772_1_4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Gustafson’s Law (1988)</a:t>
            </a:r>
            <a:endParaRPr/>
          </a:p>
        </p:txBody>
      </p:sp>
      <p:sp>
        <p:nvSpPr>
          <p:cNvPr id="322" name="Google Shape;322;g22dcf9af772_1_40"/>
          <p:cNvSpPr txBox="1"/>
          <p:nvPr>
            <p:ph idx="1" type="body"/>
          </p:nvPr>
        </p:nvSpPr>
        <p:spPr>
          <a:xfrm>
            <a:off x="838200" y="1825625"/>
            <a:ext cx="6482700" cy="31887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Amdahl’s Law applies to problems of a fixed size, using fixed resources. If you increase the job size and the resources,the serial portion tends to stay the same size so you get better overall scale-up than Amdahl’s Law predicts</a:t>
            </a:r>
            <a:endParaRPr/>
          </a:p>
        </p:txBody>
      </p:sp>
      <p:sp>
        <p:nvSpPr>
          <p:cNvPr id="323" name="Google Shape;323;g22dcf9af772_1_40"/>
          <p:cNvSpPr txBox="1"/>
          <p:nvPr/>
        </p:nvSpPr>
        <p:spPr>
          <a:xfrm>
            <a:off x="1031525" y="5149125"/>
            <a:ext cx="4484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Gustafson, John L., “Reevaluating Amdal’s Law”, </a:t>
            </a:r>
            <a:r>
              <a:rPr i="1" lang="en-US">
                <a:latin typeface="Calibri"/>
                <a:ea typeface="Calibri"/>
                <a:cs typeface="Calibri"/>
                <a:sym typeface="Calibri"/>
              </a:rPr>
              <a:t>Communications of the ACM</a:t>
            </a:r>
            <a:r>
              <a:rPr lang="en-US">
                <a:latin typeface="Calibri"/>
                <a:ea typeface="Calibri"/>
                <a:cs typeface="Calibri"/>
                <a:sym typeface="Calibri"/>
              </a:rPr>
              <a:t>, Vol. 31, Issue 5, May, 1998, pp. 532-533</a:t>
            </a:r>
            <a:endParaRPr>
              <a:latin typeface="Calibri"/>
              <a:ea typeface="Calibri"/>
              <a:cs typeface="Calibri"/>
              <a:sym typeface="Calibri"/>
            </a:endParaRPr>
          </a:p>
        </p:txBody>
      </p:sp>
      <p:pic>
        <p:nvPicPr>
          <p:cNvPr id="324" name="Google Shape;324;g22dcf9af772_1_40"/>
          <p:cNvPicPr preferRelativeResize="0"/>
          <p:nvPr/>
        </p:nvPicPr>
        <p:blipFill>
          <a:blip r:embed="rId3">
            <a:alphaModFix/>
          </a:blip>
          <a:stretch>
            <a:fillRect/>
          </a:stretch>
        </p:blipFill>
        <p:spPr>
          <a:xfrm>
            <a:off x="8046350" y="1542375"/>
            <a:ext cx="2846551" cy="3973400"/>
          </a:xfrm>
          <a:prstGeom prst="rect">
            <a:avLst/>
          </a:prstGeom>
          <a:noFill/>
          <a:ln>
            <a:noFill/>
          </a:ln>
        </p:spPr>
      </p:pic>
      <p:sp>
        <p:nvSpPr>
          <p:cNvPr id="325" name="Google Shape;325;g22dcf9af772_1_40"/>
          <p:cNvSpPr txBox="1"/>
          <p:nvPr/>
        </p:nvSpPr>
        <p:spPr>
          <a:xfrm>
            <a:off x="8094575" y="5773650"/>
            <a:ext cx="3108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source: </a:t>
            </a:r>
            <a:r>
              <a:rPr lang="en-US" u="sng">
                <a:solidFill>
                  <a:schemeClr val="hlink"/>
                </a:solidFill>
                <a:latin typeface="Calibri"/>
                <a:ea typeface="Calibri"/>
                <a:cs typeface="Calibri"/>
                <a:sym typeface="Calibri"/>
                <a:hlinkClick r:id="rId4"/>
              </a:rPr>
              <a:t>https://commons.wikimedia.org/wiki/File:John_L_Gustafson_CEO.jpg</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License: CC-BY-SA 3.0</a:t>
            </a:r>
            <a:endParaRPr>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g230c8651859_1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4 Laws of HPC Conclusion</a:t>
            </a:r>
            <a:endParaRPr/>
          </a:p>
        </p:txBody>
      </p:sp>
      <p:sp>
        <p:nvSpPr>
          <p:cNvPr id="332" name="Google Shape;332;g230c8651859_1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The “free ride” to better performance that Moore’s Law &amp; Dennard scaling proved from the 1960s to 2005/2006 is now over. Moore’s Law is still applicable, so processors are still adding more performance and getting more efficient. That increased performance is now coming from adding more cores to a single processor (and larger </a:t>
            </a:r>
            <a:r>
              <a:rPr lang="en-US"/>
              <a:t>vector registers)</a:t>
            </a:r>
            <a:r>
              <a:rPr lang="en-US"/>
              <a:t>, requiring parallel computing to take advantage of the power provided by newer processors.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230d81c63cf_1_5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342900" lvl="0" marL="457200" rtl="0" algn="l">
              <a:spcBef>
                <a:spcPts val="0"/>
              </a:spcBef>
              <a:spcAft>
                <a:spcPts val="0"/>
              </a:spcAft>
              <a:buSzPts val="1800"/>
              <a:buChar char="●"/>
            </a:pPr>
            <a:r>
              <a:rPr lang="en-US"/>
              <a:t>Memory Architectures</a:t>
            </a:r>
            <a:endParaRPr/>
          </a:p>
        </p:txBody>
      </p:sp>
      <p:sp>
        <p:nvSpPr>
          <p:cNvPr id="339" name="Google Shape;339;g230d81c63cf_1_50"/>
          <p:cNvSpPr txBox="1"/>
          <p:nvPr>
            <p:ph idx="1" type="body"/>
          </p:nvPr>
        </p:nvSpPr>
        <p:spPr>
          <a:xfrm>
            <a:off x="693500" y="1912450"/>
            <a:ext cx="10515600" cy="4251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AutoNum type="arabicPeriod"/>
            </a:pPr>
            <a:r>
              <a:rPr lang="en-US"/>
              <a:t>Symmetric multiprocessing (SMP)*</a:t>
            </a:r>
            <a:endParaRPr/>
          </a:p>
          <a:p>
            <a:pPr indent="-342900" lvl="0" marL="457200" rtl="0" algn="l">
              <a:spcBef>
                <a:spcPts val="0"/>
              </a:spcBef>
              <a:spcAft>
                <a:spcPts val="0"/>
              </a:spcAft>
              <a:buSzPts val="1800"/>
              <a:buAutoNum type="arabicPeriod"/>
            </a:pPr>
            <a:r>
              <a:rPr lang="en-US"/>
              <a:t>Non-Uniform Memory Access (NUMA) *</a:t>
            </a:r>
            <a:endParaRPr/>
          </a:p>
          <a:p>
            <a:pPr indent="-342900" lvl="0" marL="457200" rtl="0" algn="l">
              <a:spcBef>
                <a:spcPts val="0"/>
              </a:spcBef>
              <a:spcAft>
                <a:spcPts val="0"/>
              </a:spcAft>
              <a:buSzPts val="1800"/>
              <a:buAutoNum type="arabicPeriod"/>
            </a:pPr>
            <a:r>
              <a:rPr lang="en-US"/>
              <a:t>Distributed memory</a:t>
            </a:r>
            <a:endParaRPr/>
          </a:p>
        </p:txBody>
      </p:sp>
      <p:sp>
        <p:nvSpPr>
          <p:cNvPr id="340" name="Google Shape;340;g230d81c63cf_1_50"/>
          <p:cNvSpPr txBox="1"/>
          <p:nvPr/>
        </p:nvSpPr>
        <p:spPr>
          <a:xfrm>
            <a:off x="1331100" y="4933700"/>
            <a:ext cx="8406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latin typeface="Calibri"/>
                <a:ea typeface="Calibri"/>
                <a:cs typeface="Calibri"/>
                <a:sym typeface="Calibri"/>
              </a:rPr>
              <a:t>* Both symmetric multiprocessing and non-uniform </a:t>
            </a:r>
            <a:r>
              <a:rPr lang="en-US" sz="1800">
                <a:latin typeface="Calibri"/>
                <a:ea typeface="Calibri"/>
                <a:cs typeface="Calibri"/>
                <a:sym typeface="Calibri"/>
              </a:rPr>
              <a:t>memory access are types of  “shared memory processing,” which is also known as “SMP”, which leads confusion and nonsensical, but true statements like “ All SMP is SMP, but not all SMP is SMP!” </a:t>
            </a:r>
            <a:endParaRPr sz="1800">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g230d81c63cf_1_5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Memory architectures</a:t>
            </a:r>
            <a:endParaRPr/>
          </a:p>
        </p:txBody>
      </p:sp>
      <p:sp>
        <p:nvSpPr>
          <p:cNvPr id="347" name="Google Shape;347;g230d81c63cf_1_57"/>
          <p:cNvSpPr/>
          <p:nvPr/>
        </p:nvSpPr>
        <p:spPr>
          <a:xfrm>
            <a:off x="7841675" y="1690825"/>
            <a:ext cx="2877000" cy="911400"/>
          </a:xfrm>
          <a:prstGeom prst="roundRect">
            <a:avLst>
              <a:gd fmla="val 16667" name="adj"/>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200">
                <a:solidFill>
                  <a:srgbClr val="F3F3F3"/>
                </a:solidFill>
              </a:rPr>
              <a:t>RAM</a:t>
            </a:r>
            <a:endParaRPr sz="2200">
              <a:solidFill>
                <a:srgbClr val="F3F3F3"/>
              </a:solidFill>
            </a:endParaRPr>
          </a:p>
        </p:txBody>
      </p:sp>
      <p:sp>
        <p:nvSpPr>
          <p:cNvPr id="348" name="Google Shape;348;g230d81c63cf_1_57"/>
          <p:cNvSpPr/>
          <p:nvPr/>
        </p:nvSpPr>
        <p:spPr>
          <a:xfrm>
            <a:off x="8513375" y="3130388"/>
            <a:ext cx="1533600" cy="1085100"/>
          </a:xfrm>
          <a:prstGeom prst="roundRect">
            <a:avLst>
              <a:gd fmla="val 16667" name="adj"/>
            </a:avLst>
          </a:prstGeom>
          <a:solidFill>
            <a:srgbClr val="0B5394"/>
          </a:solidFill>
          <a:ln cap="flat" cmpd="sng" w="952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000">
                <a:solidFill>
                  <a:srgbClr val="F3F3F3"/>
                </a:solidFill>
              </a:rPr>
              <a:t>Memory Controller</a:t>
            </a:r>
            <a:endParaRPr>
              <a:solidFill>
                <a:srgbClr val="F3F3F3"/>
              </a:solidFill>
            </a:endParaRPr>
          </a:p>
        </p:txBody>
      </p:sp>
      <p:sp>
        <p:nvSpPr>
          <p:cNvPr id="349" name="Google Shape;349;g230d81c63cf_1_57"/>
          <p:cNvSpPr/>
          <p:nvPr/>
        </p:nvSpPr>
        <p:spPr>
          <a:xfrm>
            <a:off x="8448125" y="4743675"/>
            <a:ext cx="1664100" cy="15192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F3F3F3"/>
                </a:solidFill>
              </a:rPr>
              <a:t>CPU</a:t>
            </a:r>
            <a:endParaRPr sz="2400">
              <a:solidFill>
                <a:srgbClr val="F3F3F3"/>
              </a:solidFill>
            </a:endParaRPr>
          </a:p>
        </p:txBody>
      </p:sp>
      <p:cxnSp>
        <p:nvCxnSpPr>
          <p:cNvPr id="350" name="Google Shape;350;g230d81c63cf_1_57"/>
          <p:cNvCxnSpPr>
            <a:stCxn id="349" idx="0"/>
            <a:endCxn id="348" idx="2"/>
          </p:cNvCxnSpPr>
          <p:nvPr/>
        </p:nvCxnSpPr>
        <p:spPr>
          <a:xfrm rot="10800000">
            <a:off x="9280175" y="4215375"/>
            <a:ext cx="0" cy="528300"/>
          </a:xfrm>
          <a:prstGeom prst="straightConnector1">
            <a:avLst/>
          </a:prstGeom>
          <a:noFill/>
          <a:ln cap="flat" cmpd="sng" w="76200">
            <a:solidFill>
              <a:schemeClr val="dk2"/>
            </a:solidFill>
            <a:prstDash val="solid"/>
            <a:round/>
            <a:headEnd len="med" w="med" type="none"/>
            <a:tailEnd len="med" w="med" type="none"/>
          </a:ln>
        </p:spPr>
      </p:cxnSp>
      <p:cxnSp>
        <p:nvCxnSpPr>
          <p:cNvPr id="351" name="Google Shape;351;g230d81c63cf_1_57"/>
          <p:cNvCxnSpPr>
            <a:stCxn id="348" idx="0"/>
            <a:endCxn id="347" idx="2"/>
          </p:cNvCxnSpPr>
          <p:nvPr/>
        </p:nvCxnSpPr>
        <p:spPr>
          <a:xfrm rot="10800000">
            <a:off x="9280175" y="2602088"/>
            <a:ext cx="0" cy="528300"/>
          </a:xfrm>
          <a:prstGeom prst="straightConnector1">
            <a:avLst/>
          </a:prstGeom>
          <a:noFill/>
          <a:ln cap="flat" cmpd="sng" w="76200">
            <a:solidFill>
              <a:schemeClr val="dk2"/>
            </a:solidFill>
            <a:prstDash val="solid"/>
            <a:round/>
            <a:headEnd len="med" w="med" type="none"/>
            <a:tailEnd len="med" w="med" type="none"/>
          </a:ln>
        </p:spPr>
      </p:cxnSp>
      <p:sp>
        <p:nvSpPr>
          <p:cNvPr id="352" name="Google Shape;352;g230d81c63cf_1_57"/>
          <p:cNvSpPr txBox="1"/>
          <p:nvPr/>
        </p:nvSpPr>
        <p:spPr>
          <a:xfrm>
            <a:off x="491925" y="1765150"/>
            <a:ext cx="63228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Single-processor w/ off-board memory controller</a:t>
            </a:r>
            <a:endParaRPr sz="2400">
              <a:latin typeface="Calibri"/>
              <a:ea typeface="Calibri"/>
              <a:cs typeface="Calibri"/>
              <a:sym typeface="Calibri"/>
            </a:endParaRPr>
          </a:p>
          <a:p>
            <a:pPr indent="0" lvl="0" marL="0" rtl="0" algn="l">
              <a:spcBef>
                <a:spcPts val="0"/>
              </a:spcBef>
              <a:spcAft>
                <a:spcPts val="0"/>
              </a:spcAft>
              <a:buNone/>
            </a:pPr>
            <a:r>
              <a:t/>
            </a:r>
            <a:endParaRPr sz="2400">
              <a:latin typeface="Calibri"/>
              <a:ea typeface="Calibri"/>
              <a:cs typeface="Calibri"/>
              <a:sym typeface="Calibri"/>
            </a:endParaRPr>
          </a:p>
          <a:p>
            <a:pPr indent="0" lvl="0" marL="0" rtl="0" algn="l">
              <a:spcBef>
                <a:spcPts val="0"/>
              </a:spcBef>
              <a:spcAft>
                <a:spcPts val="0"/>
              </a:spcAft>
              <a:buNone/>
            </a:pPr>
            <a:r>
              <a:rPr lang="en-US" sz="2400">
                <a:latin typeface="Calibri"/>
                <a:ea typeface="Calibri"/>
                <a:cs typeface="Calibri"/>
                <a:sym typeface="Calibri"/>
              </a:rPr>
              <a:t>Pros: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Simplest possible </a:t>
            </a:r>
            <a:r>
              <a:rPr lang="en-US" sz="1800">
                <a:latin typeface="Calibri"/>
                <a:ea typeface="Calibri"/>
                <a:cs typeface="Calibri"/>
                <a:sym typeface="Calibri"/>
              </a:rPr>
              <a:t>design</a:t>
            </a:r>
            <a:r>
              <a:rPr lang="en-US" sz="1800">
                <a:latin typeface="Calibri"/>
                <a:ea typeface="Calibri"/>
                <a:cs typeface="Calibri"/>
                <a:sym typeface="Calibri"/>
              </a:rPr>
              <a:t>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No competition for </a:t>
            </a:r>
            <a:r>
              <a:rPr lang="en-US" sz="1800">
                <a:latin typeface="Calibri"/>
                <a:ea typeface="Calibri"/>
                <a:cs typeface="Calibri"/>
                <a:sym typeface="Calibri"/>
              </a:rPr>
              <a:t>memory</a:t>
            </a:r>
            <a:r>
              <a:rPr lang="en-US" sz="1800">
                <a:latin typeface="Calibri"/>
                <a:ea typeface="Calibri"/>
                <a:cs typeface="Calibri"/>
                <a:sym typeface="Calibri"/>
              </a:rPr>
              <a:t> bandwidth</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No scaling, no problems! </a:t>
            </a:r>
            <a:endParaRPr sz="1800">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230d81c63cf_1_7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Memory architectures</a:t>
            </a:r>
            <a:endParaRPr/>
          </a:p>
        </p:txBody>
      </p:sp>
      <p:sp>
        <p:nvSpPr>
          <p:cNvPr id="359" name="Google Shape;359;g230d81c63cf_1_73"/>
          <p:cNvSpPr/>
          <p:nvPr/>
        </p:nvSpPr>
        <p:spPr>
          <a:xfrm>
            <a:off x="7167875" y="1690825"/>
            <a:ext cx="4224600" cy="911400"/>
          </a:xfrm>
          <a:prstGeom prst="roundRect">
            <a:avLst>
              <a:gd fmla="val 16667" name="adj"/>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200">
                <a:solidFill>
                  <a:srgbClr val="F3F3F3"/>
                </a:solidFill>
              </a:rPr>
              <a:t>RAM</a:t>
            </a:r>
            <a:endParaRPr sz="2200">
              <a:solidFill>
                <a:srgbClr val="F3F3F3"/>
              </a:solidFill>
            </a:endParaRPr>
          </a:p>
        </p:txBody>
      </p:sp>
      <p:sp>
        <p:nvSpPr>
          <p:cNvPr id="360" name="Google Shape;360;g230d81c63cf_1_73"/>
          <p:cNvSpPr/>
          <p:nvPr/>
        </p:nvSpPr>
        <p:spPr>
          <a:xfrm>
            <a:off x="8513375" y="3130388"/>
            <a:ext cx="1533600" cy="1085100"/>
          </a:xfrm>
          <a:prstGeom prst="roundRect">
            <a:avLst>
              <a:gd fmla="val 16667" name="adj"/>
            </a:avLst>
          </a:prstGeom>
          <a:solidFill>
            <a:srgbClr val="0B5394"/>
          </a:solidFill>
          <a:ln cap="flat" cmpd="sng" w="952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000">
                <a:solidFill>
                  <a:srgbClr val="F3F3F3"/>
                </a:solidFill>
              </a:rPr>
              <a:t>Memory Controller</a:t>
            </a:r>
            <a:endParaRPr>
              <a:solidFill>
                <a:srgbClr val="F3F3F3"/>
              </a:solidFill>
            </a:endParaRPr>
          </a:p>
        </p:txBody>
      </p:sp>
      <p:sp>
        <p:nvSpPr>
          <p:cNvPr id="361" name="Google Shape;361;g230d81c63cf_1_73"/>
          <p:cNvSpPr/>
          <p:nvPr/>
        </p:nvSpPr>
        <p:spPr>
          <a:xfrm>
            <a:off x="8448125" y="4914175"/>
            <a:ext cx="1664100" cy="15192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F3F3F3"/>
                </a:solidFill>
              </a:rPr>
              <a:t>CPU</a:t>
            </a:r>
            <a:endParaRPr sz="2400">
              <a:solidFill>
                <a:srgbClr val="F3F3F3"/>
              </a:solidFill>
            </a:endParaRPr>
          </a:p>
        </p:txBody>
      </p:sp>
      <p:cxnSp>
        <p:nvCxnSpPr>
          <p:cNvPr id="362" name="Google Shape;362;g230d81c63cf_1_73"/>
          <p:cNvCxnSpPr>
            <a:stCxn id="361" idx="0"/>
            <a:endCxn id="360" idx="2"/>
          </p:cNvCxnSpPr>
          <p:nvPr/>
        </p:nvCxnSpPr>
        <p:spPr>
          <a:xfrm rot="10800000">
            <a:off x="9280175" y="4215475"/>
            <a:ext cx="0" cy="698700"/>
          </a:xfrm>
          <a:prstGeom prst="straightConnector1">
            <a:avLst/>
          </a:prstGeom>
          <a:noFill/>
          <a:ln cap="flat" cmpd="sng" w="76200">
            <a:solidFill>
              <a:schemeClr val="dk2"/>
            </a:solidFill>
            <a:prstDash val="solid"/>
            <a:round/>
            <a:headEnd len="med" w="med" type="none"/>
            <a:tailEnd len="med" w="med" type="none"/>
          </a:ln>
        </p:spPr>
      </p:cxnSp>
      <p:cxnSp>
        <p:nvCxnSpPr>
          <p:cNvPr id="363" name="Google Shape;363;g230d81c63cf_1_73"/>
          <p:cNvCxnSpPr>
            <a:stCxn id="360" idx="0"/>
            <a:endCxn id="359" idx="2"/>
          </p:cNvCxnSpPr>
          <p:nvPr/>
        </p:nvCxnSpPr>
        <p:spPr>
          <a:xfrm rot="10800000">
            <a:off x="9280175" y="2602088"/>
            <a:ext cx="0" cy="528300"/>
          </a:xfrm>
          <a:prstGeom prst="straightConnector1">
            <a:avLst/>
          </a:prstGeom>
          <a:noFill/>
          <a:ln cap="flat" cmpd="sng" w="76200">
            <a:solidFill>
              <a:schemeClr val="dk2"/>
            </a:solidFill>
            <a:prstDash val="solid"/>
            <a:round/>
            <a:headEnd len="med" w="med" type="none"/>
            <a:tailEnd len="med" w="med" type="none"/>
          </a:ln>
        </p:spPr>
      </p:cxnSp>
      <p:sp>
        <p:nvSpPr>
          <p:cNvPr id="364" name="Google Shape;364;g230d81c63cf_1_73"/>
          <p:cNvSpPr txBox="1"/>
          <p:nvPr/>
        </p:nvSpPr>
        <p:spPr>
          <a:xfrm>
            <a:off x="491925" y="1765150"/>
            <a:ext cx="53532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Symmetric</a:t>
            </a:r>
            <a:r>
              <a:rPr lang="en-US" sz="2400">
                <a:latin typeface="Calibri"/>
                <a:ea typeface="Calibri"/>
                <a:cs typeface="Calibri"/>
                <a:sym typeface="Calibri"/>
              </a:rPr>
              <a:t> Multiprocessing</a:t>
            </a:r>
            <a:endParaRPr sz="2400">
              <a:latin typeface="Calibri"/>
              <a:ea typeface="Calibri"/>
              <a:cs typeface="Calibri"/>
              <a:sym typeface="Calibri"/>
            </a:endParaRPr>
          </a:p>
          <a:p>
            <a:pPr indent="0" lvl="0" marL="0" rtl="0" algn="l">
              <a:spcBef>
                <a:spcPts val="0"/>
              </a:spcBef>
              <a:spcAft>
                <a:spcPts val="0"/>
              </a:spcAft>
              <a:buNone/>
            </a:pPr>
            <a:r>
              <a:t/>
            </a:r>
            <a:endParaRPr sz="2400">
              <a:latin typeface="Calibri"/>
              <a:ea typeface="Calibri"/>
              <a:cs typeface="Calibri"/>
              <a:sym typeface="Calibri"/>
            </a:endParaRPr>
          </a:p>
          <a:p>
            <a:pPr indent="0" lvl="0" marL="0" rtl="0" algn="l">
              <a:spcBef>
                <a:spcPts val="0"/>
              </a:spcBef>
              <a:spcAft>
                <a:spcPts val="0"/>
              </a:spcAft>
              <a:buNone/>
            </a:pPr>
            <a:r>
              <a:rPr lang="en-US" sz="2400">
                <a:latin typeface="Calibri"/>
                <a:ea typeface="Calibri"/>
                <a:cs typeface="Calibri"/>
                <a:sym typeface="Calibri"/>
              </a:rPr>
              <a:t>Pros: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Still a relatively simple design</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Cheap</a:t>
            </a:r>
            <a:endParaRPr sz="1800">
              <a:latin typeface="Calibri"/>
              <a:ea typeface="Calibri"/>
              <a:cs typeface="Calibri"/>
              <a:sym typeface="Calibri"/>
            </a:endParaRPr>
          </a:p>
          <a:p>
            <a:pPr indent="0" lvl="0" marL="0" rtl="0" algn="l">
              <a:spcBef>
                <a:spcPts val="0"/>
              </a:spcBef>
              <a:spcAft>
                <a:spcPts val="0"/>
              </a:spcAft>
              <a:buNone/>
            </a:pPr>
            <a:r>
              <a:t/>
            </a:r>
            <a:endParaRPr sz="1800">
              <a:latin typeface="Calibri"/>
              <a:ea typeface="Calibri"/>
              <a:cs typeface="Calibri"/>
              <a:sym typeface="Calibri"/>
            </a:endParaRPr>
          </a:p>
          <a:p>
            <a:pPr indent="0" lvl="0" marL="0" rtl="0" algn="l">
              <a:spcBef>
                <a:spcPts val="0"/>
              </a:spcBef>
              <a:spcAft>
                <a:spcPts val="0"/>
              </a:spcAft>
              <a:buNone/>
            </a:pPr>
            <a:r>
              <a:rPr lang="en-US" sz="2400">
                <a:latin typeface="Calibri"/>
                <a:ea typeface="Calibri"/>
                <a:cs typeface="Calibri"/>
                <a:sym typeface="Calibri"/>
              </a:rPr>
              <a:t>Cons:</a:t>
            </a:r>
            <a:endParaRPr sz="24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Multiple </a:t>
            </a:r>
            <a:r>
              <a:rPr lang="en-US" sz="1800">
                <a:latin typeface="Calibri"/>
                <a:ea typeface="Calibri"/>
                <a:cs typeface="Calibri"/>
                <a:sym typeface="Calibri"/>
              </a:rPr>
              <a:t>processors competing for the same memory controller bandwidth</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Performance doesn’t scale well - as more processors are added, the effective bandwidth to each one decreases</a:t>
            </a:r>
            <a:endParaRPr sz="1800">
              <a:latin typeface="Calibri"/>
              <a:ea typeface="Calibri"/>
              <a:cs typeface="Calibri"/>
              <a:sym typeface="Calibri"/>
            </a:endParaRPr>
          </a:p>
        </p:txBody>
      </p:sp>
      <p:sp>
        <p:nvSpPr>
          <p:cNvPr id="365" name="Google Shape;365;g230d81c63cf_1_73"/>
          <p:cNvSpPr/>
          <p:nvPr/>
        </p:nvSpPr>
        <p:spPr>
          <a:xfrm>
            <a:off x="6458575" y="4914175"/>
            <a:ext cx="1664100" cy="15192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F3F3F3"/>
                </a:solidFill>
              </a:rPr>
              <a:t>CPU</a:t>
            </a:r>
            <a:endParaRPr sz="2400">
              <a:solidFill>
                <a:srgbClr val="F3F3F3"/>
              </a:solidFill>
            </a:endParaRPr>
          </a:p>
        </p:txBody>
      </p:sp>
      <p:sp>
        <p:nvSpPr>
          <p:cNvPr id="366" name="Google Shape;366;g230d81c63cf_1_73"/>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CPU</a:t>
            </a:r>
            <a:endParaRPr/>
          </a:p>
          <a:p>
            <a:pPr indent="0" lvl="0" marL="0" rtl="0" algn="l">
              <a:spcBef>
                <a:spcPts val="0"/>
              </a:spcBef>
              <a:spcAft>
                <a:spcPts val="0"/>
              </a:spcAft>
              <a:buNone/>
            </a:pPr>
            <a:r>
              <a:t/>
            </a:r>
            <a:endParaRPr/>
          </a:p>
        </p:txBody>
      </p:sp>
      <p:cxnSp>
        <p:nvCxnSpPr>
          <p:cNvPr id="367" name="Google Shape;367;g230d81c63cf_1_73"/>
          <p:cNvCxnSpPr>
            <a:stCxn id="365" idx="0"/>
            <a:endCxn id="360" idx="2"/>
          </p:cNvCxnSpPr>
          <p:nvPr/>
        </p:nvCxnSpPr>
        <p:spPr>
          <a:xfrm flipH="1" rot="10800000">
            <a:off x="7290625" y="4215475"/>
            <a:ext cx="1989600" cy="698700"/>
          </a:xfrm>
          <a:prstGeom prst="straightConnector1">
            <a:avLst/>
          </a:prstGeom>
          <a:noFill/>
          <a:ln cap="flat" cmpd="sng" w="76200">
            <a:solidFill>
              <a:schemeClr val="dk2"/>
            </a:solidFill>
            <a:prstDash val="solid"/>
            <a:round/>
            <a:headEnd len="med" w="med" type="none"/>
            <a:tailEnd len="med" w="med" type="none"/>
          </a:ln>
        </p:spPr>
      </p:cxnSp>
      <p:sp>
        <p:nvSpPr>
          <p:cNvPr id="368" name="Google Shape;368;g230d81c63cf_1_73"/>
          <p:cNvSpPr/>
          <p:nvPr/>
        </p:nvSpPr>
        <p:spPr>
          <a:xfrm>
            <a:off x="10437675" y="4914175"/>
            <a:ext cx="1664100" cy="15192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F3F3F3"/>
                </a:solidFill>
              </a:rPr>
              <a:t>CPU</a:t>
            </a:r>
            <a:endParaRPr sz="2400">
              <a:solidFill>
                <a:srgbClr val="F3F3F3"/>
              </a:solidFill>
            </a:endParaRPr>
          </a:p>
        </p:txBody>
      </p:sp>
      <p:cxnSp>
        <p:nvCxnSpPr>
          <p:cNvPr id="369" name="Google Shape;369;g230d81c63cf_1_73"/>
          <p:cNvCxnSpPr>
            <a:stCxn id="360" idx="2"/>
            <a:endCxn id="368" idx="0"/>
          </p:cNvCxnSpPr>
          <p:nvPr/>
        </p:nvCxnSpPr>
        <p:spPr>
          <a:xfrm>
            <a:off x="9280175" y="4215488"/>
            <a:ext cx="1989600" cy="698700"/>
          </a:xfrm>
          <a:prstGeom prst="straightConnector1">
            <a:avLst/>
          </a:prstGeom>
          <a:noFill/>
          <a:ln cap="flat" cmpd="sng" w="76200">
            <a:solidFill>
              <a:schemeClr val="dk2"/>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g230d81c63cf_1_89"/>
          <p:cNvSpPr txBox="1"/>
          <p:nvPr>
            <p:ph type="title"/>
          </p:nvPr>
        </p:nvSpPr>
        <p:spPr>
          <a:xfrm>
            <a:off x="838200" y="37957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Memory architectures</a:t>
            </a:r>
            <a:endParaRPr/>
          </a:p>
        </p:txBody>
      </p:sp>
      <p:sp>
        <p:nvSpPr>
          <p:cNvPr id="376" name="Google Shape;376;g230d81c63cf_1_89"/>
          <p:cNvSpPr txBox="1"/>
          <p:nvPr/>
        </p:nvSpPr>
        <p:spPr>
          <a:xfrm>
            <a:off x="491925" y="1765150"/>
            <a:ext cx="5483400" cy="443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Non-Uniform Memory Access (NUMA)</a:t>
            </a:r>
            <a:endParaRPr sz="2400">
              <a:latin typeface="Calibri"/>
              <a:ea typeface="Calibri"/>
              <a:cs typeface="Calibri"/>
              <a:sym typeface="Calibri"/>
            </a:endParaRPr>
          </a:p>
          <a:p>
            <a:pPr indent="0" lvl="0" marL="0" rtl="0" algn="l">
              <a:spcBef>
                <a:spcPts val="0"/>
              </a:spcBef>
              <a:spcAft>
                <a:spcPts val="0"/>
              </a:spcAft>
              <a:buNone/>
            </a:pPr>
            <a:r>
              <a:t/>
            </a:r>
            <a:endParaRPr sz="2400">
              <a:latin typeface="Calibri"/>
              <a:ea typeface="Calibri"/>
              <a:cs typeface="Calibri"/>
              <a:sym typeface="Calibri"/>
            </a:endParaRPr>
          </a:p>
          <a:p>
            <a:pPr indent="0" lvl="0" marL="0" rtl="0" algn="l">
              <a:spcBef>
                <a:spcPts val="0"/>
              </a:spcBef>
              <a:spcAft>
                <a:spcPts val="0"/>
              </a:spcAft>
              <a:buNone/>
            </a:pPr>
            <a:r>
              <a:rPr lang="en-US" sz="2400">
                <a:latin typeface="Calibri"/>
                <a:ea typeface="Calibri"/>
                <a:cs typeface="Calibri"/>
                <a:sym typeface="Calibri"/>
              </a:rPr>
              <a:t>Pros: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Less competition for memory  bandwidth</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Scales better </a:t>
            </a:r>
            <a:endParaRPr sz="1800">
              <a:latin typeface="Calibri"/>
              <a:ea typeface="Calibri"/>
              <a:cs typeface="Calibri"/>
              <a:sym typeface="Calibri"/>
            </a:endParaRPr>
          </a:p>
          <a:p>
            <a:pPr indent="0" lvl="0" marL="0" rtl="0" algn="l">
              <a:spcBef>
                <a:spcPts val="0"/>
              </a:spcBef>
              <a:spcAft>
                <a:spcPts val="0"/>
              </a:spcAft>
              <a:buNone/>
            </a:pPr>
            <a:r>
              <a:t/>
            </a:r>
            <a:endParaRPr sz="1800">
              <a:latin typeface="Calibri"/>
              <a:ea typeface="Calibri"/>
              <a:cs typeface="Calibri"/>
              <a:sym typeface="Calibri"/>
            </a:endParaRPr>
          </a:p>
          <a:p>
            <a:pPr indent="0" lvl="0" marL="0" rtl="0" algn="l">
              <a:spcBef>
                <a:spcPts val="0"/>
              </a:spcBef>
              <a:spcAft>
                <a:spcPts val="0"/>
              </a:spcAft>
              <a:buNone/>
            </a:pPr>
            <a:r>
              <a:rPr lang="en-US" sz="2400">
                <a:latin typeface="Calibri"/>
                <a:ea typeface="Calibri"/>
                <a:cs typeface="Calibri"/>
                <a:sym typeface="Calibri"/>
              </a:rPr>
              <a:t>Cons:</a:t>
            </a:r>
            <a:endParaRPr sz="2400">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More complicated design</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More components  = more expensive</a:t>
            </a:r>
            <a:endParaRPr sz="24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Accessing the RAM on another processor is considerably slower than accessing the local RAM</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Care must be taken to minimize how often processor needs to access the RAM of another CPU to take advantage of the architecture</a:t>
            </a:r>
            <a:endParaRPr sz="1800">
              <a:latin typeface="Calibri"/>
              <a:ea typeface="Calibri"/>
              <a:cs typeface="Calibri"/>
              <a:sym typeface="Calibri"/>
            </a:endParaRPr>
          </a:p>
        </p:txBody>
      </p:sp>
      <p:sp>
        <p:nvSpPr>
          <p:cNvPr id="377" name="Google Shape;377;g230d81c63cf_1_89"/>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CPU</a:t>
            </a:r>
            <a:endParaRPr/>
          </a:p>
          <a:p>
            <a:pPr indent="0" lvl="0" marL="0" rtl="0" algn="l">
              <a:spcBef>
                <a:spcPts val="0"/>
              </a:spcBef>
              <a:spcAft>
                <a:spcPts val="0"/>
              </a:spcAft>
              <a:buNone/>
            </a:pPr>
            <a:r>
              <a:t/>
            </a:r>
            <a:endParaRPr/>
          </a:p>
        </p:txBody>
      </p:sp>
      <p:grpSp>
        <p:nvGrpSpPr>
          <p:cNvPr id="378" name="Google Shape;378;g230d81c63cf_1_89"/>
          <p:cNvGrpSpPr/>
          <p:nvPr/>
        </p:nvGrpSpPr>
        <p:grpSpPr>
          <a:xfrm>
            <a:off x="6058725" y="1823025"/>
            <a:ext cx="1664100" cy="4423600"/>
            <a:chOff x="6695325" y="1765150"/>
            <a:chExt cx="1664100" cy="4423600"/>
          </a:xfrm>
        </p:grpSpPr>
        <p:sp>
          <p:nvSpPr>
            <p:cNvPr id="379" name="Google Shape;379;g230d81c63cf_1_89"/>
            <p:cNvSpPr/>
            <p:nvPr/>
          </p:nvSpPr>
          <p:spPr>
            <a:xfrm>
              <a:off x="6760575" y="3130488"/>
              <a:ext cx="1533600" cy="1085100"/>
            </a:xfrm>
            <a:prstGeom prst="roundRect">
              <a:avLst>
                <a:gd fmla="val 16667" name="adj"/>
              </a:avLst>
            </a:prstGeom>
            <a:solidFill>
              <a:srgbClr val="0B5394"/>
            </a:solidFill>
            <a:ln cap="flat" cmpd="sng" w="952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000">
                  <a:solidFill>
                    <a:srgbClr val="F3F3F3"/>
                  </a:solidFill>
                </a:rPr>
                <a:t>Memory Controller</a:t>
              </a:r>
              <a:endParaRPr>
                <a:solidFill>
                  <a:srgbClr val="F3F3F3"/>
                </a:solidFill>
              </a:endParaRPr>
            </a:p>
          </p:txBody>
        </p:sp>
        <p:cxnSp>
          <p:nvCxnSpPr>
            <p:cNvPr id="380" name="Google Shape;380;g230d81c63cf_1_89"/>
            <p:cNvCxnSpPr>
              <a:stCxn id="379" idx="0"/>
              <a:endCxn id="381" idx="2"/>
            </p:cNvCxnSpPr>
            <p:nvPr/>
          </p:nvCxnSpPr>
          <p:spPr>
            <a:xfrm rot="10800000">
              <a:off x="7527375" y="2676588"/>
              <a:ext cx="0" cy="453900"/>
            </a:xfrm>
            <a:prstGeom prst="straightConnector1">
              <a:avLst/>
            </a:prstGeom>
            <a:noFill/>
            <a:ln cap="flat" cmpd="sng" w="76200">
              <a:solidFill>
                <a:schemeClr val="dk2"/>
              </a:solidFill>
              <a:prstDash val="solid"/>
              <a:round/>
              <a:headEnd len="med" w="med" type="none"/>
              <a:tailEnd len="med" w="med" type="none"/>
            </a:ln>
          </p:spPr>
        </p:cxnSp>
        <p:sp>
          <p:nvSpPr>
            <p:cNvPr id="381" name="Google Shape;381;g230d81c63cf_1_89"/>
            <p:cNvSpPr/>
            <p:nvPr/>
          </p:nvSpPr>
          <p:spPr>
            <a:xfrm>
              <a:off x="6934275" y="1765150"/>
              <a:ext cx="1186200" cy="911400"/>
            </a:xfrm>
            <a:prstGeom prst="roundRect">
              <a:avLst>
                <a:gd fmla="val 16667" name="adj"/>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200">
                  <a:solidFill>
                    <a:srgbClr val="F3F3F3"/>
                  </a:solidFill>
                </a:rPr>
                <a:t>RAM</a:t>
              </a:r>
              <a:endParaRPr sz="2200">
                <a:solidFill>
                  <a:srgbClr val="F3F3F3"/>
                </a:solidFill>
              </a:endParaRPr>
            </a:p>
          </p:txBody>
        </p:sp>
        <p:sp>
          <p:nvSpPr>
            <p:cNvPr id="382" name="Google Shape;382;g230d81c63cf_1_89"/>
            <p:cNvSpPr/>
            <p:nvPr/>
          </p:nvSpPr>
          <p:spPr>
            <a:xfrm>
              <a:off x="6695325" y="4669550"/>
              <a:ext cx="1664100" cy="15192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F3F3F3"/>
                  </a:solidFill>
                </a:rPr>
                <a:t>CPU</a:t>
              </a:r>
              <a:endParaRPr sz="2400">
                <a:solidFill>
                  <a:srgbClr val="F3F3F3"/>
                </a:solidFill>
              </a:endParaRPr>
            </a:p>
          </p:txBody>
        </p:sp>
        <p:cxnSp>
          <p:nvCxnSpPr>
            <p:cNvPr id="383" name="Google Shape;383;g230d81c63cf_1_89"/>
            <p:cNvCxnSpPr>
              <a:stCxn id="382" idx="0"/>
              <a:endCxn id="379" idx="2"/>
            </p:cNvCxnSpPr>
            <p:nvPr/>
          </p:nvCxnSpPr>
          <p:spPr>
            <a:xfrm rot="10800000">
              <a:off x="7527375" y="4215650"/>
              <a:ext cx="0" cy="453900"/>
            </a:xfrm>
            <a:prstGeom prst="straightConnector1">
              <a:avLst/>
            </a:prstGeom>
            <a:noFill/>
            <a:ln cap="flat" cmpd="sng" w="76200">
              <a:solidFill>
                <a:schemeClr val="dk2"/>
              </a:solidFill>
              <a:prstDash val="solid"/>
              <a:round/>
              <a:headEnd len="med" w="med" type="none"/>
              <a:tailEnd len="med" w="med" type="none"/>
            </a:ln>
          </p:spPr>
        </p:cxnSp>
      </p:grpSp>
      <p:grpSp>
        <p:nvGrpSpPr>
          <p:cNvPr id="384" name="Google Shape;384;g230d81c63cf_1_89"/>
          <p:cNvGrpSpPr/>
          <p:nvPr/>
        </p:nvGrpSpPr>
        <p:grpSpPr>
          <a:xfrm>
            <a:off x="8155850" y="1823025"/>
            <a:ext cx="1664100" cy="4423600"/>
            <a:chOff x="6695325" y="1765150"/>
            <a:chExt cx="1664100" cy="4423600"/>
          </a:xfrm>
        </p:grpSpPr>
        <p:sp>
          <p:nvSpPr>
            <p:cNvPr id="385" name="Google Shape;385;g230d81c63cf_1_89"/>
            <p:cNvSpPr/>
            <p:nvPr/>
          </p:nvSpPr>
          <p:spPr>
            <a:xfrm>
              <a:off x="6760575" y="3130488"/>
              <a:ext cx="1533600" cy="1085100"/>
            </a:xfrm>
            <a:prstGeom prst="roundRect">
              <a:avLst>
                <a:gd fmla="val 16667" name="adj"/>
              </a:avLst>
            </a:prstGeom>
            <a:solidFill>
              <a:srgbClr val="0B5394"/>
            </a:solidFill>
            <a:ln cap="flat" cmpd="sng" w="952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000">
                  <a:solidFill>
                    <a:srgbClr val="F3F3F3"/>
                  </a:solidFill>
                </a:rPr>
                <a:t>Memory Controller</a:t>
              </a:r>
              <a:endParaRPr>
                <a:solidFill>
                  <a:srgbClr val="F3F3F3"/>
                </a:solidFill>
              </a:endParaRPr>
            </a:p>
          </p:txBody>
        </p:sp>
        <p:cxnSp>
          <p:nvCxnSpPr>
            <p:cNvPr id="386" name="Google Shape;386;g230d81c63cf_1_89"/>
            <p:cNvCxnSpPr>
              <a:stCxn id="385" idx="0"/>
              <a:endCxn id="387" idx="2"/>
            </p:cNvCxnSpPr>
            <p:nvPr/>
          </p:nvCxnSpPr>
          <p:spPr>
            <a:xfrm rot="10800000">
              <a:off x="7527375" y="2676588"/>
              <a:ext cx="0" cy="453900"/>
            </a:xfrm>
            <a:prstGeom prst="straightConnector1">
              <a:avLst/>
            </a:prstGeom>
            <a:noFill/>
            <a:ln cap="flat" cmpd="sng" w="76200">
              <a:solidFill>
                <a:schemeClr val="dk2"/>
              </a:solidFill>
              <a:prstDash val="solid"/>
              <a:round/>
              <a:headEnd len="med" w="med" type="none"/>
              <a:tailEnd len="med" w="med" type="none"/>
            </a:ln>
          </p:spPr>
        </p:cxnSp>
        <p:sp>
          <p:nvSpPr>
            <p:cNvPr id="387" name="Google Shape;387;g230d81c63cf_1_89"/>
            <p:cNvSpPr/>
            <p:nvPr/>
          </p:nvSpPr>
          <p:spPr>
            <a:xfrm>
              <a:off x="6934275" y="1765150"/>
              <a:ext cx="1186200" cy="911400"/>
            </a:xfrm>
            <a:prstGeom prst="roundRect">
              <a:avLst>
                <a:gd fmla="val 16667" name="adj"/>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200">
                  <a:solidFill>
                    <a:srgbClr val="F3F3F3"/>
                  </a:solidFill>
                </a:rPr>
                <a:t>RAM</a:t>
              </a:r>
              <a:endParaRPr sz="2200">
                <a:solidFill>
                  <a:srgbClr val="F3F3F3"/>
                </a:solidFill>
              </a:endParaRPr>
            </a:p>
          </p:txBody>
        </p:sp>
        <p:sp>
          <p:nvSpPr>
            <p:cNvPr id="388" name="Google Shape;388;g230d81c63cf_1_89"/>
            <p:cNvSpPr/>
            <p:nvPr/>
          </p:nvSpPr>
          <p:spPr>
            <a:xfrm>
              <a:off x="6695325" y="4669550"/>
              <a:ext cx="1664100" cy="15192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F3F3F3"/>
                  </a:solidFill>
                </a:rPr>
                <a:t>CPU</a:t>
              </a:r>
              <a:endParaRPr sz="2400">
                <a:solidFill>
                  <a:srgbClr val="F3F3F3"/>
                </a:solidFill>
              </a:endParaRPr>
            </a:p>
          </p:txBody>
        </p:sp>
        <p:cxnSp>
          <p:nvCxnSpPr>
            <p:cNvPr id="389" name="Google Shape;389;g230d81c63cf_1_89"/>
            <p:cNvCxnSpPr>
              <a:stCxn id="388" idx="0"/>
              <a:endCxn id="385" idx="2"/>
            </p:cNvCxnSpPr>
            <p:nvPr/>
          </p:nvCxnSpPr>
          <p:spPr>
            <a:xfrm rot="10800000">
              <a:off x="7527375" y="4215650"/>
              <a:ext cx="0" cy="453900"/>
            </a:xfrm>
            <a:prstGeom prst="straightConnector1">
              <a:avLst/>
            </a:prstGeom>
            <a:noFill/>
            <a:ln cap="flat" cmpd="sng" w="76200">
              <a:solidFill>
                <a:schemeClr val="dk2"/>
              </a:solidFill>
              <a:prstDash val="solid"/>
              <a:round/>
              <a:headEnd len="med" w="med" type="none"/>
              <a:tailEnd len="med" w="med" type="none"/>
            </a:ln>
          </p:spPr>
        </p:cxnSp>
      </p:grpSp>
      <p:grpSp>
        <p:nvGrpSpPr>
          <p:cNvPr id="390" name="Google Shape;390;g230d81c63cf_1_89"/>
          <p:cNvGrpSpPr/>
          <p:nvPr/>
        </p:nvGrpSpPr>
        <p:grpSpPr>
          <a:xfrm>
            <a:off x="10253000" y="1823025"/>
            <a:ext cx="1664100" cy="4423600"/>
            <a:chOff x="6695325" y="1765150"/>
            <a:chExt cx="1664100" cy="4423600"/>
          </a:xfrm>
        </p:grpSpPr>
        <p:sp>
          <p:nvSpPr>
            <p:cNvPr id="391" name="Google Shape;391;g230d81c63cf_1_89"/>
            <p:cNvSpPr/>
            <p:nvPr/>
          </p:nvSpPr>
          <p:spPr>
            <a:xfrm>
              <a:off x="6760575" y="3130488"/>
              <a:ext cx="1533600" cy="1085100"/>
            </a:xfrm>
            <a:prstGeom prst="roundRect">
              <a:avLst>
                <a:gd fmla="val 16667" name="adj"/>
              </a:avLst>
            </a:prstGeom>
            <a:solidFill>
              <a:srgbClr val="0B5394"/>
            </a:solidFill>
            <a:ln cap="flat" cmpd="sng" w="952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000">
                  <a:solidFill>
                    <a:srgbClr val="F3F3F3"/>
                  </a:solidFill>
                </a:rPr>
                <a:t>Memory Controller</a:t>
              </a:r>
              <a:endParaRPr>
                <a:solidFill>
                  <a:srgbClr val="F3F3F3"/>
                </a:solidFill>
              </a:endParaRPr>
            </a:p>
          </p:txBody>
        </p:sp>
        <p:cxnSp>
          <p:nvCxnSpPr>
            <p:cNvPr id="392" name="Google Shape;392;g230d81c63cf_1_89"/>
            <p:cNvCxnSpPr>
              <a:stCxn id="391" idx="0"/>
              <a:endCxn id="393" idx="2"/>
            </p:cNvCxnSpPr>
            <p:nvPr/>
          </p:nvCxnSpPr>
          <p:spPr>
            <a:xfrm rot="10800000">
              <a:off x="7527375" y="2676588"/>
              <a:ext cx="0" cy="453900"/>
            </a:xfrm>
            <a:prstGeom prst="straightConnector1">
              <a:avLst/>
            </a:prstGeom>
            <a:noFill/>
            <a:ln cap="flat" cmpd="sng" w="76200">
              <a:solidFill>
                <a:schemeClr val="dk2"/>
              </a:solidFill>
              <a:prstDash val="solid"/>
              <a:round/>
              <a:headEnd len="med" w="med" type="none"/>
              <a:tailEnd len="med" w="med" type="none"/>
            </a:ln>
          </p:spPr>
        </p:cxnSp>
        <p:sp>
          <p:nvSpPr>
            <p:cNvPr id="393" name="Google Shape;393;g230d81c63cf_1_89"/>
            <p:cNvSpPr/>
            <p:nvPr/>
          </p:nvSpPr>
          <p:spPr>
            <a:xfrm>
              <a:off x="6934275" y="1765150"/>
              <a:ext cx="1186200" cy="911400"/>
            </a:xfrm>
            <a:prstGeom prst="roundRect">
              <a:avLst>
                <a:gd fmla="val 16667" name="adj"/>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200">
                  <a:solidFill>
                    <a:srgbClr val="F3F3F3"/>
                  </a:solidFill>
                </a:rPr>
                <a:t>RAM</a:t>
              </a:r>
              <a:endParaRPr sz="2200">
                <a:solidFill>
                  <a:srgbClr val="F3F3F3"/>
                </a:solidFill>
              </a:endParaRPr>
            </a:p>
          </p:txBody>
        </p:sp>
        <p:sp>
          <p:nvSpPr>
            <p:cNvPr id="394" name="Google Shape;394;g230d81c63cf_1_89"/>
            <p:cNvSpPr/>
            <p:nvPr/>
          </p:nvSpPr>
          <p:spPr>
            <a:xfrm>
              <a:off x="6695325" y="4669550"/>
              <a:ext cx="1664100" cy="15192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F3F3F3"/>
                  </a:solidFill>
                </a:rPr>
                <a:t>CPU</a:t>
              </a:r>
              <a:endParaRPr sz="2400">
                <a:solidFill>
                  <a:srgbClr val="F3F3F3"/>
                </a:solidFill>
              </a:endParaRPr>
            </a:p>
          </p:txBody>
        </p:sp>
        <p:cxnSp>
          <p:nvCxnSpPr>
            <p:cNvPr id="395" name="Google Shape;395;g230d81c63cf_1_89"/>
            <p:cNvCxnSpPr>
              <a:stCxn id="394" idx="0"/>
              <a:endCxn id="391" idx="2"/>
            </p:cNvCxnSpPr>
            <p:nvPr/>
          </p:nvCxnSpPr>
          <p:spPr>
            <a:xfrm rot="10800000">
              <a:off x="7527375" y="4215650"/>
              <a:ext cx="0" cy="453900"/>
            </a:xfrm>
            <a:prstGeom prst="straightConnector1">
              <a:avLst/>
            </a:prstGeom>
            <a:noFill/>
            <a:ln cap="flat" cmpd="sng" w="76200">
              <a:solidFill>
                <a:schemeClr val="dk2"/>
              </a:solidFill>
              <a:prstDash val="solid"/>
              <a:round/>
              <a:headEnd len="med" w="med" type="none"/>
              <a:tailEnd len="med" w="med" type="none"/>
            </a:ln>
          </p:spPr>
        </p:cxnSp>
      </p:grpSp>
      <p:cxnSp>
        <p:nvCxnSpPr>
          <p:cNvPr id="396" name="Google Shape;396;g230d81c63cf_1_89"/>
          <p:cNvCxnSpPr>
            <a:stCxn id="382" idx="3"/>
            <a:endCxn id="388" idx="1"/>
          </p:cNvCxnSpPr>
          <p:nvPr/>
        </p:nvCxnSpPr>
        <p:spPr>
          <a:xfrm>
            <a:off x="7722825" y="5487025"/>
            <a:ext cx="432900" cy="0"/>
          </a:xfrm>
          <a:prstGeom prst="straightConnector1">
            <a:avLst/>
          </a:prstGeom>
          <a:noFill/>
          <a:ln cap="flat" cmpd="sng" w="76200">
            <a:solidFill>
              <a:schemeClr val="dk2"/>
            </a:solidFill>
            <a:prstDash val="solid"/>
            <a:round/>
            <a:headEnd len="med" w="med" type="none"/>
            <a:tailEnd len="med" w="med" type="none"/>
          </a:ln>
        </p:spPr>
      </p:cxnSp>
      <p:cxnSp>
        <p:nvCxnSpPr>
          <p:cNvPr id="397" name="Google Shape;397;g230d81c63cf_1_89"/>
          <p:cNvCxnSpPr>
            <a:stCxn id="388" idx="3"/>
            <a:endCxn id="394" idx="1"/>
          </p:cNvCxnSpPr>
          <p:nvPr/>
        </p:nvCxnSpPr>
        <p:spPr>
          <a:xfrm>
            <a:off x="9819950" y="5487025"/>
            <a:ext cx="433200" cy="0"/>
          </a:xfrm>
          <a:prstGeom prst="straightConnector1">
            <a:avLst/>
          </a:prstGeom>
          <a:noFill/>
          <a:ln cap="flat" cmpd="sng" w="76200">
            <a:solidFill>
              <a:schemeClr val="dk2"/>
            </a:solidFill>
            <a:prstDash val="solid"/>
            <a:round/>
            <a:headEnd len="med" w="med" type="none"/>
            <a:tailEnd len="med" w="med"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230d81c63cf_1_129"/>
          <p:cNvSpPr txBox="1"/>
          <p:nvPr>
            <p:ph type="title"/>
          </p:nvPr>
        </p:nvSpPr>
        <p:spPr>
          <a:xfrm>
            <a:off x="838200" y="37957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Memory architectures</a:t>
            </a:r>
            <a:endParaRPr/>
          </a:p>
        </p:txBody>
      </p:sp>
      <p:sp>
        <p:nvSpPr>
          <p:cNvPr id="404" name="Google Shape;404;g230d81c63cf_1_129"/>
          <p:cNvSpPr txBox="1"/>
          <p:nvPr/>
        </p:nvSpPr>
        <p:spPr>
          <a:xfrm>
            <a:off x="491925" y="1765150"/>
            <a:ext cx="5483400" cy="36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Cache-coherent </a:t>
            </a:r>
            <a:r>
              <a:rPr lang="en-US" sz="2400">
                <a:latin typeface="Calibri"/>
                <a:ea typeface="Calibri"/>
                <a:cs typeface="Calibri"/>
                <a:sym typeface="Calibri"/>
              </a:rPr>
              <a:t>Non-Uniform Memory Access (ccNUMA or cc-NUMA)</a:t>
            </a:r>
            <a:endParaRPr sz="2400">
              <a:latin typeface="Calibri"/>
              <a:ea typeface="Calibri"/>
              <a:cs typeface="Calibri"/>
              <a:sym typeface="Calibri"/>
            </a:endParaRPr>
          </a:p>
          <a:p>
            <a:pPr indent="0" lvl="0" marL="0" rtl="0" algn="l">
              <a:spcBef>
                <a:spcPts val="0"/>
              </a:spcBef>
              <a:spcAft>
                <a:spcPts val="0"/>
              </a:spcAft>
              <a:buNone/>
            </a:pPr>
            <a:r>
              <a:t/>
            </a:r>
            <a:endParaRPr sz="2400">
              <a:latin typeface="Calibri"/>
              <a:ea typeface="Calibri"/>
              <a:cs typeface="Calibri"/>
              <a:sym typeface="Calibri"/>
            </a:endParaRPr>
          </a:p>
          <a:p>
            <a:pPr indent="0" lvl="0" marL="0" rtl="0" algn="l">
              <a:spcBef>
                <a:spcPts val="0"/>
              </a:spcBef>
              <a:spcAft>
                <a:spcPts val="0"/>
              </a:spcAft>
              <a:buNone/>
            </a:pPr>
            <a:r>
              <a:rPr lang="en-US" sz="2400">
                <a:latin typeface="Calibri"/>
                <a:ea typeface="Calibri"/>
                <a:cs typeface="Calibri"/>
                <a:sym typeface="Calibri"/>
              </a:rPr>
              <a:t>Pros: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Scales even better by using  local caches to reduce the </a:t>
            </a:r>
            <a:r>
              <a:rPr lang="en-US" sz="1800">
                <a:latin typeface="Calibri"/>
                <a:ea typeface="Calibri"/>
                <a:cs typeface="Calibri"/>
                <a:sym typeface="Calibri"/>
              </a:rPr>
              <a:t>frequency</a:t>
            </a:r>
            <a:r>
              <a:rPr lang="en-US" sz="1800">
                <a:latin typeface="Calibri"/>
                <a:ea typeface="Calibri"/>
                <a:cs typeface="Calibri"/>
                <a:sym typeface="Calibri"/>
              </a:rPr>
              <a:t> of accessing distant RAM</a:t>
            </a:r>
            <a:endParaRPr sz="1800">
              <a:latin typeface="Calibri"/>
              <a:ea typeface="Calibri"/>
              <a:cs typeface="Calibri"/>
              <a:sym typeface="Calibri"/>
            </a:endParaRPr>
          </a:p>
          <a:p>
            <a:pPr indent="0" lvl="0" marL="0" rtl="0" algn="l">
              <a:spcBef>
                <a:spcPts val="0"/>
              </a:spcBef>
              <a:spcAft>
                <a:spcPts val="0"/>
              </a:spcAft>
              <a:buNone/>
            </a:pPr>
            <a:r>
              <a:rPr lang="en-US" sz="2400">
                <a:latin typeface="Calibri"/>
                <a:ea typeface="Calibri"/>
                <a:cs typeface="Calibri"/>
                <a:sym typeface="Calibri"/>
              </a:rPr>
              <a:t>Cons:</a:t>
            </a:r>
            <a:endParaRPr sz="24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Even more complicated</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Even more complexity means even more expensive</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Limited scalability</a:t>
            </a:r>
            <a:endParaRPr sz="1800">
              <a:latin typeface="Calibri"/>
              <a:ea typeface="Calibri"/>
              <a:cs typeface="Calibri"/>
              <a:sym typeface="Calibri"/>
            </a:endParaRPr>
          </a:p>
          <a:p>
            <a:pPr indent="0" lvl="0" marL="0" rtl="0" algn="l">
              <a:spcBef>
                <a:spcPts val="0"/>
              </a:spcBef>
              <a:spcAft>
                <a:spcPts val="0"/>
              </a:spcAft>
              <a:buNone/>
            </a:pPr>
            <a:r>
              <a:t/>
            </a:r>
            <a:endParaRPr sz="1800">
              <a:latin typeface="Calibri"/>
              <a:ea typeface="Calibri"/>
              <a:cs typeface="Calibri"/>
              <a:sym typeface="Calibri"/>
            </a:endParaRPr>
          </a:p>
        </p:txBody>
      </p:sp>
      <p:sp>
        <p:nvSpPr>
          <p:cNvPr id="405" name="Google Shape;405;g230d81c63cf_1_129"/>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CPU</a:t>
            </a:r>
            <a:endParaRPr/>
          </a:p>
          <a:p>
            <a:pPr indent="0" lvl="0" marL="0" rtl="0" algn="l">
              <a:spcBef>
                <a:spcPts val="0"/>
              </a:spcBef>
              <a:spcAft>
                <a:spcPts val="0"/>
              </a:spcAft>
              <a:buNone/>
            </a:pPr>
            <a:r>
              <a:t/>
            </a:r>
            <a:endParaRPr/>
          </a:p>
        </p:txBody>
      </p:sp>
      <p:grpSp>
        <p:nvGrpSpPr>
          <p:cNvPr id="406" name="Google Shape;406;g230d81c63cf_1_129"/>
          <p:cNvGrpSpPr/>
          <p:nvPr/>
        </p:nvGrpSpPr>
        <p:grpSpPr>
          <a:xfrm>
            <a:off x="6058725" y="1823025"/>
            <a:ext cx="1664100" cy="4423600"/>
            <a:chOff x="6695325" y="1765150"/>
            <a:chExt cx="1664100" cy="4423600"/>
          </a:xfrm>
        </p:grpSpPr>
        <p:sp>
          <p:nvSpPr>
            <p:cNvPr id="407" name="Google Shape;407;g230d81c63cf_1_129"/>
            <p:cNvSpPr/>
            <p:nvPr/>
          </p:nvSpPr>
          <p:spPr>
            <a:xfrm>
              <a:off x="6760575" y="3130488"/>
              <a:ext cx="1533600" cy="1085100"/>
            </a:xfrm>
            <a:prstGeom prst="roundRect">
              <a:avLst>
                <a:gd fmla="val 16667" name="adj"/>
              </a:avLst>
            </a:prstGeom>
            <a:solidFill>
              <a:srgbClr val="0B5394"/>
            </a:solidFill>
            <a:ln cap="flat" cmpd="sng" w="952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000">
                  <a:solidFill>
                    <a:srgbClr val="F3F3F3"/>
                  </a:solidFill>
                </a:rPr>
                <a:t>Memory Controller</a:t>
              </a:r>
              <a:endParaRPr>
                <a:solidFill>
                  <a:srgbClr val="F3F3F3"/>
                </a:solidFill>
              </a:endParaRPr>
            </a:p>
          </p:txBody>
        </p:sp>
        <p:cxnSp>
          <p:nvCxnSpPr>
            <p:cNvPr id="408" name="Google Shape;408;g230d81c63cf_1_129"/>
            <p:cNvCxnSpPr>
              <a:stCxn id="407" idx="0"/>
              <a:endCxn id="409" idx="2"/>
            </p:cNvCxnSpPr>
            <p:nvPr/>
          </p:nvCxnSpPr>
          <p:spPr>
            <a:xfrm rot="10800000">
              <a:off x="7527375" y="2676588"/>
              <a:ext cx="0" cy="453900"/>
            </a:xfrm>
            <a:prstGeom prst="straightConnector1">
              <a:avLst/>
            </a:prstGeom>
            <a:noFill/>
            <a:ln cap="flat" cmpd="sng" w="76200">
              <a:solidFill>
                <a:schemeClr val="dk2"/>
              </a:solidFill>
              <a:prstDash val="solid"/>
              <a:round/>
              <a:headEnd len="med" w="med" type="none"/>
              <a:tailEnd len="med" w="med" type="none"/>
            </a:ln>
          </p:spPr>
        </p:cxnSp>
        <p:sp>
          <p:nvSpPr>
            <p:cNvPr id="409" name="Google Shape;409;g230d81c63cf_1_129"/>
            <p:cNvSpPr/>
            <p:nvPr/>
          </p:nvSpPr>
          <p:spPr>
            <a:xfrm>
              <a:off x="6934275" y="1765150"/>
              <a:ext cx="1186200" cy="911400"/>
            </a:xfrm>
            <a:prstGeom prst="roundRect">
              <a:avLst>
                <a:gd fmla="val 16667" name="adj"/>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200">
                  <a:solidFill>
                    <a:srgbClr val="F3F3F3"/>
                  </a:solidFill>
                </a:rPr>
                <a:t>RAM</a:t>
              </a:r>
              <a:endParaRPr sz="2200">
                <a:solidFill>
                  <a:srgbClr val="F3F3F3"/>
                </a:solidFill>
              </a:endParaRPr>
            </a:p>
          </p:txBody>
        </p:sp>
        <p:sp>
          <p:nvSpPr>
            <p:cNvPr id="410" name="Google Shape;410;g230d81c63cf_1_129"/>
            <p:cNvSpPr/>
            <p:nvPr/>
          </p:nvSpPr>
          <p:spPr>
            <a:xfrm>
              <a:off x="6695325" y="4669550"/>
              <a:ext cx="1664100" cy="15192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F3F3F3"/>
                  </a:solidFill>
                </a:rPr>
                <a:t>CPU</a:t>
              </a:r>
              <a:endParaRPr sz="2400">
                <a:solidFill>
                  <a:srgbClr val="F3F3F3"/>
                </a:solidFill>
              </a:endParaRPr>
            </a:p>
          </p:txBody>
        </p:sp>
        <p:cxnSp>
          <p:nvCxnSpPr>
            <p:cNvPr id="411" name="Google Shape;411;g230d81c63cf_1_129"/>
            <p:cNvCxnSpPr>
              <a:stCxn id="410" idx="0"/>
              <a:endCxn id="407" idx="2"/>
            </p:cNvCxnSpPr>
            <p:nvPr/>
          </p:nvCxnSpPr>
          <p:spPr>
            <a:xfrm rot="10800000">
              <a:off x="7527375" y="4215650"/>
              <a:ext cx="0" cy="453900"/>
            </a:xfrm>
            <a:prstGeom prst="straightConnector1">
              <a:avLst/>
            </a:prstGeom>
            <a:noFill/>
            <a:ln cap="flat" cmpd="sng" w="76200">
              <a:solidFill>
                <a:schemeClr val="dk2"/>
              </a:solidFill>
              <a:prstDash val="solid"/>
              <a:round/>
              <a:headEnd len="med" w="med" type="none"/>
              <a:tailEnd len="med" w="med" type="none"/>
            </a:ln>
          </p:spPr>
        </p:cxnSp>
      </p:grpSp>
      <p:grpSp>
        <p:nvGrpSpPr>
          <p:cNvPr id="412" name="Google Shape;412;g230d81c63cf_1_129"/>
          <p:cNvGrpSpPr/>
          <p:nvPr/>
        </p:nvGrpSpPr>
        <p:grpSpPr>
          <a:xfrm>
            <a:off x="8155850" y="1823025"/>
            <a:ext cx="1664100" cy="4423600"/>
            <a:chOff x="6695325" y="1765150"/>
            <a:chExt cx="1664100" cy="4423600"/>
          </a:xfrm>
        </p:grpSpPr>
        <p:sp>
          <p:nvSpPr>
            <p:cNvPr id="413" name="Google Shape;413;g230d81c63cf_1_129"/>
            <p:cNvSpPr/>
            <p:nvPr/>
          </p:nvSpPr>
          <p:spPr>
            <a:xfrm>
              <a:off x="6760575" y="3130488"/>
              <a:ext cx="1533600" cy="1085100"/>
            </a:xfrm>
            <a:prstGeom prst="roundRect">
              <a:avLst>
                <a:gd fmla="val 16667" name="adj"/>
              </a:avLst>
            </a:prstGeom>
            <a:solidFill>
              <a:srgbClr val="0B5394"/>
            </a:solidFill>
            <a:ln cap="flat" cmpd="sng" w="952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000">
                  <a:solidFill>
                    <a:srgbClr val="F3F3F3"/>
                  </a:solidFill>
                </a:rPr>
                <a:t>Memory Controller</a:t>
              </a:r>
              <a:endParaRPr>
                <a:solidFill>
                  <a:srgbClr val="F3F3F3"/>
                </a:solidFill>
              </a:endParaRPr>
            </a:p>
          </p:txBody>
        </p:sp>
        <p:cxnSp>
          <p:nvCxnSpPr>
            <p:cNvPr id="414" name="Google Shape;414;g230d81c63cf_1_129"/>
            <p:cNvCxnSpPr>
              <a:stCxn id="413" idx="0"/>
              <a:endCxn id="415" idx="2"/>
            </p:cNvCxnSpPr>
            <p:nvPr/>
          </p:nvCxnSpPr>
          <p:spPr>
            <a:xfrm rot="10800000">
              <a:off x="7527375" y="2676588"/>
              <a:ext cx="0" cy="453900"/>
            </a:xfrm>
            <a:prstGeom prst="straightConnector1">
              <a:avLst/>
            </a:prstGeom>
            <a:noFill/>
            <a:ln cap="flat" cmpd="sng" w="76200">
              <a:solidFill>
                <a:schemeClr val="dk2"/>
              </a:solidFill>
              <a:prstDash val="solid"/>
              <a:round/>
              <a:headEnd len="med" w="med" type="none"/>
              <a:tailEnd len="med" w="med" type="none"/>
            </a:ln>
          </p:spPr>
        </p:cxnSp>
        <p:sp>
          <p:nvSpPr>
            <p:cNvPr id="415" name="Google Shape;415;g230d81c63cf_1_129"/>
            <p:cNvSpPr/>
            <p:nvPr/>
          </p:nvSpPr>
          <p:spPr>
            <a:xfrm>
              <a:off x="6934275" y="1765150"/>
              <a:ext cx="1186200" cy="911400"/>
            </a:xfrm>
            <a:prstGeom prst="roundRect">
              <a:avLst>
                <a:gd fmla="val 16667" name="adj"/>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200">
                  <a:solidFill>
                    <a:srgbClr val="F3F3F3"/>
                  </a:solidFill>
                </a:rPr>
                <a:t>RAM</a:t>
              </a:r>
              <a:endParaRPr sz="2200">
                <a:solidFill>
                  <a:srgbClr val="F3F3F3"/>
                </a:solidFill>
              </a:endParaRPr>
            </a:p>
          </p:txBody>
        </p:sp>
        <p:sp>
          <p:nvSpPr>
            <p:cNvPr id="416" name="Google Shape;416;g230d81c63cf_1_129"/>
            <p:cNvSpPr/>
            <p:nvPr/>
          </p:nvSpPr>
          <p:spPr>
            <a:xfrm>
              <a:off x="6695325" y="4669550"/>
              <a:ext cx="1664100" cy="15192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F3F3F3"/>
                  </a:solidFill>
                </a:rPr>
                <a:t>CPU</a:t>
              </a:r>
              <a:endParaRPr sz="2400">
                <a:solidFill>
                  <a:srgbClr val="F3F3F3"/>
                </a:solidFill>
              </a:endParaRPr>
            </a:p>
          </p:txBody>
        </p:sp>
        <p:cxnSp>
          <p:nvCxnSpPr>
            <p:cNvPr id="417" name="Google Shape;417;g230d81c63cf_1_129"/>
            <p:cNvCxnSpPr>
              <a:stCxn id="416" idx="0"/>
              <a:endCxn id="413" idx="2"/>
            </p:cNvCxnSpPr>
            <p:nvPr/>
          </p:nvCxnSpPr>
          <p:spPr>
            <a:xfrm rot="10800000">
              <a:off x="7527375" y="4215650"/>
              <a:ext cx="0" cy="453900"/>
            </a:xfrm>
            <a:prstGeom prst="straightConnector1">
              <a:avLst/>
            </a:prstGeom>
            <a:noFill/>
            <a:ln cap="flat" cmpd="sng" w="76200">
              <a:solidFill>
                <a:schemeClr val="dk2"/>
              </a:solidFill>
              <a:prstDash val="solid"/>
              <a:round/>
              <a:headEnd len="med" w="med" type="none"/>
              <a:tailEnd len="med" w="med" type="none"/>
            </a:ln>
          </p:spPr>
        </p:cxnSp>
      </p:grpSp>
      <p:grpSp>
        <p:nvGrpSpPr>
          <p:cNvPr id="418" name="Google Shape;418;g230d81c63cf_1_129"/>
          <p:cNvGrpSpPr/>
          <p:nvPr/>
        </p:nvGrpSpPr>
        <p:grpSpPr>
          <a:xfrm>
            <a:off x="10253000" y="1823025"/>
            <a:ext cx="1664100" cy="4423600"/>
            <a:chOff x="6695325" y="1765150"/>
            <a:chExt cx="1664100" cy="4423600"/>
          </a:xfrm>
        </p:grpSpPr>
        <p:sp>
          <p:nvSpPr>
            <p:cNvPr id="419" name="Google Shape;419;g230d81c63cf_1_129"/>
            <p:cNvSpPr/>
            <p:nvPr/>
          </p:nvSpPr>
          <p:spPr>
            <a:xfrm>
              <a:off x="6760575" y="3130488"/>
              <a:ext cx="1533600" cy="1085100"/>
            </a:xfrm>
            <a:prstGeom prst="roundRect">
              <a:avLst>
                <a:gd fmla="val 16667" name="adj"/>
              </a:avLst>
            </a:prstGeom>
            <a:solidFill>
              <a:srgbClr val="0B5394"/>
            </a:solidFill>
            <a:ln cap="flat" cmpd="sng" w="952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000">
                  <a:solidFill>
                    <a:srgbClr val="F3F3F3"/>
                  </a:solidFill>
                </a:rPr>
                <a:t>Memory Controller</a:t>
              </a:r>
              <a:endParaRPr>
                <a:solidFill>
                  <a:srgbClr val="F3F3F3"/>
                </a:solidFill>
              </a:endParaRPr>
            </a:p>
          </p:txBody>
        </p:sp>
        <p:cxnSp>
          <p:nvCxnSpPr>
            <p:cNvPr id="420" name="Google Shape;420;g230d81c63cf_1_129"/>
            <p:cNvCxnSpPr>
              <a:stCxn id="419" idx="0"/>
              <a:endCxn id="421" idx="2"/>
            </p:cNvCxnSpPr>
            <p:nvPr/>
          </p:nvCxnSpPr>
          <p:spPr>
            <a:xfrm rot="10800000">
              <a:off x="7527375" y="2676588"/>
              <a:ext cx="0" cy="453900"/>
            </a:xfrm>
            <a:prstGeom prst="straightConnector1">
              <a:avLst/>
            </a:prstGeom>
            <a:noFill/>
            <a:ln cap="flat" cmpd="sng" w="76200">
              <a:solidFill>
                <a:schemeClr val="dk2"/>
              </a:solidFill>
              <a:prstDash val="solid"/>
              <a:round/>
              <a:headEnd len="med" w="med" type="none"/>
              <a:tailEnd len="med" w="med" type="none"/>
            </a:ln>
          </p:spPr>
        </p:cxnSp>
        <p:sp>
          <p:nvSpPr>
            <p:cNvPr id="421" name="Google Shape;421;g230d81c63cf_1_129"/>
            <p:cNvSpPr/>
            <p:nvPr/>
          </p:nvSpPr>
          <p:spPr>
            <a:xfrm>
              <a:off x="6934275" y="1765150"/>
              <a:ext cx="1186200" cy="911400"/>
            </a:xfrm>
            <a:prstGeom prst="roundRect">
              <a:avLst>
                <a:gd fmla="val 16667" name="adj"/>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200">
                  <a:solidFill>
                    <a:srgbClr val="F3F3F3"/>
                  </a:solidFill>
                </a:rPr>
                <a:t>RAM</a:t>
              </a:r>
              <a:endParaRPr sz="2200">
                <a:solidFill>
                  <a:srgbClr val="F3F3F3"/>
                </a:solidFill>
              </a:endParaRPr>
            </a:p>
          </p:txBody>
        </p:sp>
        <p:sp>
          <p:nvSpPr>
            <p:cNvPr id="422" name="Google Shape;422;g230d81c63cf_1_129"/>
            <p:cNvSpPr/>
            <p:nvPr/>
          </p:nvSpPr>
          <p:spPr>
            <a:xfrm>
              <a:off x="6695325" y="4669550"/>
              <a:ext cx="1664100" cy="15192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F3F3F3"/>
                  </a:solidFill>
                </a:rPr>
                <a:t>CPU</a:t>
              </a:r>
              <a:endParaRPr sz="2400">
                <a:solidFill>
                  <a:srgbClr val="F3F3F3"/>
                </a:solidFill>
              </a:endParaRPr>
            </a:p>
          </p:txBody>
        </p:sp>
        <p:cxnSp>
          <p:nvCxnSpPr>
            <p:cNvPr id="423" name="Google Shape;423;g230d81c63cf_1_129"/>
            <p:cNvCxnSpPr>
              <a:stCxn id="422" idx="0"/>
              <a:endCxn id="419" idx="2"/>
            </p:cNvCxnSpPr>
            <p:nvPr/>
          </p:nvCxnSpPr>
          <p:spPr>
            <a:xfrm rot="10800000">
              <a:off x="7527375" y="4215650"/>
              <a:ext cx="0" cy="453900"/>
            </a:xfrm>
            <a:prstGeom prst="straightConnector1">
              <a:avLst/>
            </a:prstGeom>
            <a:noFill/>
            <a:ln cap="flat" cmpd="sng" w="76200">
              <a:solidFill>
                <a:schemeClr val="dk2"/>
              </a:solidFill>
              <a:prstDash val="solid"/>
              <a:round/>
              <a:headEnd len="med" w="med" type="none"/>
              <a:tailEnd len="med" w="med" type="none"/>
            </a:ln>
          </p:spPr>
        </p:cxnSp>
      </p:grpSp>
      <p:cxnSp>
        <p:nvCxnSpPr>
          <p:cNvPr id="424" name="Google Shape;424;g230d81c63cf_1_129"/>
          <p:cNvCxnSpPr>
            <a:stCxn id="410" idx="3"/>
            <a:endCxn id="416" idx="1"/>
          </p:cNvCxnSpPr>
          <p:nvPr/>
        </p:nvCxnSpPr>
        <p:spPr>
          <a:xfrm>
            <a:off x="7722825" y="5487025"/>
            <a:ext cx="432900" cy="0"/>
          </a:xfrm>
          <a:prstGeom prst="straightConnector1">
            <a:avLst/>
          </a:prstGeom>
          <a:noFill/>
          <a:ln cap="flat" cmpd="sng" w="76200">
            <a:solidFill>
              <a:schemeClr val="dk2"/>
            </a:solidFill>
            <a:prstDash val="solid"/>
            <a:round/>
            <a:headEnd len="med" w="med" type="none"/>
            <a:tailEnd len="med" w="med" type="none"/>
          </a:ln>
        </p:spPr>
      </p:cxnSp>
      <p:cxnSp>
        <p:nvCxnSpPr>
          <p:cNvPr id="425" name="Google Shape;425;g230d81c63cf_1_129"/>
          <p:cNvCxnSpPr>
            <a:stCxn id="416" idx="3"/>
            <a:endCxn id="422" idx="1"/>
          </p:cNvCxnSpPr>
          <p:nvPr/>
        </p:nvCxnSpPr>
        <p:spPr>
          <a:xfrm>
            <a:off x="9819950" y="5487025"/>
            <a:ext cx="433200" cy="0"/>
          </a:xfrm>
          <a:prstGeom prst="straightConnector1">
            <a:avLst/>
          </a:prstGeom>
          <a:noFill/>
          <a:ln cap="flat" cmpd="sng" w="76200">
            <a:solidFill>
              <a:schemeClr val="dk2"/>
            </a:solidFill>
            <a:prstDash val="solid"/>
            <a:round/>
            <a:headEnd len="med" w="med" type="none"/>
            <a:tailEnd len="med" w="med" type="none"/>
          </a:ln>
        </p:spPr>
      </p:cxnSp>
      <p:sp>
        <p:nvSpPr>
          <p:cNvPr id="426" name="Google Shape;426;g230d81c63cf_1_129"/>
          <p:cNvSpPr/>
          <p:nvPr/>
        </p:nvSpPr>
        <p:spPr>
          <a:xfrm>
            <a:off x="6177950" y="3212000"/>
            <a:ext cx="246000" cy="2604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g230d81c63cf_1_129"/>
          <p:cNvSpPr/>
          <p:nvPr/>
        </p:nvSpPr>
        <p:spPr>
          <a:xfrm>
            <a:off x="8283575" y="3212000"/>
            <a:ext cx="246000" cy="2604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g230d81c63cf_1_129"/>
          <p:cNvSpPr/>
          <p:nvPr/>
        </p:nvSpPr>
        <p:spPr>
          <a:xfrm>
            <a:off x="10389200" y="3212000"/>
            <a:ext cx="246000" cy="2604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g230d81c63cf_1_159"/>
          <p:cNvSpPr/>
          <p:nvPr/>
        </p:nvSpPr>
        <p:spPr>
          <a:xfrm>
            <a:off x="6336850" y="1957500"/>
            <a:ext cx="3936900" cy="3969300"/>
          </a:xfrm>
          <a:prstGeom prst="roundRect">
            <a:avLst>
              <a:gd fmla="val 16667" name="adj"/>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solidFill>
                <a:srgbClr val="F3F3F3"/>
              </a:solidFill>
            </a:endParaRPr>
          </a:p>
        </p:txBody>
      </p:sp>
      <p:sp>
        <p:nvSpPr>
          <p:cNvPr id="435" name="Google Shape;435;g230d81c63cf_1_15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Modern processors memory architecture</a:t>
            </a:r>
            <a:endParaRPr/>
          </a:p>
        </p:txBody>
      </p:sp>
      <p:sp>
        <p:nvSpPr>
          <p:cNvPr id="436" name="Google Shape;436;g230d81c63cf_1_159"/>
          <p:cNvSpPr/>
          <p:nvPr/>
        </p:nvSpPr>
        <p:spPr>
          <a:xfrm>
            <a:off x="491900" y="1770900"/>
            <a:ext cx="998400" cy="4342500"/>
          </a:xfrm>
          <a:prstGeom prst="roundRect">
            <a:avLst>
              <a:gd fmla="val 16667" name="adj"/>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F3F3F3"/>
                </a:solidFill>
              </a:rPr>
              <a:t>RAM</a:t>
            </a:r>
            <a:endParaRPr sz="2400">
              <a:solidFill>
                <a:srgbClr val="F3F3F3"/>
              </a:solidFill>
            </a:endParaRPr>
          </a:p>
        </p:txBody>
      </p:sp>
      <p:sp>
        <p:nvSpPr>
          <p:cNvPr id="437" name="Google Shape;437;g230d81c63cf_1_159"/>
          <p:cNvSpPr/>
          <p:nvPr/>
        </p:nvSpPr>
        <p:spPr>
          <a:xfrm>
            <a:off x="1836075" y="1957500"/>
            <a:ext cx="3936900" cy="3969300"/>
          </a:xfrm>
          <a:prstGeom prst="roundRect">
            <a:avLst>
              <a:gd fmla="val 16667" name="adj"/>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solidFill>
                <a:srgbClr val="F3F3F3"/>
              </a:solidFill>
            </a:endParaRPr>
          </a:p>
        </p:txBody>
      </p:sp>
      <p:grpSp>
        <p:nvGrpSpPr>
          <p:cNvPr id="438" name="Google Shape;438;g230d81c63cf_1_159"/>
          <p:cNvGrpSpPr/>
          <p:nvPr/>
        </p:nvGrpSpPr>
        <p:grpSpPr>
          <a:xfrm>
            <a:off x="4024075" y="4019825"/>
            <a:ext cx="1548000" cy="1678200"/>
            <a:chOff x="2560875" y="2014500"/>
            <a:chExt cx="1548000" cy="1678200"/>
          </a:xfrm>
        </p:grpSpPr>
        <p:sp>
          <p:nvSpPr>
            <p:cNvPr id="439" name="Google Shape;439;g230d81c63cf_1_159"/>
            <p:cNvSpPr/>
            <p:nvPr/>
          </p:nvSpPr>
          <p:spPr>
            <a:xfrm>
              <a:off x="2560875" y="2014500"/>
              <a:ext cx="1548000" cy="167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g230d81c63cf_1_159"/>
            <p:cNvSpPr/>
            <p:nvPr/>
          </p:nvSpPr>
          <p:spPr>
            <a:xfrm>
              <a:off x="2651150" y="2086825"/>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41" name="Google Shape;441;g230d81c63cf_1_159"/>
            <p:cNvSpPr/>
            <p:nvPr/>
          </p:nvSpPr>
          <p:spPr>
            <a:xfrm>
              <a:off x="3378825" y="2086825"/>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42" name="Google Shape;442;g230d81c63cf_1_159"/>
            <p:cNvSpPr/>
            <p:nvPr/>
          </p:nvSpPr>
          <p:spPr>
            <a:xfrm>
              <a:off x="3378825" y="2890300"/>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43" name="Google Shape;443;g230d81c63cf_1_159"/>
            <p:cNvSpPr/>
            <p:nvPr/>
          </p:nvSpPr>
          <p:spPr>
            <a:xfrm>
              <a:off x="2651150" y="2890300"/>
              <a:ext cx="662100" cy="720000"/>
            </a:xfrm>
            <a:prstGeom prst="round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MC</a:t>
              </a:r>
              <a:endParaRPr>
                <a:solidFill>
                  <a:srgbClr val="F3F3F3"/>
                </a:solidFill>
              </a:endParaRPr>
            </a:p>
          </p:txBody>
        </p:sp>
        <p:sp>
          <p:nvSpPr>
            <p:cNvPr id="444" name="Google Shape;444;g230d81c63cf_1_159"/>
            <p:cNvSpPr/>
            <p:nvPr/>
          </p:nvSpPr>
          <p:spPr>
            <a:xfrm>
              <a:off x="2651150" y="2890300"/>
              <a:ext cx="246000" cy="2316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 name="Google Shape;445;g230d81c63cf_1_159"/>
          <p:cNvGrpSpPr/>
          <p:nvPr/>
        </p:nvGrpSpPr>
        <p:grpSpPr>
          <a:xfrm>
            <a:off x="2366925" y="4019825"/>
            <a:ext cx="1548000" cy="1678200"/>
            <a:chOff x="2560875" y="2014500"/>
            <a:chExt cx="1548000" cy="1678200"/>
          </a:xfrm>
        </p:grpSpPr>
        <p:sp>
          <p:nvSpPr>
            <p:cNvPr id="446" name="Google Shape;446;g230d81c63cf_1_159"/>
            <p:cNvSpPr/>
            <p:nvPr/>
          </p:nvSpPr>
          <p:spPr>
            <a:xfrm>
              <a:off x="2560875" y="2014500"/>
              <a:ext cx="1548000" cy="167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g230d81c63cf_1_159"/>
            <p:cNvSpPr/>
            <p:nvPr/>
          </p:nvSpPr>
          <p:spPr>
            <a:xfrm>
              <a:off x="2651150" y="2086825"/>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48" name="Google Shape;448;g230d81c63cf_1_159"/>
            <p:cNvSpPr/>
            <p:nvPr/>
          </p:nvSpPr>
          <p:spPr>
            <a:xfrm>
              <a:off x="3378825" y="2086825"/>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49" name="Google Shape;449;g230d81c63cf_1_159"/>
            <p:cNvSpPr/>
            <p:nvPr/>
          </p:nvSpPr>
          <p:spPr>
            <a:xfrm>
              <a:off x="3378825" y="2890300"/>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50" name="Google Shape;450;g230d81c63cf_1_159"/>
            <p:cNvSpPr/>
            <p:nvPr/>
          </p:nvSpPr>
          <p:spPr>
            <a:xfrm>
              <a:off x="2651150" y="2890300"/>
              <a:ext cx="662100" cy="720000"/>
            </a:xfrm>
            <a:prstGeom prst="round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MC</a:t>
              </a:r>
              <a:endParaRPr>
                <a:solidFill>
                  <a:srgbClr val="F3F3F3"/>
                </a:solidFill>
              </a:endParaRPr>
            </a:p>
          </p:txBody>
        </p:sp>
        <p:sp>
          <p:nvSpPr>
            <p:cNvPr id="451" name="Google Shape;451;g230d81c63cf_1_159"/>
            <p:cNvSpPr/>
            <p:nvPr/>
          </p:nvSpPr>
          <p:spPr>
            <a:xfrm>
              <a:off x="2651150" y="2890300"/>
              <a:ext cx="246000" cy="2316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2" name="Google Shape;452;g230d81c63cf_1_159"/>
          <p:cNvGrpSpPr/>
          <p:nvPr/>
        </p:nvGrpSpPr>
        <p:grpSpPr>
          <a:xfrm>
            <a:off x="2366925" y="2183325"/>
            <a:ext cx="1548000" cy="1678200"/>
            <a:chOff x="2560875" y="2014500"/>
            <a:chExt cx="1548000" cy="1678200"/>
          </a:xfrm>
        </p:grpSpPr>
        <p:sp>
          <p:nvSpPr>
            <p:cNvPr id="453" name="Google Shape;453;g230d81c63cf_1_159"/>
            <p:cNvSpPr/>
            <p:nvPr/>
          </p:nvSpPr>
          <p:spPr>
            <a:xfrm>
              <a:off x="2560875" y="2014500"/>
              <a:ext cx="1548000" cy="167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g230d81c63cf_1_159"/>
            <p:cNvSpPr/>
            <p:nvPr/>
          </p:nvSpPr>
          <p:spPr>
            <a:xfrm>
              <a:off x="2651150" y="2086825"/>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55" name="Google Shape;455;g230d81c63cf_1_159"/>
            <p:cNvSpPr/>
            <p:nvPr/>
          </p:nvSpPr>
          <p:spPr>
            <a:xfrm>
              <a:off x="3378825" y="2086825"/>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56" name="Google Shape;456;g230d81c63cf_1_159"/>
            <p:cNvSpPr/>
            <p:nvPr/>
          </p:nvSpPr>
          <p:spPr>
            <a:xfrm>
              <a:off x="3378825" y="2890300"/>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57" name="Google Shape;457;g230d81c63cf_1_159"/>
            <p:cNvSpPr/>
            <p:nvPr/>
          </p:nvSpPr>
          <p:spPr>
            <a:xfrm>
              <a:off x="2651150" y="2890300"/>
              <a:ext cx="662100" cy="720000"/>
            </a:xfrm>
            <a:prstGeom prst="round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MC</a:t>
              </a:r>
              <a:endParaRPr>
                <a:solidFill>
                  <a:srgbClr val="F3F3F3"/>
                </a:solidFill>
              </a:endParaRPr>
            </a:p>
          </p:txBody>
        </p:sp>
        <p:sp>
          <p:nvSpPr>
            <p:cNvPr id="458" name="Google Shape;458;g230d81c63cf_1_159"/>
            <p:cNvSpPr/>
            <p:nvPr/>
          </p:nvSpPr>
          <p:spPr>
            <a:xfrm>
              <a:off x="2651150" y="2890300"/>
              <a:ext cx="246000" cy="2316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9" name="Google Shape;459;g230d81c63cf_1_159"/>
          <p:cNvGrpSpPr/>
          <p:nvPr/>
        </p:nvGrpSpPr>
        <p:grpSpPr>
          <a:xfrm>
            <a:off x="4024075" y="2183325"/>
            <a:ext cx="1548000" cy="1678200"/>
            <a:chOff x="2560875" y="2014500"/>
            <a:chExt cx="1548000" cy="1678200"/>
          </a:xfrm>
        </p:grpSpPr>
        <p:sp>
          <p:nvSpPr>
            <p:cNvPr id="460" name="Google Shape;460;g230d81c63cf_1_159"/>
            <p:cNvSpPr/>
            <p:nvPr/>
          </p:nvSpPr>
          <p:spPr>
            <a:xfrm>
              <a:off x="2560875" y="2014500"/>
              <a:ext cx="1548000" cy="167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g230d81c63cf_1_159"/>
            <p:cNvSpPr/>
            <p:nvPr/>
          </p:nvSpPr>
          <p:spPr>
            <a:xfrm>
              <a:off x="2651150" y="2086825"/>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62" name="Google Shape;462;g230d81c63cf_1_159"/>
            <p:cNvSpPr/>
            <p:nvPr/>
          </p:nvSpPr>
          <p:spPr>
            <a:xfrm>
              <a:off x="3378825" y="2086825"/>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63" name="Google Shape;463;g230d81c63cf_1_159"/>
            <p:cNvSpPr/>
            <p:nvPr/>
          </p:nvSpPr>
          <p:spPr>
            <a:xfrm>
              <a:off x="3378825" y="2890300"/>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64" name="Google Shape;464;g230d81c63cf_1_159"/>
            <p:cNvSpPr/>
            <p:nvPr/>
          </p:nvSpPr>
          <p:spPr>
            <a:xfrm>
              <a:off x="2651150" y="2890300"/>
              <a:ext cx="662100" cy="720000"/>
            </a:xfrm>
            <a:prstGeom prst="round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MC</a:t>
              </a:r>
              <a:endParaRPr>
                <a:solidFill>
                  <a:srgbClr val="F3F3F3"/>
                </a:solidFill>
              </a:endParaRPr>
            </a:p>
          </p:txBody>
        </p:sp>
        <p:sp>
          <p:nvSpPr>
            <p:cNvPr id="465" name="Google Shape;465;g230d81c63cf_1_159"/>
            <p:cNvSpPr/>
            <p:nvPr/>
          </p:nvSpPr>
          <p:spPr>
            <a:xfrm>
              <a:off x="2651150" y="2890300"/>
              <a:ext cx="246000" cy="2316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6" name="Google Shape;466;g230d81c63cf_1_159"/>
          <p:cNvSpPr/>
          <p:nvPr/>
        </p:nvSpPr>
        <p:spPr>
          <a:xfrm>
            <a:off x="10702450" y="1770900"/>
            <a:ext cx="998400" cy="4342500"/>
          </a:xfrm>
          <a:prstGeom prst="roundRect">
            <a:avLst>
              <a:gd fmla="val 16667" name="adj"/>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rgbClr val="F3F3F3"/>
                </a:solidFill>
              </a:rPr>
              <a:t>RAM</a:t>
            </a:r>
            <a:endParaRPr sz="2400">
              <a:solidFill>
                <a:srgbClr val="F3F3F3"/>
              </a:solidFill>
            </a:endParaRPr>
          </a:p>
        </p:txBody>
      </p:sp>
      <p:cxnSp>
        <p:nvCxnSpPr>
          <p:cNvPr id="467" name="Google Shape;467;g230d81c63cf_1_159"/>
          <p:cNvCxnSpPr>
            <a:stCxn id="436" idx="3"/>
            <a:endCxn id="437" idx="1"/>
          </p:cNvCxnSpPr>
          <p:nvPr/>
        </p:nvCxnSpPr>
        <p:spPr>
          <a:xfrm>
            <a:off x="1490300" y="3942150"/>
            <a:ext cx="345900" cy="0"/>
          </a:xfrm>
          <a:prstGeom prst="straightConnector1">
            <a:avLst/>
          </a:prstGeom>
          <a:noFill/>
          <a:ln cap="flat" cmpd="sng" w="114300">
            <a:solidFill>
              <a:srgbClr val="38761D"/>
            </a:solidFill>
            <a:prstDash val="solid"/>
            <a:round/>
            <a:headEnd len="med" w="med" type="none"/>
            <a:tailEnd len="med" w="med" type="none"/>
          </a:ln>
        </p:spPr>
      </p:cxnSp>
      <p:cxnSp>
        <p:nvCxnSpPr>
          <p:cNvPr id="468" name="Google Shape;468;g230d81c63cf_1_159"/>
          <p:cNvCxnSpPr>
            <a:stCxn id="434" idx="3"/>
            <a:endCxn id="466" idx="1"/>
          </p:cNvCxnSpPr>
          <p:nvPr/>
        </p:nvCxnSpPr>
        <p:spPr>
          <a:xfrm>
            <a:off x="10273750" y="3942150"/>
            <a:ext cx="428700" cy="0"/>
          </a:xfrm>
          <a:prstGeom prst="straightConnector1">
            <a:avLst/>
          </a:prstGeom>
          <a:noFill/>
          <a:ln cap="flat" cmpd="sng" w="114300">
            <a:solidFill>
              <a:schemeClr val="dk2"/>
            </a:solidFill>
            <a:prstDash val="solid"/>
            <a:round/>
            <a:headEnd len="med" w="med" type="none"/>
            <a:tailEnd len="med" w="med" type="none"/>
          </a:ln>
        </p:spPr>
      </p:cxnSp>
      <p:cxnSp>
        <p:nvCxnSpPr>
          <p:cNvPr id="469" name="Google Shape;469;g230d81c63cf_1_159"/>
          <p:cNvCxnSpPr>
            <a:stCxn id="437" idx="3"/>
            <a:endCxn id="434" idx="1"/>
          </p:cNvCxnSpPr>
          <p:nvPr/>
        </p:nvCxnSpPr>
        <p:spPr>
          <a:xfrm>
            <a:off x="5772975" y="3942150"/>
            <a:ext cx="564000" cy="0"/>
          </a:xfrm>
          <a:prstGeom prst="straightConnector1">
            <a:avLst/>
          </a:prstGeom>
          <a:noFill/>
          <a:ln cap="flat" cmpd="sng" w="114300">
            <a:solidFill>
              <a:schemeClr val="dk2"/>
            </a:solidFill>
            <a:prstDash val="solid"/>
            <a:round/>
            <a:headEnd len="med" w="med" type="none"/>
            <a:tailEnd len="med" w="med" type="none"/>
          </a:ln>
        </p:spPr>
      </p:cxnSp>
      <p:grpSp>
        <p:nvGrpSpPr>
          <p:cNvPr id="470" name="Google Shape;470;g230d81c63cf_1_159"/>
          <p:cNvGrpSpPr/>
          <p:nvPr/>
        </p:nvGrpSpPr>
        <p:grpSpPr>
          <a:xfrm>
            <a:off x="8246838" y="2183313"/>
            <a:ext cx="1548000" cy="1678200"/>
            <a:chOff x="6698850" y="2183325"/>
            <a:chExt cx="1548000" cy="1678200"/>
          </a:xfrm>
        </p:grpSpPr>
        <p:grpSp>
          <p:nvGrpSpPr>
            <p:cNvPr id="471" name="Google Shape;471;g230d81c63cf_1_159"/>
            <p:cNvGrpSpPr/>
            <p:nvPr/>
          </p:nvGrpSpPr>
          <p:grpSpPr>
            <a:xfrm>
              <a:off x="6698850" y="2183325"/>
              <a:ext cx="1548000" cy="1678200"/>
              <a:chOff x="6698850" y="2183325"/>
              <a:chExt cx="1548000" cy="1678200"/>
            </a:xfrm>
          </p:grpSpPr>
          <p:sp>
            <p:nvSpPr>
              <p:cNvPr id="472" name="Google Shape;472;g230d81c63cf_1_159"/>
              <p:cNvSpPr/>
              <p:nvPr/>
            </p:nvSpPr>
            <p:spPr>
              <a:xfrm>
                <a:off x="6698850" y="2183325"/>
                <a:ext cx="1548000" cy="167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g230d81c63cf_1_159"/>
              <p:cNvSpPr/>
              <p:nvPr/>
            </p:nvSpPr>
            <p:spPr>
              <a:xfrm>
                <a:off x="6789125" y="2255650"/>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74" name="Google Shape;474;g230d81c63cf_1_159"/>
              <p:cNvSpPr/>
              <p:nvPr/>
            </p:nvSpPr>
            <p:spPr>
              <a:xfrm>
                <a:off x="7516800" y="2255650"/>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75" name="Google Shape;475;g230d81c63cf_1_159"/>
              <p:cNvSpPr/>
              <p:nvPr/>
            </p:nvSpPr>
            <p:spPr>
              <a:xfrm>
                <a:off x="7516800" y="3059125"/>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76" name="Google Shape;476;g230d81c63cf_1_159"/>
              <p:cNvSpPr/>
              <p:nvPr/>
            </p:nvSpPr>
            <p:spPr>
              <a:xfrm>
                <a:off x="6789125" y="3059125"/>
                <a:ext cx="662100" cy="720000"/>
              </a:xfrm>
              <a:prstGeom prst="round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MC</a:t>
                </a:r>
                <a:endParaRPr>
                  <a:solidFill>
                    <a:srgbClr val="F3F3F3"/>
                  </a:solidFill>
                </a:endParaRPr>
              </a:p>
            </p:txBody>
          </p:sp>
        </p:grpSp>
        <p:sp>
          <p:nvSpPr>
            <p:cNvPr id="477" name="Google Shape;477;g230d81c63cf_1_159"/>
            <p:cNvSpPr/>
            <p:nvPr/>
          </p:nvSpPr>
          <p:spPr>
            <a:xfrm>
              <a:off x="6789125" y="3059125"/>
              <a:ext cx="246000" cy="2316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8" name="Google Shape;478;g230d81c63cf_1_159"/>
          <p:cNvGrpSpPr/>
          <p:nvPr/>
        </p:nvGrpSpPr>
        <p:grpSpPr>
          <a:xfrm>
            <a:off x="6606238" y="2183325"/>
            <a:ext cx="1548000" cy="1678200"/>
            <a:chOff x="6698850" y="2183325"/>
            <a:chExt cx="1548000" cy="1678200"/>
          </a:xfrm>
        </p:grpSpPr>
        <p:grpSp>
          <p:nvGrpSpPr>
            <p:cNvPr id="479" name="Google Shape;479;g230d81c63cf_1_159"/>
            <p:cNvGrpSpPr/>
            <p:nvPr/>
          </p:nvGrpSpPr>
          <p:grpSpPr>
            <a:xfrm>
              <a:off x="6698850" y="2183325"/>
              <a:ext cx="1548000" cy="1678200"/>
              <a:chOff x="6698850" y="2183325"/>
              <a:chExt cx="1548000" cy="1678200"/>
            </a:xfrm>
          </p:grpSpPr>
          <p:sp>
            <p:nvSpPr>
              <p:cNvPr id="480" name="Google Shape;480;g230d81c63cf_1_159"/>
              <p:cNvSpPr/>
              <p:nvPr/>
            </p:nvSpPr>
            <p:spPr>
              <a:xfrm>
                <a:off x="6698850" y="2183325"/>
                <a:ext cx="1548000" cy="167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g230d81c63cf_1_159"/>
              <p:cNvSpPr/>
              <p:nvPr/>
            </p:nvSpPr>
            <p:spPr>
              <a:xfrm>
                <a:off x="6789125" y="2255650"/>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82" name="Google Shape;482;g230d81c63cf_1_159"/>
              <p:cNvSpPr/>
              <p:nvPr/>
            </p:nvSpPr>
            <p:spPr>
              <a:xfrm>
                <a:off x="7516800" y="2255650"/>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83" name="Google Shape;483;g230d81c63cf_1_159"/>
              <p:cNvSpPr/>
              <p:nvPr/>
            </p:nvSpPr>
            <p:spPr>
              <a:xfrm>
                <a:off x="7516800" y="3059125"/>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84" name="Google Shape;484;g230d81c63cf_1_159"/>
              <p:cNvSpPr/>
              <p:nvPr/>
            </p:nvSpPr>
            <p:spPr>
              <a:xfrm>
                <a:off x="6789125" y="3059125"/>
                <a:ext cx="662100" cy="720000"/>
              </a:xfrm>
              <a:prstGeom prst="round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MC</a:t>
                </a:r>
                <a:endParaRPr>
                  <a:solidFill>
                    <a:srgbClr val="F3F3F3"/>
                  </a:solidFill>
                </a:endParaRPr>
              </a:p>
            </p:txBody>
          </p:sp>
        </p:grpSp>
        <p:sp>
          <p:nvSpPr>
            <p:cNvPr id="485" name="Google Shape;485;g230d81c63cf_1_159"/>
            <p:cNvSpPr/>
            <p:nvPr/>
          </p:nvSpPr>
          <p:spPr>
            <a:xfrm>
              <a:off x="6789125" y="3059125"/>
              <a:ext cx="246000" cy="231600"/>
            </a:xfrm>
            <a:prstGeom prst="ellipse">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6" name="Google Shape;486;g230d81c63cf_1_159"/>
          <p:cNvGrpSpPr/>
          <p:nvPr/>
        </p:nvGrpSpPr>
        <p:grpSpPr>
          <a:xfrm>
            <a:off x="6606238" y="2183325"/>
            <a:ext cx="1548000" cy="1678200"/>
            <a:chOff x="6698850" y="2183325"/>
            <a:chExt cx="1548000" cy="1678200"/>
          </a:xfrm>
        </p:grpSpPr>
        <p:grpSp>
          <p:nvGrpSpPr>
            <p:cNvPr id="487" name="Google Shape;487;g230d81c63cf_1_159"/>
            <p:cNvGrpSpPr/>
            <p:nvPr/>
          </p:nvGrpSpPr>
          <p:grpSpPr>
            <a:xfrm>
              <a:off x="6698850" y="2183325"/>
              <a:ext cx="1548000" cy="1678200"/>
              <a:chOff x="6698850" y="2183325"/>
              <a:chExt cx="1548000" cy="1678200"/>
            </a:xfrm>
          </p:grpSpPr>
          <p:sp>
            <p:nvSpPr>
              <p:cNvPr id="488" name="Google Shape;488;g230d81c63cf_1_159"/>
              <p:cNvSpPr/>
              <p:nvPr/>
            </p:nvSpPr>
            <p:spPr>
              <a:xfrm>
                <a:off x="6698850" y="2183325"/>
                <a:ext cx="1548000" cy="167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g230d81c63cf_1_159"/>
              <p:cNvSpPr/>
              <p:nvPr/>
            </p:nvSpPr>
            <p:spPr>
              <a:xfrm>
                <a:off x="6789125" y="2255650"/>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90" name="Google Shape;490;g230d81c63cf_1_159"/>
              <p:cNvSpPr/>
              <p:nvPr/>
            </p:nvSpPr>
            <p:spPr>
              <a:xfrm>
                <a:off x="7516800" y="2255650"/>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91" name="Google Shape;491;g230d81c63cf_1_159"/>
              <p:cNvSpPr/>
              <p:nvPr/>
            </p:nvSpPr>
            <p:spPr>
              <a:xfrm>
                <a:off x="7516800" y="3059125"/>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92" name="Google Shape;492;g230d81c63cf_1_159"/>
              <p:cNvSpPr/>
              <p:nvPr/>
            </p:nvSpPr>
            <p:spPr>
              <a:xfrm>
                <a:off x="6789125" y="3059125"/>
                <a:ext cx="662100" cy="720000"/>
              </a:xfrm>
              <a:prstGeom prst="round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MC</a:t>
                </a:r>
                <a:endParaRPr>
                  <a:solidFill>
                    <a:srgbClr val="F3F3F3"/>
                  </a:solidFill>
                </a:endParaRPr>
              </a:p>
            </p:txBody>
          </p:sp>
        </p:grpSp>
        <p:sp>
          <p:nvSpPr>
            <p:cNvPr id="493" name="Google Shape;493;g230d81c63cf_1_159"/>
            <p:cNvSpPr/>
            <p:nvPr/>
          </p:nvSpPr>
          <p:spPr>
            <a:xfrm>
              <a:off x="6789125" y="3059125"/>
              <a:ext cx="246000" cy="2316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4" name="Google Shape;494;g230d81c63cf_1_159"/>
          <p:cNvGrpSpPr/>
          <p:nvPr/>
        </p:nvGrpSpPr>
        <p:grpSpPr>
          <a:xfrm>
            <a:off x="6606250" y="4019825"/>
            <a:ext cx="1548000" cy="1678200"/>
            <a:chOff x="6698850" y="2183325"/>
            <a:chExt cx="1548000" cy="1678200"/>
          </a:xfrm>
        </p:grpSpPr>
        <p:grpSp>
          <p:nvGrpSpPr>
            <p:cNvPr id="495" name="Google Shape;495;g230d81c63cf_1_159"/>
            <p:cNvGrpSpPr/>
            <p:nvPr/>
          </p:nvGrpSpPr>
          <p:grpSpPr>
            <a:xfrm>
              <a:off x="6698850" y="2183325"/>
              <a:ext cx="1548000" cy="1678200"/>
              <a:chOff x="6698850" y="2183325"/>
              <a:chExt cx="1548000" cy="1678200"/>
            </a:xfrm>
          </p:grpSpPr>
          <p:sp>
            <p:nvSpPr>
              <p:cNvPr id="496" name="Google Shape;496;g230d81c63cf_1_159"/>
              <p:cNvSpPr/>
              <p:nvPr/>
            </p:nvSpPr>
            <p:spPr>
              <a:xfrm>
                <a:off x="6698850" y="2183325"/>
                <a:ext cx="1548000" cy="167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230d81c63cf_1_159"/>
              <p:cNvSpPr/>
              <p:nvPr/>
            </p:nvSpPr>
            <p:spPr>
              <a:xfrm>
                <a:off x="6789125" y="2255650"/>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98" name="Google Shape;498;g230d81c63cf_1_159"/>
              <p:cNvSpPr/>
              <p:nvPr/>
            </p:nvSpPr>
            <p:spPr>
              <a:xfrm>
                <a:off x="7516800" y="2255650"/>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499" name="Google Shape;499;g230d81c63cf_1_159"/>
              <p:cNvSpPr/>
              <p:nvPr/>
            </p:nvSpPr>
            <p:spPr>
              <a:xfrm>
                <a:off x="7516800" y="3059125"/>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500" name="Google Shape;500;g230d81c63cf_1_159"/>
              <p:cNvSpPr/>
              <p:nvPr/>
            </p:nvSpPr>
            <p:spPr>
              <a:xfrm>
                <a:off x="6789125" y="3059125"/>
                <a:ext cx="662100" cy="720000"/>
              </a:xfrm>
              <a:prstGeom prst="round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MC</a:t>
                </a:r>
                <a:endParaRPr>
                  <a:solidFill>
                    <a:srgbClr val="F3F3F3"/>
                  </a:solidFill>
                </a:endParaRPr>
              </a:p>
            </p:txBody>
          </p:sp>
        </p:grpSp>
        <p:sp>
          <p:nvSpPr>
            <p:cNvPr id="501" name="Google Shape;501;g230d81c63cf_1_159"/>
            <p:cNvSpPr/>
            <p:nvPr/>
          </p:nvSpPr>
          <p:spPr>
            <a:xfrm>
              <a:off x="6789125" y="3059125"/>
              <a:ext cx="246000" cy="2316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2" name="Google Shape;502;g230d81c63cf_1_159"/>
          <p:cNvGrpSpPr/>
          <p:nvPr/>
        </p:nvGrpSpPr>
        <p:grpSpPr>
          <a:xfrm>
            <a:off x="8246838" y="4019825"/>
            <a:ext cx="1548000" cy="1678200"/>
            <a:chOff x="6698850" y="2183325"/>
            <a:chExt cx="1548000" cy="1678200"/>
          </a:xfrm>
        </p:grpSpPr>
        <p:grpSp>
          <p:nvGrpSpPr>
            <p:cNvPr id="503" name="Google Shape;503;g230d81c63cf_1_159"/>
            <p:cNvGrpSpPr/>
            <p:nvPr/>
          </p:nvGrpSpPr>
          <p:grpSpPr>
            <a:xfrm>
              <a:off x="6698850" y="2183325"/>
              <a:ext cx="1548000" cy="1678200"/>
              <a:chOff x="6698850" y="2183325"/>
              <a:chExt cx="1548000" cy="1678200"/>
            </a:xfrm>
          </p:grpSpPr>
          <p:sp>
            <p:nvSpPr>
              <p:cNvPr id="504" name="Google Shape;504;g230d81c63cf_1_159"/>
              <p:cNvSpPr/>
              <p:nvPr/>
            </p:nvSpPr>
            <p:spPr>
              <a:xfrm>
                <a:off x="6698850" y="2183325"/>
                <a:ext cx="1548000" cy="1678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g230d81c63cf_1_159"/>
              <p:cNvSpPr/>
              <p:nvPr/>
            </p:nvSpPr>
            <p:spPr>
              <a:xfrm>
                <a:off x="6789125" y="2255650"/>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506" name="Google Shape;506;g230d81c63cf_1_159"/>
              <p:cNvSpPr/>
              <p:nvPr/>
            </p:nvSpPr>
            <p:spPr>
              <a:xfrm>
                <a:off x="7516800" y="2255650"/>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507" name="Google Shape;507;g230d81c63cf_1_159"/>
              <p:cNvSpPr/>
              <p:nvPr/>
            </p:nvSpPr>
            <p:spPr>
              <a:xfrm>
                <a:off x="7516800" y="3059125"/>
                <a:ext cx="662100" cy="7200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Core</a:t>
                </a:r>
                <a:endParaRPr>
                  <a:solidFill>
                    <a:srgbClr val="F3F3F3"/>
                  </a:solidFill>
                </a:endParaRPr>
              </a:p>
            </p:txBody>
          </p:sp>
          <p:sp>
            <p:nvSpPr>
              <p:cNvPr id="508" name="Google Shape;508;g230d81c63cf_1_159"/>
              <p:cNvSpPr/>
              <p:nvPr/>
            </p:nvSpPr>
            <p:spPr>
              <a:xfrm>
                <a:off x="6789125" y="3059125"/>
                <a:ext cx="662100" cy="720000"/>
              </a:xfrm>
              <a:prstGeom prst="round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rgbClr val="F3F3F3"/>
                    </a:solidFill>
                  </a:rPr>
                  <a:t>MC</a:t>
                </a:r>
                <a:endParaRPr>
                  <a:solidFill>
                    <a:srgbClr val="F3F3F3"/>
                  </a:solidFill>
                </a:endParaRPr>
              </a:p>
            </p:txBody>
          </p:sp>
        </p:grpSp>
        <p:sp>
          <p:nvSpPr>
            <p:cNvPr id="509" name="Google Shape;509;g230d81c63cf_1_159"/>
            <p:cNvSpPr/>
            <p:nvPr/>
          </p:nvSpPr>
          <p:spPr>
            <a:xfrm>
              <a:off x="6789125" y="3059125"/>
              <a:ext cx="246000" cy="2316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0" name="Google Shape;510;g230d81c63cf_1_159"/>
          <p:cNvSpPr/>
          <p:nvPr/>
        </p:nvSpPr>
        <p:spPr>
          <a:xfrm>
            <a:off x="1953225" y="2531950"/>
            <a:ext cx="285900" cy="2908200"/>
          </a:xfrm>
          <a:prstGeom prst="roundRect">
            <a:avLst>
              <a:gd fmla="val 16667"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511" name="Google Shape;511;g230d81c63cf_1_159"/>
          <p:cNvSpPr/>
          <p:nvPr/>
        </p:nvSpPr>
        <p:spPr>
          <a:xfrm>
            <a:off x="9891350" y="2669900"/>
            <a:ext cx="285900" cy="2908200"/>
          </a:xfrm>
          <a:prstGeom prst="roundRect">
            <a:avLst>
              <a:gd fmla="val 16667"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g230d81c63cf_1_33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Memory Architectures</a:t>
            </a:r>
            <a:endParaRPr/>
          </a:p>
        </p:txBody>
      </p:sp>
      <p:sp>
        <p:nvSpPr>
          <p:cNvPr id="518" name="Google Shape;518;g230d81c63cf_1_338"/>
          <p:cNvSpPr txBox="1"/>
          <p:nvPr>
            <p:ph idx="1" type="body"/>
          </p:nvPr>
        </p:nvSpPr>
        <p:spPr>
          <a:xfrm>
            <a:off x="838200" y="1825625"/>
            <a:ext cx="44364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2300"/>
              <a:t>Distributed Memory Architecture</a:t>
            </a:r>
            <a:endParaRPr sz="2300"/>
          </a:p>
          <a:p>
            <a:pPr indent="-317500" lvl="0" marL="457200" rtl="0" algn="l">
              <a:spcBef>
                <a:spcPts val="1000"/>
              </a:spcBef>
              <a:spcAft>
                <a:spcPts val="0"/>
              </a:spcAft>
              <a:buSzPts val="1400"/>
              <a:buChar char="•"/>
            </a:pPr>
            <a:r>
              <a:rPr lang="en-US" sz="1400"/>
              <a:t>“Shared </a:t>
            </a:r>
            <a:r>
              <a:rPr lang="en-US" sz="1400"/>
              <a:t>nothing</a:t>
            </a:r>
            <a:r>
              <a:rPr lang="en-US" sz="1400"/>
              <a:t>” architecture</a:t>
            </a:r>
            <a:endParaRPr sz="1400"/>
          </a:p>
          <a:p>
            <a:pPr indent="-317500" lvl="0" marL="457200" rtl="0" algn="l">
              <a:spcBef>
                <a:spcPts val="0"/>
              </a:spcBef>
              <a:spcAft>
                <a:spcPts val="0"/>
              </a:spcAft>
              <a:buSzPts val="1400"/>
              <a:buChar char="•"/>
            </a:pPr>
            <a:r>
              <a:rPr i="1" lang="en-US" sz="1400"/>
              <a:t>Processes</a:t>
            </a:r>
            <a:r>
              <a:rPr lang="en-US" sz="1400"/>
              <a:t> on different nodes share their work with each other my message passing</a:t>
            </a:r>
            <a:endParaRPr sz="1400"/>
          </a:p>
          <a:p>
            <a:pPr indent="0" lvl="0" marL="0" rtl="0" algn="l">
              <a:spcBef>
                <a:spcPts val="1000"/>
              </a:spcBef>
              <a:spcAft>
                <a:spcPts val="0"/>
              </a:spcAft>
              <a:buNone/>
            </a:pPr>
            <a:r>
              <a:rPr lang="en-US" sz="1800"/>
              <a:t>Pros:</a:t>
            </a:r>
            <a:endParaRPr sz="1800"/>
          </a:p>
          <a:p>
            <a:pPr indent="-317500" lvl="0" marL="457200" rtl="0" algn="l">
              <a:spcBef>
                <a:spcPts val="1000"/>
              </a:spcBef>
              <a:spcAft>
                <a:spcPts val="0"/>
              </a:spcAft>
              <a:buSzPts val="1400"/>
              <a:buChar char="•"/>
            </a:pPr>
            <a:r>
              <a:rPr lang="en-US" sz="1400"/>
              <a:t>Cheap and simple </a:t>
            </a:r>
            <a:r>
              <a:rPr lang="en-US" sz="1400"/>
              <a:t>compared to the exotic architectures of previous supercomputer designs</a:t>
            </a:r>
            <a:endParaRPr sz="1400"/>
          </a:p>
          <a:p>
            <a:pPr indent="-317500" lvl="0" marL="457200" rtl="0" algn="l">
              <a:spcBef>
                <a:spcPts val="0"/>
              </a:spcBef>
              <a:spcAft>
                <a:spcPts val="0"/>
              </a:spcAft>
              <a:buSzPts val="1400"/>
              <a:buChar char="•"/>
            </a:pPr>
            <a:r>
              <a:rPr lang="en-US" sz="1400"/>
              <a:t>Takes advantage of the economies of scale provided by using commodity hardware</a:t>
            </a:r>
            <a:endParaRPr sz="1400"/>
          </a:p>
          <a:p>
            <a:pPr indent="-317500" lvl="0" marL="457200" rtl="0" algn="l">
              <a:spcBef>
                <a:spcPts val="0"/>
              </a:spcBef>
              <a:spcAft>
                <a:spcPts val="0"/>
              </a:spcAft>
              <a:buSzPts val="1400"/>
              <a:buChar char="•"/>
            </a:pPr>
            <a:r>
              <a:rPr lang="en-US" sz="1400"/>
              <a:t>Scales out relatively easily and cheaply</a:t>
            </a:r>
            <a:endParaRPr sz="1400"/>
          </a:p>
          <a:p>
            <a:pPr indent="-317500" lvl="0" marL="457200" rtl="0" algn="l">
              <a:spcBef>
                <a:spcPts val="0"/>
              </a:spcBef>
              <a:spcAft>
                <a:spcPts val="0"/>
              </a:spcAft>
              <a:buSzPts val="1400"/>
              <a:buChar char="•"/>
            </a:pPr>
            <a:r>
              <a:rPr lang="en-US" sz="1400"/>
              <a:t>Scales much larger than shared-memory systems (2048 cores vs. millins of cores)</a:t>
            </a:r>
            <a:endParaRPr sz="1400"/>
          </a:p>
          <a:p>
            <a:pPr indent="0" lvl="0" marL="0" rtl="0" algn="l">
              <a:spcBef>
                <a:spcPts val="1000"/>
              </a:spcBef>
              <a:spcAft>
                <a:spcPts val="0"/>
              </a:spcAft>
              <a:buNone/>
            </a:pPr>
            <a:r>
              <a:rPr lang="en-US" sz="1800"/>
              <a:t>Cons: </a:t>
            </a:r>
            <a:endParaRPr sz="1400"/>
          </a:p>
          <a:p>
            <a:pPr indent="-317500" lvl="0" marL="457200" rtl="0" algn="l">
              <a:spcBef>
                <a:spcPts val="1000"/>
              </a:spcBef>
              <a:spcAft>
                <a:spcPts val="0"/>
              </a:spcAft>
              <a:buSzPts val="1400"/>
              <a:buChar char="•"/>
            </a:pPr>
            <a:r>
              <a:rPr lang="en-US" sz="1400"/>
              <a:t>Message-passing less efficient than using shared-memory</a:t>
            </a:r>
            <a:endParaRPr sz="1400"/>
          </a:p>
          <a:p>
            <a:pPr indent="-317500" lvl="0" marL="457200" rtl="0" algn="l">
              <a:spcBef>
                <a:spcPts val="0"/>
              </a:spcBef>
              <a:spcAft>
                <a:spcPts val="0"/>
              </a:spcAft>
              <a:buSzPts val="1400"/>
              <a:buChar char="•"/>
            </a:pPr>
            <a:r>
              <a:rPr lang="en-US" sz="1400"/>
              <a:t>Programming is more complicated than for shared-memory architectures</a:t>
            </a:r>
            <a:endParaRPr sz="1400"/>
          </a:p>
        </p:txBody>
      </p:sp>
      <p:grpSp>
        <p:nvGrpSpPr>
          <p:cNvPr id="519" name="Google Shape;519;g230d81c63cf_1_338"/>
          <p:cNvGrpSpPr/>
          <p:nvPr/>
        </p:nvGrpSpPr>
        <p:grpSpPr>
          <a:xfrm>
            <a:off x="5865550" y="2190075"/>
            <a:ext cx="3657600" cy="3622288"/>
            <a:chOff x="6512325" y="1828913"/>
            <a:chExt cx="3657600" cy="3622288"/>
          </a:xfrm>
        </p:grpSpPr>
        <p:grpSp>
          <p:nvGrpSpPr>
            <p:cNvPr id="520" name="Google Shape;520;g230d81c63cf_1_338"/>
            <p:cNvGrpSpPr/>
            <p:nvPr/>
          </p:nvGrpSpPr>
          <p:grpSpPr>
            <a:xfrm>
              <a:off x="6512325" y="2570400"/>
              <a:ext cx="3657600" cy="593100"/>
              <a:chOff x="6501175" y="1964400"/>
              <a:chExt cx="3657600" cy="593100"/>
            </a:xfrm>
          </p:grpSpPr>
          <p:sp>
            <p:nvSpPr>
              <p:cNvPr id="521" name="Google Shape;521;g230d81c63cf_1_338"/>
              <p:cNvSpPr/>
              <p:nvPr/>
            </p:nvSpPr>
            <p:spPr>
              <a:xfrm>
                <a:off x="6501175" y="1964400"/>
                <a:ext cx="3657600" cy="5931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a:t> Compute node</a:t>
                </a:r>
                <a:endParaRPr b="1"/>
              </a:p>
            </p:txBody>
          </p:sp>
          <p:sp>
            <p:nvSpPr>
              <p:cNvPr id="522" name="Google Shape;522;g230d81c63cf_1_338"/>
              <p:cNvSpPr/>
              <p:nvPr/>
            </p:nvSpPr>
            <p:spPr>
              <a:xfrm>
                <a:off x="8929100" y="2051100"/>
                <a:ext cx="1056300" cy="419700"/>
              </a:xfrm>
              <a:prstGeom prst="roundRect">
                <a:avLst>
                  <a:gd fmla="val 16667"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3F3F3"/>
                    </a:solidFill>
                  </a:rPr>
                  <a:t>RAM</a:t>
                </a:r>
                <a:endParaRPr b="1">
                  <a:solidFill>
                    <a:srgbClr val="F3F3F3"/>
                  </a:solidFill>
                </a:endParaRPr>
              </a:p>
            </p:txBody>
          </p:sp>
          <p:sp>
            <p:nvSpPr>
              <p:cNvPr id="523" name="Google Shape;523;g230d81c63cf_1_338"/>
              <p:cNvSpPr/>
              <p:nvPr/>
            </p:nvSpPr>
            <p:spPr>
              <a:xfrm>
                <a:off x="8026850" y="2051100"/>
                <a:ext cx="350100" cy="4197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g230d81c63cf_1_338"/>
              <p:cNvSpPr/>
              <p:nvPr/>
            </p:nvSpPr>
            <p:spPr>
              <a:xfrm>
                <a:off x="8477975" y="2051100"/>
                <a:ext cx="350100" cy="4197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5" name="Google Shape;525;g230d81c63cf_1_338"/>
            <p:cNvGrpSpPr/>
            <p:nvPr/>
          </p:nvGrpSpPr>
          <p:grpSpPr>
            <a:xfrm>
              <a:off x="6512325" y="1828913"/>
              <a:ext cx="3657600" cy="593100"/>
              <a:chOff x="6501175" y="1964400"/>
              <a:chExt cx="3657600" cy="593100"/>
            </a:xfrm>
          </p:grpSpPr>
          <p:sp>
            <p:nvSpPr>
              <p:cNvPr id="526" name="Google Shape;526;g230d81c63cf_1_338"/>
              <p:cNvSpPr/>
              <p:nvPr/>
            </p:nvSpPr>
            <p:spPr>
              <a:xfrm>
                <a:off x="6501175" y="1964400"/>
                <a:ext cx="3657600" cy="5931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a:t> Compute node</a:t>
                </a:r>
                <a:endParaRPr b="1"/>
              </a:p>
            </p:txBody>
          </p:sp>
          <p:sp>
            <p:nvSpPr>
              <p:cNvPr id="527" name="Google Shape;527;g230d81c63cf_1_338"/>
              <p:cNvSpPr/>
              <p:nvPr/>
            </p:nvSpPr>
            <p:spPr>
              <a:xfrm>
                <a:off x="8929100" y="2051100"/>
                <a:ext cx="1056300" cy="419700"/>
              </a:xfrm>
              <a:prstGeom prst="roundRect">
                <a:avLst>
                  <a:gd fmla="val 16667"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3F3F3"/>
                    </a:solidFill>
                  </a:rPr>
                  <a:t>RAM</a:t>
                </a:r>
                <a:endParaRPr b="1">
                  <a:solidFill>
                    <a:srgbClr val="F3F3F3"/>
                  </a:solidFill>
                </a:endParaRPr>
              </a:p>
            </p:txBody>
          </p:sp>
          <p:sp>
            <p:nvSpPr>
              <p:cNvPr id="528" name="Google Shape;528;g230d81c63cf_1_338"/>
              <p:cNvSpPr/>
              <p:nvPr/>
            </p:nvSpPr>
            <p:spPr>
              <a:xfrm>
                <a:off x="8026850" y="2051100"/>
                <a:ext cx="350100" cy="4197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g230d81c63cf_1_338"/>
              <p:cNvSpPr/>
              <p:nvPr/>
            </p:nvSpPr>
            <p:spPr>
              <a:xfrm>
                <a:off x="8477975" y="2051100"/>
                <a:ext cx="350100" cy="4197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 name="Google Shape;530;g230d81c63cf_1_338"/>
            <p:cNvGrpSpPr/>
            <p:nvPr/>
          </p:nvGrpSpPr>
          <p:grpSpPr>
            <a:xfrm>
              <a:off x="6512325" y="3343488"/>
              <a:ext cx="3657600" cy="593100"/>
              <a:chOff x="6501175" y="1964400"/>
              <a:chExt cx="3657600" cy="593100"/>
            </a:xfrm>
          </p:grpSpPr>
          <p:sp>
            <p:nvSpPr>
              <p:cNvPr id="531" name="Google Shape;531;g230d81c63cf_1_338"/>
              <p:cNvSpPr/>
              <p:nvPr/>
            </p:nvSpPr>
            <p:spPr>
              <a:xfrm>
                <a:off x="6501175" y="1964400"/>
                <a:ext cx="3657600" cy="5931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a:t> Compute node</a:t>
                </a:r>
                <a:endParaRPr b="1"/>
              </a:p>
            </p:txBody>
          </p:sp>
          <p:sp>
            <p:nvSpPr>
              <p:cNvPr id="532" name="Google Shape;532;g230d81c63cf_1_338"/>
              <p:cNvSpPr/>
              <p:nvPr/>
            </p:nvSpPr>
            <p:spPr>
              <a:xfrm>
                <a:off x="8929100" y="2051100"/>
                <a:ext cx="1056300" cy="419700"/>
              </a:xfrm>
              <a:prstGeom prst="roundRect">
                <a:avLst>
                  <a:gd fmla="val 16667"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3F3F3"/>
                    </a:solidFill>
                  </a:rPr>
                  <a:t>RAM</a:t>
                </a:r>
                <a:endParaRPr b="1">
                  <a:solidFill>
                    <a:srgbClr val="F3F3F3"/>
                  </a:solidFill>
                </a:endParaRPr>
              </a:p>
            </p:txBody>
          </p:sp>
          <p:sp>
            <p:nvSpPr>
              <p:cNvPr id="533" name="Google Shape;533;g230d81c63cf_1_338"/>
              <p:cNvSpPr/>
              <p:nvPr/>
            </p:nvSpPr>
            <p:spPr>
              <a:xfrm>
                <a:off x="8026850" y="2051100"/>
                <a:ext cx="350100" cy="4197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g230d81c63cf_1_338"/>
              <p:cNvSpPr/>
              <p:nvPr/>
            </p:nvSpPr>
            <p:spPr>
              <a:xfrm>
                <a:off x="8477975" y="2051100"/>
                <a:ext cx="350100" cy="4197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 name="Google Shape;535;g230d81c63cf_1_338"/>
            <p:cNvGrpSpPr/>
            <p:nvPr/>
          </p:nvGrpSpPr>
          <p:grpSpPr>
            <a:xfrm>
              <a:off x="6512325" y="4100788"/>
              <a:ext cx="3657600" cy="593100"/>
              <a:chOff x="6501175" y="1964400"/>
              <a:chExt cx="3657600" cy="593100"/>
            </a:xfrm>
          </p:grpSpPr>
          <p:sp>
            <p:nvSpPr>
              <p:cNvPr id="536" name="Google Shape;536;g230d81c63cf_1_338"/>
              <p:cNvSpPr/>
              <p:nvPr/>
            </p:nvSpPr>
            <p:spPr>
              <a:xfrm>
                <a:off x="6501175" y="1964400"/>
                <a:ext cx="3657600" cy="5931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a:t> Compute node</a:t>
                </a:r>
                <a:endParaRPr b="1"/>
              </a:p>
            </p:txBody>
          </p:sp>
          <p:sp>
            <p:nvSpPr>
              <p:cNvPr id="537" name="Google Shape;537;g230d81c63cf_1_338"/>
              <p:cNvSpPr/>
              <p:nvPr/>
            </p:nvSpPr>
            <p:spPr>
              <a:xfrm>
                <a:off x="8929100" y="2051100"/>
                <a:ext cx="1056300" cy="419700"/>
              </a:xfrm>
              <a:prstGeom prst="roundRect">
                <a:avLst>
                  <a:gd fmla="val 16667"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3F3F3"/>
                    </a:solidFill>
                  </a:rPr>
                  <a:t>RAM</a:t>
                </a:r>
                <a:endParaRPr b="1">
                  <a:solidFill>
                    <a:srgbClr val="F3F3F3"/>
                  </a:solidFill>
                </a:endParaRPr>
              </a:p>
            </p:txBody>
          </p:sp>
          <p:sp>
            <p:nvSpPr>
              <p:cNvPr id="538" name="Google Shape;538;g230d81c63cf_1_338"/>
              <p:cNvSpPr/>
              <p:nvPr/>
            </p:nvSpPr>
            <p:spPr>
              <a:xfrm>
                <a:off x="8026850" y="2051100"/>
                <a:ext cx="350100" cy="4197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g230d81c63cf_1_338"/>
              <p:cNvSpPr/>
              <p:nvPr/>
            </p:nvSpPr>
            <p:spPr>
              <a:xfrm>
                <a:off x="8477975" y="2051100"/>
                <a:ext cx="350100" cy="4197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0" name="Google Shape;540;g230d81c63cf_1_338"/>
            <p:cNvGrpSpPr/>
            <p:nvPr/>
          </p:nvGrpSpPr>
          <p:grpSpPr>
            <a:xfrm>
              <a:off x="6512325" y="4858100"/>
              <a:ext cx="3657600" cy="593100"/>
              <a:chOff x="6389650" y="1951325"/>
              <a:chExt cx="3657600" cy="593100"/>
            </a:xfrm>
          </p:grpSpPr>
          <p:sp>
            <p:nvSpPr>
              <p:cNvPr id="541" name="Google Shape;541;g230d81c63cf_1_338"/>
              <p:cNvSpPr/>
              <p:nvPr/>
            </p:nvSpPr>
            <p:spPr>
              <a:xfrm>
                <a:off x="6389650" y="1951325"/>
                <a:ext cx="3657600" cy="593100"/>
              </a:xfrm>
              <a:prstGeom prst="rect">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a:t> Compute node</a:t>
                </a:r>
                <a:endParaRPr b="1"/>
              </a:p>
            </p:txBody>
          </p:sp>
          <p:sp>
            <p:nvSpPr>
              <p:cNvPr id="542" name="Google Shape;542;g230d81c63cf_1_338"/>
              <p:cNvSpPr/>
              <p:nvPr/>
            </p:nvSpPr>
            <p:spPr>
              <a:xfrm>
                <a:off x="8817575" y="2038000"/>
                <a:ext cx="1056300" cy="419700"/>
              </a:xfrm>
              <a:prstGeom prst="roundRect">
                <a:avLst>
                  <a:gd fmla="val 16667"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3F3F3"/>
                    </a:solidFill>
                  </a:rPr>
                  <a:t>RAM</a:t>
                </a:r>
                <a:endParaRPr b="1">
                  <a:solidFill>
                    <a:srgbClr val="F3F3F3"/>
                  </a:solidFill>
                </a:endParaRPr>
              </a:p>
            </p:txBody>
          </p:sp>
          <p:sp>
            <p:nvSpPr>
              <p:cNvPr id="543" name="Google Shape;543;g230d81c63cf_1_338"/>
              <p:cNvSpPr/>
              <p:nvPr/>
            </p:nvSpPr>
            <p:spPr>
              <a:xfrm>
                <a:off x="7915325" y="2038000"/>
                <a:ext cx="350100" cy="4197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g230d81c63cf_1_338"/>
              <p:cNvSpPr/>
              <p:nvPr/>
            </p:nvSpPr>
            <p:spPr>
              <a:xfrm>
                <a:off x="8366450" y="2038000"/>
                <a:ext cx="350100" cy="419700"/>
              </a:xfrm>
              <a:prstGeom prst="roundRect">
                <a:avLst>
                  <a:gd fmla="val 16667" name="adj"/>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45" name="Google Shape;545;g230d81c63cf_1_338"/>
          <p:cNvSpPr/>
          <p:nvPr/>
        </p:nvSpPr>
        <p:spPr>
          <a:xfrm>
            <a:off x="10370625" y="3571925"/>
            <a:ext cx="1104000" cy="858600"/>
          </a:xfrm>
          <a:prstGeom prst="rect">
            <a:avLst/>
          </a:prstGeom>
          <a:solidFill>
            <a:srgbClr val="0B5394"/>
          </a:solidFill>
          <a:ln cap="flat" cmpd="sng" w="3810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F3F3F3"/>
                </a:solidFill>
              </a:rPr>
              <a:t>Network</a:t>
            </a:r>
            <a:endParaRPr b="1">
              <a:solidFill>
                <a:srgbClr val="F3F3F3"/>
              </a:solidFill>
            </a:endParaRPr>
          </a:p>
        </p:txBody>
      </p:sp>
      <p:cxnSp>
        <p:nvCxnSpPr>
          <p:cNvPr id="546" name="Google Shape;546;g230d81c63cf_1_338"/>
          <p:cNvCxnSpPr>
            <a:stCxn id="526" idx="3"/>
            <a:endCxn id="545" idx="1"/>
          </p:cNvCxnSpPr>
          <p:nvPr/>
        </p:nvCxnSpPr>
        <p:spPr>
          <a:xfrm>
            <a:off x="9523150" y="2486625"/>
            <a:ext cx="847500" cy="1514700"/>
          </a:xfrm>
          <a:prstGeom prst="straightConnector1">
            <a:avLst/>
          </a:prstGeom>
          <a:noFill/>
          <a:ln cap="flat" cmpd="sng" w="28575">
            <a:solidFill>
              <a:srgbClr val="0B5394"/>
            </a:solidFill>
            <a:prstDash val="solid"/>
            <a:round/>
            <a:headEnd len="med" w="med" type="none"/>
            <a:tailEnd len="med" w="med" type="none"/>
          </a:ln>
        </p:spPr>
      </p:cxnSp>
      <p:cxnSp>
        <p:nvCxnSpPr>
          <p:cNvPr id="547" name="Google Shape;547;g230d81c63cf_1_338"/>
          <p:cNvCxnSpPr>
            <a:stCxn id="521" idx="3"/>
            <a:endCxn id="545" idx="1"/>
          </p:cNvCxnSpPr>
          <p:nvPr/>
        </p:nvCxnSpPr>
        <p:spPr>
          <a:xfrm>
            <a:off x="9523150" y="3228113"/>
            <a:ext cx="847500" cy="773100"/>
          </a:xfrm>
          <a:prstGeom prst="straightConnector1">
            <a:avLst/>
          </a:prstGeom>
          <a:noFill/>
          <a:ln cap="flat" cmpd="sng" w="38100">
            <a:solidFill>
              <a:srgbClr val="0B5394"/>
            </a:solidFill>
            <a:prstDash val="solid"/>
            <a:round/>
            <a:headEnd len="med" w="med" type="none"/>
            <a:tailEnd len="med" w="med" type="none"/>
          </a:ln>
        </p:spPr>
      </p:cxnSp>
      <p:cxnSp>
        <p:nvCxnSpPr>
          <p:cNvPr id="548" name="Google Shape;548;g230d81c63cf_1_338"/>
          <p:cNvCxnSpPr>
            <a:stCxn id="531" idx="3"/>
            <a:endCxn id="545" idx="1"/>
          </p:cNvCxnSpPr>
          <p:nvPr/>
        </p:nvCxnSpPr>
        <p:spPr>
          <a:xfrm>
            <a:off x="9523150" y="4001200"/>
            <a:ext cx="847500" cy="0"/>
          </a:xfrm>
          <a:prstGeom prst="straightConnector1">
            <a:avLst/>
          </a:prstGeom>
          <a:noFill/>
          <a:ln cap="flat" cmpd="sng" w="38100">
            <a:solidFill>
              <a:srgbClr val="0B5394"/>
            </a:solidFill>
            <a:prstDash val="solid"/>
            <a:round/>
            <a:headEnd len="med" w="med" type="none"/>
            <a:tailEnd len="med" w="med" type="none"/>
          </a:ln>
        </p:spPr>
      </p:cxnSp>
      <p:cxnSp>
        <p:nvCxnSpPr>
          <p:cNvPr id="549" name="Google Shape;549;g230d81c63cf_1_338"/>
          <p:cNvCxnSpPr>
            <a:endCxn id="545" idx="1"/>
          </p:cNvCxnSpPr>
          <p:nvPr/>
        </p:nvCxnSpPr>
        <p:spPr>
          <a:xfrm flipH="1" rot="10800000">
            <a:off x="9523125" y="4001225"/>
            <a:ext cx="847500" cy="757200"/>
          </a:xfrm>
          <a:prstGeom prst="straightConnector1">
            <a:avLst/>
          </a:prstGeom>
          <a:noFill/>
          <a:ln cap="flat" cmpd="sng" w="38100">
            <a:solidFill>
              <a:srgbClr val="0B5394"/>
            </a:solidFill>
            <a:prstDash val="solid"/>
            <a:round/>
            <a:headEnd len="med" w="med" type="none"/>
            <a:tailEnd len="med" w="med" type="none"/>
          </a:ln>
        </p:spPr>
      </p:cxnSp>
      <p:cxnSp>
        <p:nvCxnSpPr>
          <p:cNvPr id="550" name="Google Shape;550;g230d81c63cf_1_338"/>
          <p:cNvCxnSpPr>
            <a:stCxn id="541" idx="3"/>
            <a:endCxn id="545" idx="1"/>
          </p:cNvCxnSpPr>
          <p:nvPr/>
        </p:nvCxnSpPr>
        <p:spPr>
          <a:xfrm flipH="1" rot="10800000">
            <a:off x="9523150" y="4001113"/>
            <a:ext cx="847500" cy="1514700"/>
          </a:xfrm>
          <a:prstGeom prst="straightConnector1">
            <a:avLst/>
          </a:prstGeom>
          <a:noFill/>
          <a:ln cap="flat" cmpd="sng" w="38100">
            <a:solidFill>
              <a:srgbClr val="0B5394"/>
            </a:solidFill>
            <a:prstDash val="solid"/>
            <a:round/>
            <a:headEnd len="med" w="med" type="none"/>
            <a:tailEnd len="med" w="med" type="non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g230c8651859_1_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The largest SMP systems</a:t>
            </a:r>
            <a:endParaRPr/>
          </a:p>
        </p:txBody>
      </p:sp>
      <p:sp>
        <p:nvSpPr>
          <p:cNvPr id="557" name="Google Shape;557;g230c8651859_1_6"/>
          <p:cNvSpPr txBox="1"/>
          <p:nvPr>
            <p:ph idx="1" type="body"/>
          </p:nvPr>
        </p:nvSpPr>
        <p:spPr>
          <a:xfrm>
            <a:off x="838200" y="1825625"/>
            <a:ext cx="5181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Hecate</a:t>
            </a:r>
            <a:endParaRPr/>
          </a:p>
          <a:p>
            <a:pPr indent="0" lvl="0" marL="0" rtl="0" algn="l">
              <a:spcBef>
                <a:spcPts val="1000"/>
              </a:spcBef>
              <a:spcAft>
                <a:spcPts val="0"/>
              </a:spcAft>
              <a:buNone/>
            </a:pPr>
            <a:r>
              <a:rPr lang="en-US" sz="2400"/>
              <a:t>Princeton University</a:t>
            </a:r>
            <a:endParaRPr sz="2400"/>
          </a:p>
          <a:p>
            <a:pPr indent="-342900" lvl="0" marL="457200" rtl="0" algn="l">
              <a:spcBef>
                <a:spcPts val="1000"/>
              </a:spcBef>
              <a:spcAft>
                <a:spcPts val="0"/>
              </a:spcAft>
              <a:buSzPts val="1800"/>
              <a:buChar char="•"/>
            </a:pPr>
            <a:r>
              <a:rPr lang="en-US"/>
              <a:t>SGI Altix UV 1000</a:t>
            </a:r>
            <a:endParaRPr/>
          </a:p>
          <a:p>
            <a:pPr indent="-342900" lvl="0" marL="457200" rtl="0" algn="l">
              <a:spcBef>
                <a:spcPts val="0"/>
              </a:spcBef>
              <a:spcAft>
                <a:spcPts val="0"/>
              </a:spcAft>
              <a:buSzPts val="1800"/>
              <a:buChar char="•"/>
            </a:pPr>
            <a:r>
              <a:rPr lang="en-US"/>
              <a:t>256 8-core </a:t>
            </a:r>
            <a:r>
              <a:rPr lang="en-US"/>
              <a:t>processors</a:t>
            </a:r>
            <a:r>
              <a:rPr lang="en-US"/>
              <a:t> (1536 cores)</a:t>
            </a:r>
            <a:endParaRPr/>
          </a:p>
          <a:p>
            <a:pPr indent="-342900" lvl="0" marL="457200" rtl="0" algn="l">
              <a:spcBef>
                <a:spcPts val="0"/>
              </a:spcBef>
              <a:spcAft>
                <a:spcPts val="0"/>
              </a:spcAft>
              <a:buSzPts val="1800"/>
              <a:buChar char="•"/>
            </a:pPr>
            <a:r>
              <a:rPr lang="en-US"/>
              <a:t>12.1 TB RAM</a:t>
            </a:r>
            <a:endParaRPr/>
          </a:p>
        </p:txBody>
      </p:sp>
      <p:sp>
        <p:nvSpPr>
          <p:cNvPr id="558" name="Google Shape;558;g230c8651859_1_6"/>
          <p:cNvSpPr txBox="1"/>
          <p:nvPr>
            <p:ph idx="2" type="body"/>
          </p:nvPr>
        </p:nvSpPr>
        <p:spPr>
          <a:xfrm>
            <a:off x="6172200" y="1825625"/>
            <a:ext cx="5181600" cy="4089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Blacklight</a:t>
            </a:r>
            <a:endParaRPr/>
          </a:p>
          <a:p>
            <a:pPr indent="0" lvl="0" marL="0" rtl="0" algn="l">
              <a:spcBef>
                <a:spcPts val="1000"/>
              </a:spcBef>
              <a:spcAft>
                <a:spcPts val="0"/>
              </a:spcAft>
              <a:buNone/>
            </a:pPr>
            <a:r>
              <a:rPr lang="en-US" sz="2500"/>
              <a:t>Pittsburgh </a:t>
            </a:r>
            <a:r>
              <a:rPr lang="en-US" sz="2500"/>
              <a:t>Supercomputing</a:t>
            </a:r>
            <a:r>
              <a:rPr lang="en-US" sz="2500"/>
              <a:t> Center</a:t>
            </a:r>
            <a:endParaRPr sz="2500"/>
          </a:p>
          <a:p>
            <a:pPr indent="-342900" lvl="0" marL="457200" rtl="0" algn="l">
              <a:spcBef>
                <a:spcPts val="1000"/>
              </a:spcBef>
              <a:spcAft>
                <a:spcPts val="0"/>
              </a:spcAft>
              <a:buSzPts val="1800"/>
              <a:buChar char="•"/>
            </a:pPr>
            <a:r>
              <a:rPr lang="en-US"/>
              <a:t>SGI Altix UV 1000</a:t>
            </a:r>
            <a:endParaRPr/>
          </a:p>
          <a:p>
            <a:pPr indent="-342900" lvl="0" marL="457200" rtl="0" algn="l">
              <a:spcBef>
                <a:spcPts val="0"/>
              </a:spcBef>
              <a:spcAft>
                <a:spcPts val="0"/>
              </a:spcAft>
              <a:buSzPts val="1800"/>
              <a:buChar char="•"/>
            </a:pPr>
            <a:r>
              <a:rPr lang="en-US"/>
              <a:t>512 8-core processors (4096 cores)</a:t>
            </a:r>
            <a:endParaRPr/>
          </a:p>
          <a:p>
            <a:pPr indent="-342900" lvl="0" marL="457200" rtl="0" algn="l">
              <a:spcBef>
                <a:spcPts val="0"/>
              </a:spcBef>
              <a:spcAft>
                <a:spcPts val="0"/>
              </a:spcAft>
              <a:buSzPts val="1800"/>
              <a:buChar char="•"/>
            </a:pPr>
            <a:r>
              <a:rPr lang="en-US"/>
              <a:t>32 TB RAM</a:t>
            </a:r>
            <a:endParaRPr/>
          </a:p>
        </p:txBody>
      </p:sp>
      <p:sp>
        <p:nvSpPr>
          <p:cNvPr id="559" name="Google Shape;559;g230c8651859_1_6"/>
          <p:cNvSpPr txBox="1"/>
          <p:nvPr/>
        </p:nvSpPr>
        <p:spPr>
          <a:xfrm>
            <a:off x="6172200" y="5811300"/>
            <a:ext cx="5014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a:latin typeface="Calibri"/>
                <a:ea typeface="Calibri"/>
                <a:cs typeface="Calibri"/>
                <a:sym typeface="Calibri"/>
              </a:rPr>
              <a:t>Chiachia, Ken, “Blacklight Goes to Work at PSC”, November 10, 2010, https://www.psc.edu/blacklight-goes-to-work-at-the-pittsburgh-supercomputing-center/</a:t>
            </a:r>
            <a:endParaRPr sz="1000">
              <a:latin typeface="Calibri"/>
              <a:ea typeface="Calibri"/>
              <a:cs typeface="Calibri"/>
              <a:sym typeface="Calibri"/>
            </a:endParaRPr>
          </a:p>
        </p:txBody>
      </p:sp>
      <p:sp>
        <p:nvSpPr>
          <p:cNvPr id="560" name="Google Shape;560;g230c8651859_1_6"/>
          <p:cNvSpPr txBox="1"/>
          <p:nvPr/>
        </p:nvSpPr>
        <p:spPr>
          <a:xfrm>
            <a:off x="738175" y="5914925"/>
            <a:ext cx="5014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a:latin typeface="Calibri"/>
                <a:ea typeface="Calibri"/>
                <a:cs typeface="Calibri"/>
                <a:sym typeface="Calibri"/>
              </a:rPr>
              <a:t>Office of Information Technology, Princeton University, </a:t>
            </a:r>
            <a:r>
              <a:rPr i="1" lang="en-US" sz="1000">
                <a:latin typeface="Calibri"/>
                <a:ea typeface="Calibri"/>
                <a:cs typeface="Calibri"/>
                <a:sym typeface="Calibri"/>
              </a:rPr>
              <a:t>Office of Information Technology, 2011-12 Annual Report</a:t>
            </a:r>
            <a:r>
              <a:rPr lang="en-US" sz="1000">
                <a:latin typeface="Calibri"/>
                <a:ea typeface="Calibri"/>
                <a:cs typeface="Calibri"/>
                <a:sym typeface="Calibri"/>
              </a:rPr>
              <a:t>, p. 35, </a:t>
            </a:r>
            <a:r>
              <a:rPr lang="en-US" sz="1100" u="sng">
                <a:solidFill>
                  <a:schemeClr val="hlink"/>
                </a:solidFill>
                <a:hlinkClick r:id="rId3"/>
              </a:rPr>
              <a:t>https://oit.princeton.edu/document/8</a:t>
            </a:r>
            <a:endParaRPr sz="1000">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g230c8651859_1_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Largest distributed memory system</a:t>
            </a:r>
            <a:endParaRPr/>
          </a:p>
        </p:txBody>
      </p:sp>
      <p:sp>
        <p:nvSpPr>
          <p:cNvPr id="567" name="Google Shape;567;g230c8651859_1_19"/>
          <p:cNvSpPr txBox="1"/>
          <p:nvPr>
            <p:ph idx="1" type="body"/>
          </p:nvPr>
        </p:nvSpPr>
        <p:spPr>
          <a:xfrm>
            <a:off x="838200" y="1825625"/>
            <a:ext cx="5181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Frontier</a:t>
            </a:r>
            <a:endParaRPr/>
          </a:p>
          <a:p>
            <a:pPr indent="0" lvl="0" marL="0" rtl="0" algn="l">
              <a:spcBef>
                <a:spcPts val="1000"/>
              </a:spcBef>
              <a:spcAft>
                <a:spcPts val="0"/>
              </a:spcAft>
              <a:buNone/>
            </a:pPr>
            <a:r>
              <a:rPr lang="en-US"/>
              <a:t>Oak Ridge Leadership Computing Facility (OLCF)</a:t>
            </a:r>
            <a:endParaRPr/>
          </a:p>
          <a:p>
            <a:pPr indent="-381000" lvl="0" marL="457200" rtl="0" algn="l">
              <a:spcBef>
                <a:spcPts val="1000"/>
              </a:spcBef>
              <a:spcAft>
                <a:spcPts val="0"/>
              </a:spcAft>
              <a:buSzPts val="2400"/>
              <a:buChar char="•"/>
            </a:pPr>
            <a:r>
              <a:rPr lang="en-US" sz="2400"/>
              <a:t>HPE Cray EX </a:t>
            </a:r>
            <a:endParaRPr sz="2400"/>
          </a:p>
          <a:p>
            <a:pPr indent="-381000" lvl="0" marL="457200" rtl="0" algn="l">
              <a:spcBef>
                <a:spcPts val="0"/>
              </a:spcBef>
              <a:spcAft>
                <a:spcPts val="0"/>
              </a:spcAft>
              <a:buSzPts val="2400"/>
              <a:buChar char="•"/>
            </a:pPr>
            <a:r>
              <a:rPr lang="en-US" sz="2400"/>
              <a:t>9,402 nodes</a:t>
            </a:r>
            <a:endParaRPr sz="2400"/>
          </a:p>
          <a:p>
            <a:pPr indent="-381000" lvl="0" marL="457200" rtl="0" algn="l">
              <a:spcBef>
                <a:spcPts val="0"/>
              </a:spcBef>
              <a:spcAft>
                <a:spcPts val="0"/>
              </a:spcAft>
              <a:buSzPts val="2400"/>
              <a:buChar char="•"/>
            </a:pPr>
            <a:r>
              <a:rPr lang="en-US" sz="2400"/>
              <a:t>601,728 AMD EPYC CPU cores</a:t>
            </a:r>
            <a:endParaRPr sz="2400"/>
          </a:p>
          <a:p>
            <a:pPr indent="-381000" lvl="0" marL="457200" rtl="0" algn="l">
              <a:spcBef>
                <a:spcPts val="0"/>
              </a:spcBef>
              <a:spcAft>
                <a:spcPts val="0"/>
              </a:spcAft>
              <a:buSzPts val="2400"/>
              <a:buChar char="•"/>
            </a:pPr>
            <a:r>
              <a:rPr lang="en-US" sz="2400"/>
              <a:t>37,608 AMD Instinct MI250 GPUs</a:t>
            </a:r>
            <a:endParaRPr sz="2400"/>
          </a:p>
          <a:p>
            <a:pPr indent="-381000" lvl="0" marL="457200" rtl="0" algn="l">
              <a:spcBef>
                <a:spcPts val="0"/>
              </a:spcBef>
              <a:spcAft>
                <a:spcPts val="0"/>
              </a:spcAft>
              <a:buSzPts val="2400"/>
              <a:buChar char="•"/>
            </a:pPr>
            <a:r>
              <a:rPr lang="en-US" sz="2400"/>
              <a:t>Scaling limited by power consumption</a:t>
            </a:r>
            <a:endParaRPr sz="2400"/>
          </a:p>
          <a:p>
            <a:pPr indent="0" lvl="0" marL="457200" rtl="0" algn="l">
              <a:spcBef>
                <a:spcPts val="1000"/>
              </a:spcBef>
              <a:spcAft>
                <a:spcPts val="0"/>
              </a:spcAft>
              <a:buNone/>
            </a:pPr>
            <a:r>
              <a:t/>
            </a:r>
            <a:endParaRPr/>
          </a:p>
        </p:txBody>
      </p:sp>
      <p:pic>
        <p:nvPicPr>
          <p:cNvPr id="568" name="Google Shape;568;g230c8651859_1_19"/>
          <p:cNvPicPr preferRelativeResize="0"/>
          <p:nvPr/>
        </p:nvPicPr>
        <p:blipFill>
          <a:blip r:embed="rId3">
            <a:alphaModFix/>
          </a:blip>
          <a:stretch>
            <a:fillRect/>
          </a:stretch>
        </p:blipFill>
        <p:spPr>
          <a:xfrm>
            <a:off x="6486525" y="1825625"/>
            <a:ext cx="5307464" cy="4351200"/>
          </a:xfrm>
          <a:prstGeom prst="rect">
            <a:avLst/>
          </a:prstGeom>
          <a:noFill/>
          <a:ln>
            <a:noFill/>
          </a:ln>
        </p:spPr>
      </p:pic>
      <p:sp>
        <p:nvSpPr>
          <p:cNvPr id="569" name="Google Shape;569;g230c8651859_1_19"/>
          <p:cNvSpPr txBox="1"/>
          <p:nvPr/>
        </p:nvSpPr>
        <p:spPr>
          <a:xfrm>
            <a:off x="6515100" y="6286500"/>
            <a:ext cx="5181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a:latin typeface="Calibri"/>
                <a:ea typeface="Calibri"/>
                <a:cs typeface="Calibri"/>
                <a:sym typeface="Calibri"/>
              </a:rPr>
              <a:t>source: </a:t>
            </a:r>
            <a:r>
              <a:rPr lang="en-US" sz="1000" u="sng">
                <a:solidFill>
                  <a:schemeClr val="hlink"/>
                </a:solidFill>
                <a:latin typeface="Calibri"/>
                <a:ea typeface="Calibri"/>
                <a:cs typeface="Calibri"/>
                <a:sym typeface="Calibri"/>
                <a:hlinkClick r:id="rId4"/>
              </a:rPr>
              <a:t>https://www.flickr.com/photos/olcf/52117623843/in/album-72177720299483343/</a:t>
            </a:r>
            <a:endParaRPr sz="1000">
              <a:latin typeface="Calibri"/>
              <a:ea typeface="Calibri"/>
              <a:cs typeface="Calibri"/>
              <a:sym typeface="Calibri"/>
            </a:endParaRPr>
          </a:p>
          <a:p>
            <a:pPr indent="0" lvl="0" marL="0" rtl="0" algn="l">
              <a:spcBef>
                <a:spcPts val="0"/>
              </a:spcBef>
              <a:spcAft>
                <a:spcPts val="0"/>
              </a:spcAft>
              <a:buNone/>
            </a:pPr>
            <a:r>
              <a:rPr lang="en-US" sz="1000">
                <a:latin typeface="Calibri"/>
                <a:ea typeface="Calibri"/>
                <a:cs typeface="Calibri"/>
                <a:sym typeface="Calibri"/>
              </a:rPr>
              <a:t>License: CC-BY-2.0</a:t>
            </a:r>
            <a:endParaRPr sz="1000">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g230d81c63cf_1_38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Why is memory architecture important?</a:t>
            </a:r>
            <a:endParaRPr/>
          </a:p>
        </p:txBody>
      </p:sp>
      <p:sp>
        <p:nvSpPr>
          <p:cNvPr id="576" name="Google Shape;576;g230d81c63cf_1_38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Dictates what programming methodology that will be used (threads vs. message-passing)</a:t>
            </a:r>
            <a:endParaRPr/>
          </a:p>
          <a:p>
            <a:pPr indent="-342900" lvl="0" marL="457200" rtl="0" algn="l">
              <a:spcBef>
                <a:spcPts val="0"/>
              </a:spcBef>
              <a:spcAft>
                <a:spcPts val="0"/>
              </a:spcAft>
              <a:buSzPts val="1800"/>
              <a:buChar char="•"/>
            </a:pPr>
            <a:r>
              <a:rPr lang="en-US"/>
              <a:t>May be an important factor in hardware purchasing</a:t>
            </a:r>
            <a:endParaRPr/>
          </a:p>
          <a:p>
            <a:pPr indent="-342900" lvl="0" marL="457200" rtl="0" algn="l">
              <a:spcBef>
                <a:spcPts val="0"/>
              </a:spcBef>
              <a:spcAft>
                <a:spcPts val="0"/>
              </a:spcAft>
              <a:buSzPts val="1800"/>
              <a:buChar char="•"/>
            </a:pPr>
            <a:r>
              <a:rPr lang="en-US"/>
              <a:t>How you optimize your programs may vary depending on the </a:t>
            </a:r>
            <a:r>
              <a:rPr lang="en-US"/>
              <a:t>memory</a:t>
            </a:r>
            <a:r>
              <a:rPr lang="en-US"/>
              <a:t> architecture of the target system</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g22dcf9af772_1_10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Processes vs. Threads</a:t>
            </a:r>
            <a:endParaRPr/>
          </a:p>
        </p:txBody>
      </p:sp>
      <p:sp>
        <p:nvSpPr>
          <p:cNvPr id="583" name="Google Shape;583;g22dcf9af772_1_105"/>
          <p:cNvSpPr txBox="1"/>
          <p:nvPr>
            <p:ph idx="1" type="body"/>
          </p:nvPr>
        </p:nvSpPr>
        <p:spPr>
          <a:xfrm>
            <a:off x="685800" y="1825625"/>
            <a:ext cx="5334000" cy="43512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US"/>
              <a:t>Processes:</a:t>
            </a:r>
            <a:endParaRPr/>
          </a:p>
          <a:p>
            <a:pPr indent="-342900" lvl="0" marL="457200" rtl="0" algn="l">
              <a:spcBef>
                <a:spcPts val="1000"/>
              </a:spcBef>
              <a:spcAft>
                <a:spcPts val="0"/>
              </a:spcAft>
              <a:buSzPts val="1800"/>
              <a:buChar char="•"/>
            </a:pPr>
            <a:r>
              <a:rPr lang="en-US"/>
              <a:t>“Heavyweight”</a:t>
            </a:r>
            <a:endParaRPr/>
          </a:p>
          <a:p>
            <a:pPr indent="-342900" lvl="0" marL="457200" rtl="0" algn="l">
              <a:spcBef>
                <a:spcPts val="0"/>
              </a:spcBef>
              <a:spcAft>
                <a:spcPts val="0"/>
              </a:spcAft>
              <a:buSzPts val="1800"/>
              <a:buChar char="•"/>
            </a:pPr>
            <a:r>
              <a:rPr lang="en-US"/>
              <a:t>Each process has its own resources and </a:t>
            </a:r>
            <a:r>
              <a:rPr lang="en-US"/>
              <a:t>memory</a:t>
            </a:r>
            <a:r>
              <a:rPr lang="en-US"/>
              <a:t> address space that are not shared with other processes</a:t>
            </a:r>
            <a:endParaRPr/>
          </a:p>
          <a:p>
            <a:pPr indent="-342900" lvl="0" marL="457200" rtl="0" algn="l">
              <a:spcBef>
                <a:spcPts val="0"/>
              </a:spcBef>
              <a:spcAft>
                <a:spcPts val="0"/>
              </a:spcAft>
              <a:buSzPts val="1800"/>
              <a:buChar char="•"/>
            </a:pPr>
            <a:r>
              <a:rPr lang="en-US"/>
              <a:t>Can be used with shared- memory or distributed-memory architectures</a:t>
            </a:r>
            <a:endParaRPr/>
          </a:p>
          <a:p>
            <a:pPr indent="-342900" lvl="0" marL="457200" rtl="0" algn="l">
              <a:spcBef>
                <a:spcPts val="0"/>
              </a:spcBef>
              <a:spcAft>
                <a:spcPts val="0"/>
              </a:spcAft>
              <a:buSzPts val="1800"/>
              <a:buChar char="•"/>
            </a:pPr>
            <a:r>
              <a:rPr lang="en-US"/>
              <a:t>More work for parallel programming</a:t>
            </a:r>
            <a:endParaRPr/>
          </a:p>
        </p:txBody>
      </p:sp>
      <p:sp>
        <p:nvSpPr>
          <p:cNvPr id="584" name="Google Shape;584;g22dcf9af772_1_105"/>
          <p:cNvSpPr txBox="1"/>
          <p:nvPr>
            <p:ph idx="2" type="body"/>
          </p:nvPr>
        </p:nvSpPr>
        <p:spPr>
          <a:xfrm>
            <a:off x="6172200" y="1825625"/>
            <a:ext cx="5181600" cy="43512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US"/>
              <a:t>Threads:</a:t>
            </a:r>
            <a:endParaRPr/>
          </a:p>
          <a:p>
            <a:pPr indent="-342900" lvl="0" marL="457200" rtl="0" algn="l">
              <a:spcBef>
                <a:spcPts val="1000"/>
              </a:spcBef>
              <a:spcAft>
                <a:spcPts val="0"/>
              </a:spcAft>
              <a:buSzPts val="1800"/>
              <a:buChar char="•"/>
            </a:pPr>
            <a:r>
              <a:rPr lang="en-US"/>
              <a:t>“Lightweight”</a:t>
            </a:r>
            <a:endParaRPr/>
          </a:p>
          <a:p>
            <a:pPr indent="-342900" lvl="0" marL="457200" rtl="0" algn="l">
              <a:spcBef>
                <a:spcPts val="0"/>
              </a:spcBef>
              <a:spcAft>
                <a:spcPts val="0"/>
              </a:spcAft>
              <a:buSzPts val="1800"/>
              <a:buChar char="•"/>
            </a:pPr>
            <a:r>
              <a:rPr lang="en-US"/>
              <a:t>A thread exists within a process</a:t>
            </a:r>
            <a:endParaRPr/>
          </a:p>
          <a:p>
            <a:pPr indent="-342900" lvl="0" marL="457200" rtl="0" algn="l">
              <a:spcBef>
                <a:spcPts val="0"/>
              </a:spcBef>
              <a:spcAft>
                <a:spcPts val="0"/>
              </a:spcAft>
              <a:buSzPts val="1800"/>
              <a:buChar char="•"/>
            </a:pPr>
            <a:r>
              <a:rPr lang="en-US"/>
              <a:t>All the </a:t>
            </a:r>
            <a:r>
              <a:rPr lang="en-US"/>
              <a:t>threads within a process share the same resources and memory address space.</a:t>
            </a:r>
            <a:endParaRPr/>
          </a:p>
          <a:p>
            <a:pPr indent="-342900" lvl="0" marL="457200" rtl="0" algn="l">
              <a:spcBef>
                <a:spcPts val="0"/>
              </a:spcBef>
              <a:spcAft>
                <a:spcPts val="0"/>
              </a:spcAft>
              <a:buSzPts val="1800"/>
              <a:buChar char="•"/>
            </a:pPr>
            <a:r>
              <a:rPr lang="en-US"/>
              <a:t>Can only be used with shared-memory architectures</a:t>
            </a:r>
            <a:endParaRPr/>
          </a:p>
          <a:p>
            <a:pPr indent="-342900" lvl="0" marL="457200" rtl="0" algn="l">
              <a:spcBef>
                <a:spcPts val="0"/>
              </a:spcBef>
              <a:spcAft>
                <a:spcPts val="0"/>
              </a:spcAft>
              <a:buSzPts val="1800"/>
              <a:buChar char="•"/>
            </a:pPr>
            <a:r>
              <a:rPr lang="en-US"/>
              <a:t>Simplifies parallel programming</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g230d81c63cf_1_38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Processes vs. Threads</a:t>
            </a:r>
            <a:endParaRPr/>
          </a:p>
        </p:txBody>
      </p:sp>
      <p:grpSp>
        <p:nvGrpSpPr>
          <p:cNvPr id="591" name="Google Shape;591;g230d81c63cf_1_388"/>
          <p:cNvGrpSpPr/>
          <p:nvPr/>
        </p:nvGrpSpPr>
        <p:grpSpPr>
          <a:xfrm>
            <a:off x="838197" y="2278540"/>
            <a:ext cx="1135500" cy="4192800"/>
            <a:chOff x="838197" y="2278540"/>
            <a:chExt cx="1135500" cy="4192800"/>
          </a:xfrm>
        </p:grpSpPr>
        <p:sp>
          <p:nvSpPr>
            <p:cNvPr id="592" name="Google Shape;592;g230d81c63cf_1_388"/>
            <p:cNvSpPr/>
            <p:nvPr/>
          </p:nvSpPr>
          <p:spPr>
            <a:xfrm>
              <a:off x="838197" y="2278540"/>
              <a:ext cx="1135500" cy="41928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g230d81c63cf_1_388"/>
            <p:cNvSpPr/>
            <p:nvPr/>
          </p:nvSpPr>
          <p:spPr>
            <a:xfrm>
              <a:off x="939538" y="2636761"/>
              <a:ext cx="933000" cy="1064100"/>
            </a:xfrm>
            <a:prstGeom prst="roundRect">
              <a:avLst>
                <a:gd fmla="val 16667"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rgbClr val="F3F3F3"/>
                  </a:solidFill>
                </a:rPr>
                <a:t>Allocated </a:t>
              </a:r>
              <a:endParaRPr sz="1200">
                <a:solidFill>
                  <a:srgbClr val="F3F3F3"/>
                </a:solidFill>
              </a:endParaRPr>
            </a:p>
            <a:p>
              <a:pPr indent="0" lvl="0" marL="0" rtl="0" algn="l">
                <a:spcBef>
                  <a:spcPts val="0"/>
                </a:spcBef>
                <a:spcAft>
                  <a:spcPts val="0"/>
                </a:spcAft>
                <a:buNone/>
              </a:pPr>
              <a:r>
                <a:rPr lang="en-US" sz="1100">
                  <a:solidFill>
                    <a:srgbClr val="F3F3F3"/>
                  </a:solidFill>
                </a:rPr>
                <a:t>Memory</a:t>
              </a:r>
              <a:endParaRPr sz="1100">
                <a:solidFill>
                  <a:srgbClr val="F3F3F3"/>
                </a:solidFill>
              </a:endParaRPr>
            </a:p>
          </p:txBody>
        </p:sp>
        <p:sp>
          <p:nvSpPr>
            <p:cNvPr id="594" name="Google Shape;594;g230d81c63cf_1_388"/>
            <p:cNvSpPr/>
            <p:nvPr/>
          </p:nvSpPr>
          <p:spPr>
            <a:xfrm>
              <a:off x="939538" y="5048897"/>
              <a:ext cx="933000" cy="1064100"/>
            </a:xfrm>
            <a:prstGeom prst="roundRect">
              <a:avLst>
                <a:gd fmla="val 16667" name="adj"/>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100">
                  <a:solidFill>
                    <a:srgbClr val="F3F3F3"/>
                  </a:solidFill>
                </a:rPr>
                <a:t>Other resources</a:t>
              </a:r>
              <a:endParaRPr sz="1100">
                <a:solidFill>
                  <a:srgbClr val="F3F3F3"/>
                </a:solidFill>
              </a:endParaRPr>
            </a:p>
          </p:txBody>
        </p:sp>
      </p:grpSp>
      <p:grpSp>
        <p:nvGrpSpPr>
          <p:cNvPr id="595" name="Google Shape;595;g230d81c63cf_1_388"/>
          <p:cNvGrpSpPr/>
          <p:nvPr/>
        </p:nvGrpSpPr>
        <p:grpSpPr>
          <a:xfrm>
            <a:off x="6712821" y="2278545"/>
            <a:ext cx="4783759" cy="4192717"/>
            <a:chOff x="6822700" y="1903175"/>
            <a:chExt cx="4941900" cy="4393500"/>
          </a:xfrm>
        </p:grpSpPr>
        <p:sp>
          <p:nvSpPr>
            <p:cNvPr id="596" name="Google Shape;596;g230d81c63cf_1_388"/>
            <p:cNvSpPr/>
            <p:nvPr/>
          </p:nvSpPr>
          <p:spPr>
            <a:xfrm>
              <a:off x="6822700" y="1903175"/>
              <a:ext cx="4941900" cy="43935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g230d81c63cf_1_388"/>
            <p:cNvSpPr/>
            <p:nvPr/>
          </p:nvSpPr>
          <p:spPr>
            <a:xfrm>
              <a:off x="7263701" y="2278550"/>
              <a:ext cx="4059600" cy="1115100"/>
            </a:xfrm>
            <a:prstGeom prst="roundRect">
              <a:avLst>
                <a:gd fmla="val 16667"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rgbClr val="F3F3F3"/>
                  </a:solidFill>
                </a:rPr>
                <a:t>Allocated </a:t>
              </a:r>
              <a:endParaRPr sz="1200">
                <a:solidFill>
                  <a:srgbClr val="F3F3F3"/>
                </a:solidFill>
              </a:endParaRPr>
            </a:p>
            <a:p>
              <a:pPr indent="0" lvl="0" marL="0" rtl="0" algn="l">
                <a:spcBef>
                  <a:spcPts val="0"/>
                </a:spcBef>
                <a:spcAft>
                  <a:spcPts val="0"/>
                </a:spcAft>
                <a:buNone/>
              </a:pPr>
              <a:r>
                <a:rPr lang="en-US" sz="1200">
                  <a:solidFill>
                    <a:srgbClr val="F3F3F3"/>
                  </a:solidFill>
                </a:rPr>
                <a:t>Memory</a:t>
              </a:r>
              <a:endParaRPr sz="1200">
                <a:solidFill>
                  <a:srgbClr val="F3F3F3"/>
                </a:solidFill>
              </a:endParaRPr>
            </a:p>
          </p:txBody>
        </p:sp>
        <p:sp>
          <p:nvSpPr>
            <p:cNvPr id="598" name="Google Shape;598;g230d81c63cf_1_388"/>
            <p:cNvSpPr/>
            <p:nvPr/>
          </p:nvSpPr>
          <p:spPr>
            <a:xfrm>
              <a:off x="7263851" y="4806200"/>
              <a:ext cx="4059600" cy="1115100"/>
            </a:xfrm>
            <a:prstGeom prst="roundRect">
              <a:avLst>
                <a:gd fmla="val 16667" name="adj"/>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100">
                  <a:solidFill>
                    <a:srgbClr val="F3F3F3"/>
                  </a:solidFill>
                </a:rPr>
                <a:t>Other resources</a:t>
              </a:r>
              <a:endParaRPr sz="1100">
                <a:solidFill>
                  <a:srgbClr val="F3F3F3"/>
                </a:solidFill>
              </a:endParaRPr>
            </a:p>
          </p:txBody>
        </p:sp>
        <p:sp>
          <p:nvSpPr>
            <p:cNvPr id="599" name="Google Shape;599;g230d81c63cf_1_388"/>
            <p:cNvSpPr/>
            <p:nvPr/>
          </p:nvSpPr>
          <p:spPr>
            <a:xfrm>
              <a:off x="10649425" y="2438525"/>
              <a:ext cx="356700" cy="3322800"/>
            </a:xfrm>
            <a:prstGeom prst="roundRect">
              <a:avLst>
                <a:gd fmla="val 16667" name="adj"/>
              </a:avLst>
            </a:prstGeom>
            <a:noFill/>
            <a:ln cap="flat" cmpd="sng" w="28575">
              <a:solidFill>
                <a:schemeClr val="dk1"/>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g230d81c63cf_1_388"/>
            <p:cNvSpPr/>
            <p:nvPr/>
          </p:nvSpPr>
          <p:spPr>
            <a:xfrm>
              <a:off x="10110450" y="2438525"/>
              <a:ext cx="356700" cy="3322800"/>
            </a:xfrm>
            <a:prstGeom prst="roundRect">
              <a:avLst>
                <a:gd fmla="val 16667" name="adj"/>
              </a:avLst>
            </a:prstGeom>
            <a:noFill/>
            <a:ln cap="flat" cmpd="sng" w="28575">
              <a:solidFill>
                <a:schemeClr val="dk1"/>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g230d81c63cf_1_388"/>
            <p:cNvSpPr/>
            <p:nvPr/>
          </p:nvSpPr>
          <p:spPr>
            <a:xfrm>
              <a:off x="9571475" y="2486825"/>
              <a:ext cx="356700" cy="3322800"/>
            </a:xfrm>
            <a:prstGeom prst="roundRect">
              <a:avLst>
                <a:gd fmla="val 16667" name="adj"/>
              </a:avLst>
            </a:prstGeom>
            <a:noFill/>
            <a:ln cap="flat" cmpd="sng" w="28575">
              <a:solidFill>
                <a:schemeClr val="dk1"/>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g230d81c63cf_1_388"/>
            <p:cNvSpPr/>
            <p:nvPr/>
          </p:nvSpPr>
          <p:spPr>
            <a:xfrm>
              <a:off x="9032500" y="2486825"/>
              <a:ext cx="356700" cy="3322800"/>
            </a:xfrm>
            <a:prstGeom prst="roundRect">
              <a:avLst>
                <a:gd fmla="val 16667" name="adj"/>
              </a:avLst>
            </a:prstGeom>
            <a:noFill/>
            <a:ln cap="flat" cmpd="sng" w="28575">
              <a:solidFill>
                <a:schemeClr val="dk1"/>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3" name="Google Shape;603;g230d81c63cf_1_388"/>
          <p:cNvGrpSpPr/>
          <p:nvPr/>
        </p:nvGrpSpPr>
        <p:grpSpPr>
          <a:xfrm>
            <a:off x="2228397" y="2278540"/>
            <a:ext cx="1135500" cy="4192800"/>
            <a:chOff x="2228397" y="2278540"/>
            <a:chExt cx="1135500" cy="4192800"/>
          </a:xfrm>
        </p:grpSpPr>
        <p:sp>
          <p:nvSpPr>
            <p:cNvPr id="604" name="Google Shape;604;g230d81c63cf_1_388"/>
            <p:cNvSpPr/>
            <p:nvPr/>
          </p:nvSpPr>
          <p:spPr>
            <a:xfrm>
              <a:off x="2228397" y="2278540"/>
              <a:ext cx="1135500" cy="4192800"/>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g230d81c63cf_1_388"/>
            <p:cNvSpPr/>
            <p:nvPr/>
          </p:nvSpPr>
          <p:spPr>
            <a:xfrm>
              <a:off x="2329738" y="2636761"/>
              <a:ext cx="933000" cy="1064100"/>
            </a:xfrm>
            <a:prstGeom prst="roundRect">
              <a:avLst>
                <a:gd fmla="val 16667"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rgbClr val="F3F3F3"/>
                  </a:solidFill>
                </a:rPr>
                <a:t>Allocated </a:t>
              </a:r>
              <a:endParaRPr sz="1200">
                <a:solidFill>
                  <a:srgbClr val="F3F3F3"/>
                </a:solidFill>
              </a:endParaRPr>
            </a:p>
            <a:p>
              <a:pPr indent="0" lvl="0" marL="0" rtl="0" algn="l">
                <a:spcBef>
                  <a:spcPts val="0"/>
                </a:spcBef>
                <a:spcAft>
                  <a:spcPts val="0"/>
                </a:spcAft>
                <a:buNone/>
              </a:pPr>
              <a:r>
                <a:rPr lang="en-US" sz="1100">
                  <a:solidFill>
                    <a:srgbClr val="F3F3F3"/>
                  </a:solidFill>
                </a:rPr>
                <a:t>Memory</a:t>
              </a:r>
              <a:endParaRPr sz="1100">
                <a:solidFill>
                  <a:srgbClr val="F3F3F3"/>
                </a:solidFill>
              </a:endParaRPr>
            </a:p>
          </p:txBody>
        </p:sp>
        <p:sp>
          <p:nvSpPr>
            <p:cNvPr id="606" name="Google Shape;606;g230d81c63cf_1_388"/>
            <p:cNvSpPr/>
            <p:nvPr/>
          </p:nvSpPr>
          <p:spPr>
            <a:xfrm>
              <a:off x="2329738" y="5048897"/>
              <a:ext cx="933000" cy="1064100"/>
            </a:xfrm>
            <a:prstGeom prst="roundRect">
              <a:avLst>
                <a:gd fmla="val 16667" name="adj"/>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100">
                  <a:solidFill>
                    <a:srgbClr val="F3F3F3"/>
                  </a:solidFill>
                </a:rPr>
                <a:t>Other resources</a:t>
              </a:r>
              <a:endParaRPr sz="1100">
                <a:solidFill>
                  <a:srgbClr val="F3F3F3"/>
                </a:solidFill>
              </a:endParaRPr>
            </a:p>
          </p:txBody>
        </p:sp>
      </p:grpSp>
      <p:grpSp>
        <p:nvGrpSpPr>
          <p:cNvPr id="607" name="Google Shape;607;g230d81c63cf_1_388"/>
          <p:cNvGrpSpPr/>
          <p:nvPr/>
        </p:nvGrpSpPr>
        <p:grpSpPr>
          <a:xfrm>
            <a:off x="3618597" y="2278540"/>
            <a:ext cx="1135625" cy="4192717"/>
            <a:chOff x="3618597" y="2278540"/>
            <a:chExt cx="1135625" cy="4192717"/>
          </a:xfrm>
        </p:grpSpPr>
        <p:sp>
          <p:nvSpPr>
            <p:cNvPr id="608" name="Google Shape;608;g230d81c63cf_1_388"/>
            <p:cNvSpPr/>
            <p:nvPr/>
          </p:nvSpPr>
          <p:spPr>
            <a:xfrm>
              <a:off x="3618597" y="2278540"/>
              <a:ext cx="1135625" cy="4192717"/>
            </a:xfrm>
            <a:prstGeom prst="rect">
              <a:avLst/>
            </a:prstGeom>
            <a:solidFill>
              <a:srgbClr val="99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g230d81c63cf_1_388"/>
            <p:cNvSpPr/>
            <p:nvPr/>
          </p:nvSpPr>
          <p:spPr>
            <a:xfrm>
              <a:off x="3719938" y="2636761"/>
              <a:ext cx="932942" cy="1064140"/>
            </a:xfrm>
            <a:prstGeom prst="roundRect">
              <a:avLst>
                <a:gd fmla="val 16667"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rgbClr val="F3F3F3"/>
                  </a:solidFill>
                </a:rPr>
                <a:t>Allocated </a:t>
              </a:r>
              <a:endParaRPr sz="1200">
                <a:solidFill>
                  <a:srgbClr val="F3F3F3"/>
                </a:solidFill>
              </a:endParaRPr>
            </a:p>
            <a:p>
              <a:pPr indent="0" lvl="0" marL="0" rtl="0" algn="l">
                <a:spcBef>
                  <a:spcPts val="0"/>
                </a:spcBef>
                <a:spcAft>
                  <a:spcPts val="0"/>
                </a:spcAft>
                <a:buNone/>
              </a:pPr>
              <a:r>
                <a:rPr lang="en-US" sz="1100">
                  <a:solidFill>
                    <a:srgbClr val="F3F3F3"/>
                  </a:solidFill>
                </a:rPr>
                <a:t>Memory</a:t>
              </a:r>
              <a:endParaRPr sz="1100">
                <a:solidFill>
                  <a:srgbClr val="F3F3F3"/>
                </a:solidFill>
              </a:endParaRPr>
            </a:p>
          </p:txBody>
        </p:sp>
        <p:sp>
          <p:nvSpPr>
            <p:cNvPr id="610" name="Google Shape;610;g230d81c63cf_1_388"/>
            <p:cNvSpPr/>
            <p:nvPr/>
          </p:nvSpPr>
          <p:spPr>
            <a:xfrm>
              <a:off x="3719938" y="5048897"/>
              <a:ext cx="932942" cy="1064140"/>
            </a:xfrm>
            <a:prstGeom prst="roundRect">
              <a:avLst>
                <a:gd fmla="val 16667" name="adj"/>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100">
                  <a:solidFill>
                    <a:srgbClr val="F3F3F3"/>
                  </a:solidFill>
                </a:rPr>
                <a:t>Other resources</a:t>
              </a:r>
              <a:endParaRPr sz="1100">
                <a:solidFill>
                  <a:srgbClr val="F3F3F3"/>
                </a:solidFill>
              </a:endParaRPr>
            </a:p>
          </p:txBody>
        </p:sp>
      </p:grpSp>
      <p:sp>
        <p:nvSpPr>
          <p:cNvPr id="611" name="Google Shape;611;g230d81c63cf_1_388"/>
          <p:cNvSpPr txBox="1"/>
          <p:nvPr/>
        </p:nvSpPr>
        <p:spPr>
          <a:xfrm>
            <a:off x="2228500" y="1527725"/>
            <a:ext cx="1135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latin typeface="Calibri"/>
                <a:ea typeface="Calibri"/>
                <a:cs typeface="Calibri"/>
                <a:sym typeface="Calibri"/>
              </a:rPr>
              <a:t>Processes</a:t>
            </a:r>
            <a:endParaRPr>
              <a:latin typeface="Calibri"/>
              <a:ea typeface="Calibri"/>
              <a:cs typeface="Calibri"/>
              <a:sym typeface="Calibri"/>
            </a:endParaRPr>
          </a:p>
        </p:txBody>
      </p:sp>
      <p:cxnSp>
        <p:nvCxnSpPr>
          <p:cNvPr id="612" name="Google Shape;612;g230d81c63cf_1_388"/>
          <p:cNvCxnSpPr>
            <a:stCxn id="611" idx="2"/>
          </p:cNvCxnSpPr>
          <p:nvPr/>
        </p:nvCxnSpPr>
        <p:spPr>
          <a:xfrm flipH="1">
            <a:off x="1495450" y="1927925"/>
            <a:ext cx="1300800" cy="302400"/>
          </a:xfrm>
          <a:prstGeom prst="straightConnector1">
            <a:avLst/>
          </a:prstGeom>
          <a:noFill/>
          <a:ln cap="flat" cmpd="sng" w="19050">
            <a:solidFill>
              <a:schemeClr val="dk2"/>
            </a:solidFill>
            <a:prstDash val="solid"/>
            <a:round/>
            <a:headEnd len="med" w="med" type="none"/>
            <a:tailEnd len="med" w="med" type="triangle"/>
          </a:ln>
        </p:spPr>
      </p:cxnSp>
      <p:cxnSp>
        <p:nvCxnSpPr>
          <p:cNvPr id="613" name="Google Shape;613;g230d81c63cf_1_388"/>
          <p:cNvCxnSpPr>
            <a:stCxn id="611" idx="2"/>
            <a:endCxn id="604" idx="0"/>
          </p:cNvCxnSpPr>
          <p:nvPr/>
        </p:nvCxnSpPr>
        <p:spPr>
          <a:xfrm>
            <a:off x="2796250" y="1927925"/>
            <a:ext cx="0" cy="350700"/>
          </a:xfrm>
          <a:prstGeom prst="straightConnector1">
            <a:avLst/>
          </a:prstGeom>
          <a:noFill/>
          <a:ln cap="flat" cmpd="sng" w="19050">
            <a:solidFill>
              <a:schemeClr val="dk2"/>
            </a:solidFill>
            <a:prstDash val="solid"/>
            <a:round/>
            <a:headEnd len="med" w="med" type="none"/>
            <a:tailEnd len="med" w="med" type="triangle"/>
          </a:ln>
        </p:spPr>
      </p:cxnSp>
      <p:cxnSp>
        <p:nvCxnSpPr>
          <p:cNvPr id="614" name="Google Shape;614;g230d81c63cf_1_388"/>
          <p:cNvCxnSpPr>
            <a:stCxn id="611" idx="2"/>
          </p:cNvCxnSpPr>
          <p:nvPr/>
        </p:nvCxnSpPr>
        <p:spPr>
          <a:xfrm>
            <a:off x="2796250" y="1927925"/>
            <a:ext cx="1429200" cy="350700"/>
          </a:xfrm>
          <a:prstGeom prst="straightConnector1">
            <a:avLst/>
          </a:prstGeom>
          <a:noFill/>
          <a:ln cap="flat" cmpd="sng" w="19050">
            <a:solidFill>
              <a:schemeClr val="dk2"/>
            </a:solidFill>
            <a:prstDash val="solid"/>
            <a:round/>
            <a:headEnd len="med" w="med" type="none"/>
            <a:tailEnd len="med" w="med" type="triangle"/>
          </a:ln>
        </p:spPr>
      </p:cxnSp>
      <p:sp>
        <p:nvSpPr>
          <p:cNvPr id="615" name="Google Shape;615;g230d81c63cf_1_388"/>
          <p:cNvSpPr txBox="1"/>
          <p:nvPr/>
        </p:nvSpPr>
        <p:spPr>
          <a:xfrm>
            <a:off x="6562600" y="1527725"/>
            <a:ext cx="1135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latin typeface="Calibri"/>
                <a:ea typeface="Calibri"/>
                <a:cs typeface="Calibri"/>
                <a:sym typeface="Calibri"/>
              </a:rPr>
              <a:t>Process</a:t>
            </a:r>
            <a:endParaRPr>
              <a:latin typeface="Calibri"/>
              <a:ea typeface="Calibri"/>
              <a:cs typeface="Calibri"/>
              <a:sym typeface="Calibri"/>
            </a:endParaRPr>
          </a:p>
        </p:txBody>
      </p:sp>
      <p:cxnSp>
        <p:nvCxnSpPr>
          <p:cNvPr id="616" name="Google Shape;616;g230d81c63cf_1_388"/>
          <p:cNvCxnSpPr>
            <a:stCxn id="615" idx="2"/>
          </p:cNvCxnSpPr>
          <p:nvPr/>
        </p:nvCxnSpPr>
        <p:spPr>
          <a:xfrm>
            <a:off x="7130350" y="1927925"/>
            <a:ext cx="6300" cy="335700"/>
          </a:xfrm>
          <a:prstGeom prst="straightConnector1">
            <a:avLst/>
          </a:prstGeom>
          <a:noFill/>
          <a:ln cap="flat" cmpd="sng" w="19050">
            <a:solidFill>
              <a:schemeClr val="dk2"/>
            </a:solidFill>
            <a:prstDash val="solid"/>
            <a:round/>
            <a:headEnd len="med" w="med" type="none"/>
            <a:tailEnd len="med" w="med" type="triangle"/>
          </a:ln>
        </p:spPr>
      </p:cxnSp>
      <p:sp>
        <p:nvSpPr>
          <p:cNvPr id="617" name="Google Shape;617;g230d81c63cf_1_388"/>
          <p:cNvSpPr txBox="1"/>
          <p:nvPr/>
        </p:nvSpPr>
        <p:spPr>
          <a:xfrm>
            <a:off x="9056775" y="1527725"/>
            <a:ext cx="1135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latin typeface="Calibri"/>
                <a:ea typeface="Calibri"/>
                <a:cs typeface="Calibri"/>
                <a:sym typeface="Calibri"/>
              </a:rPr>
              <a:t>Threads</a:t>
            </a:r>
            <a:endParaRPr>
              <a:latin typeface="Calibri"/>
              <a:ea typeface="Calibri"/>
              <a:cs typeface="Calibri"/>
              <a:sym typeface="Calibri"/>
            </a:endParaRPr>
          </a:p>
        </p:txBody>
      </p:sp>
      <p:cxnSp>
        <p:nvCxnSpPr>
          <p:cNvPr id="618" name="Google Shape;618;g230d81c63cf_1_388"/>
          <p:cNvCxnSpPr>
            <a:endCxn id="602" idx="0"/>
          </p:cNvCxnSpPr>
          <p:nvPr/>
        </p:nvCxnSpPr>
        <p:spPr>
          <a:xfrm flipH="1">
            <a:off x="9024550" y="1928022"/>
            <a:ext cx="600000" cy="907500"/>
          </a:xfrm>
          <a:prstGeom prst="straightConnector1">
            <a:avLst/>
          </a:prstGeom>
          <a:noFill/>
          <a:ln cap="flat" cmpd="sng" w="19050">
            <a:solidFill>
              <a:schemeClr val="dk1"/>
            </a:solidFill>
            <a:prstDash val="solid"/>
            <a:round/>
            <a:headEnd len="med" w="med" type="none"/>
            <a:tailEnd len="med" w="med" type="triangle"/>
          </a:ln>
        </p:spPr>
      </p:cxnSp>
      <p:cxnSp>
        <p:nvCxnSpPr>
          <p:cNvPr id="619" name="Google Shape;619;g230d81c63cf_1_388"/>
          <p:cNvCxnSpPr>
            <a:endCxn id="599" idx="0"/>
          </p:cNvCxnSpPr>
          <p:nvPr/>
        </p:nvCxnSpPr>
        <p:spPr>
          <a:xfrm>
            <a:off x="9624634" y="1927829"/>
            <a:ext cx="965100" cy="861600"/>
          </a:xfrm>
          <a:prstGeom prst="straightConnector1">
            <a:avLst/>
          </a:prstGeom>
          <a:noFill/>
          <a:ln cap="flat" cmpd="sng" w="19050">
            <a:solidFill>
              <a:schemeClr val="dk1"/>
            </a:solidFill>
            <a:prstDash val="solid"/>
            <a:round/>
            <a:headEnd len="med" w="med" type="none"/>
            <a:tailEnd len="med" w="med" type="triangle"/>
          </a:ln>
        </p:spPr>
      </p:cxnSp>
      <p:cxnSp>
        <p:nvCxnSpPr>
          <p:cNvPr id="620" name="Google Shape;620;g230d81c63cf_1_388"/>
          <p:cNvCxnSpPr>
            <a:endCxn id="601" idx="0"/>
          </p:cNvCxnSpPr>
          <p:nvPr/>
        </p:nvCxnSpPr>
        <p:spPr>
          <a:xfrm flipH="1">
            <a:off x="9546278" y="1928022"/>
            <a:ext cx="78300" cy="907500"/>
          </a:xfrm>
          <a:prstGeom prst="straightConnector1">
            <a:avLst/>
          </a:prstGeom>
          <a:noFill/>
          <a:ln cap="flat" cmpd="sng" w="19050">
            <a:solidFill>
              <a:schemeClr val="dk1"/>
            </a:solidFill>
            <a:prstDash val="solid"/>
            <a:round/>
            <a:headEnd len="med" w="med" type="none"/>
            <a:tailEnd len="med" w="med" type="triangle"/>
          </a:ln>
        </p:spPr>
      </p:cxnSp>
      <p:cxnSp>
        <p:nvCxnSpPr>
          <p:cNvPr id="621" name="Google Shape;621;g230d81c63cf_1_388"/>
          <p:cNvCxnSpPr>
            <a:stCxn id="617" idx="2"/>
            <a:endCxn id="600" idx="0"/>
          </p:cNvCxnSpPr>
          <p:nvPr/>
        </p:nvCxnSpPr>
        <p:spPr>
          <a:xfrm>
            <a:off x="9624525" y="1927925"/>
            <a:ext cx="443400" cy="8616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graphicFrame>
        <p:nvGraphicFramePr>
          <p:cNvPr id="627" name="Google Shape;627;g230c8651859_1_54"/>
          <p:cNvGraphicFramePr/>
          <p:nvPr/>
        </p:nvGraphicFramePr>
        <p:xfrm>
          <a:off x="5891213" y="2519350"/>
          <a:ext cx="3000000" cy="3000000"/>
        </p:xfrm>
        <a:graphic>
          <a:graphicData uri="http://schemas.openxmlformats.org/drawingml/2006/table">
            <a:tbl>
              <a:tblPr>
                <a:noFill/>
                <a:tableStyleId>{885D6979-F4CF-43EA-BDD4-875C122CD469}</a:tableStyleId>
              </a:tblPr>
              <a:tblGrid>
                <a:gridCol w="1071550"/>
              </a:tblGrid>
              <a:tr h="698175">
                <a:tc>
                  <a:txBody>
                    <a:bodyPr/>
                    <a:lstStyle/>
                    <a:p>
                      <a:pPr indent="0" lvl="0" marL="0" rtl="0" algn="ctr">
                        <a:spcBef>
                          <a:spcPts val="0"/>
                        </a:spcBef>
                        <a:spcAft>
                          <a:spcPts val="0"/>
                        </a:spcAft>
                        <a:buNone/>
                      </a:pPr>
                      <a:r>
                        <a:rPr lang="en-US" sz="2400"/>
                        <a:t>1</a:t>
                      </a:r>
                      <a:endParaRPr sz="2400"/>
                    </a:p>
                  </a:txBody>
                  <a:tcPr marT="91425" marB="91425" marR="91425" marL="91425" anchor="ctr"/>
                </a:tc>
              </a:tr>
              <a:tr h="698175">
                <a:tc>
                  <a:txBody>
                    <a:bodyPr/>
                    <a:lstStyle/>
                    <a:p>
                      <a:pPr indent="0" lvl="0" marL="0" rtl="0" algn="ctr">
                        <a:spcBef>
                          <a:spcPts val="0"/>
                        </a:spcBef>
                        <a:spcAft>
                          <a:spcPts val="0"/>
                        </a:spcAft>
                        <a:buNone/>
                      </a:pPr>
                      <a:r>
                        <a:rPr lang="en-US" sz="2400"/>
                        <a:t>5</a:t>
                      </a:r>
                      <a:endParaRPr sz="2400"/>
                    </a:p>
                  </a:txBody>
                  <a:tcPr marT="91425" marB="91425" marR="91425" marL="91425" anchor="ctr"/>
                </a:tc>
              </a:tr>
              <a:tr h="698175">
                <a:tc>
                  <a:txBody>
                    <a:bodyPr/>
                    <a:lstStyle/>
                    <a:p>
                      <a:pPr indent="0" lvl="0" marL="0" rtl="0" algn="ctr">
                        <a:spcBef>
                          <a:spcPts val="0"/>
                        </a:spcBef>
                        <a:spcAft>
                          <a:spcPts val="0"/>
                        </a:spcAft>
                        <a:buNone/>
                      </a:pPr>
                      <a:r>
                        <a:rPr lang="en-US" sz="2400"/>
                        <a:t>18</a:t>
                      </a:r>
                      <a:endParaRPr sz="2400"/>
                    </a:p>
                  </a:txBody>
                  <a:tcPr marT="91425" marB="91425" marR="91425" marL="91425" anchor="ctr"/>
                </a:tc>
              </a:tr>
              <a:tr h="698175">
                <a:tc>
                  <a:txBody>
                    <a:bodyPr/>
                    <a:lstStyle/>
                    <a:p>
                      <a:pPr indent="0" lvl="0" marL="0" rtl="0" algn="ctr">
                        <a:spcBef>
                          <a:spcPts val="0"/>
                        </a:spcBef>
                        <a:spcAft>
                          <a:spcPts val="0"/>
                        </a:spcAft>
                        <a:buNone/>
                      </a:pPr>
                      <a:r>
                        <a:rPr lang="en-US" sz="2400"/>
                        <a:t>6</a:t>
                      </a:r>
                      <a:endParaRPr sz="2400"/>
                    </a:p>
                  </a:txBody>
                  <a:tcPr marT="91425" marB="91425" marR="91425" marL="91425" anchor="ctr"/>
                </a:tc>
              </a:tr>
              <a:tr h="698175">
                <a:tc>
                  <a:txBody>
                    <a:bodyPr/>
                    <a:lstStyle/>
                    <a:p>
                      <a:pPr indent="0" lvl="0" marL="0" rtl="0" algn="ctr">
                        <a:spcBef>
                          <a:spcPts val="0"/>
                        </a:spcBef>
                        <a:spcAft>
                          <a:spcPts val="0"/>
                        </a:spcAft>
                        <a:buNone/>
                      </a:pPr>
                      <a:r>
                        <a:rPr lang="en-US" sz="2400"/>
                        <a:t>6</a:t>
                      </a:r>
                      <a:endParaRPr sz="2400"/>
                    </a:p>
                  </a:txBody>
                  <a:tcPr marT="91425" marB="91425" marR="91425" marL="91425" anchor="ctr"/>
                </a:tc>
              </a:tr>
            </a:tbl>
          </a:graphicData>
        </a:graphic>
      </p:graphicFrame>
      <p:graphicFrame>
        <p:nvGraphicFramePr>
          <p:cNvPr id="628" name="Google Shape;628;g230c8651859_1_54"/>
          <p:cNvGraphicFramePr/>
          <p:nvPr/>
        </p:nvGraphicFramePr>
        <p:xfrm>
          <a:off x="8172463" y="2519350"/>
          <a:ext cx="3000000" cy="3000000"/>
        </p:xfrm>
        <a:graphic>
          <a:graphicData uri="http://schemas.openxmlformats.org/drawingml/2006/table">
            <a:tbl>
              <a:tblPr>
                <a:noFill/>
                <a:tableStyleId>{885D6979-F4CF-43EA-BDD4-875C122CD469}</a:tableStyleId>
              </a:tblPr>
              <a:tblGrid>
                <a:gridCol w="1071550"/>
              </a:tblGrid>
              <a:tr h="698175">
                <a:tc>
                  <a:txBody>
                    <a:bodyPr/>
                    <a:lstStyle/>
                    <a:p>
                      <a:pPr indent="0" lvl="0" marL="0" rtl="0" algn="ctr">
                        <a:spcBef>
                          <a:spcPts val="0"/>
                        </a:spcBef>
                        <a:spcAft>
                          <a:spcPts val="0"/>
                        </a:spcAft>
                        <a:buNone/>
                      </a:pPr>
                      <a:r>
                        <a:rPr lang="en-US" sz="2400"/>
                        <a:t>2</a:t>
                      </a:r>
                      <a:endParaRPr sz="2400"/>
                    </a:p>
                  </a:txBody>
                  <a:tcPr marT="91425" marB="91425" marR="91425" marL="91425" anchor="ctr"/>
                </a:tc>
              </a:tr>
              <a:tr h="698175">
                <a:tc>
                  <a:txBody>
                    <a:bodyPr/>
                    <a:lstStyle/>
                    <a:p>
                      <a:pPr indent="0" lvl="0" marL="0" rtl="0" algn="ctr">
                        <a:spcBef>
                          <a:spcPts val="0"/>
                        </a:spcBef>
                        <a:spcAft>
                          <a:spcPts val="0"/>
                        </a:spcAft>
                        <a:buNone/>
                      </a:pPr>
                      <a:r>
                        <a:rPr lang="en-US" sz="2400"/>
                        <a:t>4</a:t>
                      </a:r>
                      <a:endParaRPr sz="2400"/>
                    </a:p>
                  </a:txBody>
                  <a:tcPr marT="91425" marB="91425" marR="91425" marL="91425" anchor="ctr"/>
                </a:tc>
              </a:tr>
              <a:tr h="698175">
                <a:tc>
                  <a:txBody>
                    <a:bodyPr/>
                    <a:lstStyle/>
                    <a:p>
                      <a:pPr indent="0" lvl="0" marL="0" rtl="0" algn="ctr">
                        <a:spcBef>
                          <a:spcPts val="0"/>
                        </a:spcBef>
                        <a:spcAft>
                          <a:spcPts val="0"/>
                        </a:spcAft>
                        <a:buNone/>
                      </a:pPr>
                      <a:r>
                        <a:rPr lang="en-US" sz="2400"/>
                        <a:t>11</a:t>
                      </a:r>
                      <a:endParaRPr sz="2400"/>
                    </a:p>
                  </a:txBody>
                  <a:tcPr marT="91425" marB="91425" marR="91425" marL="91425" anchor="ctr"/>
                </a:tc>
              </a:tr>
              <a:tr h="698175">
                <a:tc>
                  <a:txBody>
                    <a:bodyPr/>
                    <a:lstStyle/>
                    <a:p>
                      <a:pPr indent="0" lvl="0" marL="0" rtl="0" algn="ctr">
                        <a:spcBef>
                          <a:spcPts val="0"/>
                        </a:spcBef>
                        <a:spcAft>
                          <a:spcPts val="0"/>
                        </a:spcAft>
                        <a:buNone/>
                      </a:pPr>
                      <a:r>
                        <a:rPr lang="en-US" sz="2400"/>
                        <a:t>7</a:t>
                      </a:r>
                      <a:endParaRPr sz="2400"/>
                    </a:p>
                  </a:txBody>
                  <a:tcPr marT="91425" marB="91425" marR="91425" marL="91425" anchor="ctr"/>
                </a:tc>
              </a:tr>
              <a:tr h="698175">
                <a:tc>
                  <a:txBody>
                    <a:bodyPr/>
                    <a:lstStyle/>
                    <a:p>
                      <a:pPr indent="0" lvl="0" marL="0" rtl="0" algn="ctr">
                        <a:spcBef>
                          <a:spcPts val="0"/>
                        </a:spcBef>
                        <a:spcAft>
                          <a:spcPts val="0"/>
                        </a:spcAft>
                        <a:buNone/>
                      </a:pPr>
                      <a:r>
                        <a:rPr lang="en-US" sz="2400"/>
                        <a:t>4</a:t>
                      </a:r>
                      <a:endParaRPr sz="2400"/>
                    </a:p>
                  </a:txBody>
                  <a:tcPr marT="91425" marB="91425" marR="91425" marL="91425" anchor="ctr"/>
                </a:tc>
              </a:tr>
            </a:tbl>
          </a:graphicData>
        </a:graphic>
      </p:graphicFrame>
      <p:graphicFrame>
        <p:nvGraphicFramePr>
          <p:cNvPr id="629" name="Google Shape;629;g230c8651859_1_54"/>
          <p:cNvGraphicFramePr/>
          <p:nvPr/>
        </p:nvGraphicFramePr>
        <p:xfrm>
          <a:off x="10282238" y="2519350"/>
          <a:ext cx="3000000" cy="3000000"/>
        </p:xfrm>
        <a:graphic>
          <a:graphicData uri="http://schemas.openxmlformats.org/drawingml/2006/table">
            <a:tbl>
              <a:tblPr>
                <a:noFill/>
                <a:tableStyleId>{885D6979-F4CF-43EA-BDD4-875C122CD469}</a:tableStyleId>
              </a:tblPr>
              <a:tblGrid>
                <a:gridCol w="1071550"/>
              </a:tblGrid>
              <a:tr h="698175">
                <a:tc>
                  <a:txBody>
                    <a:bodyPr/>
                    <a:lstStyle/>
                    <a:p>
                      <a:pPr indent="0" lvl="0" marL="0" rtl="0" algn="ctr">
                        <a:spcBef>
                          <a:spcPts val="0"/>
                        </a:spcBef>
                        <a:spcAft>
                          <a:spcPts val="0"/>
                        </a:spcAft>
                        <a:buNone/>
                      </a:pPr>
                      <a:r>
                        <a:rPr lang="en-US" sz="2400"/>
                        <a:t>3</a:t>
                      </a:r>
                      <a:endParaRPr sz="2400"/>
                    </a:p>
                  </a:txBody>
                  <a:tcPr marT="91425" marB="91425" marR="91425" marL="91425" anchor="ctr"/>
                </a:tc>
              </a:tr>
              <a:tr h="698175">
                <a:tc>
                  <a:txBody>
                    <a:bodyPr/>
                    <a:lstStyle/>
                    <a:p>
                      <a:pPr indent="0" lvl="0" marL="0" rtl="0" algn="ctr">
                        <a:spcBef>
                          <a:spcPts val="0"/>
                        </a:spcBef>
                        <a:spcAft>
                          <a:spcPts val="0"/>
                        </a:spcAft>
                        <a:buNone/>
                      </a:pPr>
                      <a:r>
                        <a:rPr lang="en-US" sz="2400"/>
                        <a:t>9</a:t>
                      </a:r>
                      <a:endParaRPr sz="2400"/>
                    </a:p>
                  </a:txBody>
                  <a:tcPr marT="91425" marB="91425" marR="91425" marL="91425" anchor="ctr"/>
                </a:tc>
              </a:tr>
              <a:tr h="698175">
                <a:tc>
                  <a:txBody>
                    <a:bodyPr/>
                    <a:lstStyle/>
                    <a:p>
                      <a:pPr indent="0" lvl="0" marL="0" rtl="0" algn="ctr">
                        <a:spcBef>
                          <a:spcPts val="0"/>
                        </a:spcBef>
                        <a:spcAft>
                          <a:spcPts val="0"/>
                        </a:spcAft>
                        <a:buNone/>
                      </a:pPr>
                      <a:r>
                        <a:rPr lang="en-US" sz="2400"/>
                        <a:t>29</a:t>
                      </a:r>
                      <a:endParaRPr sz="2400"/>
                    </a:p>
                  </a:txBody>
                  <a:tcPr marT="91425" marB="91425" marR="91425" marL="91425" anchor="ctr"/>
                </a:tc>
              </a:tr>
              <a:tr h="698175">
                <a:tc>
                  <a:txBody>
                    <a:bodyPr/>
                    <a:lstStyle/>
                    <a:p>
                      <a:pPr indent="0" lvl="0" marL="0" rtl="0" algn="ctr">
                        <a:spcBef>
                          <a:spcPts val="0"/>
                        </a:spcBef>
                        <a:spcAft>
                          <a:spcPts val="0"/>
                        </a:spcAft>
                        <a:buNone/>
                      </a:pPr>
                      <a:r>
                        <a:rPr lang="en-US" sz="2400"/>
                        <a:t>13</a:t>
                      </a:r>
                      <a:endParaRPr sz="2400"/>
                    </a:p>
                  </a:txBody>
                  <a:tcPr marT="91425" marB="91425" marR="91425" marL="91425" anchor="ctr"/>
                </a:tc>
              </a:tr>
              <a:tr h="698175">
                <a:tc>
                  <a:txBody>
                    <a:bodyPr/>
                    <a:lstStyle/>
                    <a:p>
                      <a:pPr indent="0" lvl="0" marL="0" rtl="0" algn="ctr">
                        <a:spcBef>
                          <a:spcPts val="0"/>
                        </a:spcBef>
                        <a:spcAft>
                          <a:spcPts val="0"/>
                        </a:spcAft>
                        <a:buNone/>
                      </a:pPr>
                      <a:r>
                        <a:rPr lang="en-US" sz="2400"/>
                        <a:t>10</a:t>
                      </a:r>
                      <a:endParaRPr sz="2400"/>
                    </a:p>
                  </a:txBody>
                  <a:tcPr marT="91425" marB="91425" marR="91425" marL="91425" anchor="ctr"/>
                </a:tc>
              </a:tr>
            </a:tbl>
          </a:graphicData>
        </a:graphic>
      </p:graphicFrame>
      <p:sp>
        <p:nvSpPr>
          <p:cNvPr id="630" name="Google Shape;630;g230c8651859_1_54"/>
          <p:cNvSpPr/>
          <p:nvPr/>
        </p:nvSpPr>
        <p:spPr>
          <a:xfrm>
            <a:off x="7264623" y="3941550"/>
            <a:ext cx="606000" cy="646500"/>
          </a:xfrm>
          <a:prstGeom prst="mathPlus">
            <a:avLst>
              <a:gd fmla="val 23520" name="adj1"/>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g230c8651859_1_54"/>
          <p:cNvSpPr/>
          <p:nvPr/>
        </p:nvSpPr>
        <p:spPr>
          <a:xfrm>
            <a:off x="9489238" y="3967373"/>
            <a:ext cx="547800" cy="646500"/>
          </a:xfrm>
          <a:prstGeom prst="mathEqual">
            <a:avLst>
              <a:gd fmla="val 23520" name="adj1"/>
              <a:gd fmla="val 1176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2" name="Google Shape;632;g230c8651859_1_54"/>
          <p:cNvCxnSpPr/>
          <p:nvPr/>
        </p:nvCxnSpPr>
        <p:spPr>
          <a:xfrm>
            <a:off x="5400675" y="728675"/>
            <a:ext cx="42900" cy="5829600"/>
          </a:xfrm>
          <a:prstGeom prst="straightConnector1">
            <a:avLst/>
          </a:prstGeom>
          <a:noFill/>
          <a:ln cap="flat" cmpd="sng" w="28575">
            <a:solidFill>
              <a:schemeClr val="dk1"/>
            </a:solidFill>
            <a:prstDash val="solid"/>
            <a:round/>
            <a:headEnd len="med" w="med" type="none"/>
            <a:tailEnd len="med" w="med" type="none"/>
          </a:ln>
        </p:spPr>
      </p:cxnSp>
      <p:sp>
        <p:nvSpPr>
          <p:cNvPr id="633" name="Google Shape;633;g230c8651859_1_54"/>
          <p:cNvSpPr txBox="1"/>
          <p:nvPr/>
        </p:nvSpPr>
        <p:spPr>
          <a:xfrm>
            <a:off x="1757375" y="3481000"/>
            <a:ext cx="2114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600">
                <a:latin typeface="Calibri"/>
                <a:ea typeface="Calibri"/>
                <a:cs typeface="Calibri"/>
                <a:sym typeface="Calibri"/>
              </a:rPr>
              <a:t>1 + 1 = 2 </a:t>
            </a:r>
            <a:endParaRPr sz="3600">
              <a:latin typeface="Calibri"/>
              <a:ea typeface="Calibri"/>
              <a:cs typeface="Calibri"/>
              <a:sym typeface="Calibri"/>
            </a:endParaRPr>
          </a:p>
        </p:txBody>
      </p:sp>
      <p:sp>
        <p:nvSpPr>
          <p:cNvPr id="634" name="Google Shape;634;g230c8651859_1_54"/>
          <p:cNvSpPr txBox="1"/>
          <p:nvPr/>
        </p:nvSpPr>
        <p:spPr>
          <a:xfrm>
            <a:off x="1028700" y="5729300"/>
            <a:ext cx="328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35" name="Google Shape;635;g230c8651859_1_54"/>
          <p:cNvSpPr txBox="1"/>
          <p:nvPr/>
        </p:nvSpPr>
        <p:spPr>
          <a:xfrm>
            <a:off x="1171650" y="976450"/>
            <a:ext cx="3000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latin typeface="Calibri"/>
                <a:ea typeface="Calibri"/>
                <a:cs typeface="Calibri"/>
                <a:sym typeface="Calibri"/>
              </a:rPr>
              <a:t>Scalar processing</a:t>
            </a:r>
            <a:endParaRPr sz="3000">
              <a:latin typeface="Calibri"/>
              <a:ea typeface="Calibri"/>
              <a:cs typeface="Calibri"/>
              <a:sym typeface="Calibri"/>
            </a:endParaRPr>
          </a:p>
        </p:txBody>
      </p:sp>
      <p:sp>
        <p:nvSpPr>
          <p:cNvPr id="636" name="Google Shape;636;g230c8651859_1_54"/>
          <p:cNvSpPr txBox="1"/>
          <p:nvPr/>
        </p:nvSpPr>
        <p:spPr>
          <a:xfrm>
            <a:off x="7115250" y="976450"/>
            <a:ext cx="3186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latin typeface="Calibri"/>
                <a:ea typeface="Calibri"/>
                <a:cs typeface="Calibri"/>
                <a:sym typeface="Calibri"/>
              </a:rPr>
              <a:t>Vector Processing</a:t>
            </a:r>
            <a:endParaRPr sz="3000">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g230c8651859_1_6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Flynn’s Taxonomy (1966) </a:t>
            </a:r>
            <a:endParaRPr/>
          </a:p>
        </p:txBody>
      </p:sp>
      <p:grpSp>
        <p:nvGrpSpPr>
          <p:cNvPr id="643" name="Google Shape;643;g230c8651859_1_66"/>
          <p:cNvGrpSpPr/>
          <p:nvPr/>
        </p:nvGrpSpPr>
        <p:grpSpPr>
          <a:xfrm>
            <a:off x="7841563" y="1996275"/>
            <a:ext cx="3441300" cy="4565250"/>
            <a:chOff x="7841563" y="1996275"/>
            <a:chExt cx="3441300" cy="4565250"/>
          </a:xfrm>
        </p:grpSpPr>
        <p:pic>
          <p:nvPicPr>
            <p:cNvPr id="644" name="Google Shape;644;g230c8651859_1_66"/>
            <p:cNvPicPr preferRelativeResize="0"/>
            <p:nvPr/>
          </p:nvPicPr>
          <p:blipFill>
            <a:blip r:embed="rId3">
              <a:alphaModFix/>
            </a:blip>
            <a:stretch>
              <a:fillRect/>
            </a:stretch>
          </p:blipFill>
          <p:spPr>
            <a:xfrm>
              <a:off x="7912475" y="1996275"/>
              <a:ext cx="3299475" cy="3844612"/>
            </a:xfrm>
            <a:prstGeom prst="rect">
              <a:avLst/>
            </a:prstGeom>
            <a:noFill/>
            <a:ln>
              <a:noFill/>
            </a:ln>
          </p:spPr>
        </p:pic>
        <p:sp>
          <p:nvSpPr>
            <p:cNvPr id="645" name="Google Shape;645;g230c8651859_1_66"/>
            <p:cNvSpPr txBox="1"/>
            <p:nvPr/>
          </p:nvSpPr>
          <p:spPr>
            <a:xfrm>
              <a:off x="7841563" y="5915025"/>
              <a:ext cx="3441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Michael J  Flynn</a:t>
              </a:r>
              <a:br>
                <a:rPr lang="en-US">
                  <a:latin typeface="Calibri"/>
                  <a:ea typeface="Calibri"/>
                  <a:cs typeface="Calibri"/>
                  <a:sym typeface="Calibri"/>
                </a:rPr>
              </a:br>
              <a:r>
                <a:rPr lang="en-US" sz="800">
                  <a:latin typeface="Calibri"/>
                  <a:ea typeface="Calibri"/>
                  <a:cs typeface="Calibri"/>
                  <a:sym typeface="Calibri"/>
                </a:rPr>
                <a:t>By Michael Flynn - http://arith.stanford.edu/~flynn/jpeg/flynn600.JPG, CC BY-SA 3.0, https://commons.wikimedia.org/w/index.php?curid=4198900</a:t>
              </a:r>
              <a:endParaRPr sz="800">
                <a:latin typeface="Calibri"/>
                <a:ea typeface="Calibri"/>
                <a:cs typeface="Calibri"/>
                <a:sym typeface="Calibri"/>
              </a:endParaRPr>
            </a:p>
          </p:txBody>
        </p:sp>
      </p:grpSp>
      <p:graphicFrame>
        <p:nvGraphicFramePr>
          <p:cNvPr id="646" name="Google Shape;646;g230c8651859_1_66"/>
          <p:cNvGraphicFramePr/>
          <p:nvPr/>
        </p:nvGraphicFramePr>
        <p:xfrm>
          <a:off x="952500" y="1897850"/>
          <a:ext cx="3000000" cy="3000000"/>
        </p:xfrm>
        <a:graphic>
          <a:graphicData uri="http://schemas.openxmlformats.org/drawingml/2006/table">
            <a:tbl>
              <a:tblPr>
                <a:noFill/>
                <a:tableStyleId>{885D6979-F4CF-43EA-BDD4-875C122CD469}</a:tableStyleId>
              </a:tblPr>
              <a:tblGrid>
                <a:gridCol w="2978975"/>
                <a:gridCol w="2978975"/>
              </a:tblGrid>
              <a:tr h="2184825">
                <a:tc>
                  <a:txBody>
                    <a:bodyPr/>
                    <a:lstStyle/>
                    <a:p>
                      <a:pPr indent="0" lvl="0" marL="0" rtl="0" algn="ctr">
                        <a:spcBef>
                          <a:spcPts val="0"/>
                        </a:spcBef>
                        <a:spcAft>
                          <a:spcPts val="0"/>
                        </a:spcAft>
                        <a:buNone/>
                      </a:pPr>
                      <a:r>
                        <a:rPr lang="en-US"/>
                        <a:t>Single Instruction, Single Data</a:t>
                      </a:r>
                      <a:endParaRPr/>
                    </a:p>
                    <a:p>
                      <a:pPr indent="0" lvl="0" marL="0" rtl="0" algn="ctr">
                        <a:spcBef>
                          <a:spcPts val="0"/>
                        </a:spcBef>
                        <a:spcAft>
                          <a:spcPts val="0"/>
                        </a:spcAft>
                        <a:buNone/>
                      </a:pPr>
                      <a:r>
                        <a:rPr lang="en-US"/>
                        <a:t>(SISD) </a:t>
                      </a:r>
                      <a:endParaRPr/>
                    </a:p>
                  </a:txBody>
                  <a:tcPr marT="91425" marB="91425" marR="91425" marL="91425" anchor="ctr"/>
                </a:tc>
                <a:tc>
                  <a:txBody>
                    <a:bodyPr/>
                    <a:lstStyle/>
                    <a:p>
                      <a:pPr indent="0" lvl="0" marL="0" rtl="0" algn="ctr">
                        <a:spcBef>
                          <a:spcPts val="0"/>
                        </a:spcBef>
                        <a:spcAft>
                          <a:spcPts val="0"/>
                        </a:spcAft>
                        <a:buNone/>
                      </a:pPr>
                      <a:r>
                        <a:rPr lang="en-US"/>
                        <a:t>Multiple Instruction, Single Data</a:t>
                      </a:r>
                      <a:endParaRPr/>
                    </a:p>
                    <a:p>
                      <a:pPr indent="0" lvl="0" marL="0" rtl="0" algn="ctr">
                        <a:spcBef>
                          <a:spcPts val="0"/>
                        </a:spcBef>
                        <a:spcAft>
                          <a:spcPts val="0"/>
                        </a:spcAft>
                        <a:buNone/>
                      </a:pPr>
                      <a:r>
                        <a:rPr lang="en-US"/>
                        <a:t>(MISD)</a:t>
                      </a:r>
                      <a:endParaRPr/>
                    </a:p>
                  </a:txBody>
                  <a:tcPr marT="91425" marB="91425" marR="91425" marL="91425" anchor="ctr"/>
                </a:tc>
              </a:tr>
              <a:tr h="2184825">
                <a:tc>
                  <a:txBody>
                    <a:bodyPr/>
                    <a:lstStyle/>
                    <a:p>
                      <a:pPr indent="0" lvl="0" marL="0" rtl="0" algn="ctr">
                        <a:spcBef>
                          <a:spcPts val="0"/>
                        </a:spcBef>
                        <a:spcAft>
                          <a:spcPts val="0"/>
                        </a:spcAft>
                        <a:buClr>
                          <a:schemeClr val="dk1"/>
                        </a:buClr>
                        <a:buSzPts val="1100"/>
                        <a:buFont typeface="Arial"/>
                        <a:buNone/>
                      </a:pPr>
                      <a:r>
                        <a:rPr lang="en-US">
                          <a:solidFill>
                            <a:schemeClr val="dk1"/>
                          </a:solidFill>
                        </a:rPr>
                        <a:t>Single Instruction,Multiple Data</a:t>
                      </a:r>
                      <a:endParaRPr>
                        <a:solidFill>
                          <a:schemeClr val="dk1"/>
                        </a:solidFill>
                      </a:endParaRPr>
                    </a:p>
                    <a:p>
                      <a:pPr indent="0" lvl="0" marL="0" rtl="0" algn="ctr">
                        <a:spcBef>
                          <a:spcPts val="0"/>
                        </a:spcBef>
                        <a:spcAft>
                          <a:spcPts val="0"/>
                        </a:spcAft>
                        <a:buClr>
                          <a:schemeClr val="dk1"/>
                        </a:buClr>
                        <a:buSzPts val="1100"/>
                        <a:buFont typeface="Arial"/>
                        <a:buNone/>
                      </a:pPr>
                      <a:r>
                        <a:rPr lang="en-US">
                          <a:solidFill>
                            <a:schemeClr val="dk1"/>
                          </a:solidFill>
                        </a:rPr>
                        <a:t>(SIMD) </a:t>
                      </a:r>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en-US">
                          <a:solidFill>
                            <a:schemeClr val="dk1"/>
                          </a:solidFill>
                        </a:rPr>
                        <a:t>Multiple Instruction, Multiple Data</a:t>
                      </a:r>
                      <a:endParaRPr>
                        <a:solidFill>
                          <a:schemeClr val="dk1"/>
                        </a:solidFill>
                      </a:endParaRPr>
                    </a:p>
                    <a:p>
                      <a:pPr indent="0" lvl="0" marL="0" rtl="0" algn="ctr">
                        <a:spcBef>
                          <a:spcPts val="0"/>
                        </a:spcBef>
                        <a:spcAft>
                          <a:spcPts val="0"/>
                        </a:spcAft>
                        <a:buClr>
                          <a:schemeClr val="dk1"/>
                        </a:buClr>
                        <a:buSzPts val="1100"/>
                        <a:buFont typeface="Arial"/>
                        <a:buNone/>
                      </a:pPr>
                      <a:r>
                        <a:rPr lang="en-US">
                          <a:solidFill>
                            <a:schemeClr val="dk1"/>
                          </a:solidFill>
                        </a:rPr>
                        <a:t>(MIMD)</a:t>
                      </a:r>
                      <a:endParaRPr/>
                    </a:p>
                  </a:txBody>
                  <a:tcPr marT="91425" marB="91425" marR="91425" marL="91425" anchor="ct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g22dcf9af772_1_8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Tightly-coupled vs. </a:t>
            </a:r>
            <a:r>
              <a:rPr lang="en-US"/>
              <a:t>embarrassingly</a:t>
            </a:r>
            <a:r>
              <a:rPr lang="en-US"/>
              <a:t> parallel</a:t>
            </a:r>
            <a:endParaRPr/>
          </a:p>
        </p:txBody>
      </p:sp>
      <p:pic>
        <p:nvPicPr>
          <p:cNvPr id="653" name="Google Shape;653;g22dcf9af772_1_80"/>
          <p:cNvPicPr preferRelativeResize="0"/>
          <p:nvPr/>
        </p:nvPicPr>
        <p:blipFill>
          <a:blip r:embed="rId3">
            <a:alphaModFix/>
          </a:blip>
          <a:stretch>
            <a:fillRect/>
          </a:stretch>
        </p:blipFill>
        <p:spPr>
          <a:xfrm>
            <a:off x="205150" y="1427775"/>
            <a:ext cx="11781701" cy="3958625"/>
          </a:xfrm>
          <a:prstGeom prst="rect">
            <a:avLst/>
          </a:prstGeom>
          <a:noFill/>
          <a:ln>
            <a:noFill/>
          </a:ln>
        </p:spPr>
      </p:pic>
      <p:sp>
        <p:nvSpPr>
          <p:cNvPr id="654" name="Google Shape;654;g22dcf9af772_1_80"/>
          <p:cNvSpPr txBox="1"/>
          <p:nvPr/>
        </p:nvSpPr>
        <p:spPr>
          <a:xfrm>
            <a:off x="509600" y="2479450"/>
            <a:ext cx="4934100" cy="217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Tightly-coupled:</a:t>
            </a:r>
            <a:endParaRPr sz="2400">
              <a:latin typeface="Calibri"/>
              <a:ea typeface="Calibri"/>
              <a:cs typeface="Calibri"/>
              <a:sym typeface="Calibri"/>
            </a:endParaRPr>
          </a:p>
          <a:p>
            <a:pPr indent="-361950" lvl="0" marL="457200" rtl="0" algn="l">
              <a:spcBef>
                <a:spcPts val="0"/>
              </a:spcBef>
              <a:spcAft>
                <a:spcPts val="0"/>
              </a:spcAft>
              <a:buSzPts val="2100"/>
              <a:buFont typeface="Calibri"/>
              <a:buChar char="●"/>
            </a:pPr>
            <a:r>
              <a:rPr lang="en-US" sz="2100">
                <a:latin typeface="Calibri"/>
                <a:ea typeface="Calibri"/>
                <a:cs typeface="Calibri"/>
                <a:sym typeface="Calibri"/>
              </a:rPr>
              <a:t>Frequent communication between processes throughout the calculations </a:t>
            </a:r>
            <a:endParaRPr sz="2100">
              <a:latin typeface="Calibri"/>
              <a:ea typeface="Calibri"/>
              <a:cs typeface="Calibri"/>
              <a:sym typeface="Calibri"/>
            </a:endParaRPr>
          </a:p>
          <a:p>
            <a:pPr indent="-361950" lvl="0" marL="457200" rtl="0" algn="l">
              <a:spcBef>
                <a:spcPts val="0"/>
              </a:spcBef>
              <a:spcAft>
                <a:spcPts val="0"/>
              </a:spcAft>
              <a:buSzPts val="2100"/>
              <a:buFont typeface="Calibri"/>
              <a:buChar char="●"/>
            </a:pPr>
            <a:r>
              <a:rPr lang="en-US" sz="2100">
                <a:latin typeface="Calibri"/>
                <a:ea typeface="Calibri"/>
                <a:cs typeface="Calibri"/>
                <a:sym typeface="Calibri"/>
              </a:rPr>
              <a:t>Harder to decompose and program</a:t>
            </a:r>
            <a:endParaRPr sz="2100">
              <a:latin typeface="Calibri"/>
              <a:ea typeface="Calibri"/>
              <a:cs typeface="Calibri"/>
              <a:sym typeface="Calibri"/>
            </a:endParaRPr>
          </a:p>
          <a:p>
            <a:pPr indent="-361950" lvl="0" marL="457200" rtl="0" algn="l">
              <a:spcBef>
                <a:spcPts val="0"/>
              </a:spcBef>
              <a:spcAft>
                <a:spcPts val="0"/>
              </a:spcAft>
              <a:buSzPts val="2100"/>
              <a:buFont typeface="Calibri"/>
              <a:buChar char="●"/>
            </a:pPr>
            <a:r>
              <a:rPr lang="en-US" sz="2100">
                <a:latin typeface="Calibri"/>
                <a:ea typeface="Calibri"/>
                <a:cs typeface="Calibri"/>
                <a:sym typeface="Calibri"/>
              </a:rPr>
              <a:t>Very sensitive to </a:t>
            </a:r>
            <a:r>
              <a:rPr lang="en-US" sz="2100">
                <a:latin typeface="Calibri"/>
                <a:ea typeface="Calibri"/>
                <a:cs typeface="Calibri"/>
                <a:sym typeface="Calibri"/>
              </a:rPr>
              <a:t>network bandwidth and latency</a:t>
            </a:r>
            <a:endParaRPr sz="2100">
              <a:latin typeface="Calibri"/>
              <a:ea typeface="Calibri"/>
              <a:cs typeface="Calibri"/>
              <a:sym typeface="Calibri"/>
            </a:endParaRPr>
          </a:p>
        </p:txBody>
      </p:sp>
      <p:sp>
        <p:nvSpPr>
          <p:cNvPr id="655" name="Google Shape;655;g22dcf9af772_1_80"/>
          <p:cNvSpPr txBox="1"/>
          <p:nvPr/>
        </p:nvSpPr>
        <p:spPr>
          <a:xfrm>
            <a:off x="8286775" y="2479450"/>
            <a:ext cx="44577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Embarrassingly</a:t>
            </a:r>
            <a:r>
              <a:rPr lang="en-US" sz="2400">
                <a:latin typeface="Calibri"/>
                <a:ea typeface="Calibri"/>
                <a:cs typeface="Calibri"/>
                <a:sym typeface="Calibri"/>
              </a:rPr>
              <a:t> parallel:</a:t>
            </a:r>
            <a:endParaRPr sz="2400">
              <a:latin typeface="Calibri"/>
              <a:ea typeface="Calibri"/>
              <a:cs typeface="Calibri"/>
              <a:sym typeface="Calibri"/>
            </a:endParaRPr>
          </a:p>
          <a:p>
            <a:pPr indent="-361950" lvl="0" marL="457200" rtl="0" algn="l">
              <a:spcBef>
                <a:spcPts val="0"/>
              </a:spcBef>
              <a:spcAft>
                <a:spcPts val="0"/>
              </a:spcAft>
              <a:buSzPts val="2100"/>
              <a:buFont typeface="Calibri"/>
              <a:buChar char="●"/>
            </a:pPr>
            <a:r>
              <a:rPr lang="en-US" sz="2100">
                <a:latin typeface="Calibri"/>
                <a:ea typeface="Calibri"/>
                <a:cs typeface="Calibri"/>
                <a:sym typeface="Calibri"/>
              </a:rPr>
              <a:t>Limited communications  throughout calculations</a:t>
            </a:r>
            <a:endParaRPr sz="2100">
              <a:latin typeface="Calibri"/>
              <a:ea typeface="Calibri"/>
              <a:cs typeface="Calibri"/>
              <a:sym typeface="Calibri"/>
            </a:endParaRPr>
          </a:p>
          <a:p>
            <a:pPr indent="-361950" lvl="0" marL="457200" rtl="0" algn="l">
              <a:spcBef>
                <a:spcPts val="0"/>
              </a:spcBef>
              <a:spcAft>
                <a:spcPts val="0"/>
              </a:spcAft>
              <a:buSzPts val="2100"/>
              <a:buFont typeface="Calibri"/>
              <a:buChar char="●"/>
            </a:pPr>
            <a:r>
              <a:rPr lang="en-US" sz="2100">
                <a:latin typeface="Calibri"/>
                <a:ea typeface="Calibri"/>
                <a:cs typeface="Calibri"/>
                <a:sym typeface="Calibri"/>
              </a:rPr>
              <a:t>“</a:t>
            </a:r>
            <a:r>
              <a:rPr lang="en-US" sz="2100">
                <a:latin typeface="Calibri"/>
                <a:ea typeface="Calibri"/>
                <a:cs typeface="Calibri"/>
                <a:sym typeface="Calibri"/>
              </a:rPr>
              <a:t>Embarrassingly</a:t>
            </a:r>
            <a:r>
              <a:rPr lang="en-US" sz="2100">
                <a:latin typeface="Calibri"/>
                <a:ea typeface="Calibri"/>
                <a:cs typeface="Calibri"/>
                <a:sym typeface="Calibri"/>
              </a:rPr>
              <a:t>” easy to decompose and program</a:t>
            </a:r>
            <a:endParaRPr sz="2100">
              <a:latin typeface="Calibri"/>
              <a:ea typeface="Calibri"/>
              <a:cs typeface="Calibri"/>
              <a:sym typeface="Calibri"/>
            </a:endParaRPr>
          </a:p>
          <a:p>
            <a:pPr indent="-361950" lvl="0" marL="457200" rtl="0" algn="l">
              <a:spcBef>
                <a:spcPts val="0"/>
              </a:spcBef>
              <a:spcAft>
                <a:spcPts val="0"/>
              </a:spcAft>
              <a:buSzPts val="2100"/>
              <a:buFont typeface="Calibri"/>
              <a:buChar char="●"/>
            </a:pPr>
            <a:r>
              <a:rPr lang="en-US" sz="2100">
                <a:latin typeface="Calibri"/>
                <a:ea typeface="Calibri"/>
                <a:cs typeface="Calibri"/>
                <a:sym typeface="Calibri"/>
              </a:rPr>
              <a:t>Not as sensitive to network bandwidth and latency</a:t>
            </a:r>
            <a:endParaRPr sz="2100">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g230f3c2a219_1_1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Suitability for parallelization</a:t>
            </a:r>
            <a:endParaRPr/>
          </a:p>
        </p:txBody>
      </p:sp>
      <p:sp>
        <p:nvSpPr>
          <p:cNvPr id="662" name="Google Shape;662;g230f3c2a219_1_12"/>
          <p:cNvSpPr txBox="1"/>
          <p:nvPr>
            <p:ph idx="1" type="body"/>
          </p:nvPr>
        </p:nvSpPr>
        <p:spPr>
          <a:xfrm>
            <a:off x="838200" y="1825625"/>
            <a:ext cx="10515600" cy="1656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In order for something to be parallelizable, each iteration of a calculation must be “data-independent” of the other iterations. This means that the data used in the calculation of one iteration cannot be the result of </a:t>
            </a:r>
            <a:r>
              <a:rPr lang="en-US"/>
              <a:t>another</a:t>
            </a:r>
            <a:r>
              <a:rPr lang="en-US"/>
              <a:t> iteration. </a:t>
            </a:r>
            <a:endParaRPr/>
          </a:p>
        </p:txBody>
      </p:sp>
      <p:grpSp>
        <p:nvGrpSpPr>
          <p:cNvPr id="663" name="Google Shape;663;g230f3c2a219_1_12"/>
          <p:cNvGrpSpPr/>
          <p:nvPr/>
        </p:nvGrpSpPr>
        <p:grpSpPr>
          <a:xfrm>
            <a:off x="1948675" y="4306875"/>
            <a:ext cx="3000000" cy="1311425"/>
            <a:chOff x="6587875" y="4306875"/>
            <a:chExt cx="3000000" cy="1311425"/>
          </a:xfrm>
        </p:grpSpPr>
        <p:sp>
          <p:nvSpPr>
            <p:cNvPr id="664" name="Google Shape;664;g230f3c2a219_1_12"/>
            <p:cNvSpPr txBox="1"/>
            <p:nvPr/>
          </p:nvSpPr>
          <p:spPr>
            <a:xfrm>
              <a:off x="6587875" y="4306875"/>
              <a:ext cx="3000000" cy="5727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1000"/>
                </a:spcBef>
                <a:spcAft>
                  <a:spcPts val="0"/>
                </a:spcAft>
                <a:buNone/>
              </a:pPr>
              <a:r>
                <a:rPr lang="en-US" sz="2800">
                  <a:solidFill>
                    <a:schemeClr val="dk1"/>
                  </a:solidFill>
                  <a:latin typeface="Calibri"/>
                  <a:ea typeface="Calibri"/>
                  <a:cs typeface="Calibri"/>
                  <a:sym typeface="Calibri"/>
                </a:rPr>
                <a:t> A(</a:t>
              </a:r>
              <a:r>
                <a:rPr i="1" lang="en-US" sz="2800">
                  <a:solidFill>
                    <a:schemeClr val="dk1"/>
                  </a:solidFill>
                  <a:latin typeface="Calibri"/>
                  <a:ea typeface="Calibri"/>
                  <a:cs typeface="Calibri"/>
                  <a:sym typeface="Calibri"/>
                </a:rPr>
                <a:t>i</a:t>
              </a:r>
              <a:r>
                <a:rPr lang="en-US" sz="2800">
                  <a:solidFill>
                    <a:schemeClr val="dk1"/>
                  </a:solidFill>
                  <a:latin typeface="Calibri"/>
                  <a:ea typeface="Calibri"/>
                  <a:cs typeface="Calibri"/>
                  <a:sym typeface="Calibri"/>
                </a:rPr>
                <a:t>) = B(</a:t>
              </a:r>
              <a:r>
                <a:rPr i="1" lang="en-US" sz="2800">
                  <a:solidFill>
                    <a:schemeClr val="dk1"/>
                  </a:solidFill>
                  <a:latin typeface="Calibri"/>
                  <a:ea typeface="Calibri"/>
                  <a:cs typeface="Calibri"/>
                  <a:sym typeface="Calibri"/>
                </a:rPr>
                <a:t>i</a:t>
              </a:r>
              <a:r>
                <a:rPr lang="en-US" sz="2800">
                  <a:solidFill>
                    <a:schemeClr val="dk1"/>
                  </a:solidFill>
                  <a:latin typeface="Calibri"/>
                  <a:ea typeface="Calibri"/>
                  <a:cs typeface="Calibri"/>
                  <a:sym typeface="Calibri"/>
                </a:rPr>
                <a:t>) + C(i)</a:t>
              </a:r>
              <a:endParaRPr/>
            </a:p>
          </p:txBody>
        </p:sp>
        <p:sp>
          <p:nvSpPr>
            <p:cNvPr id="665" name="Google Shape;665;g230f3c2a219_1_12"/>
            <p:cNvSpPr txBox="1"/>
            <p:nvPr/>
          </p:nvSpPr>
          <p:spPr>
            <a:xfrm>
              <a:off x="7503300" y="4768700"/>
              <a:ext cx="1710900" cy="849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1000"/>
                </a:spcBef>
                <a:spcAft>
                  <a:spcPts val="0"/>
                </a:spcAft>
                <a:buClr>
                  <a:schemeClr val="dk1"/>
                </a:buClr>
                <a:buSzPts val="1100"/>
                <a:buFont typeface="Arial"/>
                <a:buNone/>
              </a:pPr>
              <a:r>
                <a:rPr b="1" lang="en-US" sz="4800">
                  <a:solidFill>
                    <a:srgbClr val="6AA84F"/>
                  </a:solidFill>
                  <a:latin typeface="Calibri"/>
                  <a:ea typeface="Calibri"/>
                  <a:cs typeface="Calibri"/>
                  <a:sym typeface="Calibri"/>
                </a:rPr>
                <a:t>✔</a:t>
              </a:r>
              <a:endParaRPr b="1" sz="4800">
                <a:solidFill>
                  <a:srgbClr val="6AA84F"/>
                </a:solidFill>
                <a:latin typeface="Calibri"/>
                <a:ea typeface="Calibri"/>
                <a:cs typeface="Calibri"/>
                <a:sym typeface="Calibri"/>
              </a:endParaRPr>
            </a:p>
          </p:txBody>
        </p:sp>
      </p:grpSp>
      <p:grpSp>
        <p:nvGrpSpPr>
          <p:cNvPr id="666" name="Google Shape;666;g230f3c2a219_1_12"/>
          <p:cNvGrpSpPr/>
          <p:nvPr/>
        </p:nvGrpSpPr>
        <p:grpSpPr>
          <a:xfrm>
            <a:off x="5912600" y="4288425"/>
            <a:ext cx="4487100" cy="1348325"/>
            <a:chOff x="1185525" y="4306875"/>
            <a:chExt cx="4487100" cy="1348325"/>
          </a:xfrm>
        </p:grpSpPr>
        <p:sp>
          <p:nvSpPr>
            <p:cNvPr id="667" name="Google Shape;667;g230f3c2a219_1_12"/>
            <p:cNvSpPr txBox="1"/>
            <p:nvPr/>
          </p:nvSpPr>
          <p:spPr>
            <a:xfrm>
              <a:off x="1185525" y="4306875"/>
              <a:ext cx="4487100" cy="5727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1000"/>
                </a:spcBef>
                <a:spcAft>
                  <a:spcPts val="0"/>
                </a:spcAft>
                <a:buClr>
                  <a:schemeClr val="dk1"/>
                </a:buClr>
                <a:buSzPts val="1100"/>
                <a:buFont typeface="Arial"/>
                <a:buNone/>
              </a:pPr>
              <a:r>
                <a:rPr lang="en-US" sz="2800">
                  <a:solidFill>
                    <a:schemeClr val="dk1"/>
                  </a:solidFill>
                  <a:latin typeface="Calibri"/>
                  <a:ea typeface="Calibri"/>
                  <a:cs typeface="Calibri"/>
                  <a:sym typeface="Calibri"/>
                </a:rPr>
                <a:t> A(</a:t>
              </a:r>
              <a:r>
                <a:rPr i="1" lang="en-US" sz="2800">
                  <a:solidFill>
                    <a:schemeClr val="dk1"/>
                  </a:solidFill>
                  <a:latin typeface="Calibri"/>
                  <a:ea typeface="Calibri"/>
                  <a:cs typeface="Calibri"/>
                  <a:sym typeface="Calibri"/>
                </a:rPr>
                <a:t>i</a:t>
              </a:r>
              <a:r>
                <a:rPr lang="en-US" sz="2800">
                  <a:solidFill>
                    <a:schemeClr val="dk1"/>
                  </a:solidFill>
                  <a:latin typeface="Calibri"/>
                  <a:ea typeface="Calibri"/>
                  <a:cs typeface="Calibri"/>
                  <a:sym typeface="Calibri"/>
                </a:rPr>
                <a:t>) = A(</a:t>
              </a:r>
              <a:r>
                <a:rPr i="1" lang="en-US" sz="2800">
                  <a:solidFill>
                    <a:schemeClr val="dk1"/>
                  </a:solidFill>
                  <a:latin typeface="Calibri"/>
                  <a:ea typeface="Calibri"/>
                  <a:cs typeface="Calibri"/>
                  <a:sym typeface="Calibri"/>
                </a:rPr>
                <a:t>i</a:t>
              </a:r>
              <a:r>
                <a:rPr lang="en-US" sz="2800">
                  <a:solidFill>
                    <a:schemeClr val="dk1"/>
                  </a:solidFill>
                  <a:latin typeface="Calibri"/>
                  <a:ea typeface="Calibri"/>
                  <a:cs typeface="Calibri"/>
                  <a:sym typeface="Calibri"/>
                </a:rPr>
                <a:t>-1) + 1</a:t>
              </a:r>
              <a:endParaRPr>
                <a:latin typeface="Calibri"/>
                <a:ea typeface="Calibri"/>
                <a:cs typeface="Calibri"/>
                <a:sym typeface="Calibri"/>
              </a:endParaRPr>
            </a:p>
          </p:txBody>
        </p:sp>
        <p:sp>
          <p:nvSpPr>
            <p:cNvPr id="668" name="Google Shape;668;g230f3c2a219_1_12"/>
            <p:cNvSpPr txBox="1"/>
            <p:nvPr/>
          </p:nvSpPr>
          <p:spPr>
            <a:xfrm>
              <a:off x="3218950" y="4731800"/>
              <a:ext cx="11706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800">
                  <a:solidFill>
                    <a:srgbClr val="CC0000"/>
                  </a:solidFill>
                  <a:latin typeface="Calibri"/>
                  <a:ea typeface="Calibri"/>
                  <a:cs typeface="Calibri"/>
                  <a:sym typeface="Calibri"/>
                </a:rPr>
                <a:t>✘</a:t>
              </a:r>
              <a:endParaRPr sz="4800">
                <a:solidFill>
                  <a:srgbClr val="CC0000"/>
                </a:solidFill>
                <a:latin typeface="Calibri"/>
                <a:ea typeface="Calibri"/>
                <a:cs typeface="Calibri"/>
                <a:sym typeface="Calibri"/>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g230f3c2a219_1_2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Programming</a:t>
            </a:r>
            <a:r>
              <a:rPr lang="en-US"/>
              <a:t> Techniques for Parallelization</a:t>
            </a:r>
            <a:endParaRPr/>
          </a:p>
        </p:txBody>
      </p:sp>
      <p:sp>
        <p:nvSpPr>
          <p:cNvPr id="675" name="Google Shape;675;g230f3c2a219_1_28"/>
          <p:cNvSpPr txBox="1"/>
          <p:nvPr>
            <p:ph idx="1" type="body"/>
          </p:nvPr>
        </p:nvSpPr>
        <p:spPr>
          <a:xfrm>
            <a:off x="5710575" y="1866138"/>
            <a:ext cx="5181600" cy="31257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Distributed Memory:</a:t>
            </a:r>
            <a:endParaRPr/>
          </a:p>
          <a:p>
            <a:pPr indent="-342900" lvl="0" marL="457200" rtl="0" algn="l">
              <a:spcBef>
                <a:spcPts val="1000"/>
              </a:spcBef>
              <a:spcAft>
                <a:spcPts val="0"/>
              </a:spcAft>
              <a:buSzPts val="1800"/>
              <a:buChar char="•"/>
            </a:pPr>
            <a:r>
              <a:rPr lang="en-US"/>
              <a:t>Techniques:</a:t>
            </a:r>
            <a:endParaRPr/>
          </a:p>
          <a:p>
            <a:pPr indent="-342900" lvl="1" marL="914400" rtl="0" algn="l">
              <a:spcBef>
                <a:spcPts val="0"/>
              </a:spcBef>
              <a:spcAft>
                <a:spcPts val="0"/>
              </a:spcAft>
              <a:buSzPts val="1800"/>
              <a:buChar char="•"/>
            </a:pPr>
            <a:r>
              <a:rPr lang="en-US"/>
              <a:t>Message-Passing</a:t>
            </a:r>
            <a:endParaRPr/>
          </a:p>
          <a:p>
            <a:pPr indent="-342900" lvl="0" marL="457200" rtl="0" algn="l">
              <a:spcBef>
                <a:spcPts val="0"/>
              </a:spcBef>
              <a:spcAft>
                <a:spcPts val="0"/>
              </a:spcAft>
              <a:buSzPts val="1800"/>
              <a:buChar char="•"/>
            </a:pPr>
            <a:r>
              <a:rPr lang="en-US"/>
              <a:t>Message-passing examples:</a:t>
            </a:r>
            <a:endParaRPr/>
          </a:p>
          <a:p>
            <a:pPr indent="-342900" lvl="1" marL="914400" rtl="0" algn="l">
              <a:spcBef>
                <a:spcPts val="0"/>
              </a:spcBef>
              <a:spcAft>
                <a:spcPts val="0"/>
              </a:spcAft>
              <a:buSzPts val="1800"/>
              <a:buChar char="•"/>
            </a:pPr>
            <a:r>
              <a:rPr lang="en-US"/>
              <a:t>Message-Passing Interface (MPI)</a:t>
            </a:r>
            <a:endParaRPr/>
          </a:p>
          <a:p>
            <a:pPr indent="-342900" lvl="1" marL="914400" rtl="0" algn="l">
              <a:spcBef>
                <a:spcPts val="0"/>
              </a:spcBef>
              <a:spcAft>
                <a:spcPts val="0"/>
              </a:spcAft>
              <a:buSzPts val="1800"/>
              <a:buChar char="•"/>
            </a:pPr>
            <a:r>
              <a:rPr lang="en-US"/>
              <a:t>Parallel Virtual Machine (PVM)</a:t>
            </a:r>
            <a:endParaRPr/>
          </a:p>
        </p:txBody>
      </p:sp>
      <p:sp>
        <p:nvSpPr>
          <p:cNvPr id="676" name="Google Shape;676;g230f3c2a219_1_28"/>
          <p:cNvSpPr txBox="1"/>
          <p:nvPr>
            <p:ph idx="2" type="body"/>
          </p:nvPr>
        </p:nvSpPr>
        <p:spPr>
          <a:xfrm>
            <a:off x="940575" y="1811425"/>
            <a:ext cx="4770000" cy="29661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Shared Memory:</a:t>
            </a:r>
            <a:endParaRPr/>
          </a:p>
          <a:p>
            <a:pPr indent="-342900" lvl="0" marL="457200" rtl="0" algn="l">
              <a:spcBef>
                <a:spcPts val="1000"/>
              </a:spcBef>
              <a:spcAft>
                <a:spcPts val="0"/>
              </a:spcAft>
              <a:buSzPts val="1800"/>
              <a:buChar char="•"/>
            </a:pPr>
            <a:r>
              <a:rPr lang="en-US"/>
              <a:t>Techniques</a:t>
            </a:r>
            <a:endParaRPr/>
          </a:p>
          <a:p>
            <a:pPr indent="-342900" lvl="1" marL="914400" rtl="0" algn="l">
              <a:spcBef>
                <a:spcPts val="0"/>
              </a:spcBef>
              <a:spcAft>
                <a:spcPts val="0"/>
              </a:spcAft>
              <a:buSzPts val="1800"/>
              <a:buChar char="•"/>
            </a:pPr>
            <a:r>
              <a:rPr lang="en-US"/>
              <a:t>Threads</a:t>
            </a:r>
            <a:endParaRPr/>
          </a:p>
          <a:p>
            <a:pPr indent="-342900" lvl="1" marL="914400" rtl="0" algn="l">
              <a:spcBef>
                <a:spcPts val="0"/>
              </a:spcBef>
              <a:spcAft>
                <a:spcPts val="0"/>
              </a:spcAft>
              <a:buSzPts val="1800"/>
              <a:buChar char="•"/>
            </a:pPr>
            <a:r>
              <a:rPr lang="en-US"/>
              <a:t>Message-Passing</a:t>
            </a:r>
            <a:endParaRPr/>
          </a:p>
          <a:p>
            <a:pPr indent="-342900" lvl="0" marL="457200" rtl="0" algn="l">
              <a:spcBef>
                <a:spcPts val="0"/>
              </a:spcBef>
              <a:spcAft>
                <a:spcPts val="0"/>
              </a:spcAft>
              <a:buSzPts val="1800"/>
              <a:buChar char="•"/>
            </a:pPr>
            <a:r>
              <a:rPr lang="en-US"/>
              <a:t>Thread Examples</a:t>
            </a:r>
            <a:endParaRPr/>
          </a:p>
          <a:p>
            <a:pPr indent="-342900" lvl="1" marL="914400" rtl="0" algn="l">
              <a:spcBef>
                <a:spcPts val="0"/>
              </a:spcBef>
              <a:spcAft>
                <a:spcPts val="0"/>
              </a:spcAft>
              <a:buSzPts val="1800"/>
              <a:buChar char="•"/>
            </a:pPr>
            <a:r>
              <a:rPr lang="en-US"/>
              <a:t>OpenMP</a:t>
            </a:r>
            <a:endParaRPr/>
          </a:p>
        </p:txBody>
      </p:sp>
      <p:sp>
        <p:nvSpPr>
          <p:cNvPr id="677" name="Google Shape;677;g230f3c2a219_1_28"/>
          <p:cNvSpPr txBox="1"/>
          <p:nvPr/>
        </p:nvSpPr>
        <p:spPr>
          <a:xfrm>
            <a:off x="940575" y="4898100"/>
            <a:ext cx="105156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In reality, multiple parallelization techniques are used </a:t>
            </a:r>
            <a:r>
              <a:rPr lang="en-US" sz="2400">
                <a:latin typeface="Calibri"/>
                <a:ea typeface="Calibri"/>
                <a:cs typeface="Calibri"/>
                <a:sym typeface="Calibri"/>
              </a:rPr>
              <a:t>together for maximum performance: OpenMP within a node, MPI for internode communications, and CUDA or similar for using GPUs for vector processing. </a:t>
            </a:r>
            <a:endParaRPr sz="2400">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230f3c2a219_0_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Communications: scatter/gather example</a:t>
            </a:r>
            <a:endParaRPr/>
          </a:p>
        </p:txBody>
      </p:sp>
      <p:sp>
        <p:nvSpPr>
          <p:cNvPr id="684" name="Google Shape;684;g230f3c2a219_0_14"/>
          <p:cNvSpPr txBox="1"/>
          <p:nvPr>
            <p:ph idx="1" type="body"/>
          </p:nvPr>
        </p:nvSpPr>
        <p:spPr>
          <a:xfrm>
            <a:off x="838200" y="1825625"/>
            <a:ext cx="10515600" cy="6267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Sum the numbers 1 - 10, using 5 processes</a:t>
            </a:r>
            <a:endParaRPr/>
          </a:p>
        </p:txBody>
      </p:sp>
      <p:sp>
        <p:nvSpPr>
          <p:cNvPr id="685" name="Google Shape;685;g230f3c2a219_0_14"/>
          <p:cNvSpPr txBox="1"/>
          <p:nvPr/>
        </p:nvSpPr>
        <p:spPr>
          <a:xfrm>
            <a:off x="898250" y="2523625"/>
            <a:ext cx="269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Process 1:  1 + 6 = 7</a:t>
            </a:r>
            <a:endParaRPr sz="2400">
              <a:latin typeface="Calibri"/>
              <a:ea typeface="Calibri"/>
              <a:cs typeface="Calibri"/>
              <a:sym typeface="Calibri"/>
            </a:endParaRPr>
          </a:p>
        </p:txBody>
      </p:sp>
      <p:sp>
        <p:nvSpPr>
          <p:cNvPr id="686" name="Google Shape;686;g230f3c2a219_0_14"/>
          <p:cNvSpPr txBox="1"/>
          <p:nvPr/>
        </p:nvSpPr>
        <p:spPr>
          <a:xfrm>
            <a:off x="898250" y="4458250"/>
            <a:ext cx="2794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Process 1:  4 + 9 = 13</a:t>
            </a:r>
            <a:endParaRPr sz="2400">
              <a:latin typeface="Calibri"/>
              <a:ea typeface="Calibri"/>
              <a:cs typeface="Calibri"/>
              <a:sym typeface="Calibri"/>
            </a:endParaRPr>
          </a:p>
        </p:txBody>
      </p:sp>
      <p:sp>
        <p:nvSpPr>
          <p:cNvPr id="687" name="Google Shape;687;g230f3c2a219_0_14"/>
          <p:cNvSpPr txBox="1"/>
          <p:nvPr/>
        </p:nvSpPr>
        <p:spPr>
          <a:xfrm>
            <a:off x="898250" y="3797950"/>
            <a:ext cx="2794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Process 1:  3 + 8 = 11</a:t>
            </a:r>
            <a:endParaRPr sz="2400">
              <a:latin typeface="Calibri"/>
              <a:ea typeface="Calibri"/>
              <a:cs typeface="Calibri"/>
              <a:sym typeface="Calibri"/>
            </a:endParaRPr>
          </a:p>
        </p:txBody>
      </p:sp>
      <p:sp>
        <p:nvSpPr>
          <p:cNvPr id="688" name="Google Shape;688;g230f3c2a219_0_14"/>
          <p:cNvSpPr txBox="1"/>
          <p:nvPr/>
        </p:nvSpPr>
        <p:spPr>
          <a:xfrm>
            <a:off x="898250" y="3160800"/>
            <a:ext cx="2694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Process 1:  2 + 7 = 9</a:t>
            </a:r>
            <a:endParaRPr sz="2400">
              <a:latin typeface="Calibri"/>
              <a:ea typeface="Calibri"/>
              <a:cs typeface="Calibri"/>
              <a:sym typeface="Calibri"/>
            </a:endParaRPr>
          </a:p>
        </p:txBody>
      </p:sp>
      <p:sp>
        <p:nvSpPr>
          <p:cNvPr id="689" name="Google Shape;689;g230f3c2a219_0_14"/>
          <p:cNvSpPr txBox="1"/>
          <p:nvPr/>
        </p:nvSpPr>
        <p:spPr>
          <a:xfrm>
            <a:off x="898250" y="5072275"/>
            <a:ext cx="2922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Process 1:  5 + 10 = 15</a:t>
            </a:r>
            <a:endParaRPr sz="2400">
              <a:latin typeface="Calibri"/>
              <a:ea typeface="Calibri"/>
              <a:cs typeface="Calibri"/>
              <a:sym typeface="Calibri"/>
            </a:endParaRPr>
          </a:p>
        </p:txBody>
      </p:sp>
      <p:sp>
        <p:nvSpPr>
          <p:cNvPr id="690" name="Google Shape;690;g230f3c2a219_0_14"/>
          <p:cNvSpPr txBox="1"/>
          <p:nvPr/>
        </p:nvSpPr>
        <p:spPr>
          <a:xfrm>
            <a:off x="5475000" y="3714900"/>
            <a:ext cx="1476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Sum = 55</a:t>
            </a:r>
            <a:endParaRPr sz="2400">
              <a:latin typeface="Calibri"/>
              <a:ea typeface="Calibri"/>
              <a:cs typeface="Calibri"/>
              <a:sym typeface="Calibri"/>
            </a:endParaRPr>
          </a:p>
        </p:txBody>
      </p:sp>
      <p:sp>
        <p:nvSpPr>
          <p:cNvPr id="691" name="Google Shape;691;g230f3c2a219_0_14"/>
          <p:cNvSpPr txBox="1"/>
          <p:nvPr/>
        </p:nvSpPr>
        <p:spPr>
          <a:xfrm>
            <a:off x="8151025" y="2587125"/>
            <a:ext cx="2794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Process 1:  Sum = 55</a:t>
            </a:r>
            <a:endParaRPr sz="2400">
              <a:latin typeface="Calibri"/>
              <a:ea typeface="Calibri"/>
              <a:cs typeface="Calibri"/>
              <a:sym typeface="Calibri"/>
            </a:endParaRPr>
          </a:p>
        </p:txBody>
      </p:sp>
      <p:sp>
        <p:nvSpPr>
          <p:cNvPr id="692" name="Google Shape;692;g230f3c2a219_0_14"/>
          <p:cNvSpPr txBox="1"/>
          <p:nvPr/>
        </p:nvSpPr>
        <p:spPr>
          <a:xfrm>
            <a:off x="8151025" y="4521750"/>
            <a:ext cx="2794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Process 1:  Sum = 55</a:t>
            </a:r>
            <a:endParaRPr sz="2400">
              <a:latin typeface="Calibri"/>
              <a:ea typeface="Calibri"/>
              <a:cs typeface="Calibri"/>
              <a:sym typeface="Calibri"/>
            </a:endParaRPr>
          </a:p>
        </p:txBody>
      </p:sp>
      <p:sp>
        <p:nvSpPr>
          <p:cNvPr id="693" name="Google Shape;693;g230f3c2a219_0_14"/>
          <p:cNvSpPr txBox="1"/>
          <p:nvPr/>
        </p:nvSpPr>
        <p:spPr>
          <a:xfrm>
            <a:off x="8151025" y="3861450"/>
            <a:ext cx="2794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Process 1:  Sum = 55</a:t>
            </a:r>
            <a:endParaRPr sz="2400">
              <a:latin typeface="Calibri"/>
              <a:ea typeface="Calibri"/>
              <a:cs typeface="Calibri"/>
              <a:sym typeface="Calibri"/>
            </a:endParaRPr>
          </a:p>
        </p:txBody>
      </p:sp>
      <p:sp>
        <p:nvSpPr>
          <p:cNvPr id="694" name="Google Shape;694;g230f3c2a219_0_14"/>
          <p:cNvSpPr txBox="1"/>
          <p:nvPr/>
        </p:nvSpPr>
        <p:spPr>
          <a:xfrm>
            <a:off x="8151025" y="3224300"/>
            <a:ext cx="2794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Process 1:  Sum = 55</a:t>
            </a:r>
            <a:endParaRPr sz="2400">
              <a:latin typeface="Calibri"/>
              <a:ea typeface="Calibri"/>
              <a:cs typeface="Calibri"/>
              <a:sym typeface="Calibri"/>
            </a:endParaRPr>
          </a:p>
        </p:txBody>
      </p:sp>
      <p:sp>
        <p:nvSpPr>
          <p:cNvPr id="695" name="Google Shape;695;g230f3c2a219_0_14"/>
          <p:cNvSpPr txBox="1"/>
          <p:nvPr/>
        </p:nvSpPr>
        <p:spPr>
          <a:xfrm>
            <a:off x="8151025" y="5135775"/>
            <a:ext cx="2922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Process 1:  Sum = 55</a:t>
            </a:r>
            <a:endParaRPr sz="2400">
              <a:latin typeface="Calibri"/>
              <a:ea typeface="Calibri"/>
              <a:cs typeface="Calibri"/>
              <a:sym typeface="Calibri"/>
            </a:endParaRPr>
          </a:p>
        </p:txBody>
      </p:sp>
      <p:cxnSp>
        <p:nvCxnSpPr>
          <p:cNvPr id="696" name="Google Shape;696;g230f3c2a219_0_14"/>
          <p:cNvCxnSpPr>
            <a:stCxn id="685" idx="3"/>
            <a:endCxn id="690" idx="1"/>
          </p:cNvCxnSpPr>
          <p:nvPr/>
        </p:nvCxnSpPr>
        <p:spPr>
          <a:xfrm>
            <a:off x="3592850" y="2800675"/>
            <a:ext cx="1882200" cy="1191300"/>
          </a:xfrm>
          <a:prstGeom prst="straightConnector1">
            <a:avLst/>
          </a:prstGeom>
          <a:noFill/>
          <a:ln cap="flat" cmpd="sng" w="9525">
            <a:solidFill>
              <a:schemeClr val="dk2"/>
            </a:solidFill>
            <a:prstDash val="solid"/>
            <a:round/>
            <a:headEnd len="med" w="med" type="none"/>
            <a:tailEnd len="med" w="med" type="triangle"/>
          </a:ln>
        </p:spPr>
      </p:cxnSp>
      <p:cxnSp>
        <p:nvCxnSpPr>
          <p:cNvPr id="697" name="Google Shape;697;g230f3c2a219_0_14"/>
          <p:cNvCxnSpPr>
            <a:stCxn id="688" idx="3"/>
            <a:endCxn id="690" idx="1"/>
          </p:cNvCxnSpPr>
          <p:nvPr/>
        </p:nvCxnSpPr>
        <p:spPr>
          <a:xfrm>
            <a:off x="3592850" y="3437850"/>
            <a:ext cx="1882200" cy="554100"/>
          </a:xfrm>
          <a:prstGeom prst="straightConnector1">
            <a:avLst/>
          </a:prstGeom>
          <a:noFill/>
          <a:ln cap="flat" cmpd="sng" w="9525">
            <a:solidFill>
              <a:schemeClr val="dk2"/>
            </a:solidFill>
            <a:prstDash val="solid"/>
            <a:round/>
            <a:headEnd len="med" w="med" type="none"/>
            <a:tailEnd len="med" w="med" type="triangle"/>
          </a:ln>
        </p:spPr>
      </p:cxnSp>
      <p:cxnSp>
        <p:nvCxnSpPr>
          <p:cNvPr id="698" name="Google Shape;698;g230f3c2a219_0_14"/>
          <p:cNvCxnSpPr>
            <a:stCxn id="687" idx="3"/>
            <a:endCxn id="690" idx="1"/>
          </p:cNvCxnSpPr>
          <p:nvPr/>
        </p:nvCxnSpPr>
        <p:spPr>
          <a:xfrm flipH="1" rot="10800000">
            <a:off x="3692750" y="3991900"/>
            <a:ext cx="1782300" cy="83100"/>
          </a:xfrm>
          <a:prstGeom prst="straightConnector1">
            <a:avLst/>
          </a:prstGeom>
          <a:noFill/>
          <a:ln cap="flat" cmpd="sng" w="9525">
            <a:solidFill>
              <a:schemeClr val="dk2"/>
            </a:solidFill>
            <a:prstDash val="solid"/>
            <a:round/>
            <a:headEnd len="med" w="med" type="none"/>
            <a:tailEnd len="med" w="med" type="triangle"/>
          </a:ln>
        </p:spPr>
      </p:cxnSp>
      <p:cxnSp>
        <p:nvCxnSpPr>
          <p:cNvPr id="699" name="Google Shape;699;g230f3c2a219_0_14"/>
          <p:cNvCxnSpPr>
            <a:stCxn id="686" idx="3"/>
            <a:endCxn id="690" idx="1"/>
          </p:cNvCxnSpPr>
          <p:nvPr/>
        </p:nvCxnSpPr>
        <p:spPr>
          <a:xfrm flipH="1" rot="10800000">
            <a:off x="3692750" y="3991900"/>
            <a:ext cx="1782300" cy="743400"/>
          </a:xfrm>
          <a:prstGeom prst="straightConnector1">
            <a:avLst/>
          </a:prstGeom>
          <a:noFill/>
          <a:ln cap="flat" cmpd="sng" w="9525">
            <a:solidFill>
              <a:schemeClr val="dk2"/>
            </a:solidFill>
            <a:prstDash val="solid"/>
            <a:round/>
            <a:headEnd len="med" w="med" type="none"/>
            <a:tailEnd len="med" w="med" type="triangle"/>
          </a:ln>
        </p:spPr>
      </p:cxnSp>
      <p:cxnSp>
        <p:nvCxnSpPr>
          <p:cNvPr id="700" name="Google Shape;700;g230f3c2a219_0_14"/>
          <p:cNvCxnSpPr>
            <a:stCxn id="689" idx="3"/>
            <a:endCxn id="690" idx="1"/>
          </p:cNvCxnSpPr>
          <p:nvPr/>
        </p:nvCxnSpPr>
        <p:spPr>
          <a:xfrm flipH="1" rot="10800000">
            <a:off x="3821150" y="3991825"/>
            <a:ext cx="1653900" cy="1357500"/>
          </a:xfrm>
          <a:prstGeom prst="straightConnector1">
            <a:avLst/>
          </a:prstGeom>
          <a:noFill/>
          <a:ln cap="flat" cmpd="sng" w="9525">
            <a:solidFill>
              <a:schemeClr val="dk2"/>
            </a:solidFill>
            <a:prstDash val="solid"/>
            <a:round/>
            <a:headEnd len="med" w="med" type="none"/>
            <a:tailEnd len="med" w="med" type="triangle"/>
          </a:ln>
        </p:spPr>
      </p:cxnSp>
      <p:cxnSp>
        <p:nvCxnSpPr>
          <p:cNvPr id="701" name="Google Shape;701;g230f3c2a219_0_14"/>
          <p:cNvCxnSpPr>
            <a:stCxn id="690" idx="3"/>
            <a:endCxn id="691" idx="1"/>
          </p:cNvCxnSpPr>
          <p:nvPr/>
        </p:nvCxnSpPr>
        <p:spPr>
          <a:xfrm flipH="1" rot="10800000">
            <a:off x="6951300" y="2864250"/>
            <a:ext cx="1199700" cy="1127700"/>
          </a:xfrm>
          <a:prstGeom prst="straightConnector1">
            <a:avLst/>
          </a:prstGeom>
          <a:noFill/>
          <a:ln cap="flat" cmpd="sng" w="9525">
            <a:solidFill>
              <a:schemeClr val="dk2"/>
            </a:solidFill>
            <a:prstDash val="solid"/>
            <a:round/>
            <a:headEnd len="med" w="med" type="none"/>
            <a:tailEnd len="med" w="med" type="triangle"/>
          </a:ln>
        </p:spPr>
      </p:cxnSp>
      <p:cxnSp>
        <p:nvCxnSpPr>
          <p:cNvPr id="702" name="Google Shape;702;g230f3c2a219_0_14"/>
          <p:cNvCxnSpPr>
            <a:stCxn id="690" idx="3"/>
            <a:endCxn id="694" idx="1"/>
          </p:cNvCxnSpPr>
          <p:nvPr/>
        </p:nvCxnSpPr>
        <p:spPr>
          <a:xfrm flipH="1" rot="10800000">
            <a:off x="6951300" y="3501450"/>
            <a:ext cx="1199700" cy="490500"/>
          </a:xfrm>
          <a:prstGeom prst="straightConnector1">
            <a:avLst/>
          </a:prstGeom>
          <a:noFill/>
          <a:ln cap="flat" cmpd="sng" w="9525">
            <a:solidFill>
              <a:schemeClr val="dk2"/>
            </a:solidFill>
            <a:prstDash val="solid"/>
            <a:round/>
            <a:headEnd len="med" w="med" type="none"/>
            <a:tailEnd len="med" w="med" type="triangle"/>
          </a:ln>
        </p:spPr>
      </p:cxnSp>
      <p:cxnSp>
        <p:nvCxnSpPr>
          <p:cNvPr id="703" name="Google Shape;703;g230f3c2a219_0_14"/>
          <p:cNvCxnSpPr>
            <a:endCxn id="693" idx="1"/>
          </p:cNvCxnSpPr>
          <p:nvPr/>
        </p:nvCxnSpPr>
        <p:spPr>
          <a:xfrm>
            <a:off x="6951325" y="3991800"/>
            <a:ext cx="1199700" cy="146700"/>
          </a:xfrm>
          <a:prstGeom prst="straightConnector1">
            <a:avLst/>
          </a:prstGeom>
          <a:noFill/>
          <a:ln cap="flat" cmpd="sng" w="9525">
            <a:solidFill>
              <a:schemeClr val="dk2"/>
            </a:solidFill>
            <a:prstDash val="solid"/>
            <a:round/>
            <a:headEnd len="med" w="med" type="none"/>
            <a:tailEnd len="med" w="med" type="triangle"/>
          </a:ln>
        </p:spPr>
      </p:cxnSp>
      <p:cxnSp>
        <p:nvCxnSpPr>
          <p:cNvPr id="704" name="Google Shape;704;g230f3c2a219_0_14"/>
          <p:cNvCxnSpPr>
            <a:stCxn id="690" idx="3"/>
            <a:endCxn id="692" idx="1"/>
          </p:cNvCxnSpPr>
          <p:nvPr/>
        </p:nvCxnSpPr>
        <p:spPr>
          <a:xfrm>
            <a:off x="6951300" y="3991950"/>
            <a:ext cx="1199700" cy="807000"/>
          </a:xfrm>
          <a:prstGeom prst="straightConnector1">
            <a:avLst/>
          </a:prstGeom>
          <a:noFill/>
          <a:ln cap="flat" cmpd="sng" w="9525">
            <a:solidFill>
              <a:schemeClr val="dk2"/>
            </a:solidFill>
            <a:prstDash val="solid"/>
            <a:round/>
            <a:headEnd len="med" w="med" type="none"/>
            <a:tailEnd len="med" w="med" type="triangle"/>
          </a:ln>
        </p:spPr>
      </p:cxnSp>
      <p:cxnSp>
        <p:nvCxnSpPr>
          <p:cNvPr id="705" name="Google Shape;705;g230f3c2a219_0_14"/>
          <p:cNvCxnSpPr>
            <a:stCxn id="690" idx="3"/>
            <a:endCxn id="695" idx="1"/>
          </p:cNvCxnSpPr>
          <p:nvPr/>
        </p:nvCxnSpPr>
        <p:spPr>
          <a:xfrm>
            <a:off x="6951300" y="3991950"/>
            <a:ext cx="1199700" cy="1420800"/>
          </a:xfrm>
          <a:prstGeom prst="straightConnector1">
            <a:avLst/>
          </a:prstGeom>
          <a:noFill/>
          <a:ln cap="flat" cmpd="sng" w="9525">
            <a:solidFill>
              <a:schemeClr val="dk2"/>
            </a:solidFill>
            <a:prstDash val="solid"/>
            <a:round/>
            <a:headEnd len="med" w="med" type="none"/>
            <a:tailEnd len="med" w="med" type="triangle"/>
          </a:ln>
        </p:spPr>
      </p:cxnSp>
      <p:sp>
        <p:nvSpPr>
          <p:cNvPr id="706" name="Google Shape;706;g230f3c2a219_0_14"/>
          <p:cNvSpPr txBox="1"/>
          <p:nvPr/>
        </p:nvSpPr>
        <p:spPr>
          <a:xfrm>
            <a:off x="3635750" y="5831450"/>
            <a:ext cx="1882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800">
                <a:latin typeface="Calibri"/>
                <a:ea typeface="Calibri"/>
                <a:cs typeface="Calibri"/>
                <a:sym typeface="Calibri"/>
              </a:rPr>
              <a:t>Gather Operation</a:t>
            </a:r>
            <a:endParaRPr sz="1800">
              <a:latin typeface="Calibri"/>
              <a:ea typeface="Calibri"/>
              <a:cs typeface="Calibri"/>
              <a:sym typeface="Calibri"/>
            </a:endParaRPr>
          </a:p>
        </p:txBody>
      </p:sp>
      <p:sp>
        <p:nvSpPr>
          <p:cNvPr id="707" name="Google Shape;707;g230f3c2a219_0_14"/>
          <p:cNvSpPr txBox="1"/>
          <p:nvPr/>
        </p:nvSpPr>
        <p:spPr>
          <a:xfrm>
            <a:off x="6553000" y="5819200"/>
            <a:ext cx="1882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800">
                <a:latin typeface="Calibri"/>
                <a:ea typeface="Calibri"/>
                <a:cs typeface="Calibri"/>
                <a:sym typeface="Calibri"/>
              </a:rPr>
              <a:t>Scatter</a:t>
            </a:r>
            <a:r>
              <a:rPr lang="en-US" sz="1800">
                <a:latin typeface="Calibri"/>
                <a:ea typeface="Calibri"/>
                <a:cs typeface="Calibri"/>
                <a:sym typeface="Calibri"/>
              </a:rPr>
              <a:t> Operation</a:t>
            </a:r>
            <a:endParaRPr sz="1800">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230f3c2a219_0_4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Communications: scatter/gather example</a:t>
            </a:r>
            <a:endParaRPr/>
          </a:p>
        </p:txBody>
      </p:sp>
      <p:sp>
        <p:nvSpPr>
          <p:cNvPr id="714" name="Google Shape;714;g230f3c2a219_0_48"/>
          <p:cNvSpPr txBox="1"/>
          <p:nvPr>
            <p:ph idx="1" type="body"/>
          </p:nvPr>
        </p:nvSpPr>
        <p:spPr>
          <a:xfrm>
            <a:off x="755675" y="1793875"/>
            <a:ext cx="10515600" cy="6267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Sum the numbers 1 - 10, using 5 processes</a:t>
            </a:r>
            <a:endParaRPr/>
          </a:p>
        </p:txBody>
      </p:sp>
      <p:sp>
        <p:nvSpPr>
          <p:cNvPr id="715" name="Google Shape;715;g230f3c2a219_0_48"/>
          <p:cNvSpPr txBox="1"/>
          <p:nvPr/>
        </p:nvSpPr>
        <p:spPr>
          <a:xfrm>
            <a:off x="898250" y="2523625"/>
            <a:ext cx="1476300" cy="369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Process 1:  1 + 6 = 7</a:t>
            </a:r>
            <a:endParaRPr sz="1200">
              <a:latin typeface="Calibri"/>
              <a:ea typeface="Calibri"/>
              <a:cs typeface="Calibri"/>
              <a:sym typeface="Calibri"/>
            </a:endParaRPr>
          </a:p>
        </p:txBody>
      </p:sp>
      <p:sp>
        <p:nvSpPr>
          <p:cNvPr id="716" name="Google Shape;716;g230f3c2a219_0_48"/>
          <p:cNvSpPr txBox="1"/>
          <p:nvPr/>
        </p:nvSpPr>
        <p:spPr>
          <a:xfrm>
            <a:off x="898250" y="4458250"/>
            <a:ext cx="1476300" cy="36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Process 4:  4 + 9 = 13</a:t>
            </a:r>
            <a:endParaRPr sz="1200">
              <a:latin typeface="Calibri"/>
              <a:ea typeface="Calibri"/>
              <a:cs typeface="Calibri"/>
              <a:sym typeface="Calibri"/>
            </a:endParaRPr>
          </a:p>
        </p:txBody>
      </p:sp>
      <p:sp>
        <p:nvSpPr>
          <p:cNvPr id="717" name="Google Shape;717;g230f3c2a219_0_48"/>
          <p:cNvSpPr txBox="1"/>
          <p:nvPr/>
        </p:nvSpPr>
        <p:spPr>
          <a:xfrm>
            <a:off x="898250" y="3797950"/>
            <a:ext cx="1476300" cy="36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Process 3:  3 + 8 = 11</a:t>
            </a:r>
            <a:endParaRPr sz="1200">
              <a:latin typeface="Calibri"/>
              <a:ea typeface="Calibri"/>
              <a:cs typeface="Calibri"/>
              <a:sym typeface="Calibri"/>
            </a:endParaRPr>
          </a:p>
        </p:txBody>
      </p:sp>
      <p:sp>
        <p:nvSpPr>
          <p:cNvPr id="718" name="Google Shape;718;g230f3c2a219_0_48"/>
          <p:cNvSpPr txBox="1"/>
          <p:nvPr/>
        </p:nvSpPr>
        <p:spPr>
          <a:xfrm>
            <a:off x="898250" y="3160800"/>
            <a:ext cx="1476300" cy="369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Process 2:  2 + 7 = 9</a:t>
            </a:r>
            <a:endParaRPr sz="1200">
              <a:latin typeface="Calibri"/>
              <a:ea typeface="Calibri"/>
              <a:cs typeface="Calibri"/>
              <a:sym typeface="Calibri"/>
            </a:endParaRPr>
          </a:p>
        </p:txBody>
      </p:sp>
      <p:sp>
        <p:nvSpPr>
          <p:cNvPr id="719" name="Google Shape;719;g230f3c2a219_0_48"/>
          <p:cNvSpPr txBox="1"/>
          <p:nvPr/>
        </p:nvSpPr>
        <p:spPr>
          <a:xfrm>
            <a:off x="898250" y="5072275"/>
            <a:ext cx="1582500" cy="36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Process 5:  5 + 10 = 15</a:t>
            </a:r>
            <a:endParaRPr sz="1200">
              <a:latin typeface="Calibri"/>
              <a:ea typeface="Calibri"/>
              <a:cs typeface="Calibri"/>
              <a:sym typeface="Calibri"/>
            </a:endParaRPr>
          </a:p>
        </p:txBody>
      </p:sp>
      <p:sp>
        <p:nvSpPr>
          <p:cNvPr id="720" name="Google Shape;720;g230f3c2a219_0_48"/>
          <p:cNvSpPr txBox="1"/>
          <p:nvPr/>
        </p:nvSpPr>
        <p:spPr>
          <a:xfrm>
            <a:off x="3635750" y="5831450"/>
            <a:ext cx="1882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800">
                <a:latin typeface="Calibri"/>
                <a:ea typeface="Calibri"/>
                <a:cs typeface="Calibri"/>
                <a:sym typeface="Calibri"/>
              </a:rPr>
              <a:t>Gather Operation</a:t>
            </a:r>
            <a:endParaRPr sz="1800">
              <a:latin typeface="Calibri"/>
              <a:ea typeface="Calibri"/>
              <a:cs typeface="Calibri"/>
              <a:sym typeface="Calibri"/>
            </a:endParaRPr>
          </a:p>
        </p:txBody>
      </p:sp>
      <p:sp>
        <p:nvSpPr>
          <p:cNvPr id="721" name="Google Shape;721;g230f3c2a219_0_48"/>
          <p:cNvSpPr txBox="1"/>
          <p:nvPr/>
        </p:nvSpPr>
        <p:spPr>
          <a:xfrm>
            <a:off x="6553000" y="5819200"/>
            <a:ext cx="1882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800">
                <a:latin typeface="Calibri"/>
                <a:ea typeface="Calibri"/>
                <a:cs typeface="Calibri"/>
                <a:sym typeface="Calibri"/>
              </a:rPr>
              <a:t>Scatter Operation</a:t>
            </a:r>
            <a:endParaRPr sz="1800">
              <a:latin typeface="Calibri"/>
              <a:ea typeface="Calibri"/>
              <a:cs typeface="Calibri"/>
              <a:sym typeface="Calibri"/>
            </a:endParaRPr>
          </a:p>
        </p:txBody>
      </p:sp>
      <p:sp>
        <p:nvSpPr>
          <p:cNvPr id="722" name="Google Shape;722;g230f3c2a219_0_48"/>
          <p:cNvSpPr txBox="1"/>
          <p:nvPr/>
        </p:nvSpPr>
        <p:spPr>
          <a:xfrm>
            <a:off x="3192875" y="2864250"/>
            <a:ext cx="1058100" cy="554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Process 2:</a:t>
            </a:r>
            <a:br>
              <a:rPr lang="en-US" sz="1200">
                <a:latin typeface="Calibri"/>
                <a:ea typeface="Calibri"/>
                <a:cs typeface="Calibri"/>
                <a:sym typeface="Calibri"/>
              </a:rPr>
            </a:br>
            <a:r>
              <a:rPr lang="en-US" sz="1200">
                <a:latin typeface="Calibri"/>
                <a:ea typeface="Calibri"/>
                <a:cs typeface="Calibri"/>
                <a:sym typeface="Calibri"/>
              </a:rPr>
              <a:t> 7 + 9  = 16</a:t>
            </a:r>
            <a:endParaRPr sz="1200">
              <a:latin typeface="Calibri"/>
              <a:ea typeface="Calibri"/>
              <a:cs typeface="Calibri"/>
              <a:sym typeface="Calibri"/>
            </a:endParaRPr>
          </a:p>
        </p:txBody>
      </p:sp>
      <p:sp>
        <p:nvSpPr>
          <p:cNvPr id="723" name="Google Shape;723;g230f3c2a219_0_48"/>
          <p:cNvSpPr txBox="1"/>
          <p:nvPr/>
        </p:nvSpPr>
        <p:spPr>
          <a:xfrm>
            <a:off x="3192875" y="4195350"/>
            <a:ext cx="963900" cy="554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Process</a:t>
            </a:r>
            <a:r>
              <a:rPr lang="en-US" sz="1200">
                <a:latin typeface="Calibri"/>
                <a:ea typeface="Calibri"/>
                <a:cs typeface="Calibri"/>
                <a:sym typeface="Calibri"/>
              </a:rPr>
              <a:t> 3: 11 + 13 = 24</a:t>
            </a:r>
            <a:endParaRPr sz="1200">
              <a:latin typeface="Calibri"/>
              <a:ea typeface="Calibri"/>
              <a:cs typeface="Calibri"/>
              <a:sym typeface="Calibri"/>
            </a:endParaRPr>
          </a:p>
        </p:txBody>
      </p:sp>
      <p:cxnSp>
        <p:nvCxnSpPr>
          <p:cNvPr id="724" name="Google Shape;724;g230f3c2a219_0_48"/>
          <p:cNvCxnSpPr>
            <a:stCxn id="715" idx="3"/>
            <a:endCxn id="722" idx="1"/>
          </p:cNvCxnSpPr>
          <p:nvPr/>
        </p:nvCxnSpPr>
        <p:spPr>
          <a:xfrm>
            <a:off x="2374550" y="2708275"/>
            <a:ext cx="818400" cy="432900"/>
          </a:xfrm>
          <a:prstGeom prst="bentConnector3">
            <a:avLst>
              <a:gd fmla="val 49995" name="adj1"/>
            </a:avLst>
          </a:prstGeom>
          <a:noFill/>
          <a:ln cap="flat" cmpd="sng" w="9525">
            <a:solidFill>
              <a:schemeClr val="dk2"/>
            </a:solidFill>
            <a:prstDash val="solid"/>
            <a:round/>
            <a:headEnd len="med" w="med" type="none"/>
            <a:tailEnd len="med" w="med" type="none"/>
          </a:ln>
        </p:spPr>
      </p:cxnSp>
      <p:cxnSp>
        <p:nvCxnSpPr>
          <p:cNvPr id="725" name="Google Shape;725;g230f3c2a219_0_48"/>
          <p:cNvCxnSpPr>
            <a:stCxn id="718" idx="3"/>
            <a:endCxn id="722" idx="1"/>
          </p:cNvCxnSpPr>
          <p:nvPr/>
        </p:nvCxnSpPr>
        <p:spPr>
          <a:xfrm flipH="1" rot="10800000">
            <a:off x="2374550" y="3141450"/>
            <a:ext cx="818400" cy="204000"/>
          </a:xfrm>
          <a:prstGeom prst="bentConnector3">
            <a:avLst>
              <a:gd fmla="val 49995" name="adj1"/>
            </a:avLst>
          </a:prstGeom>
          <a:noFill/>
          <a:ln cap="flat" cmpd="sng" w="9525">
            <a:solidFill>
              <a:schemeClr val="dk2"/>
            </a:solidFill>
            <a:prstDash val="solid"/>
            <a:round/>
            <a:headEnd len="med" w="med" type="none"/>
            <a:tailEnd len="med" w="med" type="triangle"/>
          </a:ln>
        </p:spPr>
      </p:cxnSp>
      <p:cxnSp>
        <p:nvCxnSpPr>
          <p:cNvPr id="726" name="Google Shape;726;g230f3c2a219_0_48"/>
          <p:cNvCxnSpPr>
            <a:endCxn id="723" idx="1"/>
          </p:cNvCxnSpPr>
          <p:nvPr/>
        </p:nvCxnSpPr>
        <p:spPr>
          <a:xfrm>
            <a:off x="2374475" y="4059600"/>
            <a:ext cx="818400" cy="412800"/>
          </a:xfrm>
          <a:prstGeom prst="bentConnector3">
            <a:avLst>
              <a:gd fmla="val 50000" name="adj1"/>
            </a:avLst>
          </a:prstGeom>
          <a:noFill/>
          <a:ln cap="flat" cmpd="sng" w="9525">
            <a:solidFill>
              <a:schemeClr val="dk2"/>
            </a:solidFill>
            <a:prstDash val="solid"/>
            <a:round/>
            <a:headEnd len="med" w="med" type="none"/>
            <a:tailEnd len="med" w="med" type="none"/>
          </a:ln>
        </p:spPr>
      </p:cxnSp>
      <p:cxnSp>
        <p:nvCxnSpPr>
          <p:cNvPr id="727" name="Google Shape;727;g230f3c2a219_0_48"/>
          <p:cNvCxnSpPr>
            <a:endCxn id="723" idx="1"/>
          </p:cNvCxnSpPr>
          <p:nvPr/>
        </p:nvCxnSpPr>
        <p:spPr>
          <a:xfrm flipH="1" rot="10800000">
            <a:off x="2374475" y="4472400"/>
            <a:ext cx="818400" cy="247500"/>
          </a:xfrm>
          <a:prstGeom prst="bentConnector3">
            <a:avLst>
              <a:gd fmla="val 50000" name="adj1"/>
            </a:avLst>
          </a:prstGeom>
          <a:noFill/>
          <a:ln cap="flat" cmpd="sng" w="9525">
            <a:solidFill>
              <a:schemeClr val="dk2"/>
            </a:solidFill>
            <a:prstDash val="solid"/>
            <a:round/>
            <a:headEnd len="med" w="med" type="none"/>
            <a:tailEnd len="med" w="med" type="triangle"/>
          </a:ln>
        </p:spPr>
      </p:cxnSp>
      <p:sp>
        <p:nvSpPr>
          <p:cNvPr id="728" name="Google Shape;728;g230f3c2a219_0_48"/>
          <p:cNvSpPr txBox="1"/>
          <p:nvPr/>
        </p:nvSpPr>
        <p:spPr>
          <a:xfrm>
            <a:off x="4656775" y="3484075"/>
            <a:ext cx="963900" cy="554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Process 3:</a:t>
            </a:r>
            <a:br>
              <a:rPr lang="en-US" sz="1200">
                <a:latin typeface="Calibri"/>
                <a:ea typeface="Calibri"/>
                <a:cs typeface="Calibri"/>
                <a:sym typeface="Calibri"/>
              </a:rPr>
            </a:br>
            <a:r>
              <a:rPr lang="en-US" sz="1200">
                <a:latin typeface="Calibri"/>
                <a:ea typeface="Calibri"/>
                <a:cs typeface="Calibri"/>
                <a:sym typeface="Calibri"/>
              </a:rPr>
              <a:t>16 + 24 = 40</a:t>
            </a:r>
            <a:endParaRPr sz="1200">
              <a:latin typeface="Calibri"/>
              <a:ea typeface="Calibri"/>
              <a:cs typeface="Calibri"/>
              <a:sym typeface="Calibri"/>
            </a:endParaRPr>
          </a:p>
        </p:txBody>
      </p:sp>
      <p:cxnSp>
        <p:nvCxnSpPr>
          <p:cNvPr id="729" name="Google Shape;729;g230f3c2a219_0_48"/>
          <p:cNvCxnSpPr>
            <a:stCxn id="722" idx="3"/>
            <a:endCxn id="728" idx="1"/>
          </p:cNvCxnSpPr>
          <p:nvPr/>
        </p:nvCxnSpPr>
        <p:spPr>
          <a:xfrm>
            <a:off x="4250975" y="3141300"/>
            <a:ext cx="405900" cy="619800"/>
          </a:xfrm>
          <a:prstGeom prst="bentConnector3">
            <a:avLst>
              <a:gd fmla="val 49988" name="adj1"/>
            </a:avLst>
          </a:prstGeom>
          <a:noFill/>
          <a:ln cap="flat" cmpd="sng" w="9525">
            <a:solidFill>
              <a:schemeClr val="dk2"/>
            </a:solidFill>
            <a:prstDash val="solid"/>
            <a:round/>
            <a:headEnd len="med" w="med" type="none"/>
            <a:tailEnd len="med" w="med" type="triangle"/>
          </a:ln>
        </p:spPr>
      </p:cxnSp>
      <p:cxnSp>
        <p:nvCxnSpPr>
          <p:cNvPr id="730" name="Google Shape;730;g230f3c2a219_0_48"/>
          <p:cNvCxnSpPr>
            <a:stCxn id="723" idx="3"/>
            <a:endCxn id="728" idx="1"/>
          </p:cNvCxnSpPr>
          <p:nvPr/>
        </p:nvCxnSpPr>
        <p:spPr>
          <a:xfrm flipH="1" rot="10800000">
            <a:off x="4156775" y="3761100"/>
            <a:ext cx="500100" cy="711300"/>
          </a:xfrm>
          <a:prstGeom prst="bentConnector3">
            <a:avLst>
              <a:gd fmla="val 49990" name="adj1"/>
            </a:avLst>
          </a:prstGeom>
          <a:noFill/>
          <a:ln cap="flat" cmpd="sng" w="9525">
            <a:solidFill>
              <a:schemeClr val="dk2"/>
            </a:solidFill>
            <a:prstDash val="solid"/>
            <a:round/>
            <a:headEnd len="med" w="med" type="none"/>
            <a:tailEnd len="med" w="med" type="none"/>
          </a:ln>
        </p:spPr>
      </p:cxnSp>
      <p:sp>
        <p:nvSpPr>
          <p:cNvPr id="731" name="Google Shape;731;g230f3c2a219_0_48"/>
          <p:cNvSpPr txBox="1"/>
          <p:nvPr/>
        </p:nvSpPr>
        <p:spPr>
          <a:xfrm>
            <a:off x="6212888" y="3477950"/>
            <a:ext cx="963900" cy="554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Process 3:</a:t>
            </a:r>
            <a:br>
              <a:rPr lang="en-US" sz="1200">
                <a:latin typeface="Calibri"/>
                <a:ea typeface="Calibri"/>
                <a:cs typeface="Calibri"/>
                <a:sym typeface="Calibri"/>
              </a:rPr>
            </a:br>
            <a:r>
              <a:rPr lang="en-US" sz="1200">
                <a:latin typeface="Calibri"/>
                <a:ea typeface="Calibri"/>
                <a:cs typeface="Calibri"/>
                <a:sym typeface="Calibri"/>
              </a:rPr>
              <a:t>40 + 15 </a:t>
            </a:r>
            <a:r>
              <a:rPr lang="en-US" sz="1200">
                <a:latin typeface="Calibri"/>
                <a:ea typeface="Calibri"/>
                <a:cs typeface="Calibri"/>
                <a:sym typeface="Calibri"/>
              </a:rPr>
              <a:t>= 55</a:t>
            </a:r>
            <a:endParaRPr sz="1200">
              <a:latin typeface="Calibri"/>
              <a:ea typeface="Calibri"/>
              <a:cs typeface="Calibri"/>
              <a:sym typeface="Calibri"/>
            </a:endParaRPr>
          </a:p>
        </p:txBody>
      </p:sp>
      <p:cxnSp>
        <p:nvCxnSpPr>
          <p:cNvPr id="732" name="Google Shape;732;g230f3c2a219_0_48"/>
          <p:cNvCxnSpPr>
            <a:endCxn id="731" idx="1"/>
          </p:cNvCxnSpPr>
          <p:nvPr/>
        </p:nvCxnSpPr>
        <p:spPr>
          <a:xfrm flipH="1" rot="10800000">
            <a:off x="2480888" y="3755000"/>
            <a:ext cx="3732000" cy="1482000"/>
          </a:xfrm>
          <a:prstGeom prst="bentConnector3">
            <a:avLst>
              <a:gd fmla="val 90100" name="adj1"/>
            </a:avLst>
          </a:prstGeom>
          <a:noFill/>
          <a:ln cap="flat" cmpd="sng" w="9525">
            <a:solidFill>
              <a:schemeClr val="dk2"/>
            </a:solidFill>
            <a:prstDash val="solid"/>
            <a:round/>
            <a:headEnd len="med" w="med" type="none"/>
            <a:tailEnd len="med" w="med" type="triangle"/>
          </a:ln>
        </p:spPr>
      </p:cxnSp>
      <p:cxnSp>
        <p:nvCxnSpPr>
          <p:cNvPr id="733" name="Google Shape;733;g230f3c2a219_0_48"/>
          <p:cNvCxnSpPr>
            <a:stCxn id="728" idx="3"/>
            <a:endCxn id="731" idx="1"/>
          </p:cNvCxnSpPr>
          <p:nvPr/>
        </p:nvCxnSpPr>
        <p:spPr>
          <a:xfrm flipH="1" rot="10800000">
            <a:off x="5620675" y="3755125"/>
            <a:ext cx="592200" cy="6000"/>
          </a:xfrm>
          <a:prstGeom prst="bentConnector3">
            <a:avLst>
              <a:gd fmla="val 50001" name="adj1"/>
            </a:avLst>
          </a:prstGeom>
          <a:noFill/>
          <a:ln cap="flat" cmpd="sng" w="9525">
            <a:solidFill>
              <a:schemeClr val="dk2"/>
            </a:solidFill>
            <a:prstDash val="solid"/>
            <a:round/>
            <a:headEnd len="med" w="med" type="none"/>
            <a:tailEnd len="med" w="med" type="none"/>
          </a:ln>
        </p:spPr>
      </p:cxnSp>
      <p:sp>
        <p:nvSpPr>
          <p:cNvPr id="734" name="Google Shape;734;g230f3c2a219_0_48"/>
          <p:cNvSpPr txBox="1"/>
          <p:nvPr/>
        </p:nvSpPr>
        <p:spPr>
          <a:xfrm>
            <a:off x="7769000" y="3160800"/>
            <a:ext cx="963900" cy="36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Process 2</a:t>
            </a:r>
            <a:endParaRPr sz="1200">
              <a:latin typeface="Calibri"/>
              <a:ea typeface="Calibri"/>
              <a:cs typeface="Calibri"/>
              <a:sym typeface="Calibri"/>
            </a:endParaRPr>
          </a:p>
        </p:txBody>
      </p:sp>
      <p:sp>
        <p:nvSpPr>
          <p:cNvPr id="735" name="Google Shape;735;g230f3c2a219_0_48"/>
          <p:cNvSpPr txBox="1"/>
          <p:nvPr/>
        </p:nvSpPr>
        <p:spPr>
          <a:xfrm>
            <a:off x="7769000" y="4627500"/>
            <a:ext cx="963900" cy="36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process 4</a:t>
            </a:r>
            <a:endParaRPr sz="1200">
              <a:latin typeface="Calibri"/>
              <a:ea typeface="Calibri"/>
              <a:cs typeface="Calibri"/>
              <a:sym typeface="Calibri"/>
            </a:endParaRPr>
          </a:p>
        </p:txBody>
      </p:sp>
      <p:cxnSp>
        <p:nvCxnSpPr>
          <p:cNvPr id="736" name="Google Shape;736;g230f3c2a219_0_48"/>
          <p:cNvCxnSpPr>
            <a:stCxn id="731" idx="3"/>
            <a:endCxn id="734" idx="1"/>
          </p:cNvCxnSpPr>
          <p:nvPr/>
        </p:nvCxnSpPr>
        <p:spPr>
          <a:xfrm flipH="1" rot="10800000">
            <a:off x="7176788" y="3345500"/>
            <a:ext cx="592200" cy="409500"/>
          </a:xfrm>
          <a:prstGeom prst="bentConnector3">
            <a:avLst>
              <a:gd fmla="val 50001" name="adj1"/>
            </a:avLst>
          </a:prstGeom>
          <a:noFill/>
          <a:ln cap="flat" cmpd="sng" w="9525">
            <a:solidFill>
              <a:schemeClr val="dk2"/>
            </a:solidFill>
            <a:prstDash val="solid"/>
            <a:round/>
            <a:headEnd len="med" w="med" type="none"/>
            <a:tailEnd len="med" w="med" type="stealth"/>
          </a:ln>
        </p:spPr>
      </p:cxnSp>
      <p:cxnSp>
        <p:nvCxnSpPr>
          <p:cNvPr id="737" name="Google Shape;737;g230f3c2a219_0_48"/>
          <p:cNvCxnSpPr>
            <a:stCxn id="731" idx="3"/>
            <a:endCxn id="735" idx="1"/>
          </p:cNvCxnSpPr>
          <p:nvPr/>
        </p:nvCxnSpPr>
        <p:spPr>
          <a:xfrm>
            <a:off x="7176788" y="3755000"/>
            <a:ext cx="592200" cy="1057200"/>
          </a:xfrm>
          <a:prstGeom prst="bentConnector3">
            <a:avLst>
              <a:gd fmla="val 50001" name="adj1"/>
            </a:avLst>
          </a:prstGeom>
          <a:noFill/>
          <a:ln cap="flat" cmpd="sng" w="9525">
            <a:solidFill>
              <a:schemeClr val="dk2"/>
            </a:solidFill>
            <a:prstDash val="solid"/>
            <a:round/>
            <a:headEnd len="med" w="med" type="none"/>
            <a:tailEnd len="med" w="med" type="stealth"/>
          </a:ln>
        </p:spPr>
      </p:cxnSp>
      <p:sp>
        <p:nvSpPr>
          <p:cNvPr id="738" name="Google Shape;738;g230f3c2a219_0_48"/>
          <p:cNvSpPr txBox="1"/>
          <p:nvPr/>
        </p:nvSpPr>
        <p:spPr>
          <a:xfrm>
            <a:off x="9165350" y="2523625"/>
            <a:ext cx="963900" cy="36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Process 1</a:t>
            </a:r>
            <a:endParaRPr sz="1200">
              <a:latin typeface="Calibri"/>
              <a:ea typeface="Calibri"/>
              <a:cs typeface="Calibri"/>
              <a:sym typeface="Calibri"/>
            </a:endParaRPr>
          </a:p>
        </p:txBody>
      </p:sp>
      <p:cxnSp>
        <p:nvCxnSpPr>
          <p:cNvPr id="739" name="Google Shape;739;g230f3c2a219_0_48"/>
          <p:cNvCxnSpPr>
            <a:stCxn id="734" idx="3"/>
            <a:endCxn id="738" idx="1"/>
          </p:cNvCxnSpPr>
          <p:nvPr/>
        </p:nvCxnSpPr>
        <p:spPr>
          <a:xfrm flipH="1" rot="10800000">
            <a:off x="8732900" y="2708250"/>
            <a:ext cx="432600" cy="637200"/>
          </a:xfrm>
          <a:prstGeom prst="bentConnector3">
            <a:avLst>
              <a:gd fmla="val 49983" name="adj1"/>
            </a:avLst>
          </a:prstGeom>
          <a:noFill/>
          <a:ln cap="flat" cmpd="sng" w="9525">
            <a:solidFill>
              <a:schemeClr val="dk2"/>
            </a:solidFill>
            <a:prstDash val="solid"/>
            <a:round/>
            <a:headEnd len="med" w="med" type="none"/>
            <a:tailEnd len="med" w="med" type="triangle"/>
          </a:ln>
        </p:spPr>
      </p:cxnSp>
      <p:sp>
        <p:nvSpPr>
          <p:cNvPr id="740" name="Google Shape;740;g230f3c2a219_0_48"/>
          <p:cNvSpPr txBox="1"/>
          <p:nvPr/>
        </p:nvSpPr>
        <p:spPr>
          <a:xfrm>
            <a:off x="9165350" y="5072275"/>
            <a:ext cx="963900" cy="36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Process 5</a:t>
            </a:r>
            <a:endParaRPr sz="1200">
              <a:latin typeface="Calibri"/>
              <a:ea typeface="Calibri"/>
              <a:cs typeface="Calibri"/>
              <a:sym typeface="Calibri"/>
            </a:endParaRPr>
          </a:p>
        </p:txBody>
      </p:sp>
      <p:cxnSp>
        <p:nvCxnSpPr>
          <p:cNvPr id="741" name="Google Shape;741;g230f3c2a219_0_48"/>
          <p:cNvCxnSpPr>
            <a:stCxn id="735" idx="3"/>
            <a:endCxn id="740" idx="1"/>
          </p:cNvCxnSpPr>
          <p:nvPr/>
        </p:nvCxnSpPr>
        <p:spPr>
          <a:xfrm>
            <a:off x="8732900" y="4812150"/>
            <a:ext cx="432600" cy="444900"/>
          </a:xfrm>
          <a:prstGeom prst="bentConnector3">
            <a:avLst>
              <a:gd fmla="val 49983"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230f3c2a219_0_1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Communications: Diminishing returns</a:t>
            </a:r>
            <a:endParaRPr/>
          </a:p>
        </p:txBody>
      </p:sp>
      <p:cxnSp>
        <p:nvCxnSpPr>
          <p:cNvPr id="748" name="Google Shape;748;g230f3c2a219_0_115"/>
          <p:cNvCxnSpPr/>
          <p:nvPr/>
        </p:nvCxnSpPr>
        <p:spPr>
          <a:xfrm rot="10800000">
            <a:off x="1476375" y="2181150"/>
            <a:ext cx="0" cy="3743400"/>
          </a:xfrm>
          <a:prstGeom prst="straightConnector1">
            <a:avLst/>
          </a:prstGeom>
          <a:noFill/>
          <a:ln cap="flat" cmpd="sng" w="38100">
            <a:solidFill>
              <a:schemeClr val="dk1"/>
            </a:solidFill>
            <a:prstDash val="solid"/>
            <a:round/>
            <a:headEnd len="med" w="med" type="none"/>
            <a:tailEnd len="med" w="med" type="triangle"/>
          </a:ln>
        </p:spPr>
      </p:cxnSp>
      <p:cxnSp>
        <p:nvCxnSpPr>
          <p:cNvPr id="749" name="Google Shape;749;g230f3c2a219_0_115"/>
          <p:cNvCxnSpPr/>
          <p:nvPr/>
        </p:nvCxnSpPr>
        <p:spPr>
          <a:xfrm flipH="1" rot="10800000">
            <a:off x="1485900" y="5905350"/>
            <a:ext cx="8143800" cy="19200"/>
          </a:xfrm>
          <a:prstGeom prst="straightConnector1">
            <a:avLst/>
          </a:prstGeom>
          <a:noFill/>
          <a:ln cap="flat" cmpd="sng" w="38100">
            <a:solidFill>
              <a:schemeClr val="dk1"/>
            </a:solidFill>
            <a:prstDash val="solid"/>
            <a:round/>
            <a:headEnd len="med" w="med" type="none"/>
            <a:tailEnd len="med" w="med" type="triangle"/>
          </a:ln>
        </p:spPr>
      </p:cxnSp>
      <p:cxnSp>
        <p:nvCxnSpPr>
          <p:cNvPr id="750" name="Google Shape;750;g230f3c2a219_0_115"/>
          <p:cNvCxnSpPr/>
          <p:nvPr/>
        </p:nvCxnSpPr>
        <p:spPr>
          <a:xfrm flipH="1" rot="10800000">
            <a:off x="1504950" y="2333625"/>
            <a:ext cx="4467300" cy="3581400"/>
          </a:xfrm>
          <a:prstGeom prst="straightConnector1">
            <a:avLst/>
          </a:prstGeom>
          <a:noFill/>
          <a:ln cap="flat" cmpd="sng" w="28575">
            <a:solidFill>
              <a:srgbClr val="666666"/>
            </a:solidFill>
            <a:prstDash val="dash"/>
            <a:round/>
            <a:headEnd len="med" w="med" type="none"/>
            <a:tailEnd len="med" w="med" type="none"/>
          </a:ln>
        </p:spPr>
      </p:cxnSp>
      <p:cxnSp>
        <p:nvCxnSpPr>
          <p:cNvPr id="751" name="Google Shape;751;g230f3c2a219_0_115"/>
          <p:cNvCxnSpPr/>
          <p:nvPr/>
        </p:nvCxnSpPr>
        <p:spPr>
          <a:xfrm flipH="1" rot="10800000">
            <a:off x="1504950" y="2771775"/>
            <a:ext cx="5743500" cy="3162300"/>
          </a:xfrm>
          <a:prstGeom prst="straightConnector1">
            <a:avLst/>
          </a:prstGeom>
          <a:noFill/>
          <a:ln cap="flat" cmpd="sng" w="38100">
            <a:solidFill>
              <a:schemeClr val="accent2"/>
            </a:solidFill>
            <a:prstDash val="solid"/>
            <a:round/>
            <a:headEnd len="med" w="med" type="none"/>
            <a:tailEnd len="med" w="med" type="none"/>
          </a:ln>
        </p:spPr>
      </p:cxnSp>
      <p:sp>
        <p:nvSpPr>
          <p:cNvPr id="752" name="Google Shape;752;g230f3c2a219_0_115"/>
          <p:cNvSpPr txBox="1"/>
          <p:nvPr/>
        </p:nvSpPr>
        <p:spPr>
          <a:xfrm>
            <a:off x="3381375" y="2257425"/>
            <a:ext cx="166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Ideal, linear scaling</a:t>
            </a:r>
            <a:endParaRPr>
              <a:latin typeface="Calibri"/>
              <a:ea typeface="Calibri"/>
              <a:cs typeface="Calibri"/>
              <a:sym typeface="Calibri"/>
            </a:endParaRPr>
          </a:p>
        </p:txBody>
      </p:sp>
      <p:cxnSp>
        <p:nvCxnSpPr>
          <p:cNvPr id="753" name="Google Shape;753;g230f3c2a219_0_115"/>
          <p:cNvCxnSpPr>
            <a:stCxn id="752" idx="2"/>
          </p:cNvCxnSpPr>
          <p:nvPr/>
        </p:nvCxnSpPr>
        <p:spPr>
          <a:xfrm>
            <a:off x="4214775" y="2657625"/>
            <a:ext cx="328800" cy="704700"/>
          </a:xfrm>
          <a:prstGeom prst="straightConnector1">
            <a:avLst/>
          </a:prstGeom>
          <a:noFill/>
          <a:ln cap="flat" cmpd="sng" w="19050">
            <a:solidFill>
              <a:schemeClr val="dk2"/>
            </a:solidFill>
            <a:prstDash val="solid"/>
            <a:round/>
            <a:headEnd len="med" w="med" type="none"/>
            <a:tailEnd len="med" w="med" type="triangle"/>
          </a:ln>
        </p:spPr>
      </p:cxnSp>
      <p:sp>
        <p:nvSpPr>
          <p:cNvPr id="754" name="Google Shape;754;g230f3c2a219_0_115"/>
          <p:cNvSpPr txBox="1"/>
          <p:nvPr/>
        </p:nvSpPr>
        <p:spPr>
          <a:xfrm>
            <a:off x="6400875" y="1857225"/>
            <a:ext cx="199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linear, non-ideal scaling</a:t>
            </a:r>
            <a:endParaRPr>
              <a:latin typeface="Calibri"/>
              <a:ea typeface="Calibri"/>
              <a:cs typeface="Calibri"/>
              <a:sym typeface="Calibri"/>
            </a:endParaRPr>
          </a:p>
        </p:txBody>
      </p:sp>
      <p:cxnSp>
        <p:nvCxnSpPr>
          <p:cNvPr id="755" name="Google Shape;755;g230f3c2a219_0_115"/>
          <p:cNvCxnSpPr/>
          <p:nvPr/>
        </p:nvCxnSpPr>
        <p:spPr>
          <a:xfrm>
            <a:off x="7143825" y="2224125"/>
            <a:ext cx="9600" cy="466800"/>
          </a:xfrm>
          <a:prstGeom prst="straightConnector1">
            <a:avLst/>
          </a:prstGeom>
          <a:noFill/>
          <a:ln cap="flat" cmpd="sng" w="28575">
            <a:solidFill>
              <a:srgbClr val="6AA84F"/>
            </a:solidFill>
            <a:prstDash val="solid"/>
            <a:round/>
            <a:headEnd len="med" w="med" type="none"/>
            <a:tailEnd len="med" w="med" type="triangle"/>
          </a:ln>
        </p:spPr>
      </p:cxnSp>
      <p:sp>
        <p:nvSpPr>
          <p:cNvPr id="756" name="Google Shape;756;g230f3c2a219_0_115"/>
          <p:cNvSpPr/>
          <p:nvPr/>
        </p:nvSpPr>
        <p:spPr>
          <a:xfrm>
            <a:off x="1552575" y="3719182"/>
            <a:ext cx="7105650" cy="2205375"/>
          </a:xfrm>
          <a:custGeom>
            <a:rect b="b" l="l" r="r" t="t"/>
            <a:pathLst>
              <a:path extrusionOk="0" h="88215" w="284226">
                <a:moveTo>
                  <a:pt x="0" y="88215"/>
                </a:moveTo>
                <a:cubicBezTo>
                  <a:pt x="7351" y="80864"/>
                  <a:pt x="18424" y="78433"/>
                  <a:pt x="28194" y="74880"/>
                </a:cubicBezTo>
                <a:cubicBezTo>
                  <a:pt x="35752" y="72132"/>
                  <a:pt x="42970" y="68428"/>
                  <a:pt x="50673" y="66117"/>
                </a:cubicBezTo>
                <a:cubicBezTo>
                  <a:pt x="69664" y="60420"/>
                  <a:pt x="85133" y="46357"/>
                  <a:pt x="103251" y="38304"/>
                </a:cubicBezTo>
                <a:cubicBezTo>
                  <a:pt x="119474" y="31094"/>
                  <a:pt x="132384" y="16855"/>
                  <a:pt x="149352" y="11634"/>
                </a:cubicBezTo>
                <a:cubicBezTo>
                  <a:pt x="159310" y="8570"/>
                  <a:pt x="169962" y="8545"/>
                  <a:pt x="180213" y="6681"/>
                </a:cubicBezTo>
                <a:cubicBezTo>
                  <a:pt x="199062" y="3254"/>
                  <a:pt x="218205" y="585"/>
                  <a:pt x="237363" y="585"/>
                </a:cubicBezTo>
                <a:cubicBezTo>
                  <a:pt x="253100" y="585"/>
                  <a:pt x="271132" y="-2429"/>
                  <a:pt x="284226" y="6300"/>
                </a:cubicBezTo>
              </a:path>
            </a:pathLst>
          </a:custGeom>
          <a:noFill/>
          <a:ln cap="flat" cmpd="sng" w="28575">
            <a:solidFill>
              <a:srgbClr val="CC0000"/>
            </a:solidFill>
            <a:prstDash val="solid"/>
            <a:round/>
            <a:headEnd len="med" w="med" type="none"/>
            <a:tailEnd len="med" w="med" type="none"/>
          </a:ln>
        </p:spPr>
      </p:sp>
      <p:sp>
        <p:nvSpPr>
          <p:cNvPr id="757" name="Google Shape;757;g230f3c2a219_0_115"/>
          <p:cNvSpPr txBox="1"/>
          <p:nvPr/>
        </p:nvSpPr>
        <p:spPr>
          <a:xfrm>
            <a:off x="4133850" y="5295900"/>
            <a:ext cx="1171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latin typeface="Calibri"/>
                <a:ea typeface="Calibri"/>
                <a:cs typeface="Calibri"/>
                <a:sym typeface="Calibri"/>
              </a:rPr>
              <a:t>linear region</a:t>
            </a:r>
            <a:endParaRPr>
              <a:latin typeface="Calibri"/>
              <a:ea typeface="Calibri"/>
              <a:cs typeface="Calibri"/>
              <a:sym typeface="Calibri"/>
            </a:endParaRPr>
          </a:p>
        </p:txBody>
      </p:sp>
      <p:cxnSp>
        <p:nvCxnSpPr>
          <p:cNvPr id="758" name="Google Shape;758;g230f3c2a219_0_115"/>
          <p:cNvCxnSpPr>
            <a:stCxn id="757" idx="0"/>
          </p:cNvCxnSpPr>
          <p:nvPr/>
        </p:nvCxnSpPr>
        <p:spPr>
          <a:xfrm rot="10800000">
            <a:off x="4324500" y="4791000"/>
            <a:ext cx="395100" cy="504900"/>
          </a:xfrm>
          <a:prstGeom prst="straightConnector1">
            <a:avLst/>
          </a:prstGeom>
          <a:noFill/>
          <a:ln cap="flat" cmpd="sng" w="28575">
            <a:solidFill>
              <a:srgbClr val="CC0000"/>
            </a:solidFill>
            <a:prstDash val="solid"/>
            <a:round/>
            <a:headEnd len="med" w="med" type="none"/>
            <a:tailEnd len="med" w="med" type="triangle"/>
          </a:ln>
        </p:spPr>
      </p:cxnSp>
      <p:sp>
        <p:nvSpPr>
          <p:cNvPr id="759" name="Google Shape;759;g230f3c2a219_0_115"/>
          <p:cNvSpPr txBox="1"/>
          <p:nvPr/>
        </p:nvSpPr>
        <p:spPr>
          <a:xfrm>
            <a:off x="4981350" y="4476750"/>
            <a:ext cx="1314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inflection point</a:t>
            </a:r>
            <a:endParaRPr>
              <a:latin typeface="Calibri"/>
              <a:ea typeface="Calibri"/>
              <a:cs typeface="Calibri"/>
              <a:sym typeface="Calibri"/>
            </a:endParaRPr>
          </a:p>
        </p:txBody>
      </p:sp>
      <p:cxnSp>
        <p:nvCxnSpPr>
          <p:cNvPr id="760" name="Google Shape;760;g230f3c2a219_0_115"/>
          <p:cNvCxnSpPr/>
          <p:nvPr/>
        </p:nvCxnSpPr>
        <p:spPr>
          <a:xfrm rot="10800000">
            <a:off x="5229225" y="4143375"/>
            <a:ext cx="381000" cy="381000"/>
          </a:xfrm>
          <a:prstGeom prst="straightConnector1">
            <a:avLst/>
          </a:prstGeom>
          <a:noFill/>
          <a:ln cap="flat" cmpd="sng" w="28575">
            <a:solidFill>
              <a:srgbClr val="CC0000"/>
            </a:solidFill>
            <a:prstDash val="solid"/>
            <a:round/>
            <a:headEnd len="med" w="med" type="none"/>
            <a:tailEnd len="med" w="med" type="triangle"/>
          </a:ln>
        </p:spPr>
      </p:cxnSp>
      <p:sp>
        <p:nvSpPr>
          <p:cNvPr id="761" name="Google Shape;761;g230f3c2a219_0_115"/>
          <p:cNvSpPr txBox="1"/>
          <p:nvPr/>
        </p:nvSpPr>
        <p:spPr>
          <a:xfrm>
            <a:off x="6362700" y="4314825"/>
            <a:ext cx="209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diminishing</a:t>
            </a:r>
            <a:r>
              <a:rPr lang="en-US">
                <a:latin typeface="Calibri"/>
                <a:ea typeface="Calibri"/>
                <a:cs typeface="Calibri"/>
                <a:sym typeface="Calibri"/>
              </a:rPr>
              <a:t> returns region</a:t>
            </a:r>
            <a:endParaRPr>
              <a:latin typeface="Calibri"/>
              <a:ea typeface="Calibri"/>
              <a:cs typeface="Calibri"/>
              <a:sym typeface="Calibri"/>
            </a:endParaRPr>
          </a:p>
        </p:txBody>
      </p:sp>
      <p:cxnSp>
        <p:nvCxnSpPr>
          <p:cNvPr id="762" name="Google Shape;762;g230f3c2a219_0_115"/>
          <p:cNvCxnSpPr/>
          <p:nvPr/>
        </p:nvCxnSpPr>
        <p:spPr>
          <a:xfrm rot="10800000">
            <a:off x="7105650" y="3886125"/>
            <a:ext cx="304800" cy="428700"/>
          </a:xfrm>
          <a:prstGeom prst="straightConnector1">
            <a:avLst/>
          </a:prstGeom>
          <a:noFill/>
          <a:ln cap="flat" cmpd="sng" w="28575">
            <a:solidFill>
              <a:srgbClr val="CC0000"/>
            </a:solidFill>
            <a:prstDash val="solid"/>
            <a:round/>
            <a:headEnd len="med" w="med" type="none"/>
            <a:tailEnd len="med" w="med" type="triangle"/>
          </a:ln>
        </p:spPr>
      </p:cxnSp>
      <p:sp>
        <p:nvSpPr>
          <p:cNvPr id="763" name="Google Shape;763;g230f3c2a219_0_115"/>
          <p:cNvSpPr txBox="1"/>
          <p:nvPr/>
        </p:nvSpPr>
        <p:spPr>
          <a:xfrm>
            <a:off x="8296275" y="3009900"/>
            <a:ext cx="139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negative scaling</a:t>
            </a:r>
            <a:endParaRPr>
              <a:latin typeface="Calibri"/>
              <a:ea typeface="Calibri"/>
              <a:cs typeface="Calibri"/>
              <a:sym typeface="Calibri"/>
            </a:endParaRPr>
          </a:p>
        </p:txBody>
      </p:sp>
      <p:cxnSp>
        <p:nvCxnSpPr>
          <p:cNvPr id="764" name="Google Shape;764;g230f3c2a219_0_115"/>
          <p:cNvCxnSpPr/>
          <p:nvPr/>
        </p:nvCxnSpPr>
        <p:spPr>
          <a:xfrm flipH="1">
            <a:off x="8620275" y="3409950"/>
            <a:ext cx="171300" cy="343200"/>
          </a:xfrm>
          <a:prstGeom prst="straightConnector1">
            <a:avLst/>
          </a:prstGeom>
          <a:noFill/>
          <a:ln cap="flat" cmpd="sng" w="28575">
            <a:solidFill>
              <a:srgbClr val="CC0000"/>
            </a:solidFill>
            <a:prstDash val="solid"/>
            <a:round/>
            <a:headEnd len="med" w="med" type="none"/>
            <a:tailEnd len="med" w="med" type="triangle"/>
          </a:ln>
        </p:spPr>
      </p:cxnSp>
      <p:sp>
        <p:nvSpPr>
          <p:cNvPr id="765" name="Google Shape;765;g230f3c2a219_0_115"/>
          <p:cNvSpPr txBox="1"/>
          <p:nvPr/>
        </p:nvSpPr>
        <p:spPr>
          <a:xfrm>
            <a:off x="295275" y="4171950"/>
            <a:ext cx="990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Performance</a:t>
            </a:r>
            <a:endParaRPr sz="1200">
              <a:latin typeface="Calibri"/>
              <a:ea typeface="Calibri"/>
              <a:cs typeface="Calibri"/>
              <a:sym typeface="Calibri"/>
            </a:endParaRPr>
          </a:p>
          <a:p>
            <a:pPr indent="0" lvl="0" marL="0" rtl="0" algn="l">
              <a:spcBef>
                <a:spcPts val="0"/>
              </a:spcBef>
              <a:spcAft>
                <a:spcPts val="0"/>
              </a:spcAft>
              <a:buNone/>
            </a:pPr>
            <a:r>
              <a:rPr lang="en-US" sz="1200">
                <a:latin typeface="Calibri"/>
                <a:ea typeface="Calibri"/>
                <a:cs typeface="Calibri"/>
                <a:sym typeface="Calibri"/>
              </a:rPr>
              <a:t>(FLOPS)</a:t>
            </a:r>
            <a:endParaRPr sz="1200">
              <a:latin typeface="Calibri"/>
              <a:ea typeface="Calibri"/>
              <a:cs typeface="Calibri"/>
              <a:sym typeface="Calibri"/>
            </a:endParaRPr>
          </a:p>
        </p:txBody>
      </p:sp>
      <p:cxnSp>
        <p:nvCxnSpPr>
          <p:cNvPr id="766" name="Google Shape;766;g230f3c2a219_0_115"/>
          <p:cNvCxnSpPr>
            <a:stCxn id="765" idx="0"/>
          </p:cNvCxnSpPr>
          <p:nvPr/>
        </p:nvCxnSpPr>
        <p:spPr>
          <a:xfrm rot="10800000">
            <a:off x="790575" y="3409950"/>
            <a:ext cx="0" cy="762000"/>
          </a:xfrm>
          <a:prstGeom prst="straightConnector1">
            <a:avLst/>
          </a:prstGeom>
          <a:noFill/>
          <a:ln cap="flat" cmpd="sng" w="19050">
            <a:solidFill>
              <a:schemeClr val="dk1"/>
            </a:solidFill>
            <a:prstDash val="solid"/>
            <a:round/>
            <a:headEnd len="med" w="med" type="none"/>
            <a:tailEnd len="med" w="med" type="triangle"/>
          </a:ln>
        </p:spPr>
      </p:cxnSp>
      <p:sp>
        <p:nvSpPr>
          <p:cNvPr id="767" name="Google Shape;767;g230f3c2a219_0_115"/>
          <p:cNvSpPr txBox="1"/>
          <p:nvPr/>
        </p:nvSpPr>
        <p:spPr>
          <a:xfrm>
            <a:off x="2857500" y="6133800"/>
            <a:ext cx="14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Number of cores</a:t>
            </a:r>
            <a:endParaRPr>
              <a:latin typeface="Calibri"/>
              <a:ea typeface="Calibri"/>
              <a:cs typeface="Calibri"/>
              <a:sym typeface="Calibri"/>
            </a:endParaRPr>
          </a:p>
        </p:txBody>
      </p:sp>
      <p:cxnSp>
        <p:nvCxnSpPr>
          <p:cNvPr id="768" name="Google Shape;768;g230f3c2a219_0_115"/>
          <p:cNvCxnSpPr/>
          <p:nvPr/>
        </p:nvCxnSpPr>
        <p:spPr>
          <a:xfrm>
            <a:off x="4324500" y="6338550"/>
            <a:ext cx="2095500" cy="51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g230f3c2a219_0_15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Communications: Diminishing returns</a:t>
            </a:r>
            <a:endParaRPr/>
          </a:p>
        </p:txBody>
      </p:sp>
      <p:cxnSp>
        <p:nvCxnSpPr>
          <p:cNvPr id="775" name="Google Shape;775;g230f3c2a219_0_154"/>
          <p:cNvCxnSpPr/>
          <p:nvPr/>
        </p:nvCxnSpPr>
        <p:spPr>
          <a:xfrm rot="10800000">
            <a:off x="1476375" y="2181150"/>
            <a:ext cx="0" cy="3743400"/>
          </a:xfrm>
          <a:prstGeom prst="straightConnector1">
            <a:avLst/>
          </a:prstGeom>
          <a:noFill/>
          <a:ln cap="flat" cmpd="sng" w="38100">
            <a:solidFill>
              <a:schemeClr val="dk1"/>
            </a:solidFill>
            <a:prstDash val="solid"/>
            <a:round/>
            <a:headEnd len="med" w="med" type="none"/>
            <a:tailEnd len="med" w="med" type="triangle"/>
          </a:ln>
        </p:spPr>
      </p:cxnSp>
      <p:cxnSp>
        <p:nvCxnSpPr>
          <p:cNvPr id="776" name="Google Shape;776;g230f3c2a219_0_154"/>
          <p:cNvCxnSpPr/>
          <p:nvPr/>
        </p:nvCxnSpPr>
        <p:spPr>
          <a:xfrm flipH="1" rot="10800000">
            <a:off x="1485900" y="5905350"/>
            <a:ext cx="8143800" cy="19200"/>
          </a:xfrm>
          <a:prstGeom prst="straightConnector1">
            <a:avLst/>
          </a:prstGeom>
          <a:noFill/>
          <a:ln cap="flat" cmpd="sng" w="38100">
            <a:solidFill>
              <a:schemeClr val="dk1"/>
            </a:solidFill>
            <a:prstDash val="solid"/>
            <a:round/>
            <a:headEnd len="med" w="med" type="none"/>
            <a:tailEnd len="med" w="med" type="triangle"/>
          </a:ln>
        </p:spPr>
      </p:cxnSp>
      <p:cxnSp>
        <p:nvCxnSpPr>
          <p:cNvPr id="777" name="Google Shape;777;g230f3c2a219_0_154"/>
          <p:cNvCxnSpPr/>
          <p:nvPr/>
        </p:nvCxnSpPr>
        <p:spPr>
          <a:xfrm>
            <a:off x="1685925" y="2486025"/>
            <a:ext cx="3895800" cy="3314700"/>
          </a:xfrm>
          <a:prstGeom prst="straightConnector1">
            <a:avLst/>
          </a:prstGeom>
          <a:noFill/>
          <a:ln cap="flat" cmpd="sng" w="28575">
            <a:solidFill>
              <a:srgbClr val="666666"/>
            </a:solidFill>
            <a:prstDash val="dash"/>
            <a:round/>
            <a:headEnd len="med" w="med" type="none"/>
            <a:tailEnd len="med" w="med" type="none"/>
          </a:ln>
        </p:spPr>
      </p:cxnSp>
      <p:cxnSp>
        <p:nvCxnSpPr>
          <p:cNvPr id="778" name="Google Shape;778;g230f3c2a219_0_154"/>
          <p:cNvCxnSpPr/>
          <p:nvPr/>
        </p:nvCxnSpPr>
        <p:spPr>
          <a:xfrm>
            <a:off x="1685925" y="2486025"/>
            <a:ext cx="4934100" cy="3314700"/>
          </a:xfrm>
          <a:prstGeom prst="straightConnector1">
            <a:avLst/>
          </a:prstGeom>
          <a:noFill/>
          <a:ln cap="flat" cmpd="sng" w="38100">
            <a:solidFill>
              <a:schemeClr val="accent2"/>
            </a:solidFill>
            <a:prstDash val="solid"/>
            <a:round/>
            <a:headEnd len="med" w="med" type="none"/>
            <a:tailEnd len="med" w="med" type="none"/>
          </a:ln>
        </p:spPr>
      </p:cxnSp>
      <p:sp>
        <p:nvSpPr>
          <p:cNvPr id="779" name="Google Shape;779;g230f3c2a219_0_154"/>
          <p:cNvSpPr txBox="1"/>
          <p:nvPr/>
        </p:nvSpPr>
        <p:spPr>
          <a:xfrm>
            <a:off x="2657700" y="5400525"/>
            <a:ext cx="166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Ideal, linear scaling</a:t>
            </a:r>
            <a:endParaRPr>
              <a:latin typeface="Calibri"/>
              <a:ea typeface="Calibri"/>
              <a:cs typeface="Calibri"/>
              <a:sym typeface="Calibri"/>
            </a:endParaRPr>
          </a:p>
        </p:txBody>
      </p:sp>
      <p:cxnSp>
        <p:nvCxnSpPr>
          <p:cNvPr id="780" name="Google Shape;780;g230f3c2a219_0_154"/>
          <p:cNvCxnSpPr/>
          <p:nvPr/>
        </p:nvCxnSpPr>
        <p:spPr>
          <a:xfrm flipH="1" rot="10800000">
            <a:off x="4167375" y="5581575"/>
            <a:ext cx="871500" cy="68700"/>
          </a:xfrm>
          <a:prstGeom prst="straightConnector1">
            <a:avLst/>
          </a:prstGeom>
          <a:noFill/>
          <a:ln cap="flat" cmpd="sng" w="19050">
            <a:solidFill>
              <a:schemeClr val="dk2"/>
            </a:solidFill>
            <a:prstDash val="solid"/>
            <a:round/>
            <a:headEnd len="med" w="med" type="none"/>
            <a:tailEnd len="med" w="med" type="triangle"/>
          </a:ln>
        </p:spPr>
      </p:cxnSp>
      <p:sp>
        <p:nvSpPr>
          <p:cNvPr id="781" name="Google Shape;781;g230f3c2a219_0_154"/>
          <p:cNvSpPr txBox="1"/>
          <p:nvPr/>
        </p:nvSpPr>
        <p:spPr>
          <a:xfrm>
            <a:off x="7172250" y="5262600"/>
            <a:ext cx="199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linear, non-ideal scaling</a:t>
            </a:r>
            <a:endParaRPr>
              <a:latin typeface="Calibri"/>
              <a:ea typeface="Calibri"/>
              <a:cs typeface="Calibri"/>
              <a:sym typeface="Calibri"/>
            </a:endParaRPr>
          </a:p>
        </p:txBody>
      </p:sp>
      <p:cxnSp>
        <p:nvCxnSpPr>
          <p:cNvPr id="782" name="Google Shape;782;g230f3c2a219_0_154"/>
          <p:cNvCxnSpPr>
            <a:stCxn id="781" idx="1"/>
          </p:cNvCxnSpPr>
          <p:nvPr/>
        </p:nvCxnSpPr>
        <p:spPr>
          <a:xfrm flipH="1">
            <a:off x="6305850" y="5462700"/>
            <a:ext cx="866400" cy="14100"/>
          </a:xfrm>
          <a:prstGeom prst="straightConnector1">
            <a:avLst/>
          </a:prstGeom>
          <a:noFill/>
          <a:ln cap="flat" cmpd="sng" w="28575">
            <a:solidFill>
              <a:srgbClr val="6AA84F"/>
            </a:solidFill>
            <a:prstDash val="solid"/>
            <a:round/>
            <a:headEnd len="med" w="med" type="none"/>
            <a:tailEnd len="med" w="med" type="triangle"/>
          </a:ln>
        </p:spPr>
      </p:cxnSp>
      <p:sp>
        <p:nvSpPr>
          <p:cNvPr id="783" name="Google Shape;783;g230f3c2a219_0_154"/>
          <p:cNvSpPr txBox="1"/>
          <p:nvPr/>
        </p:nvSpPr>
        <p:spPr>
          <a:xfrm>
            <a:off x="3809850" y="2486025"/>
            <a:ext cx="1171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a:latin typeface="Calibri"/>
                <a:ea typeface="Calibri"/>
                <a:cs typeface="Calibri"/>
                <a:sym typeface="Calibri"/>
              </a:rPr>
              <a:t>linear region</a:t>
            </a:r>
            <a:endParaRPr>
              <a:latin typeface="Calibri"/>
              <a:ea typeface="Calibri"/>
              <a:cs typeface="Calibri"/>
              <a:sym typeface="Calibri"/>
            </a:endParaRPr>
          </a:p>
        </p:txBody>
      </p:sp>
      <p:cxnSp>
        <p:nvCxnSpPr>
          <p:cNvPr id="784" name="Google Shape;784;g230f3c2a219_0_154"/>
          <p:cNvCxnSpPr>
            <a:stCxn id="783" idx="2"/>
          </p:cNvCxnSpPr>
          <p:nvPr/>
        </p:nvCxnSpPr>
        <p:spPr>
          <a:xfrm flipH="1">
            <a:off x="3771900" y="2886225"/>
            <a:ext cx="623700" cy="638100"/>
          </a:xfrm>
          <a:prstGeom prst="straightConnector1">
            <a:avLst/>
          </a:prstGeom>
          <a:noFill/>
          <a:ln cap="flat" cmpd="sng" w="28575">
            <a:solidFill>
              <a:srgbClr val="CC0000"/>
            </a:solidFill>
            <a:prstDash val="solid"/>
            <a:round/>
            <a:headEnd len="med" w="med" type="none"/>
            <a:tailEnd len="med" w="med" type="triangle"/>
          </a:ln>
        </p:spPr>
      </p:cxnSp>
      <p:sp>
        <p:nvSpPr>
          <p:cNvPr id="785" name="Google Shape;785;g230f3c2a219_0_154"/>
          <p:cNvSpPr txBox="1"/>
          <p:nvPr/>
        </p:nvSpPr>
        <p:spPr>
          <a:xfrm>
            <a:off x="5105400" y="3485913"/>
            <a:ext cx="1314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inflection point</a:t>
            </a:r>
            <a:endParaRPr>
              <a:latin typeface="Calibri"/>
              <a:ea typeface="Calibri"/>
              <a:cs typeface="Calibri"/>
              <a:sym typeface="Calibri"/>
            </a:endParaRPr>
          </a:p>
        </p:txBody>
      </p:sp>
      <p:cxnSp>
        <p:nvCxnSpPr>
          <p:cNvPr id="786" name="Google Shape;786;g230f3c2a219_0_154"/>
          <p:cNvCxnSpPr>
            <a:stCxn id="785" idx="2"/>
          </p:cNvCxnSpPr>
          <p:nvPr/>
        </p:nvCxnSpPr>
        <p:spPr>
          <a:xfrm flipH="1">
            <a:off x="5496000" y="3886113"/>
            <a:ext cx="266700" cy="628800"/>
          </a:xfrm>
          <a:prstGeom prst="straightConnector1">
            <a:avLst/>
          </a:prstGeom>
          <a:noFill/>
          <a:ln cap="flat" cmpd="sng" w="28575">
            <a:solidFill>
              <a:srgbClr val="CC0000"/>
            </a:solidFill>
            <a:prstDash val="solid"/>
            <a:round/>
            <a:headEnd len="med" w="med" type="none"/>
            <a:tailEnd len="med" w="med" type="triangle"/>
          </a:ln>
        </p:spPr>
      </p:cxnSp>
      <p:sp>
        <p:nvSpPr>
          <p:cNvPr id="787" name="Google Shape;787;g230f3c2a219_0_154"/>
          <p:cNvSpPr txBox="1"/>
          <p:nvPr/>
        </p:nvSpPr>
        <p:spPr>
          <a:xfrm>
            <a:off x="6296025" y="3814588"/>
            <a:ext cx="209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diminishing returns region</a:t>
            </a:r>
            <a:endParaRPr>
              <a:latin typeface="Calibri"/>
              <a:ea typeface="Calibri"/>
              <a:cs typeface="Calibri"/>
              <a:sym typeface="Calibri"/>
            </a:endParaRPr>
          </a:p>
        </p:txBody>
      </p:sp>
      <p:cxnSp>
        <p:nvCxnSpPr>
          <p:cNvPr id="788" name="Google Shape;788;g230f3c2a219_0_154"/>
          <p:cNvCxnSpPr>
            <a:stCxn id="787" idx="2"/>
          </p:cNvCxnSpPr>
          <p:nvPr/>
        </p:nvCxnSpPr>
        <p:spPr>
          <a:xfrm flipH="1">
            <a:off x="7219875" y="4214788"/>
            <a:ext cx="123900" cy="423900"/>
          </a:xfrm>
          <a:prstGeom prst="straightConnector1">
            <a:avLst/>
          </a:prstGeom>
          <a:noFill/>
          <a:ln cap="flat" cmpd="sng" w="28575">
            <a:solidFill>
              <a:srgbClr val="CC0000"/>
            </a:solidFill>
            <a:prstDash val="solid"/>
            <a:round/>
            <a:headEnd len="med" w="med" type="none"/>
            <a:tailEnd len="med" w="med" type="triangle"/>
          </a:ln>
        </p:spPr>
      </p:cxnSp>
      <p:sp>
        <p:nvSpPr>
          <p:cNvPr id="789" name="Google Shape;789;g230f3c2a219_0_154"/>
          <p:cNvSpPr txBox="1"/>
          <p:nvPr/>
        </p:nvSpPr>
        <p:spPr>
          <a:xfrm>
            <a:off x="8477250" y="3771750"/>
            <a:ext cx="139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negative scaling</a:t>
            </a:r>
            <a:endParaRPr>
              <a:latin typeface="Calibri"/>
              <a:ea typeface="Calibri"/>
              <a:cs typeface="Calibri"/>
              <a:sym typeface="Calibri"/>
            </a:endParaRPr>
          </a:p>
        </p:txBody>
      </p:sp>
      <p:cxnSp>
        <p:nvCxnSpPr>
          <p:cNvPr id="790" name="Google Shape;790;g230f3c2a219_0_154"/>
          <p:cNvCxnSpPr/>
          <p:nvPr/>
        </p:nvCxnSpPr>
        <p:spPr>
          <a:xfrm flipH="1">
            <a:off x="8800950" y="4114800"/>
            <a:ext cx="19200" cy="400200"/>
          </a:xfrm>
          <a:prstGeom prst="straightConnector1">
            <a:avLst/>
          </a:prstGeom>
          <a:noFill/>
          <a:ln cap="flat" cmpd="sng" w="28575">
            <a:solidFill>
              <a:srgbClr val="CC0000"/>
            </a:solidFill>
            <a:prstDash val="solid"/>
            <a:round/>
            <a:headEnd len="med" w="med" type="none"/>
            <a:tailEnd len="med" w="med" type="triangle"/>
          </a:ln>
        </p:spPr>
      </p:cxnSp>
      <p:sp>
        <p:nvSpPr>
          <p:cNvPr id="791" name="Google Shape;791;g230f3c2a219_0_154"/>
          <p:cNvSpPr txBox="1"/>
          <p:nvPr/>
        </p:nvSpPr>
        <p:spPr>
          <a:xfrm>
            <a:off x="295275" y="4171950"/>
            <a:ext cx="990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Execution Time</a:t>
            </a:r>
            <a:endParaRPr sz="1200">
              <a:latin typeface="Calibri"/>
              <a:ea typeface="Calibri"/>
              <a:cs typeface="Calibri"/>
              <a:sym typeface="Calibri"/>
            </a:endParaRPr>
          </a:p>
        </p:txBody>
      </p:sp>
      <p:cxnSp>
        <p:nvCxnSpPr>
          <p:cNvPr id="792" name="Google Shape;792;g230f3c2a219_0_154"/>
          <p:cNvCxnSpPr>
            <a:stCxn id="791" idx="0"/>
          </p:cNvCxnSpPr>
          <p:nvPr/>
        </p:nvCxnSpPr>
        <p:spPr>
          <a:xfrm rot="10800000">
            <a:off x="790575" y="3409950"/>
            <a:ext cx="0" cy="762000"/>
          </a:xfrm>
          <a:prstGeom prst="straightConnector1">
            <a:avLst/>
          </a:prstGeom>
          <a:noFill/>
          <a:ln cap="flat" cmpd="sng" w="19050">
            <a:solidFill>
              <a:schemeClr val="dk1"/>
            </a:solidFill>
            <a:prstDash val="solid"/>
            <a:round/>
            <a:headEnd len="med" w="med" type="none"/>
            <a:tailEnd len="med" w="med" type="triangle"/>
          </a:ln>
        </p:spPr>
      </p:cxnSp>
      <p:sp>
        <p:nvSpPr>
          <p:cNvPr id="793" name="Google Shape;793;g230f3c2a219_0_154"/>
          <p:cNvSpPr txBox="1"/>
          <p:nvPr/>
        </p:nvSpPr>
        <p:spPr>
          <a:xfrm>
            <a:off x="2857500" y="6133800"/>
            <a:ext cx="14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Number of cores</a:t>
            </a:r>
            <a:endParaRPr>
              <a:latin typeface="Calibri"/>
              <a:ea typeface="Calibri"/>
              <a:cs typeface="Calibri"/>
              <a:sym typeface="Calibri"/>
            </a:endParaRPr>
          </a:p>
        </p:txBody>
      </p:sp>
      <p:cxnSp>
        <p:nvCxnSpPr>
          <p:cNvPr id="794" name="Google Shape;794;g230f3c2a219_0_154"/>
          <p:cNvCxnSpPr/>
          <p:nvPr/>
        </p:nvCxnSpPr>
        <p:spPr>
          <a:xfrm>
            <a:off x="4324500" y="6338550"/>
            <a:ext cx="2095500" cy="5100"/>
          </a:xfrm>
          <a:prstGeom prst="straightConnector1">
            <a:avLst/>
          </a:prstGeom>
          <a:noFill/>
          <a:ln cap="flat" cmpd="sng" w="19050">
            <a:solidFill>
              <a:schemeClr val="dk1"/>
            </a:solidFill>
            <a:prstDash val="solid"/>
            <a:round/>
            <a:headEnd len="med" w="med" type="none"/>
            <a:tailEnd len="med" w="med" type="triangle"/>
          </a:ln>
        </p:spPr>
      </p:cxnSp>
      <p:sp>
        <p:nvSpPr>
          <p:cNvPr id="795" name="Google Shape;795;g230f3c2a219_0_154"/>
          <p:cNvSpPr/>
          <p:nvPr/>
        </p:nvSpPr>
        <p:spPr>
          <a:xfrm>
            <a:off x="1714500" y="2466975"/>
            <a:ext cx="7219950" cy="2308625"/>
          </a:xfrm>
          <a:custGeom>
            <a:rect b="b" l="l" r="r" t="t"/>
            <a:pathLst>
              <a:path extrusionOk="0" h="92345" w="288798">
                <a:moveTo>
                  <a:pt x="0" y="0"/>
                </a:moveTo>
                <a:cubicBezTo>
                  <a:pt x="3692" y="7383"/>
                  <a:pt x="14336" y="8198"/>
                  <a:pt x="21336" y="12573"/>
                </a:cubicBezTo>
                <a:cubicBezTo>
                  <a:pt x="33639" y="20262"/>
                  <a:pt x="47826" y="25103"/>
                  <a:pt x="59055" y="34290"/>
                </a:cubicBezTo>
                <a:cubicBezTo>
                  <a:pt x="71766" y="44690"/>
                  <a:pt x="86778" y="51923"/>
                  <a:pt x="100965" y="60198"/>
                </a:cubicBezTo>
                <a:cubicBezTo>
                  <a:pt x="115542" y="68701"/>
                  <a:pt x="129412" y="79238"/>
                  <a:pt x="145542" y="84201"/>
                </a:cubicBezTo>
                <a:cubicBezTo>
                  <a:pt x="167235" y="90876"/>
                  <a:pt x="190756" y="88242"/>
                  <a:pt x="213360" y="90297"/>
                </a:cubicBezTo>
                <a:cubicBezTo>
                  <a:pt x="238449" y="92578"/>
                  <a:pt x="265210" y="94571"/>
                  <a:pt x="288798" y="85725"/>
                </a:cubicBezTo>
              </a:path>
            </a:pathLst>
          </a:custGeom>
          <a:noFill/>
          <a:ln cap="flat" cmpd="sng" w="28575">
            <a:solidFill>
              <a:srgbClr val="CC0000"/>
            </a:solidFill>
            <a:prstDash val="solid"/>
            <a:round/>
            <a:headEnd len="med" w="med" type="none"/>
            <a:tailEnd len="med" w="med" type="none"/>
          </a:ln>
        </p:spPr>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g230f3c2a219_0_19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Network topologies </a:t>
            </a:r>
            <a:endParaRPr/>
          </a:p>
        </p:txBody>
      </p:sp>
      <p:pic>
        <p:nvPicPr>
          <p:cNvPr id="802" name="Google Shape;802;g230f3c2a219_0_194"/>
          <p:cNvPicPr preferRelativeResize="0"/>
          <p:nvPr/>
        </p:nvPicPr>
        <p:blipFill>
          <a:blip r:embed="rId3">
            <a:alphaModFix/>
          </a:blip>
          <a:stretch>
            <a:fillRect/>
          </a:stretch>
        </p:blipFill>
        <p:spPr>
          <a:xfrm>
            <a:off x="950625" y="2028963"/>
            <a:ext cx="3813275" cy="3224075"/>
          </a:xfrm>
          <a:prstGeom prst="rect">
            <a:avLst/>
          </a:prstGeom>
          <a:noFill/>
          <a:ln>
            <a:noFill/>
          </a:ln>
        </p:spPr>
      </p:pic>
      <p:sp>
        <p:nvSpPr>
          <p:cNvPr id="803" name="Google Shape;803;g230f3c2a219_0_194"/>
          <p:cNvSpPr txBox="1"/>
          <p:nvPr/>
        </p:nvSpPr>
        <p:spPr>
          <a:xfrm>
            <a:off x="1900238" y="5401425"/>
            <a:ext cx="21717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2-D </a:t>
            </a:r>
            <a:r>
              <a:rPr lang="en-US">
                <a:latin typeface="Calibri"/>
                <a:ea typeface="Calibri"/>
                <a:cs typeface="Calibri"/>
                <a:sym typeface="Calibri"/>
              </a:rPr>
              <a:t>torus </a:t>
            </a:r>
            <a:r>
              <a:rPr lang="en-US">
                <a:latin typeface="Calibri"/>
                <a:ea typeface="Calibri"/>
                <a:cs typeface="Calibri"/>
                <a:sym typeface="Calibri"/>
              </a:rPr>
              <a:t>network</a:t>
            </a:r>
            <a:endParaRPr>
              <a:latin typeface="Calibri"/>
              <a:ea typeface="Calibri"/>
              <a:cs typeface="Calibri"/>
              <a:sym typeface="Calibri"/>
            </a:endParaRPr>
          </a:p>
          <a:p>
            <a:pPr indent="0" lvl="0" marL="0" rtl="0" algn="l">
              <a:spcBef>
                <a:spcPts val="0"/>
              </a:spcBef>
              <a:spcAft>
                <a:spcPts val="0"/>
              </a:spcAft>
              <a:buNone/>
            </a:pPr>
            <a:r>
              <a:rPr lang="en-US" sz="1000">
                <a:latin typeface="Calibri"/>
                <a:ea typeface="Calibri"/>
                <a:cs typeface="Calibri"/>
                <a:sym typeface="Calibri"/>
              </a:rPr>
              <a:t>source: Foster, Ian, “Designing and Building Parallel Programs, https://www.mcs.anl.gov/~itf/dbpp/</a:t>
            </a:r>
            <a:endParaRPr sz="1000">
              <a:latin typeface="Calibri"/>
              <a:ea typeface="Calibri"/>
              <a:cs typeface="Calibri"/>
              <a:sym typeface="Calibri"/>
            </a:endParaRPr>
          </a:p>
        </p:txBody>
      </p:sp>
      <p:sp>
        <p:nvSpPr>
          <p:cNvPr id="804" name="Google Shape;804;g230f3c2a219_0_194"/>
          <p:cNvSpPr txBox="1"/>
          <p:nvPr/>
        </p:nvSpPr>
        <p:spPr>
          <a:xfrm>
            <a:off x="7781925" y="5247525"/>
            <a:ext cx="25527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Fat-tree network</a:t>
            </a:r>
            <a:endParaRPr>
              <a:latin typeface="Calibri"/>
              <a:ea typeface="Calibri"/>
              <a:cs typeface="Calibri"/>
              <a:sym typeface="Calibri"/>
            </a:endParaRPr>
          </a:p>
          <a:p>
            <a:pPr indent="0" lvl="0" marL="0" rtl="0" algn="l">
              <a:spcBef>
                <a:spcPts val="0"/>
              </a:spcBef>
              <a:spcAft>
                <a:spcPts val="0"/>
              </a:spcAft>
              <a:buNone/>
            </a:pPr>
            <a:r>
              <a:rPr lang="en-US" sz="1000">
                <a:latin typeface="Calibri"/>
                <a:ea typeface="Calibri"/>
                <a:cs typeface="Calibri"/>
                <a:sym typeface="Calibri"/>
              </a:rPr>
              <a:t>Source: </a:t>
            </a:r>
            <a:r>
              <a:rPr lang="en-US" sz="1000" u="sng">
                <a:solidFill>
                  <a:schemeClr val="hlink"/>
                </a:solidFill>
                <a:latin typeface="Calibri"/>
                <a:ea typeface="Calibri"/>
                <a:cs typeface="Calibri"/>
                <a:sym typeface="Calibri"/>
                <a:hlinkClick r:id="rId4"/>
              </a:rPr>
              <a:t>https://en.wikipedia.org/wiki/Fat_tree#/media/File:Fat_tree_network.svg</a:t>
            </a:r>
            <a:endParaRPr sz="1000">
              <a:latin typeface="Calibri"/>
              <a:ea typeface="Calibri"/>
              <a:cs typeface="Calibri"/>
              <a:sym typeface="Calibri"/>
            </a:endParaRPr>
          </a:p>
          <a:p>
            <a:pPr indent="0" lvl="0" marL="0" rtl="0" algn="l">
              <a:spcBef>
                <a:spcPts val="0"/>
              </a:spcBef>
              <a:spcAft>
                <a:spcPts val="0"/>
              </a:spcAft>
              <a:buNone/>
            </a:pPr>
            <a:r>
              <a:rPr lang="en-US" sz="1000">
                <a:latin typeface="Calibri"/>
                <a:ea typeface="Calibri"/>
                <a:cs typeface="Calibri"/>
                <a:sym typeface="Calibri"/>
              </a:rPr>
              <a:t>License: public domain</a:t>
            </a:r>
            <a:endParaRPr sz="1000">
              <a:latin typeface="Calibri"/>
              <a:ea typeface="Calibri"/>
              <a:cs typeface="Calibri"/>
              <a:sym typeface="Calibri"/>
            </a:endParaRPr>
          </a:p>
        </p:txBody>
      </p:sp>
      <p:pic>
        <p:nvPicPr>
          <p:cNvPr id="805" name="Google Shape;805;g230f3c2a219_0_194"/>
          <p:cNvPicPr preferRelativeResize="0"/>
          <p:nvPr/>
        </p:nvPicPr>
        <p:blipFill>
          <a:blip r:embed="rId5">
            <a:alphaModFix/>
          </a:blip>
          <a:stretch>
            <a:fillRect/>
          </a:stretch>
        </p:blipFill>
        <p:spPr>
          <a:xfrm>
            <a:off x="5846525" y="1655413"/>
            <a:ext cx="5911949" cy="35471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g230f3c2a219_0_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Summary</a:t>
            </a:r>
            <a:endParaRPr/>
          </a:p>
        </p:txBody>
      </p:sp>
      <p:sp>
        <p:nvSpPr>
          <p:cNvPr id="812" name="Google Shape;812;g230f3c2a219_0_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AutoNum type="arabicPeriod"/>
            </a:pPr>
            <a:r>
              <a:rPr lang="en-US"/>
              <a:t>Defined what HPC is and why we need it</a:t>
            </a:r>
            <a:endParaRPr/>
          </a:p>
          <a:p>
            <a:pPr indent="-342900" lvl="0" marL="457200" rtl="0" algn="l">
              <a:spcBef>
                <a:spcPts val="0"/>
              </a:spcBef>
              <a:spcAft>
                <a:spcPts val="0"/>
              </a:spcAft>
              <a:buSzPts val="1800"/>
              <a:buAutoNum type="arabicPeriod"/>
            </a:pPr>
            <a:r>
              <a:rPr lang="en-US"/>
              <a:t>The 4 laws of HPC</a:t>
            </a:r>
            <a:endParaRPr/>
          </a:p>
          <a:p>
            <a:pPr indent="-342900" lvl="0" marL="457200" rtl="0" algn="l">
              <a:spcBef>
                <a:spcPts val="0"/>
              </a:spcBef>
              <a:spcAft>
                <a:spcPts val="0"/>
              </a:spcAft>
              <a:buSzPts val="1800"/>
              <a:buAutoNum type="arabicPeriod"/>
            </a:pPr>
            <a:r>
              <a:rPr lang="en-US"/>
              <a:t>Processor and cluster memory architecture</a:t>
            </a:r>
            <a:endParaRPr/>
          </a:p>
          <a:p>
            <a:pPr indent="-342900" lvl="0" marL="457200" rtl="0" algn="l">
              <a:spcBef>
                <a:spcPts val="0"/>
              </a:spcBef>
              <a:spcAft>
                <a:spcPts val="0"/>
              </a:spcAft>
              <a:buSzPts val="1800"/>
              <a:buAutoNum type="arabicPeriod"/>
            </a:pPr>
            <a:r>
              <a:rPr lang="en-US"/>
              <a:t>Vector processors</a:t>
            </a:r>
            <a:endParaRPr/>
          </a:p>
          <a:p>
            <a:pPr indent="-342900" lvl="0" marL="457200" rtl="0" algn="l">
              <a:spcBef>
                <a:spcPts val="0"/>
              </a:spcBef>
              <a:spcAft>
                <a:spcPts val="0"/>
              </a:spcAft>
              <a:buSzPts val="1800"/>
              <a:buAutoNum type="arabicPeriod"/>
            </a:pPr>
            <a:r>
              <a:rPr lang="en-US"/>
              <a:t>Code </a:t>
            </a:r>
            <a:r>
              <a:rPr lang="en-US"/>
              <a:t>suitability</a:t>
            </a:r>
            <a:r>
              <a:rPr lang="en-US"/>
              <a:t> parallelizing techniques</a:t>
            </a:r>
            <a:endParaRPr/>
          </a:p>
          <a:p>
            <a:pPr indent="-342900" lvl="0" marL="457200" rtl="0" algn="l">
              <a:spcBef>
                <a:spcPts val="0"/>
              </a:spcBef>
              <a:spcAft>
                <a:spcPts val="0"/>
              </a:spcAft>
              <a:buSzPts val="1800"/>
              <a:buAutoNum type="arabicPeriod"/>
            </a:pPr>
            <a:r>
              <a:rPr lang="en-US"/>
              <a:t>Communications/scalability</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230f3c2a219_0_2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Questions?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3">
      <a:dk1>
        <a:srgbClr val="000000"/>
      </a:dk1>
      <a:lt1>
        <a:srgbClr val="FFFFFF"/>
      </a:lt1>
      <a:dk2>
        <a:srgbClr val="455F51"/>
      </a:dk2>
      <a:lt2>
        <a:srgbClr val="E3DED1"/>
      </a:lt2>
      <a:accent1>
        <a:srgbClr val="4A7B29"/>
      </a:accent1>
      <a:accent2>
        <a:srgbClr val="63A537"/>
      </a:accent2>
      <a:accent3>
        <a:srgbClr val="E6D024"/>
      </a:accent3>
      <a:accent4>
        <a:srgbClr val="CC9700"/>
      </a:accent4>
      <a:accent5>
        <a:srgbClr val="4EB3CF"/>
      </a:accent5>
      <a:accent6>
        <a:srgbClr val="378DA6"/>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2021-08-02T19:08:36Z</dcterms:created>
  <dc:creator>John P. Hudson</dc:creator>
</cp:coreProperties>
</file>