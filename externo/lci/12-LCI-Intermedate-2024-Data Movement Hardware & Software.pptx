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Lst>
  <p:sldSz cy="6858000" cx="12192000"/>
  <p:notesSz cx="6858000" cy="9144000"/>
  <p:embeddedFontLst>
    <p:embeddedFont>
      <p:font typeface="Open Sans"/>
      <p:regular r:id="rId50"/>
      <p:bold r:id="rId51"/>
      <p:italic r:id="rId52"/>
      <p:boldItalic r:id="rId5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3840">
          <p15:clr>
            <a:srgbClr val="A4A3A4"/>
          </p15:clr>
        </p15:guide>
      </p15:sldGuideLst>
    </p:ext>
    <p:ext uri="GoogleSlidesCustomDataVersion2">
      <go:slidesCustomData xmlns:go="http://customooxmlschemas.google.com/" r:id="rId54" roundtripDataSignature="AMtx7mi8B1+0c5bgXGovxZ93CL/aeF/x2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E09D8144-0C87-43BA-8B1C-9E958D98EB15}">
  <a:tblStyle styleId="{E09D8144-0C87-43BA-8B1C-9E958D98EB15}" styleName="Table_0">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EBF5"/>
          </a:solidFill>
        </a:fill>
      </a:tcStyle>
    </a:wholeTbl>
    <a:band1H>
      <a:tcTxStyle/>
      <a:tcStyle>
        <a:fill>
          <a:solidFill>
            <a:srgbClr val="CDD4EA"/>
          </a:solidFill>
        </a:fill>
      </a:tcStyle>
    </a:band1H>
    <a:band2H>
      <a:tcTxStyle/>
    </a:band2H>
    <a:band1V>
      <a:tcTxStyle/>
      <a:tcStyle>
        <a:fill>
          <a:solidFill>
            <a:srgbClr val="CDD4EA"/>
          </a:solidFill>
        </a:fill>
      </a:tcStyle>
    </a:band1V>
    <a:band2V>
      <a:tcTxStyle/>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4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font" Target="fonts/OpenSans-bold.fntdata"/><Relationship Id="rId50" Type="http://schemas.openxmlformats.org/officeDocument/2006/relationships/font" Target="fonts/OpenSans-regular.fntdata"/><Relationship Id="rId53" Type="http://schemas.openxmlformats.org/officeDocument/2006/relationships/font" Target="fonts/OpenSans-boldItalic.fntdata"/><Relationship Id="rId52" Type="http://schemas.openxmlformats.org/officeDocument/2006/relationships/font" Target="fonts/OpenSans-italic.fntdata"/><Relationship Id="rId11" Type="http://schemas.openxmlformats.org/officeDocument/2006/relationships/slide" Target="slides/slide5.xml"/><Relationship Id="rId10" Type="http://schemas.openxmlformats.org/officeDocument/2006/relationships/slide" Target="slides/slide4.xml"/><Relationship Id="rId54" Type="http://customschemas.google.com/relationships/presentationmetadata" Target="metadata"/><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9" name="Google Shape;99;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6" name="Google Shape;106;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rmAutofit/>
          </a:bodyPr>
          <a:lstStyle/>
          <a:p>
            <a:pPr indent="0" lvl="0" marL="0" rtl="0" algn="l">
              <a:lnSpc>
                <a:spcPct val="80000"/>
              </a:lnSpc>
              <a:spcBef>
                <a:spcPts val="0"/>
              </a:spcBef>
              <a:spcAft>
                <a:spcPts val="0"/>
              </a:spcAft>
              <a:buNone/>
            </a:pPr>
            <a:r>
              <a:rPr lang="en-US" sz="930"/>
              <a:t>What composes a DTN</a:t>
            </a:r>
            <a:endParaRPr/>
          </a:p>
          <a:p>
            <a:pPr indent="0" lvl="0" marL="0" rtl="0" algn="l">
              <a:lnSpc>
                <a:spcPct val="80000"/>
              </a:lnSpc>
              <a:spcBef>
                <a:spcPts val="0"/>
              </a:spcBef>
              <a:spcAft>
                <a:spcPts val="0"/>
              </a:spcAft>
              <a:buNone/>
            </a:pPr>
            <a:r>
              <a:t/>
            </a:r>
            <a:endParaRPr sz="930"/>
          </a:p>
          <a:p>
            <a:pPr indent="0" lvl="0" marL="0" rtl="0" algn="l">
              <a:lnSpc>
                <a:spcPct val="80000"/>
              </a:lnSpc>
              <a:spcBef>
                <a:spcPts val="0"/>
              </a:spcBef>
              <a:spcAft>
                <a:spcPts val="0"/>
              </a:spcAft>
              <a:buNone/>
            </a:pPr>
            <a:r>
              <a:rPr lang="en-US" sz="1395"/>
              <a:t>A DTN server is made of several subsystems:</a:t>
            </a:r>
            <a:endParaRPr/>
          </a:p>
          <a:p>
            <a:pPr indent="0" lvl="1" marL="457200" rtl="0" algn="l">
              <a:lnSpc>
                <a:spcPct val="80000"/>
              </a:lnSpc>
              <a:spcBef>
                <a:spcPts val="0"/>
              </a:spcBef>
              <a:spcAft>
                <a:spcPts val="0"/>
              </a:spcAft>
              <a:buNone/>
            </a:pPr>
            <a:r>
              <a:rPr b="1" lang="en-US" sz="1085"/>
              <a:t>Storage</a:t>
            </a:r>
            <a:endParaRPr sz="1085"/>
          </a:p>
          <a:p>
            <a:pPr indent="0" lvl="1" marL="457200" rtl="0" algn="l">
              <a:lnSpc>
                <a:spcPct val="80000"/>
              </a:lnSpc>
              <a:spcBef>
                <a:spcPts val="0"/>
              </a:spcBef>
              <a:spcAft>
                <a:spcPts val="0"/>
              </a:spcAft>
              <a:buNone/>
            </a:pPr>
            <a:r>
              <a:rPr b="1" lang="en-US" sz="1085"/>
              <a:t>Networking</a:t>
            </a:r>
            <a:endParaRPr sz="1085"/>
          </a:p>
          <a:p>
            <a:pPr indent="0" lvl="1" marL="457200" rtl="0" algn="l">
              <a:lnSpc>
                <a:spcPct val="80000"/>
              </a:lnSpc>
              <a:spcBef>
                <a:spcPts val="0"/>
              </a:spcBef>
              <a:spcAft>
                <a:spcPts val="0"/>
              </a:spcAft>
              <a:buNone/>
            </a:pPr>
            <a:r>
              <a:rPr b="1" lang="en-US" sz="1085"/>
              <a:t>Motherboard</a:t>
            </a:r>
            <a:endParaRPr sz="1085"/>
          </a:p>
          <a:p>
            <a:pPr indent="0" lvl="1" marL="457200" rtl="0" algn="l">
              <a:lnSpc>
                <a:spcPct val="80000"/>
              </a:lnSpc>
              <a:spcBef>
                <a:spcPts val="0"/>
              </a:spcBef>
              <a:spcAft>
                <a:spcPts val="0"/>
              </a:spcAft>
              <a:buNone/>
            </a:pPr>
            <a:r>
              <a:rPr b="1" lang="en-US" sz="1085"/>
              <a:t>Chassis</a:t>
            </a:r>
            <a:endParaRPr sz="930"/>
          </a:p>
          <a:p>
            <a:pPr indent="0" lvl="0" marL="0" rtl="0" algn="l">
              <a:lnSpc>
                <a:spcPct val="80000"/>
              </a:lnSpc>
              <a:spcBef>
                <a:spcPts val="0"/>
              </a:spcBef>
              <a:spcAft>
                <a:spcPts val="0"/>
              </a:spcAft>
              <a:buNone/>
            </a:pPr>
            <a:r>
              <a:t/>
            </a:r>
            <a:endParaRPr sz="930"/>
          </a:p>
          <a:p>
            <a:pPr indent="0" lvl="0" marL="0" rtl="0" algn="l">
              <a:lnSpc>
                <a:spcPct val="80000"/>
              </a:lnSpc>
              <a:spcBef>
                <a:spcPts val="0"/>
              </a:spcBef>
              <a:spcAft>
                <a:spcPts val="0"/>
              </a:spcAft>
              <a:buNone/>
            </a:pPr>
            <a:r>
              <a:rPr lang="en-US" sz="930"/>
              <a:t>Each needs to perform optimally for the DTN workflow—any of these things components can be the bottleneck if you’re not careful</a:t>
            </a:r>
            <a:endParaRPr/>
          </a:p>
          <a:p>
            <a:pPr indent="0" lvl="0" marL="0" rtl="0" algn="l">
              <a:lnSpc>
                <a:spcPct val="80000"/>
              </a:lnSpc>
              <a:spcBef>
                <a:spcPts val="0"/>
              </a:spcBef>
              <a:spcAft>
                <a:spcPts val="0"/>
              </a:spcAft>
              <a:buNone/>
            </a:pPr>
            <a:r>
              <a:t/>
            </a:r>
            <a:endParaRPr sz="930"/>
          </a:p>
          <a:p>
            <a:pPr indent="0" lvl="0" marL="0" marR="0" rtl="0" algn="l">
              <a:lnSpc>
                <a:spcPct val="80000"/>
              </a:lnSpc>
              <a:spcBef>
                <a:spcPts val="0"/>
              </a:spcBef>
              <a:spcAft>
                <a:spcPts val="0"/>
              </a:spcAft>
              <a:buClr>
                <a:schemeClr val="dk1"/>
              </a:buClr>
              <a:buSzPts val="930"/>
              <a:buFont typeface="Calibri"/>
              <a:buNone/>
            </a:pPr>
            <a:r>
              <a:rPr lang="en-US" sz="930"/>
              <a:t>There is always one thing that prevents you from going faster—eliminate as many bottlenecks as possible with hardware as a start </a:t>
            </a:r>
            <a:endParaRPr/>
          </a:p>
          <a:p>
            <a:pPr indent="0" lvl="0" marL="0" marR="0" rtl="0" algn="l">
              <a:lnSpc>
                <a:spcPct val="80000"/>
              </a:lnSpc>
              <a:spcBef>
                <a:spcPts val="0"/>
              </a:spcBef>
              <a:spcAft>
                <a:spcPts val="0"/>
              </a:spcAft>
              <a:buClr>
                <a:schemeClr val="dk1"/>
              </a:buClr>
              <a:buSzPts val="930"/>
              <a:buFont typeface="Calibri"/>
              <a:buNone/>
            </a:pPr>
            <a:r>
              <a:t/>
            </a:r>
            <a:endParaRPr sz="930"/>
          </a:p>
          <a:p>
            <a:pPr indent="0" lvl="0" marL="0" marR="0" rtl="0" algn="l">
              <a:lnSpc>
                <a:spcPct val="80000"/>
              </a:lnSpc>
              <a:spcBef>
                <a:spcPts val="0"/>
              </a:spcBef>
              <a:spcAft>
                <a:spcPts val="0"/>
              </a:spcAft>
              <a:buClr>
                <a:schemeClr val="dk1"/>
              </a:buClr>
              <a:buSzPts val="930"/>
              <a:buFont typeface="Calibri"/>
              <a:buNone/>
            </a:pPr>
            <a:r>
              <a:rPr lang="en-US" sz="930"/>
              <a:t>Only job is big sequential writes and big sequential reads—large file IO</a:t>
            </a:r>
            <a:endParaRPr/>
          </a:p>
          <a:p>
            <a:pPr indent="0" lvl="0" marL="0" rtl="0" algn="l">
              <a:lnSpc>
                <a:spcPct val="80000"/>
              </a:lnSpc>
              <a:spcBef>
                <a:spcPts val="0"/>
              </a:spcBef>
              <a:spcAft>
                <a:spcPts val="0"/>
              </a:spcAft>
              <a:buNone/>
            </a:pPr>
            <a:r>
              <a:t/>
            </a:r>
            <a:endParaRPr sz="930"/>
          </a:p>
          <a:p>
            <a:pPr indent="0" lvl="0" marL="0" rtl="0" algn="l">
              <a:lnSpc>
                <a:spcPct val="80000"/>
              </a:lnSpc>
              <a:spcBef>
                <a:spcPts val="0"/>
              </a:spcBef>
              <a:spcAft>
                <a:spcPts val="0"/>
              </a:spcAft>
              <a:buNone/>
            </a:pPr>
            <a:r>
              <a:rPr lang="en-US" sz="930"/>
              <a:t>_______________</a:t>
            </a:r>
            <a:endParaRPr/>
          </a:p>
          <a:p>
            <a:pPr indent="0" lvl="0" marL="0" rtl="0" algn="l">
              <a:lnSpc>
                <a:spcPct val="80000"/>
              </a:lnSpc>
              <a:spcBef>
                <a:spcPts val="0"/>
              </a:spcBef>
              <a:spcAft>
                <a:spcPts val="0"/>
              </a:spcAft>
              <a:buNone/>
            </a:pPr>
            <a:r>
              <a:rPr b="1" lang="en-US" sz="930"/>
              <a:t>Also please note the workflow we are optimizing for here is </a:t>
            </a:r>
            <a:endParaRPr/>
          </a:p>
          <a:p>
            <a:pPr indent="0" lvl="0" marL="0" rtl="0" algn="l">
              <a:lnSpc>
                <a:spcPct val="80000"/>
              </a:lnSpc>
              <a:spcBef>
                <a:spcPts val="0"/>
              </a:spcBef>
              <a:spcAft>
                <a:spcPts val="0"/>
              </a:spcAft>
              <a:buNone/>
            </a:pPr>
            <a:r>
              <a:rPr b="1" lang="en-US" sz="930"/>
              <a:t>	sequential reads/write of large files, and a moderate number of high bandwidth flows. </a:t>
            </a:r>
            <a:endParaRPr sz="930"/>
          </a:p>
          <a:p>
            <a:pPr indent="0" lvl="0" marL="0" rtl="0" algn="l">
              <a:lnSpc>
                <a:spcPct val="80000"/>
              </a:lnSpc>
              <a:spcBef>
                <a:spcPts val="0"/>
              </a:spcBef>
              <a:spcAft>
                <a:spcPts val="0"/>
              </a:spcAft>
              <a:buNone/>
            </a:pPr>
            <a:r>
              <a:t/>
            </a:r>
            <a:endParaRPr sz="930"/>
          </a:p>
          <a:p>
            <a:pPr indent="0" lvl="0" marL="0" rtl="0" algn="l">
              <a:lnSpc>
                <a:spcPct val="80000"/>
              </a:lnSpc>
              <a:spcBef>
                <a:spcPts val="0"/>
              </a:spcBef>
              <a:spcAft>
                <a:spcPts val="0"/>
              </a:spcAft>
              <a:buNone/>
            </a:pPr>
            <a:r>
              <a:rPr lang="en-US" sz="930"/>
              <a:t>A Data Transfer Node is not a processing, rendering, server. Its only workflow is:</a:t>
            </a:r>
            <a:endParaRPr/>
          </a:p>
          <a:p>
            <a:pPr indent="0" lvl="0" marL="0" rtl="0" algn="l">
              <a:lnSpc>
                <a:spcPct val="80000"/>
              </a:lnSpc>
              <a:spcBef>
                <a:spcPts val="0"/>
              </a:spcBef>
              <a:spcAft>
                <a:spcPts val="0"/>
              </a:spcAft>
              <a:buNone/>
            </a:pPr>
            <a:r>
              <a:t/>
            </a:r>
            <a:endParaRPr sz="930"/>
          </a:p>
          <a:p>
            <a:pPr indent="0" lvl="0" marL="0" rtl="0" algn="l">
              <a:lnSpc>
                <a:spcPct val="80000"/>
              </a:lnSpc>
              <a:spcBef>
                <a:spcPts val="0"/>
              </a:spcBef>
              <a:spcAft>
                <a:spcPts val="0"/>
              </a:spcAft>
              <a:buNone/>
            </a:pPr>
            <a:r>
              <a:rPr lang="en-US" sz="930"/>
              <a:t>Sender host:</a:t>
            </a:r>
            <a:endParaRPr/>
          </a:p>
          <a:p>
            <a:pPr indent="0" lvl="0" marL="0" rtl="0" algn="l">
              <a:lnSpc>
                <a:spcPct val="80000"/>
              </a:lnSpc>
              <a:spcBef>
                <a:spcPts val="0"/>
              </a:spcBef>
              <a:spcAft>
                <a:spcPts val="0"/>
              </a:spcAft>
              <a:buNone/>
            </a:pPr>
            <a:r>
              <a:rPr lang="en-US" sz="930"/>
              <a:t>	1) read data from the storage subsystem</a:t>
            </a:r>
            <a:endParaRPr/>
          </a:p>
          <a:p>
            <a:pPr indent="0" lvl="0" marL="0" rtl="0" algn="l">
              <a:lnSpc>
                <a:spcPct val="80000"/>
              </a:lnSpc>
              <a:spcBef>
                <a:spcPts val="0"/>
              </a:spcBef>
              <a:spcAft>
                <a:spcPts val="0"/>
              </a:spcAft>
              <a:buNone/>
            </a:pPr>
            <a:r>
              <a:rPr lang="en-US" sz="930"/>
              <a:t>	2) send it to the receiver host</a:t>
            </a:r>
            <a:endParaRPr/>
          </a:p>
          <a:p>
            <a:pPr indent="0" lvl="0" marL="0" rtl="0" algn="l">
              <a:lnSpc>
                <a:spcPct val="80000"/>
              </a:lnSpc>
              <a:spcBef>
                <a:spcPts val="0"/>
              </a:spcBef>
              <a:spcAft>
                <a:spcPts val="0"/>
              </a:spcAft>
              <a:buNone/>
            </a:pPr>
            <a:r>
              <a:t/>
            </a:r>
            <a:endParaRPr sz="930"/>
          </a:p>
          <a:p>
            <a:pPr indent="0" lvl="0" marL="0" rtl="0" algn="l">
              <a:lnSpc>
                <a:spcPct val="80000"/>
              </a:lnSpc>
              <a:spcBef>
                <a:spcPts val="0"/>
              </a:spcBef>
              <a:spcAft>
                <a:spcPts val="0"/>
              </a:spcAft>
              <a:buNone/>
            </a:pPr>
            <a:r>
              <a:rPr lang="en-US" sz="930"/>
              <a:t>Receiver host:</a:t>
            </a:r>
            <a:endParaRPr/>
          </a:p>
          <a:p>
            <a:pPr indent="0" lvl="0" marL="0" rtl="0" algn="l">
              <a:lnSpc>
                <a:spcPct val="80000"/>
              </a:lnSpc>
              <a:spcBef>
                <a:spcPts val="0"/>
              </a:spcBef>
              <a:spcAft>
                <a:spcPts val="0"/>
              </a:spcAft>
              <a:buNone/>
            </a:pPr>
            <a:r>
              <a:rPr lang="en-US" sz="930"/>
              <a:t>	1) read data from the network</a:t>
            </a:r>
            <a:endParaRPr/>
          </a:p>
          <a:p>
            <a:pPr indent="0" lvl="0" marL="0" rtl="0" algn="l">
              <a:lnSpc>
                <a:spcPct val="80000"/>
              </a:lnSpc>
              <a:spcBef>
                <a:spcPts val="0"/>
              </a:spcBef>
              <a:spcAft>
                <a:spcPts val="0"/>
              </a:spcAft>
              <a:buNone/>
            </a:pPr>
            <a:r>
              <a:rPr lang="en-US" sz="930"/>
              <a:t>	2) write it onto the storage subsystem</a:t>
            </a:r>
            <a:endParaRPr/>
          </a:p>
          <a:p>
            <a:pPr indent="0" lvl="0" marL="0" rtl="0" algn="l">
              <a:lnSpc>
                <a:spcPct val="80000"/>
              </a:lnSpc>
              <a:spcBef>
                <a:spcPts val="0"/>
              </a:spcBef>
              <a:spcAft>
                <a:spcPts val="0"/>
              </a:spcAft>
              <a:buNone/>
            </a:pPr>
            <a:r>
              <a:t/>
            </a:r>
            <a:endParaRPr sz="930"/>
          </a:p>
        </p:txBody>
      </p:sp>
      <p:sp>
        <p:nvSpPr>
          <p:cNvPr id="107" name="Google Shape;107;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4" name="Google Shape;114;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questions to ask while making motherboard selection are:</a:t>
            </a:r>
            <a:endParaRPr/>
          </a:p>
          <a:p>
            <a:pPr indent="0" lvl="0" marL="0" rtl="0" algn="l">
              <a:spcBef>
                <a:spcPts val="0"/>
              </a:spcBef>
              <a:spcAft>
                <a:spcPts val="0"/>
              </a:spcAft>
              <a:buClr>
                <a:schemeClr val="dk1"/>
              </a:buClr>
              <a:buSzPts val="1200"/>
              <a:buFont typeface="Calibri"/>
              <a:buNone/>
            </a:pPr>
            <a:r>
              <a:t/>
            </a:r>
            <a:endParaRPr/>
          </a:p>
          <a:p>
            <a:pPr indent="0" lvl="0" marL="0" rtl="0" algn="l">
              <a:spcBef>
                <a:spcPts val="0"/>
              </a:spcBef>
              <a:spcAft>
                <a:spcPts val="0"/>
              </a:spcAft>
              <a:buNone/>
            </a:pPr>
            <a:r>
              <a:rPr lang="en-US"/>
              <a:t> How many cores do you need?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And at what speed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What kind of remote access (for maintenance) do you need?</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In general, for your motherboard you want to make sure you have </a:t>
            </a:r>
            <a:endParaRPr/>
          </a:p>
          <a:p>
            <a:pPr indent="0" lvl="0" marL="0" rtl="0" algn="l">
              <a:spcBef>
                <a:spcPts val="0"/>
              </a:spcBef>
              <a:spcAft>
                <a:spcPts val="0"/>
              </a:spcAft>
              <a:buNone/>
            </a:pPr>
            <a:r>
              <a:rPr lang="en-US"/>
              <a:t>	PCI Gen3 capabilities</a:t>
            </a:r>
            <a:endParaRPr/>
          </a:p>
          <a:p>
            <a:pPr indent="0" lvl="0" marL="0" rtl="0" algn="l">
              <a:spcBef>
                <a:spcPts val="0"/>
              </a:spcBef>
              <a:spcAft>
                <a:spcPts val="0"/>
              </a:spcAft>
              <a:buNone/>
            </a:pPr>
            <a:r>
              <a:rPr lang="en-US"/>
              <a:t>	plenty of memory (both speed and space)</a:t>
            </a:r>
            <a:endParaRPr/>
          </a:p>
          <a:p>
            <a:pPr indent="0" lvl="0" marL="0" rtl="0" algn="l">
              <a:spcBef>
                <a:spcPts val="0"/>
              </a:spcBef>
              <a:spcAft>
                <a:spcPts val="0"/>
              </a:spcAft>
              <a:buNone/>
            </a:pPr>
            <a:r>
              <a:t/>
            </a:r>
            <a:endParaRPr/>
          </a:p>
          <a:p>
            <a:pPr indent="0" lvl="0" marL="0" rtl="0" algn="l">
              <a:spcBef>
                <a:spcPts val="0"/>
              </a:spcBef>
              <a:spcAft>
                <a:spcPts val="0"/>
              </a:spcAft>
              <a:buClr>
                <a:schemeClr val="dk1"/>
              </a:buClr>
              <a:buSzPts val="1800"/>
              <a:buFont typeface="Arial"/>
              <a:buNone/>
            </a:pPr>
            <a:r>
              <a:rPr lang="en-US" sz="1800"/>
              <a:t>For example,</a:t>
            </a:r>
            <a:endParaRPr sz="1800"/>
          </a:p>
          <a:p>
            <a:pPr indent="-114300" lvl="0" marL="0" rtl="0" algn="l">
              <a:spcBef>
                <a:spcPts val="0"/>
              </a:spcBef>
              <a:spcAft>
                <a:spcPts val="0"/>
              </a:spcAft>
              <a:buClr>
                <a:schemeClr val="dk1"/>
              </a:buClr>
              <a:buSzPts val="1800"/>
              <a:buFont typeface="Arial"/>
              <a:buChar char="•"/>
            </a:pPr>
            <a:r>
              <a:rPr lang="en-US" sz="1800"/>
              <a:t>Intel’s Sandy/Ivy Bridge (Ivy Bridge is about 20% faster) CPU architecture provides these features, </a:t>
            </a:r>
            <a:endParaRPr/>
          </a:p>
          <a:p>
            <a:pPr indent="0" lvl="1" marL="457200" rtl="0" algn="l">
              <a:spcBef>
                <a:spcPts val="0"/>
              </a:spcBef>
              <a:spcAft>
                <a:spcPts val="0"/>
              </a:spcAft>
              <a:buClr>
                <a:schemeClr val="dk1"/>
              </a:buClr>
              <a:buSzPts val="1800"/>
              <a:buFont typeface="Merriweather Sans"/>
              <a:buNone/>
            </a:pPr>
            <a:r>
              <a:t/>
            </a:r>
            <a:endParaRPr sz="1800"/>
          </a:p>
          <a:p>
            <a:pPr indent="0" lvl="0" marL="0" rtl="0" algn="l">
              <a:spcBef>
                <a:spcPts val="0"/>
              </a:spcBef>
              <a:spcAft>
                <a:spcPts val="0"/>
              </a:spcAft>
              <a:buNone/>
            </a:pPr>
            <a:r>
              <a:rPr lang="en-US"/>
              <a:t>An inadequate motherboard can become a major bottleneck. </a:t>
            </a:r>
            <a:endParaRPr/>
          </a:p>
          <a:p>
            <a:pPr indent="0" lvl="0" marL="0" rtl="0" algn="l">
              <a:spcBef>
                <a:spcPts val="0"/>
              </a:spcBef>
              <a:spcAft>
                <a:spcPts val="0"/>
              </a:spcAft>
              <a:buNone/>
            </a:pPr>
            <a:r>
              <a:rPr lang="en-US"/>
              <a:t>It is, then, very important to correctly select it. </a:t>
            </a:r>
            <a:endParaRPr sz="1800"/>
          </a:p>
          <a:p>
            <a:pPr indent="0" lvl="0" marL="0" rtl="0" algn="l">
              <a:spcBef>
                <a:spcPts val="0"/>
              </a:spcBef>
              <a:spcAft>
                <a:spcPts val="0"/>
              </a:spcAft>
              <a:buNone/>
            </a:pPr>
            <a:r>
              <a:t/>
            </a:r>
            <a:endParaRPr/>
          </a:p>
        </p:txBody>
      </p:sp>
      <p:sp>
        <p:nvSpPr>
          <p:cNvPr id="115" name="Google Shape;115;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2" name="Google Shape;122;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When thinking about the PCI slots, need to ask”</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 How many PCI cards will you need ? How many lanes each ?</a:t>
            </a:r>
            <a:endParaRPr/>
          </a:p>
          <a:p>
            <a:pPr indent="0" lvl="0" marL="0" rtl="0" algn="l">
              <a:spcBef>
                <a:spcPts val="0"/>
              </a:spcBef>
              <a:spcAft>
                <a:spcPts val="0"/>
              </a:spcAft>
              <a:buClr>
                <a:schemeClr val="dk1"/>
              </a:buClr>
              <a:buSzPts val="1200"/>
              <a:buFont typeface="Calibri"/>
              <a:buNone/>
            </a:pPr>
            <a:r>
              <a:t/>
            </a:r>
            <a:endParaRPr/>
          </a:p>
          <a:p>
            <a:pPr indent="0" lvl="0" marL="0" rtl="0" algn="l">
              <a:spcBef>
                <a:spcPts val="0"/>
              </a:spcBef>
              <a:spcAft>
                <a:spcPts val="0"/>
              </a:spcAft>
              <a:buNone/>
            </a:pPr>
            <a:r>
              <a:rPr lang="en-US"/>
              <a:t> What is the aggregate throughput you need on your PCI cards ?</a:t>
            </a:r>
            <a:endParaRPr/>
          </a:p>
          <a:p>
            <a:pPr indent="0" lvl="0" marL="0" marR="0" rtl="0" algn="l">
              <a:lnSpc>
                <a:spcPct val="100000"/>
              </a:lnSpc>
              <a:spcBef>
                <a:spcPts val="0"/>
              </a:spcBef>
              <a:spcAft>
                <a:spcPts val="0"/>
              </a:spcAft>
              <a:buClr>
                <a:schemeClr val="dk1"/>
              </a:buClr>
              <a:buSzPts val="1200"/>
              <a:buFont typeface="Calibri"/>
              <a:buNone/>
            </a:pPr>
            <a:r>
              <a:t/>
            </a:r>
            <a:endParaRPr/>
          </a:p>
          <a:p>
            <a:pPr indent="0" lvl="0" marL="0" marR="0" rtl="0" algn="l">
              <a:lnSpc>
                <a:spcPct val="100000"/>
              </a:lnSpc>
              <a:spcBef>
                <a:spcPts val="0"/>
              </a:spcBef>
              <a:spcAft>
                <a:spcPts val="0"/>
              </a:spcAft>
              <a:buClr>
                <a:schemeClr val="dk1"/>
              </a:buClr>
              <a:buSzPts val="1200"/>
              <a:buFont typeface="Calibri"/>
              <a:buNone/>
            </a:pPr>
            <a:r>
              <a:t/>
            </a:r>
            <a:endParaRPr/>
          </a:p>
          <a:p>
            <a:pPr indent="0" lvl="0" marL="0" marR="0" rtl="0" algn="l">
              <a:lnSpc>
                <a:spcPct val="100000"/>
              </a:lnSpc>
              <a:spcBef>
                <a:spcPts val="0"/>
              </a:spcBef>
              <a:spcAft>
                <a:spcPts val="0"/>
              </a:spcAft>
              <a:buClr>
                <a:schemeClr val="dk1"/>
              </a:buClr>
              <a:buSzPts val="1200"/>
              <a:buFont typeface="Calibri"/>
              <a:buNone/>
            </a:pPr>
            <a:r>
              <a:rPr lang="en-US"/>
              <a:t>PCI slots are defined by slot width and lane count</a:t>
            </a:r>
            <a:endParaRPr/>
          </a:p>
          <a:p>
            <a:pPr indent="0" lvl="0" marL="0" marR="0" rtl="0" algn="l">
              <a:lnSpc>
                <a:spcPct val="100000"/>
              </a:lnSpc>
              <a:spcBef>
                <a:spcPts val="0"/>
              </a:spcBef>
              <a:spcAft>
                <a:spcPts val="0"/>
              </a:spcAft>
              <a:buClr>
                <a:schemeClr val="dk1"/>
              </a:buClr>
              <a:buSzPts val="1200"/>
              <a:buFont typeface="Calibri"/>
              <a:buNone/>
            </a:pPr>
            <a:r>
              <a:t/>
            </a:r>
            <a:endParaRPr/>
          </a:p>
          <a:p>
            <a:pPr indent="0" lvl="0" marL="0" marR="0" rtl="0" algn="l">
              <a:lnSpc>
                <a:spcPct val="100000"/>
              </a:lnSpc>
              <a:spcBef>
                <a:spcPts val="0"/>
              </a:spcBef>
              <a:spcAft>
                <a:spcPts val="0"/>
              </a:spcAft>
              <a:buClr>
                <a:schemeClr val="dk1"/>
              </a:buClr>
              <a:buSzPts val="1200"/>
              <a:buFont typeface="Calibri"/>
              <a:buNone/>
            </a:pPr>
            <a:r>
              <a:rPr lang="en-US"/>
              <a:t>Basically just need to make sure you have the right number for the right PCI slots</a:t>
            </a:r>
            <a:endParaRPr/>
          </a:p>
          <a:p>
            <a:pPr indent="0" lvl="0" marL="0" marR="0" rtl="0" algn="l">
              <a:lnSpc>
                <a:spcPct val="100000"/>
              </a:lnSpc>
              <a:spcBef>
                <a:spcPts val="0"/>
              </a:spcBef>
              <a:spcAft>
                <a:spcPts val="0"/>
              </a:spcAft>
              <a:buClr>
                <a:schemeClr val="dk1"/>
              </a:buClr>
              <a:buSzPts val="1200"/>
              <a:buFont typeface="Calibri"/>
              <a:buNone/>
            </a:pPr>
            <a:r>
              <a:t/>
            </a:r>
            <a:endParaRPr/>
          </a:p>
          <a:p>
            <a:pPr indent="0" lvl="0" marL="0" marR="0" rtl="0" algn="l">
              <a:lnSpc>
                <a:spcPct val="100000"/>
              </a:lnSpc>
              <a:spcBef>
                <a:spcPts val="0"/>
              </a:spcBef>
              <a:spcAft>
                <a:spcPts val="0"/>
              </a:spcAft>
              <a:buClr>
                <a:schemeClr val="dk1"/>
              </a:buClr>
              <a:buSzPts val="1200"/>
              <a:buFont typeface="Calibri"/>
              <a:buNone/>
            </a:pPr>
            <a:r>
              <a:rPr lang="en-US"/>
              <a:t>RAID controllers, NICs, and anything connected to the network goes through the PCI cards</a:t>
            </a:r>
            <a:endParaRPr/>
          </a:p>
          <a:p>
            <a:pPr indent="0" lvl="0" marL="0" marR="0" rtl="0" algn="l">
              <a:lnSpc>
                <a:spcPct val="100000"/>
              </a:lnSpc>
              <a:spcBef>
                <a:spcPts val="0"/>
              </a:spcBef>
              <a:spcAft>
                <a:spcPts val="0"/>
              </a:spcAft>
              <a:buClr>
                <a:schemeClr val="dk1"/>
              </a:buClr>
              <a:buSzPts val="1200"/>
              <a:buFont typeface="Calibri"/>
              <a:buNone/>
            </a:pPr>
            <a:r>
              <a:t/>
            </a:r>
            <a:endParaRPr/>
          </a:p>
          <a:p>
            <a:pPr indent="0" lvl="0" marL="0" marR="0" rtl="0" algn="l">
              <a:lnSpc>
                <a:spcPct val="100000"/>
              </a:lnSpc>
              <a:spcBef>
                <a:spcPts val="0"/>
              </a:spcBef>
              <a:spcAft>
                <a:spcPts val="0"/>
              </a:spcAft>
              <a:buClr>
                <a:schemeClr val="dk1"/>
              </a:buClr>
              <a:buSzPts val="1200"/>
              <a:buFont typeface="Calibri"/>
              <a:buNone/>
            </a:pPr>
            <a:r>
              <a:rPr lang="en-US"/>
              <a:t>If its not fast enough, this will be your bottleneck</a:t>
            </a:r>
            <a:endParaRPr/>
          </a:p>
          <a:p>
            <a:pPr indent="0" lvl="0" marL="0" marR="0" rtl="0" algn="l">
              <a:lnSpc>
                <a:spcPct val="100000"/>
              </a:lnSpc>
              <a:spcBef>
                <a:spcPts val="0"/>
              </a:spcBef>
              <a:spcAft>
                <a:spcPts val="0"/>
              </a:spcAft>
              <a:buClr>
                <a:schemeClr val="dk1"/>
              </a:buClr>
              <a:buSzPts val="1200"/>
              <a:buFont typeface="Calibri"/>
              <a:buNone/>
            </a:pPr>
            <a:r>
              <a:t/>
            </a:r>
            <a:endParaRPr/>
          </a:p>
          <a:p>
            <a:pPr indent="0" lvl="0" marL="0" marR="0" rtl="0" algn="l">
              <a:lnSpc>
                <a:spcPct val="100000"/>
              </a:lnSpc>
              <a:spcBef>
                <a:spcPts val="0"/>
              </a:spcBef>
              <a:spcAft>
                <a:spcPts val="0"/>
              </a:spcAft>
              <a:buClr>
                <a:schemeClr val="dk1"/>
              </a:buClr>
              <a:buSzPts val="1200"/>
              <a:buFont typeface="Calibri"/>
              <a:buNone/>
            </a:pPr>
            <a:r>
              <a:rPr lang="en-US"/>
              <a:t>________________________</a:t>
            </a:r>
            <a:endParaRPr/>
          </a:p>
          <a:p>
            <a:pPr indent="0" lvl="0" marL="0" marR="0" rtl="0" algn="l">
              <a:lnSpc>
                <a:spcPct val="100000"/>
              </a:lnSpc>
              <a:spcBef>
                <a:spcPts val="0"/>
              </a:spcBef>
              <a:spcAft>
                <a:spcPts val="0"/>
              </a:spcAft>
              <a:buClr>
                <a:schemeClr val="dk1"/>
              </a:buClr>
              <a:buSzPts val="1200"/>
              <a:buFont typeface="Calibri"/>
              <a:buNone/>
            </a:pPr>
            <a:r>
              <a:t/>
            </a:r>
            <a:endParaRPr/>
          </a:p>
          <a:p>
            <a:pPr indent="0" lvl="1" marL="457200" rtl="0" algn="l">
              <a:spcBef>
                <a:spcPts val="0"/>
              </a:spcBef>
              <a:spcAft>
                <a:spcPts val="0"/>
              </a:spcAft>
              <a:buNone/>
            </a:pPr>
            <a:r>
              <a:rPr lang="en-US"/>
              <a:t>Form Factor: This is the length of the slots, referred as the number of PCI lanes it can support, and cards. A 16 lane controller is twice as long as an 8 lane controller.</a:t>
            </a:r>
            <a:endParaRPr/>
          </a:p>
          <a:p>
            <a:pPr indent="0" lvl="1" marL="457200" rtl="0" algn="l">
              <a:spcBef>
                <a:spcPts val="0"/>
              </a:spcBef>
              <a:spcAft>
                <a:spcPts val="0"/>
              </a:spcAft>
              <a:buNone/>
            </a:pPr>
            <a:r>
              <a:rPr lang="en-US"/>
              <a:t>Number of wired lanes: not all lanes of the slot may be wired. Some 8 lane controller may only have 4 lanes wired.</a:t>
            </a:r>
            <a:endParaRPr/>
          </a:p>
          <a:p>
            <a:pPr indent="0" lvl="1" marL="457200" rtl="0" algn="l">
              <a:spcBef>
                <a:spcPts val="0"/>
              </a:spcBef>
              <a:spcAft>
                <a:spcPts val="0"/>
              </a:spcAft>
              <a:buNone/>
            </a:pPr>
            <a:r>
              <a:rPr lang="en-US"/>
              <a:t>Bridges</a:t>
            </a:r>
            <a:endParaRPr/>
          </a:p>
          <a:p>
            <a:pPr indent="0" lvl="2" marL="914400" rtl="0" algn="l">
              <a:spcBef>
                <a:spcPts val="0"/>
              </a:spcBef>
              <a:spcAft>
                <a:spcPts val="0"/>
              </a:spcAft>
              <a:buNone/>
            </a:pPr>
            <a:r>
              <a:rPr lang="en-US"/>
              <a:t>PCIe 2.0 is 500 MB/sec per lane. A typical host supports 8 lane (x8) slots but only runs at half speed: 4 GB/sec. A high-end host might have 16 lane (x16) slots, or up to 8 GB/sec. </a:t>
            </a:r>
            <a:endParaRPr/>
          </a:p>
          <a:p>
            <a:pPr indent="0" lvl="2" marL="914400" rtl="0" algn="l">
              <a:spcBef>
                <a:spcPts val="0"/>
              </a:spcBef>
              <a:spcAft>
                <a:spcPts val="0"/>
              </a:spcAft>
              <a:buNone/>
            </a:pPr>
            <a:r>
              <a:rPr lang="en-US"/>
              <a:t>PCIe 3.0 = Double the above</a:t>
            </a:r>
            <a:endParaRPr/>
          </a:p>
          <a:p>
            <a:pPr indent="0" lvl="0" marL="0" rtl="0" algn="l">
              <a:spcBef>
                <a:spcPts val="0"/>
              </a:spcBef>
              <a:spcAft>
                <a:spcPts val="0"/>
              </a:spcAft>
              <a:buNone/>
            </a:pPr>
            <a:r>
              <a:t/>
            </a:r>
            <a:endParaRPr/>
          </a:p>
          <a:p>
            <a:pPr indent="0" lvl="0" marL="0" marR="0" rtl="0" algn="l">
              <a:lnSpc>
                <a:spcPct val="100000"/>
              </a:lnSpc>
              <a:spcBef>
                <a:spcPts val="0"/>
              </a:spcBef>
              <a:spcAft>
                <a:spcPts val="0"/>
              </a:spcAft>
              <a:buClr>
                <a:schemeClr val="dk1"/>
              </a:buClr>
              <a:buSzPts val="1200"/>
              <a:buFont typeface="Calibri"/>
              <a:buNone/>
            </a:pPr>
            <a:r>
              <a:rPr lang="en-US"/>
              <a:t>RAID controllers, NICs and anything connected to the network goes through PCIe—if its not fast enough, this will be the bottleneck.</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US" sz="1200"/>
              <a:t>Make sure the motherboard you select has the right number of slots with the right number of lanes for you planned usage. </a:t>
            </a:r>
            <a:endParaRPr/>
          </a:p>
          <a:p>
            <a:pPr indent="0" lvl="0" marL="0" rtl="0" algn="l">
              <a:spcBef>
                <a:spcPts val="0"/>
              </a:spcBef>
              <a:spcAft>
                <a:spcPts val="0"/>
              </a:spcAft>
              <a:buNone/>
            </a:pPr>
            <a:r>
              <a:t/>
            </a:r>
            <a:endParaRPr b="1" sz="1200"/>
          </a:p>
          <a:p>
            <a:pPr indent="0" lvl="0" marL="0" rtl="0" algn="l">
              <a:spcBef>
                <a:spcPts val="0"/>
              </a:spcBef>
              <a:spcAft>
                <a:spcPts val="0"/>
              </a:spcAft>
              <a:buNone/>
            </a:pPr>
            <a:r>
              <a:t/>
            </a:r>
            <a:endParaRPr b="1" sz="1200"/>
          </a:p>
          <a:p>
            <a:pPr indent="0" lvl="0" marL="0" rtl="0" algn="l">
              <a:spcBef>
                <a:spcPts val="0"/>
              </a:spcBef>
              <a:spcAft>
                <a:spcPts val="0"/>
              </a:spcAft>
              <a:buNone/>
            </a:pPr>
            <a:r>
              <a:t/>
            </a:r>
            <a:endParaRPr b="1"/>
          </a:p>
          <a:p>
            <a:pPr indent="0" lvl="0" marL="0" rtl="0" algn="l">
              <a:spcBef>
                <a:spcPts val="0"/>
              </a:spcBef>
              <a:spcAft>
                <a:spcPts val="0"/>
              </a:spcAft>
              <a:buNone/>
            </a:pPr>
            <a:r>
              <a:t/>
            </a:r>
            <a:endParaRPr/>
          </a:p>
        </p:txBody>
      </p:sp>
      <p:sp>
        <p:nvSpPr>
          <p:cNvPr id="123" name="Google Shape;123;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0" name="Google Shape;130;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When thinking about the PCI slots, need to ask”</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 How many PCI cards will you need ? How many lanes each ?</a:t>
            </a:r>
            <a:endParaRPr/>
          </a:p>
          <a:p>
            <a:pPr indent="0" lvl="0" marL="0" rtl="0" algn="l">
              <a:spcBef>
                <a:spcPts val="0"/>
              </a:spcBef>
              <a:spcAft>
                <a:spcPts val="0"/>
              </a:spcAft>
              <a:buClr>
                <a:schemeClr val="dk1"/>
              </a:buClr>
              <a:buSzPts val="1200"/>
              <a:buFont typeface="Calibri"/>
              <a:buNone/>
            </a:pPr>
            <a:r>
              <a:t/>
            </a:r>
            <a:endParaRPr/>
          </a:p>
          <a:p>
            <a:pPr indent="0" lvl="0" marL="0" rtl="0" algn="l">
              <a:spcBef>
                <a:spcPts val="0"/>
              </a:spcBef>
              <a:spcAft>
                <a:spcPts val="0"/>
              </a:spcAft>
              <a:buNone/>
            </a:pPr>
            <a:r>
              <a:rPr lang="en-US"/>
              <a:t> What is the aggregate throughput you need on your PCI cards ?</a:t>
            </a:r>
            <a:endParaRPr/>
          </a:p>
          <a:p>
            <a:pPr indent="0" lvl="0" marL="0" marR="0" rtl="0" algn="l">
              <a:lnSpc>
                <a:spcPct val="100000"/>
              </a:lnSpc>
              <a:spcBef>
                <a:spcPts val="0"/>
              </a:spcBef>
              <a:spcAft>
                <a:spcPts val="0"/>
              </a:spcAft>
              <a:buClr>
                <a:schemeClr val="dk1"/>
              </a:buClr>
              <a:buSzPts val="1200"/>
              <a:buFont typeface="Calibri"/>
              <a:buNone/>
            </a:pPr>
            <a:r>
              <a:t/>
            </a:r>
            <a:endParaRPr/>
          </a:p>
          <a:p>
            <a:pPr indent="0" lvl="0" marL="0" marR="0" rtl="0" algn="l">
              <a:lnSpc>
                <a:spcPct val="100000"/>
              </a:lnSpc>
              <a:spcBef>
                <a:spcPts val="0"/>
              </a:spcBef>
              <a:spcAft>
                <a:spcPts val="0"/>
              </a:spcAft>
              <a:buClr>
                <a:schemeClr val="dk1"/>
              </a:buClr>
              <a:buSzPts val="1200"/>
              <a:buFont typeface="Calibri"/>
              <a:buNone/>
            </a:pPr>
            <a:r>
              <a:t/>
            </a:r>
            <a:endParaRPr/>
          </a:p>
          <a:p>
            <a:pPr indent="0" lvl="0" marL="0" marR="0" rtl="0" algn="l">
              <a:lnSpc>
                <a:spcPct val="100000"/>
              </a:lnSpc>
              <a:spcBef>
                <a:spcPts val="0"/>
              </a:spcBef>
              <a:spcAft>
                <a:spcPts val="0"/>
              </a:spcAft>
              <a:buClr>
                <a:schemeClr val="dk1"/>
              </a:buClr>
              <a:buSzPts val="1200"/>
              <a:buFont typeface="Calibri"/>
              <a:buNone/>
            </a:pPr>
            <a:r>
              <a:rPr lang="en-US"/>
              <a:t>PCI slots are defined by slot width and lane count</a:t>
            </a:r>
            <a:endParaRPr/>
          </a:p>
          <a:p>
            <a:pPr indent="0" lvl="0" marL="0" marR="0" rtl="0" algn="l">
              <a:lnSpc>
                <a:spcPct val="100000"/>
              </a:lnSpc>
              <a:spcBef>
                <a:spcPts val="0"/>
              </a:spcBef>
              <a:spcAft>
                <a:spcPts val="0"/>
              </a:spcAft>
              <a:buClr>
                <a:schemeClr val="dk1"/>
              </a:buClr>
              <a:buSzPts val="1200"/>
              <a:buFont typeface="Calibri"/>
              <a:buNone/>
            </a:pPr>
            <a:r>
              <a:t/>
            </a:r>
            <a:endParaRPr/>
          </a:p>
          <a:p>
            <a:pPr indent="0" lvl="0" marL="0" marR="0" rtl="0" algn="l">
              <a:lnSpc>
                <a:spcPct val="100000"/>
              </a:lnSpc>
              <a:spcBef>
                <a:spcPts val="0"/>
              </a:spcBef>
              <a:spcAft>
                <a:spcPts val="0"/>
              </a:spcAft>
              <a:buClr>
                <a:schemeClr val="dk1"/>
              </a:buClr>
              <a:buSzPts val="1200"/>
              <a:buFont typeface="Calibri"/>
              <a:buNone/>
            </a:pPr>
            <a:r>
              <a:rPr lang="en-US"/>
              <a:t>Basically just need to make sure you have the right number for the right PCI slots</a:t>
            </a:r>
            <a:endParaRPr/>
          </a:p>
          <a:p>
            <a:pPr indent="0" lvl="0" marL="0" marR="0" rtl="0" algn="l">
              <a:lnSpc>
                <a:spcPct val="100000"/>
              </a:lnSpc>
              <a:spcBef>
                <a:spcPts val="0"/>
              </a:spcBef>
              <a:spcAft>
                <a:spcPts val="0"/>
              </a:spcAft>
              <a:buClr>
                <a:schemeClr val="dk1"/>
              </a:buClr>
              <a:buSzPts val="1200"/>
              <a:buFont typeface="Calibri"/>
              <a:buNone/>
            </a:pPr>
            <a:r>
              <a:t/>
            </a:r>
            <a:endParaRPr/>
          </a:p>
          <a:p>
            <a:pPr indent="0" lvl="0" marL="0" marR="0" rtl="0" algn="l">
              <a:lnSpc>
                <a:spcPct val="100000"/>
              </a:lnSpc>
              <a:spcBef>
                <a:spcPts val="0"/>
              </a:spcBef>
              <a:spcAft>
                <a:spcPts val="0"/>
              </a:spcAft>
              <a:buClr>
                <a:schemeClr val="dk1"/>
              </a:buClr>
              <a:buSzPts val="1200"/>
              <a:buFont typeface="Calibri"/>
              <a:buNone/>
            </a:pPr>
            <a:r>
              <a:rPr lang="en-US"/>
              <a:t>RAID controllers, NICs, and anything connected to the network goes through the PCI cards</a:t>
            </a:r>
            <a:endParaRPr/>
          </a:p>
          <a:p>
            <a:pPr indent="0" lvl="0" marL="0" marR="0" rtl="0" algn="l">
              <a:lnSpc>
                <a:spcPct val="100000"/>
              </a:lnSpc>
              <a:spcBef>
                <a:spcPts val="0"/>
              </a:spcBef>
              <a:spcAft>
                <a:spcPts val="0"/>
              </a:spcAft>
              <a:buClr>
                <a:schemeClr val="dk1"/>
              </a:buClr>
              <a:buSzPts val="1200"/>
              <a:buFont typeface="Calibri"/>
              <a:buNone/>
            </a:pPr>
            <a:r>
              <a:t/>
            </a:r>
            <a:endParaRPr/>
          </a:p>
          <a:p>
            <a:pPr indent="0" lvl="0" marL="0" marR="0" rtl="0" algn="l">
              <a:lnSpc>
                <a:spcPct val="100000"/>
              </a:lnSpc>
              <a:spcBef>
                <a:spcPts val="0"/>
              </a:spcBef>
              <a:spcAft>
                <a:spcPts val="0"/>
              </a:spcAft>
              <a:buClr>
                <a:schemeClr val="dk1"/>
              </a:buClr>
              <a:buSzPts val="1200"/>
              <a:buFont typeface="Calibri"/>
              <a:buNone/>
            </a:pPr>
            <a:r>
              <a:rPr lang="en-US"/>
              <a:t>If its not fast enough, this will be your bottleneck</a:t>
            </a:r>
            <a:endParaRPr/>
          </a:p>
          <a:p>
            <a:pPr indent="0" lvl="0" marL="0" marR="0" rtl="0" algn="l">
              <a:lnSpc>
                <a:spcPct val="100000"/>
              </a:lnSpc>
              <a:spcBef>
                <a:spcPts val="0"/>
              </a:spcBef>
              <a:spcAft>
                <a:spcPts val="0"/>
              </a:spcAft>
              <a:buClr>
                <a:schemeClr val="dk1"/>
              </a:buClr>
              <a:buSzPts val="1200"/>
              <a:buFont typeface="Calibri"/>
              <a:buNone/>
            </a:pPr>
            <a:r>
              <a:t/>
            </a:r>
            <a:endParaRPr/>
          </a:p>
          <a:p>
            <a:pPr indent="0" lvl="0" marL="0" marR="0" rtl="0" algn="l">
              <a:lnSpc>
                <a:spcPct val="100000"/>
              </a:lnSpc>
              <a:spcBef>
                <a:spcPts val="0"/>
              </a:spcBef>
              <a:spcAft>
                <a:spcPts val="0"/>
              </a:spcAft>
              <a:buClr>
                <a:schemeClr val="dk1"/>
              </a:buClr>
              <a:buSzPts val="1200"/>
              <a:buFont typeface="Calibri"/>
              <a:buNone/>
            </a:pPr>
            <a:r>
              <a:rPr lang="en-US"/>
              <a:t>________________________</a:t>
            </a:r>
            <a:endParaRPr/>
          </a:p>
          <a:p>
            <a:pPr indent="0" lvl="0" marL="0" marR="0" rtl="0" algn="l">
              <a:lnSpc>
                <a:spcPct val="100000"/>
              </a:lnSpc>
              <a:spcBef>
                <a:spcPts val="0"/>
              </a:spcBef>
              <a:spcAft>
                <a:spcPts val="0"/>
              </a:spcAft>
              <a:buClr>
                <a:schemeClr val="dk1"/>
              </a:buClr>
              <a:buSzPts val="1200"/>
              <a:buFont typeface="Calibri"/>
              <a:buNone/>
            </a:pPr>
            <a:r>
              <a:t/>
            </a:r>
            <a:endParaRPr/>
          </a:p>
          <a:p>
            <a:pPr indent="0" lvl="1" marL="457200" rtl="0" algn="l">
              <a:spcBef>
                <a:spcPts val="0"/>
              </a:spcBef>
              <a:spcAft>
                <a:spcPts val="0"/>
              </a:spcAft>
              <a:buNone/>
            </a:pPr>
            <a:r>
              <a:rPr lang="en-US"/>
              <a:t>Form Factor: This is the length of the slots, referred as the number of PCI lanes it can support, and cards. A 16 lane controller is twice as long as an 8 lane controller.</a:t>
            </a:r>
            <a:endParaRPr/>
          </a:p>
          <a:p>
            <a:pPr indent="0" lvl="1" marL="457200" rtl="0" algn="l">
              <a:spcBef>
                <a:spcPts val="0"/>
              </a:spcBef>
              <a:spcAft>
                <a:spcPts val="0"/>
              </a:spcAft>
              <a:buNone/>
            </a:pPr>
            <a:r>
              <a:rPr lang="en-US"/>
              <a:t>Number of wired lanes: not all lanes of the slot may be wired. Some 8 lane controller may only have 4 lanes wired.</a:t>
            </a:r>
            <a:endParaRPr/>
          </a:p>
          <a:p>
            <a:pPr indent="0" lvl="1" marL="457200" rtl="0" algn="l">
              <a:spcBef>
                <a:spcPts val="0"/>
              </a:spcBef>
              <a:spcAft>
                <a:spcPts val="0"/>
              </a:spcAft>
              <a:buNone/>
            </a:pPr>
            <a:r>
              <a:rPr lang="en-US"/>
              <a:t>Bridges</a:t>
            </a:r>
            <a:endParaRPr/>
          </a:p>
          <a:p>
            <a:pPr indent="0" lvl="2" marL="914400" rtl="0" algn="l">
              <a:spcBef>
                <a:spcPts val="0"/>
              </a:spcBef>
              <a:spcAft>
                <a:spcPts val="0"/>
              </a:spcAft>
              <a:buNone/>
            </a:pPr>
            <a:r>
              <a:rPr lang="en-US"/>
              <a:t>PCIe 2.0 is 500 MB/sec per lane. A typical host supports 8 lane (x8) slots but only runs at half speed: 4 GB/sec. A high-end host might have 16 lane (x16) slots, or up to 8 GB/sec. </a:t>
            </a:r>
            <a:endParaRPr/>
          </a:p>
          <a:p>
            <a:pPr indent="0" lvl="2" marL="914400" rtl="0" algn="l">
              <a:spcBef>
                <a:spcPts val="0"/>
              </a:spcBef>
              <a:spcAft>
                <a:spcPts val="0"/>
              </a:spcAft>
              <a:buNone/>
            </a:pPr>
            <a:r>
              <a:rPr lang="en-US"/>
              <a:t>PCIe 3.0 = Double the above</a:t>
            </a:r>
            <a:endParaRPr/>
          </a:p>
          <a:p>
            <a:pPr indent="0" lvl="0" marL="0" rtl="0" algn="l">
              <a:spcBef>
                <a:spcPts val="0"/>
              </a:spcBef>
              <a:spcAft>
                <a:spcPts val="0"/>
              </a:spcAft>
              <a:buNone/>
            </a:pPr>
            <a:r>
              <a:t/>
            </a:r>
            <a:endParaRPr/>
          </a:p>
          <a:p>
            <a:pPr indent="0" lvl="0" marL="0" marR="0" rtl="0" algn="l">
              <a:lnSpc>
                <a:spcPct val="100000"/>
              </a:lnSpc>
              <a:spcBef>
                <a:spcPts val="0"/>
              </a:spcBef>
              <a:spcAft>
                <a:spcPts val="0"/>
              </a:spcAft>
              <a:buClr>
                <a:schemeClr val="dk1"/>
              </a:buClr>
              <a:buSzPts val="1200"/>
              <a:buFont typeface="Calibri"/>
              <a:buNone/>
            </a:pPr>
            <a:r>
              <a:rPr lang="en-US"/>
              <a:t>RAID controllers, NICs and anything connected to the network goes through PCIe—if its not fast enough, this will be the bottleneck.</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US" sz="1200"/>
              <a:t>Make sure the motherboard you select has the right number of slots with the right number of lanes for you planned usage. </a:t>
            </a:r>
            <a:endParaRPr/>
          </a:p>
          <a:p>
            <a:pPr indent="0" lvl="0" marL="0" rtl="0" algn="l">
              <a:spcBef>
                <a:spcPts val="0"/>
              </a:spcBef>
              <a:spcAft>
                <a:spcPts val="0"/>
              </a:spcAft>
              <a:buNone/>
            </a:pPr>
            <a:r>
              <a:t/>
            </a:r>
            <a:endParaRPr b="1" sz="1200"/>
          </a:p>
          <a:p>
            <a:pPr indent="0" lvl="0" marL="0" rtl="0" algn="l">
              <a:spcBef>
                <a:spcPts val="0"/>
              </a:spcBef>
              <a:spcAft>
                <a:spcPts val="0"/>
              </a:spcAft>
              <a:buNone/>
            </a:pPr>
            <a:r>
              <a:t/>
            </a:r>
            <a:endParaRPr b="1" sz="1200"/>
          </a:p>
          <a:p>
            <a:pPr indent="0" lvl="0" marL="0" rtl="0" algn="l">
              <a:spcBef>
                <a:spcPts val="0"/>
              </a:spcBef>
              <a:spcAft>
                <a:spcPts val="0"/>
              </a:spcAft>
              <a:buNone/>
            </a:pPr>
            <a:r>
              <a:t/>
            </a:r>
            <a:endParaRPr b="1"/>
          </a:p>
          <a:p>
            <a:pPr indent="0" lvl="0" marL="0" rtl="0" algn="l">
              <a:spcBef>
                <a:spcPts val="0"/>
              </a:spcBef>
              <a:spcAft>
                <a:spcPts val="0"/>
              </a:spcAft>
              <a:buNone/>
            </a:pPr>
            <a:r>
              <a:t/>
            </a:r>
            <a:endParaRPr/>
          </a:p>
        </p:txBody>
      </p:sp>
      <p:sp>
        <p:nvSpPr>
          <p:cNvPr id="131" name="Google Shape;131;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9" name="Google Shape;139;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2400"/>
              <a:t>Make sure the motherboard you select has the right number of slots with the right number of lanes for you planned usage. </a:t>
            </a:r>
            <a:endParaRPr/>
          </a:p>
          <a:p>
            <a:pPr indent="0" lvl="0" marL="0" rtl="0" algn="l">
              <a:spcBef>
                <a:spcPts val="0"/>
              </a:spcBef>
              <a:spcAft>
                <a:spcPts val="0"/>
              </a:spcAft>
              <a:buNone/>
            </a:pPr>
            <a:r>
              <a:rPr lang="en-US" sz="2400"/>
              <a:t>For example, some typical slot requirements are:</a:t>
            </a:r>
            <a:endParaRPr/>
          </a:p>
          <a:p>
            <a:pPr indent="0" lvl="1" marL="457200" rtl="0" algn="l">
              <a:spcBef>
                <a:spcPts val="0"/>
              </a:spcBef>
              <a:spcAft>
                <a:spcPts val="0"/>
              </a:spcAft>
              <a:buNone/>
            </a:pPr>
            <a:r>
              <a:rPr lang="en-US" sz="2000"/>
              <a:t>10GE NICs require an 8 lane PCIe-2 slot</a:t>
            </a:r>
            <a:endParaRPr/>
          </a:p>
          <a:p>
            <a:pPr indent="0" lvl="1" marL="457200" rtl="0" algn="l">
              <a:spcBef>
                <a:spcPts val="0"/>
              </a:spcBef>
              <a:spcAft>
                <a:spcPts val="0"/>
              </a:spcAft>
              <a:buNone/>
            </a:pPr>
            <a:r>
              <a:rPr lang="en-US" sz="2000"/>
              <a:t>40G/QDR NICs require an 8 lane PCIe-3 slot</a:t>
            </a:r>
            <a:endParaRPr/>
          </a:p>
          <a:p>
            <a:pPr indent="0" lvl="1" marL="457200" rtl="0" algn="l">
              <a:spcBef>
                <a:spcPts val="0"/>
              </a:spcBef>
              <a:spcAft>
                <a:spcPts val="0"/>
              </a:spcAft>
              <a:buNone/>
            </a:pPr>
            <a:r>
              <a:rPr lang="en-US" sz="2000"/>
              <a:t>Most RAID controllers require 8 lane PCIe-2 slot</a:t>
            </a:r>
            <a:endParaRPr/>
          </a:p>
          <a:p>
            <a:pPr indent="0" lvl="1" marL="457200" rtl="0" algn="l">
              <a:spcBef>
                <a:spcPts val="0"/>
              </a:spcBef>
              <a:spcAft>
                <a:spcPts val="0"/>
              </a:spcAft>
              <a:buNone/>
            </a:pPr>
            <a:r>
              <a:rPr lang="en-US" sz="2000"/>
              <a:t>A high-end Fusion IO ioDrive may require a 16 lane PCIe-3 slot</a:t>
            </a:r>
            <a:endParaRPr/>
          </a:p>
          <a:p>
            <a:pPr indent="0" lvl="0" marL="0" rtl="0" algn="l">
              <a:spcBef>
                <a:spcPts val="0"/>
              </a:spcBef>
              <a:spcAft>
                <a:spcPts val="0"/>
              </a:spcAft>
              <a:buNone/>
            </a:pPr>
            <a:r>
              <a:t/>
            </a:r>
            <a:endParaRPr sz="2400"/>
          </a:p>
          <a:p>
            <a:pPr indent="0" lvl="0" marL="0" marR="0" rtl="0" algn="l">
              <a:lnSpc>
                <a:spcPct val="100000"/>
              </a:lnSpc>
              <a:spcBef>
                <a:spcPts val="0"/>
              </a:spcBef>
              <a:spcAft>
                <a:spcPts val="0"/>
              </a:spcAft>
              <a:buClr>
                <a:schemeClr val="dk1"/>
              </a:buClr>
              <a:buSzPts val="2400"/>
              <a:buFont typeface="Calibri"/>
              <a:buNone/>
            </a:pPr>
            <a:r>
              <a:rPr lang="en-US" sz="2400"/>
              <a:t>Here are some possible motherboards to consider</a:t>
            </a:r>
            <a:endParaRPr/>
          </a:p>
          <a:p>
            <a:pPr indent="-127000" lvl="1" marL="457200" rtl="0" algn="l">
              <a:spcBef>
                <a:spcPts val="0"/>
              </a:spcBef>
              <a:spcAft>
                <a:spcPts val="0"/>
              </a:spcAft>
              <a:buClr>
                <a:schemeClr val="dk1"/>
              </a:buClr>
              <a:buSzPts val="2000"/>
              <a:buFont typeface="Merriweather Sans"/>
              <a:buChar char="-"/>
            </a:pPr>
            <a:r>
              <a:rPr lang="en-US" sz="2000"/>
              <a:t>SuperMicro X9DR3-F</a:t>
            </a:r>
            <a:endParaRPr/>
          </a:p>
          <a:p>
            <a:pPr indent="-127000" lvl="1" marL="457200" rtl="0" algn="l">
              <a:spcBef>
                <a:spcPts val="0"/>
              </a:spcBef>
              <a:spcAft>
                <a:spcPts val="0"/>
              </a:spcAft>
              <a:buClr>
                <a:schemeClr val="dk1"/>
              </a:buClr>
              <a:buSzPts val="2000"/>
              <a:buFont typeface="Merriweather Sans"/>
              <a:buChar char="-"/>
            </a:pPr>
            <a:r>
              <a:rPr lang="en-US" sz="2000"/>
              <a:t>Sample Dell Server (Poweredge r320-r720)</a:t>
            </a:r>
            <a:endParaRPr/>
          </a:p>
          <a:p>
            <a:pPr indent="-127000" lvl="1" marL="457200" rtl="0" algn="l">
              <a:spcBef>
                <a:spcPts val="0"/>
              </a:spcBef>
              <a:spcAft>
                <a:spcPts val="0"/>
              </a:spcAft>
              <a:buClr>
                <a:schemeClr val="dk1"/>
              </a:buClr>
              <a:buSzPts val="2000"/>
              <a:buFont typeface="Merriweather Sans"/>
              <a:buChar char="-"/>
            </a:pPr>
            <a:r>
              <a:rPr lang="en-US" sz="2000"/>
              <a:t>Sample HP Server (ProLiant DL380p gen8 High Performance model)</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Supermicro is in our reference designs (posted on fasterdata)</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But other vendors have servers that can be used as DTNs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Some institutions require long-term support contracts for servers so they tend to want to go with an established vendor (Dell, HP etc.)</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All these are capable of 40G though</a:t>
            </a:r>
            <a:endParaRPr/>
          </a:p>
          <a:p>
            <a:pPr indent="0" lvl="0" marL="0" rtl="0" algn="l">
              <a:spcBef>
                <a:spcPts val="0"/>
              </a:spcBef>
              <a:spcAft>
                <a:spcPts val="0"/>
              </a:spcAft>
              <a:buNone/>
            </a:pPr>
            <a:r>
              <a:t/>
            </a:r>
            <a:endParaRPr/>
          </a:p>
          <a:p>
            <a:pPr indent="0" lvl="1" marL="0" marR="0" rtl="0" algn="l">
              <a:lnSpc>
                <a:spcPct val="100000"/>
              </a:lnSpc>
              <a:spcBef>
                <a:spcPts val="0"/>
              </a:spcBef>
              <a:spcAft>
                <a:spcPts val="0"/>
              </a:spcAft>
              <a:buClr>
                <a:schemeClr val="dk1"/>
              </a:buClr>
              <a:buSzPts val="2000"/>
              <a:buFont typeface="Calibri"/>
              <a:buNone/>
            </a:pPr>
            <a:r>
              <a:rPr lang="en-US" sz="2000"/>
              <a:t>________________________</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140" name="Google Shape;140;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7" name="Google Shape;147;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Next is: what does the storage look like for a DTN?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There are various ways you can bring storage into or to your server</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3 main classes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The 1</a:t>
            </a:r>
            <a:r>
              <a:rPr baseline="30000" lang="en-US"/>
              <a:t>st</a:t>
            </a:r>
            <a:r>
              <a:rPr lang="en-US"/>
              <a:t> and most common DTN choice is local storage within the DTN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Perks: </a:t>
            </a:r>
            <a:endParaRPr/>
          </a:p>
          <a:p>
            <a:pPr indent="0" lvl="0" marL="0" rtl="0" algn="l">
              <a:spcBef>
                <a:spcPts val="0"/>
              </a:spcBef>
              <a:spcAft>
                <a:spcPts val="0"/>
              </a:spcAft>
              <a:buNone/>
            </a:pPr>
            <a:r>
              <a:rPr lang="en-US"/>
              <a:t>	no external dependencies</a:t>
            </a:r>
            <a:endParaRPr/>
          </a:p>
          <a:p>
            <a:pPr indent="0" lvl="0" marL="0" rtl="0" algn="l">
              <a:spcBef>
                <a:spcPts val="0"/>
              </a:spcBef>
              <a:spcAft>
                <a:spcPts val="0"/>
              </a:spcAft>
              <a:buNone/>
            </a:pPr>
            <a:r>
              <a:rPr lang="en-US"/>
              <a:t>	deployable anywhere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But </a:t>
            </a:r>
            <a:endParaRPr/>
          </a:p>
          <a:p>
            <a:pPr indent="0" lvl="0" marL="0" rtl="0" algn="l">
              <a:spcBef>
                <a:spcPts val="0"/>
              </a:spcBef>
              <a:spcAft>
                <a:spcPts val="0"/>
              </a:spcAft>
              <a:buNone/>
            </a:pPr>
            <a:r>
              <a:rPr lang="en-US"/>
              <a:t>	limited scalability </a:t>
            </a:r>
            <a:endParaRPr/>
          </a:p>
          <a:p>
            <a:pPr indent="0" lvl="0" marL="0" rtl="0" algn="l">
              <a:spcBef>
                <a:spcPts val="0"/>
              </a:spcBef>
              <a:spcAft>
                <a:spcPts val="0"/>
              </a:spcAft>
              <a:buNone/>
            </a:pPr>
            <a:r>
              <a:rPr lang="en-US"/>
              <a:t>	and only tools for managing storage come from RAID controllers</a:t>
            </a:r>
            <a:endParaRPr/>
          </a:p>
          <a:p>
            <a:pPr indent="0" lvl="0" marL="0" rtl="0" algn="l">
              <a:spcBef>
                <a:spcPts val="0"/>
              </a:spcBef>
              <a:spcAft>
                <a:spcPts val="0"/>
              </a:spcAft>
              <a:buNone/>
            </a:pPr>
            <a:r>
              <a:rPr lang="en-US"/>
              <a:t>_____________</a:t>
            </a:r>
            <a:endParaRPr/>
          </a:p>
          <a:p>
            <a:pPr indent="0" lvl="0" marL="0" rtl="0" algn="l">
              <a:spcBef>
                <a:spcPts val="0"/>
              </a:spcBef>
              <a:spcAft>
                <a:spcPts val="0"/>
              </a:spcAft>
              <a:buNone/>
            </a:pPr>
            <a:r>
              <a:rPr lang="en-US"/>
              <a:t>Local storage: the storage system (just a bunch of drives / JBOD) is packaged with the server. That can from 12 drivers up to 48 drives depending on vendor/model. In addition, external chassis with more drives can be added, connected to the server with SAS or FC. This is ideal for standalone servers since it does not require plumbing for the storage subsystem.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However, maintenance is typically more difficult since it does not have all the tooling that usually comes with storage systems.</a:t>
            </a:r>
            <a:endParaRPr/>
          </a:p>
          <a:p>
            <a:pPr indent="0" lvl="0" marL="0" rtl="0" algn="l">
              <a:spcBef>
                <a:spcPts val="0"/>
              </a:spcBef>
              <a:spcAft>
                <a:spcPts val="0"/>
              </a:spcAft>
              <a:buNone/>
            </a:pPr>
            <a:r>
              <a:t/>
            </a:r>
            <a:endParaRPr/>
          </a:p>
        </p:txBody>
      </p:sp>
      <p:sp>
        <p:nvSpPr>
          <p:cNvPr id="148" name="Google Shape;148;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5" name="Google Shape;155;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Next two classes are the same from a systems perspective </a:t>
            </a:r>
            <a:endParaRPr/>
          </a:p>
          <a:p>
            <a:pPr indent="0" lvl="0" marL="0" rtl="0" algn="l">
              <a:spcBef>
                <a:spcPts val="0"/>
              </a:spcBef>
              <a:spcAft>
                <a:spcPts val="0"/>
              </a:spcAft>
              <a:buNone/>
            </a:pPr>
            <a:r>
              <a:rPr lang="en-US"/>
              <a:t>(main different from a workflow perspective—i.e. double copy workflow for SANs but not with distributed/global file systems)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We see these storage architectures in DTNs at data and HPC facilities</a:t>
            </a:r>
            <a:endParaRPr/>
          </a:p>
          <a:p>
            <a:pPr indent="0" lvl="0" marL="0" rtl="0" algn="l">
              <a:spcBef>
                <a:spcPts val="0"/>
              </a:spcBef>
              <a:spcAft>
                <a:spcPts val="0"/>
              </a:spcAft>
              <a:buNone/>
            </a:pPr>
            <a:r>
              <a:t/>
            </a:r>
            <a:endParaRPr/>
          </a:p>
          <a:p>
            <a:pPr indent="0" lvl="0" marL="0" marR="0" rtl="0" algn="l">
              <a:lnSpc>
                <a:spcPct val="100000"/>
              </a:lnSpc>
              <a:spcBef>
                <a:spcPts val="0"/>
              </a:spcBef>
              <a:spcAft>
                <a:spcPts val="0"/>
              </a:spcAft>
              <a:buClr>
                <a:schemeClr val="dk1"/>
              </a:buClr>
              <a:buSzPts val="1200"/>
              <a:buFont typeface="Calibri"/>
              <a:buNone/>
            </a:pPr>
            <a:r>
              <a:rPr lang="en-US"/>
              <a:t>But whatever you choose for storage will depend on your environment, requirements, and resources.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______________________</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System reasoning: what kind of card used on the backend to the storage system—FC/Ethernet/Inifiniband look the same</a:t>
            </a:r>
            <a:endParaRPr/>
          </a:p>
          <a:p>
            <a:pPr indent="0" lvl="0" marL="0" rtl="0" algn="l">
              <a:spcBef>
                <a:spcPts val="0"/>
              </a:spcBef>
              <a:spcAft>
                <a:spcPts val="0"/>
              </a:spcAft>
              <a:buNone/>
            </a:pPr>
            <a:r>
              <a:rPr lang="en-US"/>
              <a:t>But the workflow is what’s different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No block device communication between DTN kernel Global fs</a:t>
            </a:r>
            <a:endParaRPr/>
          </a:p>
          <a:p>
            <a:pPr indent="0" lvl="0" marL="0" rtl="0" algn="l">
              <a:spcBef>
                <a:spcPts val="0"/>
              </a:spcBef>
              <a:spcAft>
                <a:spcPts val="0"/>
              </a:spcAft>
              <a:buNone/>
            </a:pPr>
            <a:r>
              <a:rPr lang="en-US"/>
              <a:t>For SAN and internal disks—DTN kernel sees it as “owning”/managing blocks in SAN or RAID</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_____________________________</a:t>
            </a:r>
            <a:endParaRPr/>
          </a:p>
          <a:p>
            <a:pPr indent="0" lvl="0" marL="0" rtl="0" algn="l">
              <a:spcBef>
                <a:spcPts val="0"/>
              </a:spcBef>
              <a:spcAft>
                <a:spcPts val="0"/>
              </a:spcAft>
              <a:buNone/>
            </a:pPr>
            <a:r>
              <a:rPr lang="en-US"/>
              <a:t>Distributed file systems—high quality of service</a:t>
            </a:r>
            <a:endParaRPr/>
          </a:p>
          <a:p>
            <a:pPr indent="0" lvl="0" marL="0" rtl="0" algn="l">
              <a:spcBef>
                <a:spcPts val="0"/>
              </a:spcBef>
              <a:spcAft>
                <a:spcPts val="0"/>
              </a:spcAft>
              <a:buNone/>
            </a:pPr>
            <a:r>
              <a:rPr lang="en-US"/>
              <a:t>	much more reliable</a:t>
            </a:r>
            <a:endParaRPr/>
          </a:p>
          <a:p>
            <a:pPr indent="0" lvl="0" marL="0" rtl="0" algn="l">
              <a:spcBef>
                <a:spcPts val="0"/>
              </a:spcBef>
              <a:spcAft>
                <a:spcPts val="0"/>
              </a:spcAft>
              <a:buNone/>
            </a:pPr>
            <a:r>
              <a:rPr lang="en-US"/>
              <a:t>	easy to manage</a:t>
            </a:r>
            <a:endParaRPr/>
          </a:p>
          <a:p>
            <a:pPr indent="0" lvl="0" marL="0" rtl="0" algn="l">
              <a:spcBef>
                <a:spcPts val="0"/>
              </a:spcBef>
              <a:spcAft>
                <a:spcPts val="0"/>
              </a:spcAft>
              <a:buNone/>
            </a:pPr>
            <a:r>
              <a:rPr lang="en-US"/>
              <a:t>	however, typically performance is much lower because they are usually a shared system—don’t know the workload of other users—possibility of contesting traffic </a:t>
            </a:r>
            <a:endParaRPr/>
          </a:p>
          <a:p>
            <a:pPr indent="0" lvl="0" marL="0" rtl="0" algn="l">
              <a:spcBef>
                <a:spcPts val="0"/>
              </a:spcBef>
              <a:spcAft>
                <a:spcPts val="0"/>
              </a:spcAft>
              <a:buNone/>
            </a:pPr>
            <a:r>
              <a:rPr lang="en-US"/>
              <a:t>	i.e., we see this at data centers/supercomputers</a:t>
            </a:r>
            <a:endParaRPr/>
          </a:p>
          <a:p>
            <a:pPr indent="0" lvl="0" marL="0" rtl="0" algn="l">
              <a:spcBef>
                <a:spcPts val="0"/>
              </a:spcBef>
              <a:spcAft>
                <a:spcPts val="0"/>
              </a:spcAft>
              <a:buNone/>
            </a:pPr>
            <a:r>
              <a:rPr lang="en-US"/>
              <a:t>	they do have bottlenecks. I/O is the storage controller (EMC is limited to 8G right now)</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Same I/O capacity but no bottleneck with infiniband connections.</a:t>
            </a:r>
            <a:endParaRPr/>
          </a:p>
          <a:p>
            <a:pPr indent="0" lvl="0" marL="0" rtl="0" algn="l">
              <a:spcBef>
                <a:spcPts val="0"/>
              </a:spcBef>
              <a:spcAft>
                <a:spcPts val="0"/>
              </a:spcAft>
              <a:buNone/>
            </a:pPr>
            <a:r>
              <a:rPr lang="en-US"/>
              <a:t>	enterprise level system</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IB</a:t>
            </a:r>
            <a:endParaRPr/>
          </a:p>
          <a:p>
            <a:pPr indent="0" lvl="0" marL="0" rtl="0" algn="l">
              <a:spcBef>
                <a:spcPts val="0"/>
              </a:spcBef>
              <a:spcAft>
                <a:spcPts val="0"/>
              </a:spcAft>
              <a:buNone/>
            </a:pPr>
            <a:r>
              <a:rPr lang="en-US"/>
              <a:t>	56 G/link and easy to aggregate</a:t>
            </a:r>
            <a:endParaRPr/>
          </a:p>
          <a:p>
            <a:pPr indent="0" lvl="0" marL="0" rtl="0" algn="l">
              <a:spcBef>
                <a:spcPts val="0"/>
              </a:spcBef>
              <a:spcAft>
                <a:spcPts val="0"/>
              </a:spcAft>
              <a:buNone/>
            </a:pPr>
            <a:r>
              <a:rPr lang="en-US"/>
              <a:t>	reliable networking—no packet loss</a:t>
            </a:r>
            <a:endParaRPr/>
          </a:p>
          <a:p>
            <a:pPr indent="0" lvl="0" marL="0" rtl="0" algn="l">
              <a:spcBef>
                <a:spcPts val="0"/>
              </a:spcBef>
              <a:spcAft>
                <a:spcPts val="0"/>
              </a:spcAft>
              <a:buNone/>
            </a:pPr>
            <a:r>
              <a:rPr lang="en-US"/>
              <a:t>	fairly cheap</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Distributed filesystem: this is similar to the storage system, except that the exported volumes are not RAW but file system (PNFS, Lustre, GPFS…). This set up is typical of a tiered system: data is acquired and processed, and stored. Then the DTN read from the shared storage.</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Storage Systems: These are usually more massive systems (EMC, Netapp, DDN, etc) providing raw volumes to servers. The connectivity is usually fiber, but it can also be infiniband and ethernet.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This class benefits storage capacity.</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POINT: look at what your infrastructure requirements are</a:t>
            </a:r>
            <a:endParaRPr/>
          </a:p>
          <a:p>
            <a:pPr indent="0" lvl="0" marL="0" rtl="0" algn="l">
              <a:spcBef>
                <a:spcPts val="0"/>
              </a:spcBef>
              <a:spcAft>
                <a:spcPts val="0"/>
              </a:spcAft>
              <a:buNone/>
            </a:pPr>
            <a:r>
              <a:rPr lang="en-US"/>
              <a:t>	how much capacity do you need for the next 3 years—will your system scale the way you want?</a:t>
            </a:r>
            <a:endParaRPr/>
          </a:p>
          <a:p>
            <a:pPr indent="0" lvl="0" marL="0" rtl="0" algn="l">
              <a:spcBef>
                <a:spcPts val="0"/>
              </a:spcBef>
              <a:spcAft>
                <a:spcPts val="0"/>
              </a:spcAft>
              <a:buNone/>
            </a:pPr>
            <a:r>
              <a:rPr lang="en-US"/>
              <a:t>	how reliable does your storage have to be—source of truth or is it a pain to resend the data if a disk goes down? (i.e., choose your RAID appropriately)</a:t>
            </a:r>
            <a:endParaRPr/>
          </a:p>
          <a:p>
            <a:pPr indent="0" lvl="0" marL="0" rtl="0" algn="l">
              <a:spcBef>
                <a:spcPts val="0"/>
              </a:spcBef>
              <a:spcAft>
                <a:spcPts val="0"/>
              </a:spcAft>
              <a:buNone/>
            </a:pPr>
            <a:r>
              <a:rPr lang="en-US"/>
              <a:t>	performance of storage what you need? If its 10G—laptops won’t do that</a:t>
            </a:r>
            <a:endParaRPr/>
          </a:p>
          <a:p>
            <a:pPr indent="0" lvl="0" marL="0" rtl="0" algn="l">
              <a:spcBef>
                <a:spcPts val="0"/>
              </a:spcBef>
              <a:spcAft>
                <a:spcPts val="0"/>
              </a:spcAft>
              <a:buNone/>
            </a:pPr>
            <a:r>
              <a:rPr lang="en-US"/>
              <a:t>		don’t need to invest in super fast storage if you only want to use laptops</a:t>
            </a:r>
            <a:endParaRPr/>
          </a:p>
          <a:p>
            <a:pPr indent="0" lvl="0" marL="0" rtl="0" algn="l">
              <a:spcBef>
                <a:spcPts val="0"/>
              </a:spcBef>
              <a:spcAft>
                <a:spcPts val="0"/>
              </a:spcAft>
              <a:buNone/>
            </a:pPr>
            <a:r>
              <a:t/>
            </a:r>
            <a:endParaRPr/>
          </a:p>
        </p:txBody>
      </p:sp>
      <p:sp>
        <p:nvSpPr>
          <p:cNvPr id="156" name="Google Shape;156;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4" name="Google Shape;164;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Next two classes are the same from a systems perspective </a:t>
            </a:r>
            <a:endParaRPr/>
          </a:p>
          <a:p>
            <a:pPr indent="0" lvl="0" marL="0" rtl="0" algn="l">
              <a:spcBef>
                <a:spcPts val="0"/>
              </a:spcBef>
              <a:spcAft>
                <a:spcPts val="0"/>
              </a:spcAft>
              <a:buNone/>
            </a:pPr>
            <a:r>
              <a:rPr lang="en-US"/>
              <a:t>(main different from a workflow perspective—i.e. double copy workflow for SANs but not with distributed/global file systems)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We see these storage architectures in DTNs at data and HPC facilities</a:t>
            </a:r>
            <a:endParaRPr/>
          </a:p>
          <a:p>
            <a:pPr indent="0" lvl="0" marL="0" rtl="0" algn="l">
              <a:spcBef>
                <a:spcPts val="0"/>
              </a:spcBef>
              <a:spcAft>
                <a:spcPts val="0"/>
              </a:spcAft>
              <a:buNone/>
            </a:pPr>
            <a:r>
              <a:t/>
            </a:r>
            <a:endParaRPr/>
          </a:p>
          <a:p>
            <a:pPr indent="0" lvl="0" marL="0" marR="0" rtl="0" algn="l">
              <a:lnSpc>
                <a:spcPct val="100000"/>
              </a:lnSpc>
              <a:spcBef>
                <a:spcPts val="0"/>
              </a:spcBef>
              <a:spcAft>
                <a:spcPts val="0"/>
              </a:spcAft>
              <a:buClr>
                <a:schemeClr val="dk1"/>
              </a:buClr>
              <a:buSzPts val="1200"/>
              <a:buFont typeface="Calibri"/>
              <a:buNone/>
            </a:pPr>
            <a:r>
              <a:rPr lang="en-US"/>
              <a:t>But whatever you choose for storage will depend on your environment, requirements, and resources.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______________________</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System reasoning: what kind of card used on the backend to the storage system—FC/Ethernet/Inifiniband look the same</a:t>
            </a:r>
            <a:endParaRPr/>
          </a:p>
          <a:p>
            <a:pPr indent="0" lvl="0" marL="0" rtl="0" algn="l">
              <a:spcBef>
                <a:spcPts val="0"/>
              </a:spcBef>
              <a:spcAft>
                <a:spcPts val="0"/>
              </a:spcAft>
              <a:buNone/>
            </a:pPr>
            <a:r>
              <a:rPr lang="en-US"/>
              <a:t>But the workflow is what’s different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No block device communication between DTN kernel Global fs</a:t>
            </a:r>
            <a:endParaRPr/>
          </a:p>
          <a:p>
            <a:pPr indent="0" lvl="0" marL="0" rtl="0" algn="l">
              <a:spcBef>
                <a:spcPts val="0"/>
              </a:spcBef>
              <a:spcAft>
                <a:spcPts val="0"/>
              </a:spcAft>
              <a:buNone/>
            </a:pPr>
            <a:r>
              <a:rPr lang="en-US"/>
              <a:t>For SAN and internal disks—DTN kernel sees it as “owning”/managing blocks in SAN or RAID</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_____________________________</a:t>
            </a:r>
            <a:endParaRPr/>
          </a:p>
          <a:p>
            <a:pPr indent="0" lvl="0" marL="0" rtl="0" algn="l">
              <a:spcBef>
                <a:spcPts val="0"/>
              </a:spcBef>
              <a:spcAft>
                <a:spcPts val="0"/>
              </a:spcAft>
              <a:buNone/>
            </a:pPr>
            <a:r>
              <a:rPr lang="en-US"/>
              <a:t>Distributed file systems—high quality of service</a:t>
            </a:r>
            <a:endParaRPr/>
          </a:p>
          <a:p>
            <a:pPr indent="0" lvl="0" marL="0" rtl="0" algn="l">
              <a:spcBef>
                <a:spcPts val="0"/>
              </a:spcBef>
              <a:spcAft>
                <a:spcPts val="0"/>
              </a:spcAft>
              <a:buNone/>
            </a:pPr>
            <a:r>
              <a:rPr lang="en-US"/>
              <a:t>	much more reliable</a:t>
            </a:r>
            <a:endParaRPr/>
          </a:p>
          <a:p>
            <a:pPr indent="0" lvl="0" marL="0" rtl="0" algn="l">
              <a:spcBef>
                <a:spcPts val="0"/>
              </a:spcBef>
              <a:spcAft>
                <a:spcPts val="0"/>
              </a:spcAft>
              <a:buNone/>
            </a:pPr>
            <a:r>
              <a:rPr lang="en-US"/>
              <a:t>	easy to manage</a:t>
            </a:r>
            <a:endParaRPr/>
          </a:p>
          <a:p>
            <a:pPr indent="0" lvl="0" marL="0" rtl="0" algn="l">
              <a:spcBef>
                <a:spcPts val="0"/>
              </a:spcBef>
              <a:spcAft>
                <a:spcPts val="0"/>
              </a:spcAft>
              <a:buNone/>
            </a:pPr>
            <a:r>
              <a:rPr lang="en-US"/>
              <a:t>	however, typically performance is much lower because they are usually a shared system—don’t know the workload of other users—possibility of contesting traffic </a:t>
            </a:r>
            <a:endParaRPr/>
          </a:p>
          <a:p>
            <a:pPr indent="0" lvl="0" marL="0" rtl="0" algn="l">
              <a:spcBef>
                <a:spcPts val="0"/>
              </a:spcBef>
              <a:spcAft>
                <a:spcPts val="0"/>
              </a:spcAft>
              <a:buNone/>
            </a:pPr>
            <a:r>
              <a:rPr lang="en-US"/>
              <a:t>	i.e., we see this at data centers/supercomputers</a:t>
            </a:r>
            <a:endParaRPr/>
          </a:p>
          <a:p>
            <a:pPr indent="0" lvl="0" marL="0" rtl="0" algn="l">
              <a:spcBef>
                <a:spcPts val="0"/>
              </a:spcBef>
              <a:spcAft>
                <a:spcPts val="0"/>
              </a:spcAft>
              <a:buNone/>
            </a:pPr>
            <a:r>
              <a:rPr lang="en-US"/>
              <a:t>	they do have bottlenecks. I/O is the storage controller (EMC is limited to 8G right now)</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Same I/O capacity but no bottleneck with infiniband connections.</a:t>
            </a:r>
            <a:endParaRPr/>
          </a:p>
          <a:p>
            <a:pPr indent="0" lvl="0" marL="0" rtl="0" algn="l">
              <a:spcBef>
                <a:spcPts val="0"/>
              </a:spcBef>
              <a:spcAft>
                <a:spcPts val="0"/>
              </a:spcAft>
              <a:buNone/>
            </a:pPr>
            <a:r>
              <a:rPr lang="en-US"/>
              <a:t>	enterprise level system</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IB</a:t>
            </a:r>
            <a:endParaRPr/>
          </a:p>
          <a:p>
            <a:pPr indent="0" lvl="0" marL="0" rtl="0" algn="l">
              <a:spcBef>
                <a:spcPts val="0"/>
              </a:spcBef>
              <a:spcAft>
                <a:spcPts val="0"/>
              </a:spcAft>
              <a:buNone/>
            </a:pPr>
            <a:r>
              <a:rPr lang="en-US"/>
              <a:t>	56 G/link and easy to aggregate</a:t>
            </a:r>
            <a:endParaRPr/>
          </a:p>
          <a:p>
            <a:pPr indent="0" lvl="0" marL="0" rtl="0" algn="l">
              <a:spcBef>
                <a:spcPts val="0"/>
              </a:spcBef>
              <a:spcAft>
                <a:spcPts val="0"/>
              </a:spcAft>
              <a:buNone/>
            </a:pPr>
            <a:r>
              <a:rPr lang="en-US"/>
              <a:t>	reliable networking—no packet loss</a:t>
            </a:r>
            <a:endParaRPr/>
          </a:p>
          <a:p>
            <a:pPr indent="0" lvl="0" marL="0" rtl="0" algn="l">
              <a:spcBef>
                <a:spcPts val="0"/>
              </a:spcBef>
              <a:spcAft>
                <a:spcPts val="0"/>
              </a:spcAft>
              <a:buNone/>
            </a:pPr>
            <a:r>
              <a:rPr lang="en-US"/>
              <a:t>	fairly cheap</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Distributed filesystem: this is similar to the storage system, except that the exported volumes are not RAW but file system (PNFS, Lustre, GPFS…). This set up is typical of a tiered system: data is acquired and processed, and stored. Then the DTN read from the shared storage.</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Storage Systems: These are usually more massive systems (EMC, Netapp, DDN, etc) providing raw volumes to servers. The connectivity is usually fiber, but it can also be infiniband and ethernet.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This class benefits storage capacity.</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POINT: look at what your infrastructure requirements are</a:t>
            </a:r>
            <a:endParaRPr/>
          </a:p>
          <a:p>
            <a:pPr indent="0" lvl="0" marL="0" rtl="0" algn="l">
              <a:spcBef>
                <a:spcPts val="0"/>
              </a:spcBef>
              <a:spcAft>
                <a:spcPts val="0"/>
              </a:spcAft>
              <a:buNone/>
            </a:pPr>
            <a:r>
              <a:rPr lang="en-US"/>
              <a:t>	how much capacity do you need for the next 3 years—will your system scale the way you want?</a:t>
            </a:r>
            <a:endParaRPr/>
          </a:p>
          <a:p>
            <a:pPr indent="0" lvl="0" marL="0" rtl="0" algn="l">
              <a:spcBef>
                <a:spcPts val="0"/>
              </a:spcBef>
              <a:spcAft>
                <a:spcPts val="0"/>
              </a:spcAft>
              <a:buNone/>
            </a:pPr>
            <a:r>
              <a:rPr lang="en-US"/>
              <a:t>	how reliable does your storage have to be—source of truth or is it a pain to resend the data if a disk goes down? (i.e., choose your RAID appropriately)</a:t>
            </a:r>
            <a:endParaRPr/>
          </a:p>
          <a:p>
            <a:pPr indent="0" lvl="0" marL="0" rtl="0" algn="l">
              <a:spcBef>
                <a:spcPts val="0"/>
              </a:spcBef>
              <a:spcAft>
                <a:spcPts val="0"/>
              </a:spcAft>
              <a:buNone/>
            </a:pPr>
            <a:r>
              <a:rPr lang="en-US"/>
              <a:t>	performance of storage what you need? If its 10G—laptops won’t do that</a:t>
            </a:r>
            <a:endParaRPr/>
          </a:p>
          <a:p>
            <a:pPr indent="0" lvl="0" marL="0" rtl="0" algn="l">
              <a:spcBef>
                <a:spcPts val="0"/>
              </a:spcBef>
              <a:spcAft>
                <a:spcPts val="0"/>
              </a:spcAft>
              <a:buNone/>
            </a:pPr>
            <a:r>
              <a:rPr lang="en-US"/>
              <a:t>		don’t need to invest in super fast storage if you only want to use laptops</a:t>
            </a:r>
            <a:endParaRPr/>
          </a:p>
          <a:p>
            <a:pPr indent="0" lvl="0" marL="0" rtl="0" algn="l">
              <a:spcBef>
                <a:spcPts val="0"/>
              </a:spcBef>
              <a:spcAft>
                <a:spcPts val="0"/>
              </a:spcAft>
              <a:buNone/>
            </a:pPr>
            <a:r>
              <a:t/>
            </a:r>
            <a:endParaRPr/>
          </a:p>
        </p:txBody>
      </p:sp>
      <p:sp>
        <p:nvSpPr>
          <p:cNvPr id="165" name="Google Shape;165;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5" name="Google Shape;175;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Next two classes are the same from a systems perspective </a:t>
            </a:r>
            <a:endParaRPr/>
          </a:p>
          <a:p>
            <a:pPr indent="0" lvl="0" marL="0" rtl="0" algn="l">
              <a:spcBef>
                <a:spcPts val="0"/>
              </a:spcBef>
              <a:spcAft>
                <a:spcPts val="0"/>
              </a:spcAft>
              <a:buNone/>
            </a:pPr>
            <a:r>
              <a:rPr lang="en-US"/>
              <a:t>(main different from a workflow perspective—i.e. double copy workflow for SANs but not with distributed/global file systems)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We see these storage architectures in DTNs at data and HPC facilities</a:t>
            </a:r>
            <a:endParaRPr/>
          </a:p>
          <a:p>
            <a:pPr indent="0" lvl="0" marL="0" rtl="0" algn="l">
              <a:spcBef>
                <a:spcPts val="0"/>
              </a:spcBef>
              <a:spcAft>
                <a:spcPts val="0"/>
              </a:spcAft>
              <a:buNone/>
            </a:pPr>
            <a:r>
              <a:t/>
            </a:r>
            <a:endParaRPr/>
          </a:p>
          <a:p>
            <a:pPr indent="0" lvl="0" marL="0" marR="0" rtl="0" algn="l">
              <a:lnSpc>
                <a:spcPct val="100000"/>
              </a:lnSpc>
              <a:spcBef>
                <a:spcPts val="0"/>
              </a:spcBef>
              <a:spcAft>
                <a:spcPts val="0"/>
              </a:spcAft>
              <a:buClr>
                <a:schemeClr val="dk1"/>
              </a:buClr>
              <a:buSzPts val="1200"/>
              <a:buFont typeface="Calibri"/>
              <a:buNone/>
            </a:pPr>
            <a:r>
              <a:rPr lang="en-US"/>
              <a:t>But whatever you choose for storage will depend on your environment, requirements, and resources.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______________________</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System reasoning: what kind of card used on the backend to the storage system—FC/Ethernet/Inifiniband look the same</a:t>
            </a:r>
            <a:endParaRPr/>
          </a:p>
          <a:p>
            <a:pPr indent="0" lvl="0" marL="0" rtl="0" algn="l">
              <a:spcBef>
                <a:spcPts val="0"/>
              </a:spcBef>
              <a:spcAft>
                <a:spcPts val="0"/>
              </a:spcAft>
              <a:buNone/>
            </a:pPr>
            <a:r>
              <a:rPr lang="en-US"/>
              <a:t>But the workflow is what’s different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No block device communication between DTN kernel Global fs</a:t>
            </a:r>
            <a:endParaRPr/>
          </a:p>
          <a:p>
            <a:pPr indent="0" lvl="0" marL="0" rtl="0" algn="l">
              <a:spcBef>
                <a:spcPts val="0"/>
              </a:spcBef>
              <a:spcAft>
                <a:spcPts val="0"/>
              </a:spcAft>
              <a:buNone/>
            </a:pPr>
            <a:r>
              <a:rPr lang="en-US"/>
              <a:t>For SAN and internal disks—DTN kernel sees it as “owning”/managing blocks in SAN or RAID</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_____________________________</a:t>
            </a:r>
            <a:endParaRPr/>
          </a:p>
          <a:p>
            <a:pPr indent="0" lvl="0" marL="0" rtl="0" algn="l">
              <a:spcBef>
                <a:spcPts val="0"/>
              </a:spcBef>
              <a:spcAft>
                <a:spcPts val="0"/>
              </a:spcAft>
              <a:buNone/>
            </a:pPr>
            <a:r>
              <a:rPr lang="en-US"/>
              <a:t>Distributed file systems—high quality of service</a:t>
            </a:r>
            <a:endParaRPr/>
          </a:p>
          <a:p>
            <a:pPr indent="0" lvl="0" marL="0" rtl="0" algn="l">
              <a:spcBef>
                <a:spcPts val="0"/>
              </a:spcBef>
              <a:spcAft>
                <a:spcPts val="0"/>
              </a:spcAft>
              <a:buNone/>
            </a:pPr>
            <a:r>
              <a:rPr lang="en-US"/>
              <a:t>	much more reliable</a:t>
            </a:r>
            <a:endParaRPr/>
          </a:p>
          <a:p>
            <a:pPr indent="0" lvl="0" marL="0" rtl="0" algn="l">
              <a:spcBef>
                <a:spcPts val="0"/>
              </a:spcBef>
              <a:spcAft>
                <a:spcPts val="0"/>
              </a:spcAft>
              <a:buNone/>
            </a:pPr>
            <a:r>
              <a:rPr lang="en-US"/>
              <a:t>	easy to manage</a:t>
            </a:r>
            <a:endParaRPr/>
          </a:p>
          <a:p>
            <a:pPr indent="0" lvl="0" marL="0" rtl="0" algn="l">
              <a:spcBef>
                <a:spcPts val="0"/>
              </a:spcBef>
              <a:spcAft>
                <a:spcPts val="0"/>
              </a:spcAft>
              <a:buNone/>
            </a:pPr>
            <a:r>
              <a:rPr lang="en-US"/>
              <a:t>	however, typically performance is much lower because they are usually a shared system—don’t know the workload of other users—possibility of contesting traffic </a:t>
            </a:r>
            <a:endParaRPr/>
          </a:p>
          <a:p>
            <a:pPr indent="0" lvl="0" marL="0" rtl="0" algn="l">
              <a:spcBef>
                <a:spcPts val="0"/>
              </a:spcBef>
              <a:spcAft>
                <a:spcPts val="0"/>
              </a:spcAft>
              <a:buNone/>
            </a:pPr>
            <a:r>
              <a:rPr lang="en-US"/>
              <a:t>	i.e., we see this at data centers/supercomputers</a:t>
            </a:r>
            <a:endParaRPr/>
          </a:p>
          <a:p>
            <a:pPr indent="0" lvl="0" marL="0" rtl="0" algn="l">
              <a:spcBef>
                <a:spcPts val="0"/>
              </a:spcBef>
              <a:spcAft>
                <a:spcPts val="0"/>
              </a:spcAft>
              <a:buNone/>
            </a:pPr>
            <a:r>
              <a:rPr lang="en-US"/>
              <a:t>	they do have bottlenecks. I/O is the storage controller (EMC is limited to 8G right now)</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Same I/O capacity but no bottleneck with infiniband connections.</a:t>
            </a:r>
            <a:endParaRPr/>
          </a:p>
          <a:p>
            <a:pPr indent="0" lvl="0" marL="0" rtl="0" algn="l">
              <a:spcBef>
                <a:spcPts val="0"/>
              </a:spcBef>
              <a:spcAft>
                <a:spcPts val="0"/>
              </a:spcAft>
              <a:buNone/>
            </a:pPr>
            <a:r>
              <a:rPr lang="en-US"/>
              <a:t>	enterprise level system</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IB</a:t>
            </a:r>
            <a:endParaRPr/>
          </a:p>
          <a:p>
            <a:pPr indent="0" lvl="0" marL="0" rtl="0" algn="l">
              <a:spcBef>
                <a:spcPts val="0"/>
              </a:spcBef>
              <a:spcAft>
                <a:spcPts val="0"/>
              </a:spcAft>
              <a:buNone/>
            </a:pPr>
            <a:r>
              <a:rPr lang="en-US"/>
              <a:t>	56 G/link and easy to aggregate</a:t>
            </a:r>
            <a:endParaRPr/>
          </a:p>
          <a:p>
            <a:pPr indent="0" lvl="0" marL="0" rtl="0" algn="l">
              <a:spcBef>
                <a:spcPts val="0"/>
              </a:spcBef>
              <a:spcAft>
                <a:spcPts val="0"/>
              </a:spcAft>
              <a:buNone/>
            </a:pPr>
            <a:r>
              <a:rPr lang="en-US"/>
              <a:t>	reliable networking—no packet loss</a:t>
            </a:r>
            <a:endParaRPr/>
          </a:p>
          <a:p>
            <a:pPr indent="0" lvl="0" marL="0" rtl="0" algn="l">
              <a:spcBef>
                <a:spcPts val="0"/>
              </a:spcBef>
              <a:spcAft>
                <a:spcPts val="0"/>
              </a:spcAft>
              <a:buNone/>
            </a:pPr>
            <a:r>
              <a:rPr lang="en-US"/>
              <a:t>	fairly cheap</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Distributed filesystem: this is similar to the storage system, except that the exported volumes are not RAW but file system (PNFS, Lustre, GPFS…). This set up is typical of a tiered system: data is acquired and processed, and stored. Then the DTN read from the shared storage.</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Storage Systems: These are usually more massive systems (EMC, Netapp, DDN, etc) providing raw volumes to servers. The connectivity is usually fiber, but it can also be infiniband and ethernet.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This class benefits storage capacity.</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POINT: look at what your infrastructure requirements are</a:t>
            </a:r>
            <a:endParaRPr/>
          </a:p>
          <a:p>
            <a:pPr indent="0" lvl="0" marL="0" rtl="0" algn="l">
              <a:spcBef>
                <a:spcPts val="0"/>
              </a:spcBef>
              <a:spcAft>
                <a:spcPts val="0"/>
              </a:spcAft>
              <a:buNone/>
            </a:pPr>
            <a:r>
              <a:rPr lang="en-US"/>
              <a:t>	how much capacity do you need for the next 3 years—will your system scale the way you want?</a:t>
            </a:r>
            <a:endParaRPr/>
          </a:p>
          <a:p>
            <a:pPr indent="0" lvl="0" marL="0" rtl="0" algn="l">
              <a:spcBef>
                <a:spcPts val="0"/>
              </a:spcBef>
              <a:spcAft>
                <a:spcPts val="0"/>
              </a:spcAft>
              <a:buNone/>
            </a:pPr>
            <a:r>
              <a:rPr lang="en-US"/>
              <a:t>	how reliable does your storage have to be—source of truth or is it a pain to resend the data if a disk goes down? (i.e., choose your RAID appropriately)</a:t>
            </a:r>
            <a:endParaRPr/>
          </a:p>
          <a:p>
            <a:pPr indent="0" lvl="0" marL="0" rtl="0" algn="l">
              <a:spcBef>
                <a:spcPts val="0"/>
              </a:spcBef>
              <a:spcAft>
                <a:spcPts val="0"/>
              </a:spcAft>
              <a:buNone/>
            </a:pPr>
            <a:r>
              <a:rPr lang="en-US"/>
              <a:t>	performance of storage what you need? If its 10G—laptops won’t do that</a:t>
            </a:r>
            <a:endParaRPr/>
          </a:p>
          <a:p>
            <a:pPr indent="0" lvl="0" marL="0" rtl="0" algn="l">
              <a:spcBef>
                <a:spcPts val="0"/>
              </a:spcBef>
              <a:spcAft>
                <a:spcPts val="0"/>
              </a:spcAft>
              <a:buNone/>
            </a:pPr>
            <a:r>
              <a:rPr lang="en-US"/>
              <a:t>		don’t need to invest in super fast storage if you only want to use laptops</a:t>
            </a:r>
            <a:endParaRPr/>
          </a:p>
          <a:p>
            <a:pPr indent="0" lvl="0" marL="0" rtl="0" algn="l">
              <a:spcBef>
                <a:spcPts val="0"/>
              </a:spcBef>
              <a:spcAft>
                <a:spcPts val="0"/>
              </a:spcAft>
              <a:buNone/>
            </a:pPr>
            <a:r>
              <a:t/>
            </a:r>
            <a:endParaRPr/>
          </a:p>
        </p:txBody>
      </p:sp>
      <p:sp>
        <p:nvSpPr>
          <p:cNvPr id="176" name="Google Shape;176;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6" name="Google Shape;186;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Next two classes are the same from a systems perspective </a:t>
            </a:r>
            <a:endParaRPr/>
          </a:p>
          <a:p>
            <a:pPr indent="0" lvl="0" marL="0" rtl="0" algn="l">
              <a:spcBef>
                <a:spcPts val="0"/>
              </a:spcBef>
              <a:spcAft>
                <a:spcPts val="0"/>
              </a:spcAft>
              <a:buNone/>
            </a:pPr>
            <a:r>
              <a:rPr lang="en-US"/>
              <a:t>(main different from a workflow perspective—i.e. double copy workflow for SANs but not with distributed/global file systems)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We see these storage architectures in DTNs at data and HPC facilities</a:t>
            </a:r>
            <a:endParaRPr/>
          </a:p>
          <a:p>
            <a:pPr indent="0" lvl="0" marL="0" rtl="0" algn="l">
              <a:spcBef>
                <a:spcPts val="0"/>
              </a:spcBef>
              <a:spcAft>
                <a:spcPts val="0"/>
              </a:spcAft>
              <a:buNone/>
            </a:pPr>
            <a:r>
              <a:t/>
            </a:r>
            <a:endParaRPr/>
          </a:p>
          <a:p>
            <a:pPr indent="0" lvl="0" marL="0" marR="0" rtl="0" algn="l">
              <a:lnSpc>
                <a:spcPct val="100000"/>
              </a:lnSpc>
              <a:spcBef>
                <a:spcPts val="0"/>
              </a:spcBef>
              <a:spcAft>
                <a:spcPts val="0"/>
              </a:spcAft>
              <a:buClr>
                <a:schemeClr val="dk1"/>
              </a:buClr>
              <a:buSzPts val="1200"/>
              <a:buFont typeface="Calibri"/>
              <a:buNone/>
            </a:pPr>
            <a:r>
              <a:rPr lang="en-US"/>
              <a:t>But whatever you choose for storage will depend on your environment, requirements, and resources.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______________________</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System reasoning: what kind of card used on the backend to the storage system—FC/Ethernet/Inifiniband look the same</a:t>
            </a:r>
            <a:endParaRPr/>
          </a:p>
          <a:p>
            <a:pPr indent="0" lvl="0" marL="0" rtl="0" algn="l">
              <a:spcBef>
                <a:spcPts val="0"/>
              </a:spcBef>
              <a:spcAft>
                <a:spcPts val="0"/>
              </a:spcAft>
              <a:buNone/>
            </a:pPr>
            <a:r>
              <a:rPr lang="en-US"/>
              <a:t>But the workflow is what’s different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No block device communication between DTN kernel Global fs</a:t>
            </a:r>
            <a:endParaRPr/>
          </a:p>
          <a:p>
            <a:pPr indent="0" lvl="0" marL="0" rtl="0" algn="l">
              <a:spcBef>
                <a:spcPts val="0"/>
              </a:spcBef>
              <a:spcAft>
                <a:spcPts val="0"/>
              </a:spcAft>
              <a:buNone/>
            </a:pPr>
            <a:r>
              <a:rPr lang="en-US"/>
              <a:t>For SAN and internal disks—DTN kernel sees it as “owning”/managing blocks in SAN or RAID</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_____________________________</a:t>
            </a:r>
            <a:endParaRPr/>
          </a:p>
          <a:p>
            <a:pPr indent="0" lvl="0" marL="0" rtl="0" algn="l">
              <a:spcBef>
                <a:spcPts val="0"/>
              </a:spcBef>
              <a:spcAft>
                <a:spcPts val="0"/>
              </a:spcAft>
              <a:buNone/>
            </a:pPr>
            <a:r>
              <a:rPr lang="en-US"/>
              <a:t>Distributed file systems—high quality of service</a:t>
            </a:r>
            <a:endParaRPr/>
          </a:p>
          <a:p>
            <a:pPr indent="0" lvl="0" marL="0" rtl="0" algn="l">
              <a:spcBef>
                <a:spcPts val="0"/>
              </a:spcBef>
              <a:spcAft>
                <a:spcPts val="0"/>
              </a:spcAft>
              <a:buNone/>
            </a:pPr>
            <a:r>
              <a:rPr lang="en-US"/>
              <a:t>	much more reliable</a:t>
            </a:r>
            <a:endParaRPr/>
          </a:p>
          <a:p>
            <a:pPr indent="0" lvl="0" marL="0" rtl="0" algn="l">
              <a:spcBef>
                <a:spcPts val="0"/>
              </a:spcBef>
              <a:spcAft>
                <a:spcPts val="0"/>
              </a:spcAft>
              <a:buNone/>
            </a:pPr>
            <a:r>
              <a:rPr lang="en-US"/>
              <a:t>	easy to manage</a:t>
            </a:r>
            <a:endParaRPr/>
          </a:p>
          <a:p>
            <a:pPr indent="0" lvl="0" marL="0" rtl="0" algn="l">
              <a:spcBef>
                <a:spcPts val="0"/>
              </a:spcBef>
              <a:spcAft>
                <a:spcPts val="0"/>
              </a:spcAft>
              <a:buNone/>
            </a:pPr>
            <a:r>
              <a:rPr lang="en-US"/>
              <a:t>	however, typically performance is much lower because they are usually a shared system—don’t know the workload of other users—possibility of contesting traffic </a:t>
            </a:r>
            <a:endParaRPr/>
          </a:p>
          <a:p>
            <a:pPr indent="0" lvl="0" marL="0" rtl="0" algn="l">
              <a:spcBef>
                <a:spcPts val="0"/>
              </a:spcBef>
              <a:spcAft>
                <a:spcPts val="0"/>
              </a:spcAft>
              <a:buNone/>
            </a:pPr>
            <a:r>
              <a:rPr lang="en-US"/>
              <a:t>	i.e., we see this at data centers/supercomputers</a:t>
            </a:r>
            <a:endParaRPr/>
          </a:p>
          <a:p>
            <a:pPr indent="0" lvl="0" marL="0" rtl="0" algn="l">
              <a:spcBef>
                <a:spcPts val="0"/>
              </a:spcBef>
              <a:spcAft>
                <a:spcPts val="0"/>
              </a:spcAft>
              <a:buNone/>
            </a:pPr>
            <a:r>
              <a:rPr lang="en-US"/>
              <a:t>	they do have bottlenecks. I/O is the storage controller (EMC is limited to 8G right now)</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Same I/O capacity but no bottleneck with infiniband connections.</a:t>
            </a:r>
            <a:endParaRPr/>
          </a:p>
          <a:p>
            <a:pPr indent="0" lvl="0" marL="0" rtl="0" algn="l">
              <a:spcBef>
                <a:spcPts val="0"/>
              </a:spcBef>
              <a:spcAft>
                <a:spcPts val="0"/>
              </a:spcAft>
              <a:buNone/>
            </a:pPr>
            <a:r>
              <a:rPr lang="en-US"/>
              <a:t>	enterprise level system</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IB</a:t>
            </a:r>
            <a:endParaRPr/>
          </a:p>
          <a:p>
            <a:pPr indent="0" lvl="0" marL="0" rtl="0" algn="l">
              <a:spcBef>
                <a:spcPts val="0"/>
              </a:spcBef>
              <a:spcAft>
                <a:spcPts val="0"/>
              </a:spcAft>
              <a:buNone/>
            </a:pPr>
            <a:r>
              <a:rPr lang="en-US"/>
              <a:t>	56 G/link and easy to aggregate</a:t>
            </a:r>
            <a:endParaRPr/>
          </a:p>
          <a:p>
            <a:pPr indent="0" lvl="0" marL="0" rtl="0" algn="l">
              <a:spcBef>
                <a:spcPts val="0"/>
              </a:spcBef>
              <a:spcAft>
                <a:spcPts val="0"/>
              </a:spcAft>
              <a:buNone/>
            </a:pPr>
            <a:r>
              <a:rPr lang="en-US"/>
              <a:t>	reliable networking—no packet loss</a:t>
            </a:r>
            <a:endParaRPr/>
          </a:p>
          <a:p>
            <a:pPr indent="0" lvl="0" marL="0" rtl="0" algn="l">
              <a:spcBef>
                <a:spcPts val="0"/>
              </a:spcBef>
              <a:spcAft>
                <a:spcPts val="0"/>
              </a:spcAft>
              <a:buNone/>
            </a:pPr>
            <a:r>
              <a:rPr lang="en-US"/>
              <a:t>	fairly cheap</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Distributed filesystem: this is similar to the storage system, except that the exported volumes are not RAW but file system (PNFS, Lustre, GPFS…). This set up is typical of a tiered system: data is acquired and processed, and stored. Then the DTN read from the shared storage.</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Storage Systems: These are usually more massive systems (EMC, Netapp, DDN, etc) providing raw volumes to servers. The connectivity is usually fiber, but it can also be infiniband and ethernet.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This class benefits storage capacity.</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POINT: look at what your infrastructure requirements are</a:t>
            </a:r>
            <a:endParaRPr/>
          </a:p>
          <a:p>
            <a:pPr indent="0" lvl="0" marL="0" rtl="0" algn="l">
              <a:spcBef>
                <a:spcPts val="0"/>
              </a:spcBef>
              <a:spcAft>
                <a:spcPts val="0"/>
              </a:spcAft>
              <a:buNone/>
            </a:pPr>
            <a:r>
              <a:rPr lang="en-US"/>
              <a:t>	how much capacity do you need for the next 3 years—will your system scale the way you want?</a:t>
            </a:r>
            <a:endParaRPr/>
          </a:p>
          <a:p>
            <a:pPr indent="0" lvl="0" marL="0" rtl="0" algn="l">
              <a:spcBef>
                <a:spcPts val="0"/>
              </a:spcBef>
              <a:spcAft>
                <a:spcPts val="0"/>
              </a:spcAft>
              <a:buNone/>
            </a:pPr>
            <a:r>
              <a:rPr lang="en-US"/>
              <a:t>	how reliable does your storage have to be—source of truth or is it a pain to resend the data if a disk goes down? (i.e., choose your RAID appropriately)</a:t>
            </a:r>
            <a:endParaRPr/>
          </a:p>
          <a:p>
            <a:pPr indent="0" lvl="0" marL="0" rtl="0" algn="l">
              <a:spcBef>
                <a:spcPts val="0"/>
              </a:spcBef>
              <a:spcAft>
                <a:spcPts val="0"/>
              </a:spcAft>
              <a:buNone/>
            </a:pPr>
            <a:r>
              <a:rPr lang="en-US"/>
              <a:t>	performance of storage what you need? If its 10G—laptops won’t do that</a:t>
            </a:r>
            <a:endParaRPr/>
          </a:p>
          <a:p>
            <a:pPr indent="0" lvl="0" marL="0" rtl="0" algn="l">
              <a:spcBef>
                <a:spcPts val="0"/>
              </a:spcBef>
              <a:spcAft>
                <a:spcPts val="0"/>
              </a:spcAft>
              <a:buNone/>
            </a:pPr>
            <a:r>
              <a:rPr lang="en-US"/>
              <a:t>		don’t need to invest in super fast storage if you only want to use laptops</a:t>
            </a:r>
            <a:endParaRPr/>
          </a:p>
          <a:p>
            <a:pPr indent="0" lvl="0" marL="0" rtl="0" algn="l">
              <a:spcBef>
                <a:spcPts val="0"/>
              </a:spcBef>
              <a:spcAft>
                <a:spcPts val="0"/>
              </a:spcAft>
              <a:buNone/>
            </a:pPr>
            <a:r>
              <a:t/>
            </a:r>
            <a:endParaRPr/>
          </a:p>
        </p:txBody>
      </p:sp>
      <p:sp>
        <p:nvSpPr>
          <p:cNvPr id="187" name="Google Shape;187;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7" name="Google Shape;197;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76200" lvl="0" marL="0" rtl="0" algn="l">
              <a:spcBef>
                <a:spcPts val="0"/>
              </a:spcBef>
              <a:spcAft>
                <a:spcPts val="0"/>
              </a:spcAft>
              <a:buClr>
                <a:schemeClr val="dk1"/>
              </a:buClr>
              <a:buSzPts val="1200"/>
              <a:buFont typeface="Arial"/>
              <a:buChar char="•"/>
            </a:pPr>
            <a:r>
              <a:rPr lang="en-US"/>
              <a:t>Now we are assuming you’ve chosen to go with internal disks/storage for your DTN</a:t>
            </a:r>
            <a:endParaRPr/>
          </a:p>
          <a:p>
            <a:pPr indent="0" lvl="0" marL="0" rtl="0" algn="l">
              <a:spcBef>
                <a:spcPts val="0"/>
              </a:spcBef>
              <a:spcAft>
                <a:spcPts val="0"/>
              </a:spcAft>
              <a:buClr>
                <a:schemeClr val="dk1"/>
              </a:buClr>
              <a:buSzPts val="1200"/>
              <a:buFont typeface="Arial"/>
              <a:buNone/>
            </a:pPr>
            <a:r>
              <a:t/>
            </a:r>
            <a:endParaRPr/>
          </a:p>
          <a:p>
            <a:pPr indent="-76200" lvl="0" marL="0" rtl="0" algn="l">
              <a:spcBef>
                <a:spcPts val="0"/>
              </a:spcBef>
              <a:spcAft>
                <a:spcPts val="0"/>
              </a:spcAft>
              <a:buClr>
                <a:schemeClr val="dk1"/>
              </a:buClr>
              <a:buSzPts val="1200"/>
              <a:buFont typeface="Arial"/>
              <a:buChar char="•"/>
            </a:pPr>
            <a:r>
              <a:rPr lang="en-US"/>
              <a:t>Deciding what storage to use in your DTN is based on what you are optimizing for:  </a:t>
            </a:r>
            <a:endParaRPr/>
          </a:p>
          <a:p>
            <a:pPr indent="0" lvl="1" marL="457200" rtl="0" algn="l">
              <a:spcBef>
                <a:spcPts val="0"/>
              </a:spcBef>
              <a:spcAft>
                <a:spcPts val="0"/>
              </a:spcAft>
              <a:buNone/>
            </a:pPr>
            <a:r>
              <a:rPr lang="en-US"/>
              <a:t>performance, reliability, capacity, or cost.</a:t>
            </a:r>
            <a:endParaRPr/>
          </a:p>
          <a:p>
            <a:pPr indent="0" lvl="1" marL="457200" rtl="0" algn="l">
              <a:spcBef>
                <a:spcPts val="0"/>
              </a:spcBef>
              <a:spcAft>
                <a:spcPts val="0"/>
              </a:spcAft>
              <a:buNone/>
            </a:pPr>
            <a:r>
              <a:t/>
            </a:r>
            <a:endParaRPr/>
          </a:p>
          <a:p>
            <a:pPr indent="-76200" lvl="0" marL="0" rtl="0" algn="l">
              <a:spcBef>
                <a:spcPts val="0"/>
              </a:spcBef>
              <a:spcAft>
                <a:spcPts val="0"/>
              </a:spcAft>
              <a:buClr>
                <a:schemeClr val="dk1"/>
              </a:buClr>
              <a:buSzPts val="1200"/>
              <a:buFont typeface="Arial"/>
              <a:buChar char="•"/>
            </a:pPr>
            <a:r>
              <a:rPr lang="en-US"/>
              <a:t>SATA disks historically have been cheaper and higher capacity, while SAS (SCSI) disks typically have been the fastest. </a:t>
            </a:r>
            <a:endParaRPr/>
          </a:p>
          <a:p>
            <a:pPr indent="0" lvl="1" marL="457200" rtl="0" algn="l">
              <a:spcBef>
                <a:spcPts val="0"/>
              </a:spcBef>
              <a:spcAft>
                <a:spcPts val="0"/>
              </a:spcAft>
              <a:buNone/>
            </a:pPr>
            <a:r>
              <a:rPr lang="en-US"/>
              <a:t>Technologies have been converging (and its hard to keep up)</a:t>
            </a:r>
            <a:endParaRPr/>
          </a:p>
          <a:p>
            <a:pPr indent="0" lvl="1" marL="457200" rtl="0" algn="l">
              <a:spcBef>
                <a:spcPts val="0"/>
              </a:spcBef>
              <a:spcAft>
                <a:spcPts val="0"/>
              </a:spcAft>
              <a:buNone/>
            </a:pPr>
            <a:r>
              <a:t/>
            </a:r>
            <a:endParaRPr/>
          </a:p>
          <a:p>
            <a:pPr indent="0" lvl="1" marL="457200" marR="0" rtl="0" algn="l">
              <a:lnSpc>
                <a:spcPct val="100000"/>
              </a:lnSpc>
              <a:spcBef>
                <a:spcPts val="0"/>
              </a:spcBef>
              <a:spcAft>
                <a:spcPts val="0"/>
              </a:spcAft>
              <a:buClr>
                <a:schemeClr val="dk1"/>
              </a:buClr>
              <a:buSzPts val="1200"/>
              <a:buFont typeface="Calibri"/>
              <a:buNone/>
            </a:pPr>
            <a:r>
              <a:rPr lang="en-US"/>
              <a:t>SATA (lower quality) was more for consumers and SAS for enterprise </a:t>
            </a:r>
            <a:endParaRPr/>
          </a:p>
          <a:p>
            <a:pPr indent="0" lvl="1" marL="457200" rtl="0" algn="l">
              <a:spcBef>
                <a:spcPts val="0"/>
              </a:spcBef>
              <a:spcAft>
                <a:spcPts val="0"/>
              </a:spcAft>
              <a:buNone/>
            </a:pPr>
            <a:r>
              <a:rPr lang="en-US"/>
              <a:t>SATA 3 is coming up to speed with SAS performance though</a:t>
            </a:r>
            <a:endParaRPr/>
          </a:p>
          <a:p>
            <a:pPr indent="0" lvl="1" marL="457200" rtl="0" algn="l">
              <a:spcBef>
                <a:spcPts val="0"/>
              </a:spcBef>
              <a:spcAft>
                <a:spcPts val="0"/>
              </a:spcAft>
              <a:buNone/>
            </a:pPr>
            <a:r>
              <a:t/>
            </a:r>
            <a:endParaRPr/>
          </a:p>
          <a:p>
            <a:pPr indent="0" lvl="0" marL="0" rtl="0" algn="l">
              <a:spcBef>
                <a:spcPts val="0"/>
              </a:spcBef>
              <a:spcAft>
                <a:spcPts val="0"/>
              </a:spcAft>
              <a:buNone/>
            </a:pPr>
            <a:r>
              <a:rPr lang="en-US"/>
              <a:t>POINT: Choose what you can support well</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_____________________________</a:t>
            </a:r>
            <a:endParaRPr/>
          </a:p>
          <a:p>
            <a:pPr indent="0" lvl="0" marL="0" rtl="0" algn="l">
              <a:spcBef>
                <a:spcPts val="0"/>
              </a:spcBef>
              <a:spcAft>
                <a:spcPts val="0"/>
              </a:spcAft>
              <a:buNone/>
            </a:pPr>
            <a:r>
              <a:rPr lang="en-US"/>
              <a:t>SATA vs. SAS</a:t>
            </a:r>
            <a:endParaRPr/>
          </a:p>
          <a:p>
            <a:pPr indent="0" lvl="0" marL="0" rtl="0" algn="l">
              <a:spcBef>
                <a:spcPts val="0"/>
              </a:spcBef>
              <a:spcAft>
                <a:spcPts val="0"/>
              </a:spcAft>
              <a:buNone/>
            </a:pPr>
            <a:r>
              <a:rPr lang="en-US"/>
              <a:t>Currently no particular reason to choose one over the other</a:t>
            </a:r>
            <a:endParaRPr/>
          </a:p>
          <a:p>
            <a:pPr indent="0" lvl="0" marL="0" rtl="0" algn="l">
              <a:spcBef>
                <a:spcPts val="0"/>
              </a:spcBef>
              <a:spcAft>
                <a:spcPts val="0"/>
              </a:spcAft>
              <a:buNone/>
            </a:pPr>
            <a:r>
              <a:rPr lang="en-US"/>
              <a:t>SATA used to be much lower than SAS for performance</a:t>
            </a:r>
            <a:endParaRPr/>
          </a:p>
          <a:p>
            <a:pPr indent="0" lvl="0" marL="0" rtl="0" algn="l">
              <a:spcBef>
                <a:spcPts val="0"/>
              </a:spcBef>
              <a:spcAft>
                <a:spcPts val="0"/>
              </a:spcAft>
              <a:buNone/>
            </a:pPr>
            <a:r>
              <a:rPr lang="en-US"/>
              <a:t>With SATA 3 it is comparable performance now</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(SATA/SAS drives to RAID controller)</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Historically </a:t>
            </a:r>
            <a:endParaRPr/>
          </a:p>
          <a:p>
            <a:pPr indent="0" lvl="0" marL="0" rtl="0" algn="l">
              <a:spcBef>
                <a:spcPts val="0"/>
              </a:spcBef>
              <a:spcAft>
                <a:spcPts val="0"/>
              </a:spcAft>
              <a:buNone/>
            </a:pPr>
            <a:r>
              <a:rPr lang="en-US"/>
              <a:t>SATA (lower quality) was more for consumers and SAS for enterprise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Check SATA3!</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[SAS/SATA bus that connects computer storage to drives</a:t>
            </a:r>
            <a:endParaRPr/>
          </a:p>
          <a:p>
            <a:pPr indent="0" lvl="0" marL="0" rtl="0" algn="l">
              <a:spcBef>
                <a:spcPts val="0"/>
              </a:spcBef>
              <a:spcAft>
                <a:spcPts val="0"/>
              </a:spcAft>
              <a:buNone/>
            </a:pPr>
            <a:r>
              <a:rPr lang="en-US"/>
              <a:t>SAS backplanes are backward compatible with SATA but not SATA 3]</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SATA3 and SAS are multipath I/O so roughly the same performance now but SAS is still recommended for non-consumer based workflows.</a:t>
            </a:r>
            <a:endParaRPr/>
          </a:p>
        </p:txBody>
      </p:sp>
      <p:sp>
        <p:nvSpPr>
          <p:cNvPr id="198" name="Google Shape;198;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5" name="Google Shape;205;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1" marL="457200" rtl="0" algn="l">
              <a:spcBef>
                <a:spcPts val="0"/>
              </a:spcBef>
              <a:spcAft>
                <a:spcPts val="0"/>
              </a:spcAft>
              <a:buNone/>
            </a:pPr>
            <a:r>
              <a:rPr lang="en-US" sz="1800"/>
              <a:t>SSDs have usually been more expensive than HDs</a:t>
            </a:r>
            <a:endParaRPr/>
          </a:p>
          <a:p>
            <a:pPr indent="0" lvl="1" marL="457200" rtl="0" algn="l">
              <a:spcBef>
                <a:spcPts val="0"/>
              </a:spcBef>
              <a:spcAft>
                <a:spcPts val="0"/>
              </a:spcAft>
              <a:buNone/>
            </a:pPr>
            <a:r>
              <a:rPr lang="en-US" sz="1800"/>
              <a:t>	prices are coming down though</a:t>
            </a:r>
            <a:endParaRPr/>
          </a:p>
          <a:p>
            <a:pPr indent="0" lvl="1" marL="457200" rtl="0" algn="l">
              <a:spcBef>
                <a:spcPts val="0"/>
              </a:spcBef>
              <a:spcAft>
                <a:spcPts val="0"/>
              </a:spcAft>
              <a:buNone/>
            </a:pPr>
            <a:r>
              <a:t/>
            </a:r>
            <a:endParaRPr sz="1800"/>
          </a:p>
          <a:p>
            <a:pPr indent="0" lvl="1" marL="457200" rtl="0" algn="l">
              <a:spcBef>
                <a:spcPts val="0"/>
              </a:spcBef>
              <a:spcAft>
                <a:spcPts val="0"/>
              </a:spcAft>
              <a:buNone/>
            </a:pPr>
            <a:r>
              <a:rPr lang="en-US" sz="1800"/>
              <a:t>SSDs do come in a few different shapes now: </a:t>
            </a:r>
            <a:endParaRPr/>
          </a:p>
          <a:p>
            <a:pPr indent="0" lvl="1" marL="457200" rtl="0" algn="l">
              <a:spcBef>
                <a:spcPts val="0"/>
              </a:spcBef>
              <a:spcAft>
                <a:spcPts val="0"/>
              </a:spcAft>
              <a:buNone/>
            </a:pPr>
            <a:r>
              <a:t/>
            </a:r>
            <a:endParaRPr sz="1800"/>
          </a:p>
          <a:p>
            <a:pPr indent="0" lvl="1" marL="457200" rtl="0" algn="l">
              <a:spcBef>
                <a:spcPts val="0"/>
              </a:spcBef>
              <a:spcAft>
                <a:spcPts val="0"/>
              </a:spcAft>
              <a:buNone/>
            </a:pPr>
            <a:r>
              <a:rPr lang="en-US" sz="1800"/>
              <a:t>On PCI cards (these are by far the fastest but they are the most expensive)</a:t>
            </a:r>
            <a:endParaRPr sz="1800"/>
          </a:p>
          <a:p>
            <a:pPr indent="0" lvl="1" marL="457200" rtl="0" algn="l">
              <a:spcBef>
                <a:spcPts val="0"/>
              </a:spcBef>
              <a:spcAft>
                <a:spcPts val="0"/>
              </a:spcAft>
              <a:buNone/>
            </a:pPr>
            <a:r>
              <a:t/>
            </a:r>
            <a:endParaRPr sz="1800"/>
          </a:p>
          <a:p>
            <a:pPr indent="0" lvl="1" marL="457200" rtl="0" algn="l">
              <a:spcBef>
                <a:spcPts val="0"/>
              </a:spcBef>
              <a:spcAft>
                <a:spcPts val="0"/>
              </a:spcAft>
              <a:buNone/>
            </a:pPr>
            <a:r>
              <a:rPr lang="en-US" sz="1800"/>
              <a:t>And as HD replacements: several vendors now sell SSD-based drives that have the same form factor as traditional drives such as SAS and SATA. </a:t>
            </a:r>
            <a:endParaRPr/>
          </a:p>
          <a:p>
            <a:pPr indent="0" lvl="2" marL="914400" rtl="0" algn="l">
              <a:spcBef>
                <a:spcPts val="0"/>
              </a:spcBef>
              <a:spcAft>
                <a:spcPts val="0"/>
              </a:spcAft>
              <a:buNone/>
            </a:pPr>
            <a:r>
              <a:t/>
            </a:r>
            <a:endParaRPr sz="1800"/>
          </a:p>
          <a:p>
            <a:pPr indent="0" lvl="2" marL="914400" rtl="0" algn="l">
              <a:spcBef>
                <a:spcPts val="0"/>
              </a:spcBef>
              <a:spcAft>
                <a:spcPts val="0"/>
              </a:spcAft>
              <a:buNone/>
            </a:pPr>
            <a:r>
              <a:t/>
            </a:r>
            <a:endParaRPr sz="1800"/>
          </a:p>
          <a:p>
            <a:pPr indent="0" lvl="2" marL="914400" rtl="0" algn="l">
              <a:spcBef>
                <a:spcPts val="0"/>
              </a:spcBef>
              <a:spcAft>
                <a:spcPts val="0"/>
              </a:spcAft>
              <a:buNone/>
            </a:pPr>
            <a:r>
              <a:rPr lang="en-US" sz="1800"/>
              <a:t>The downside to this approach is that performance is limited by the RAID controller, and not all controllers work well with SSD.</a:t>
            </a:r>
            <a:endParaRPr/>
          </a:p>
          <a:p>
            <a:pPr indent="0" lvl="3" marL="1371600" rtl="0" algn="l">
              <a:spcBef>
                <a:spcPts val="0"/>
              </a:spcBef>
              <a:spcAft>
                <a:spcPts val="0"/>
              </a:spcAft>
              <a:buNone/>
            </a:pPr>
            <a:r>
              <a:t/>
            </a:r>
            <a:endParaRPr b="1" i="1" sz="1800">
              <a:solidFill>
                <a:srgbClr val="FF0000"/>
              </a:solidFill>
            </a:endParaRPr>
          </a:p>
          <a:p>
            <a:pPr indent="0" lvl="3" marL="1371600" marR="0" rtl="0" algn="l">
              <a:lnSpc>
                <a:spcPct val="100000"/>
              </a:lnSpc>
              <a:spcBef>
                <a:spcPts val="0"/>
              </a:spcBef>
              <a:spcAft>
                <a:spcPts val="0"/>
              </a:spcAft>
              <a:buClr>
                <a:srgbClr val="FF0000"/>
              </a:buClr>
              <a:buSzPts val="1800"/>
              <a:buFont typeface="Calibri"/>
              <a:buNone/>
            </a:pPr>
            <a:r>
              <a:rPr b="1" i="1" lang="en-US" sz="1800">
                <a:solidFill>
                  <a:srgbClr val="FF0000"/>
                </a:solidFill>
              </a:rPr>
              <a:t>Be sure that your RAID controller is “SSD capable”</a:t>
            </a:r>
            <a:r>
              <a:rPr lang="en-US" sz="1800"/>
              <a:t>.</a:t>
            </a:r>
            <a:endParaRPr/>
          </a:p>
          <a:p>
            <a:pPr indent="0" lvl="3" marL="1371600" rtl="0" algn="l">
              <a:spcBef>
                <a:spcPts val="0"/>
              </a:spcBef>
              <a:spcAft>
                <a:spcPts val="0"/>
              </a:spcAft>
              <a:buNone/>
            </a:pPr>
            <a:r>
              <a:t/>
            </a:r>
            <a:endParaRPr b="1" i="1" sz="1800">
              <a:solidFill>
                <a:srgbClr val="FF0000"/>
              </a:solidFill>
            </a:endParaRPr>
          </a:p>
          <a:p>
            <a:pPr indent="0" lvl="1" marL="457200" rtl="0" algn="l">
              <a:spcBef>
                <a:spcPts val="0"/>
              </a:spcBef>
              <a:spcAft>
                <a:spcPts val="0"/>
              </a:spcAft>
              <a:buNone/>
            </a:pPr>
            <a:r>
              <a:rPr lang="en-US" sz="1800"/>
              <a:t>_____________________________________</a:t>
            </a:r>
            <a:endParaRPr/>
          </a:p>
          <a:p>
            <a:pPr indent="0" lvl="3" marL="1371600" rtl="0" algn="l">
              <a:spcBef>
                <a:spcPts val="0"/>
              </a:spcBef>
              <a:spcAft>
                <a:spcPts val="0"/>
              </a:spcAft>
              <a:buNone/>
            </a:pPr>
            <a:r>
              <a:t/>
            </a:r>
            <a:endParaRPr sz="1800"/>
          </a:p>
          <a:p>
            <a:pPr indent="0" lvl="3" marL="1371600" rtl="0" algn="l">
              <a:spcBef>
                <a:spcPts val="0"/>
              </a:spcBef>
              <a:spcAft>
                <a:spcPts val="0"/>
              </a:spcAft>
              <a:buNone/>
            </a:pPr>
            <a:r>
              <a:t/>
            </a:r>
            <a:endParaRPr sz="1800"/>
          </a:p>
          <a:p>
            <a:pPr indent="0" lvl="0" marL="0" rtl="0" algn="l">
              <a:spcBef>
                <a:spcPts val="0"/>
              </a:spcBef>
              <a:spcAft>
                <a:spcPts val="0"/>
              </a:spcAft>
              <a:buNone/>
            </a:pPr>
            <a:r>
              <a:rPr lang="en-US"/>
              <a:t>SSD have much less capacity/performance</a:t>
            </a:r>
            <a:endParaRPr/>
          </a:p>
          <a:p>
            <a:pPr indent="0" lvl="0" marL="0" rtl="0" algn="l">
              <a:spcBef>
                <a:spcPts val="0"/>
              </a:spcBef>
              <a:spcAft>
                <a:spcPts val="0"/>
              </a:spcAft>
              <a:buNone/>
            </a:pPr>
            <a:r>
              <a:rPr lang="en-US"/>
              <a:t>	every vendor has a different way of dealing with SSDs</a:t>
            </a:r>
            <a:endParaRPr/>
          </a:p>
          <a:p>
            <a:pPr indent="0" lvl="0" marL="0" rtl="0" algn="l">
              <a:spcBef>
                <a:spcPts val="0"/>
              </a:spcBef>
              <a:spcAft>
                <a:spcPts val="0"/>
              </a:spcAft>
              <a:buNone/>
            </a:pPr>
            <a:r>
              <a:rPr lang="en-US"/>
              <a:t>	some read fast but are WAY slower to write—slower than a hard drive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	I.e., 97 GB/sec read with a 20GB/sec write—this is not optimal for a read/write workflow</a:t>
            </a:r>
            <a:endParaRPr/>
          </a:p>
          <a:p>
            <a:pPr indent="0" lvl="0" marL="0" rtl="0" algn="l">
              <a:spcBef>
                <a:spcPts val="0"/>
              </a:spcBef>
              <a:spcAft>
                <a:spcPts val="0"/>
              </a:spcAft>
              <a:buNone/>
            </a:pPr>
            <a:r>
              <a:rPr lang="en-US"/>
              <a:t>		i.e. laptop mostly does read</a:t>
            </a:r>
            <a:endParaRPr/>
          </a:p>
          <a:p>
            <a:pPr indent="0" lvl="0" marL="0" rtl="0" algn="l">
              <a:spcBef>
                <a:spcPts val="0"/>
              </a:spcBef>
              <a:spcAft>
                <a:spcPts val="0"/>
              </a:spcAft>
              <a:buNone/>
            </a:pPr>
            <a:r>
              <a:rPr lang="en-US"/>
              <a:t>		SSDs more geared to commodities right now—not great for high performance right now</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SSDs not for everyone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Have to go back to WHAT IS YOUR WORKFLOW—i.e., bioinformatics use case with mostly reads, SSDs could be a good choice</a:t>
            </a:r>
            <a:endParaRPr/>
          </a:p>
          <a:p>
            <a:pPr indent="0" lvl="0" marL="0" rtl="0" algn="l">
              <a:spcBef>
                <a:spcPts val="0"/>
              </a:spcBef>
              <a:spcAft>
                <a:spcPts val="0"/>
              </a:spcAft>
              <a:buNone/>
            </a:pPr>
            <a:r>
              <a:rPr lang="en-US"/>
              <a:t>For a lot of writes like a beamline at a light source, hard drives may be better</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SSDs come in a lot of different packaging</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One of the pros for SSDs are that they are good for plug and play</a:t>
            </a:r>
            <a:endParaRPr/>
          </a:p>
          <a:p>
            <a:pPr indent="0" lvl="0" marL="0" rtl="0" algn="l">
              <a:spcBef>
                <a:spcPts val="0"/>
              </a:spcBef>
              <a:spcAft>
                <a:spcPts val="0"/>
              </a:spcAft>
              <a:buNone/>
            </a:pPr>
            <a:r>
              <a:rPr lang="en-US"/>
              <a:t>make sure that your RAID controller can deal with SSDs though because it is not always the same for every level</a:t>
            </a:r>
            <a:endParaRPr/>
          </a:p>
          <a:p>
            <a:pPr indent="0" lvl="3" marL="1371600" rtl="0" algn="l">
              <a:spcBef>
                <a:spcPts val="0"/>
              </a:spcBef>
              <a:spcAft>
                <a:spcPts val="0"/>
              </a:spcAft>
              <a:buNone/>
            </a:pPr>
            <a:r>
              <a:t/>
            </a:r>
            <a:endParaRPr sz="1800"/>
          </a:p>
          <a:p>
            <a:pPr indent="0" lvl="3" marL="1371600" rtl="0" algn="l">
              <a:spcBef>
                <a:spcPts val="0"/>
              </a:spcBef>
              <a:spcAft>
                <a:spcPts val="0"/>
              </a:spcAft>
              <a:buNone/>
            </a:pPr>
            <a:r>
              <a:t/>
            </a:r>
            <a:endParaRPr sz="1800"/>
          </a:p>
          <a:p>
            <a:pPr indent="0" lvl="3" marL="1371600" rtl="0" algn="l">
              <a:spcBef>
                <a:spcPts val="0"/>
              </a:spcBef>
              <a:spcAft>
                <a:spcPts val="0"/>
              </a:spcAft>
              <a:buNone/>
            </a:pPr>
            <a:r>
              <a:t/>
            </a:r>
            <a:endParaRPr sz="1800"/>
          </a:p>
          <a:p>
            <a:pPr indent="0" lvl="3" marL="1371600" rtl="0" algn="l">
              <a:spcBef>
                <a:spcPts val="0"/>
              </a:spcBef>
              <a:spcAft>
                <a:spcPts val="0"/>
              </a:spcAft>
              <a:buNone/>
            </a:pPr>
            <a:r>
              <a:t/>
            </a:r>
            <a:endParaRPr sz="1800"/>
          </a:p>
          <a:p>
            <a:pPr indent="0" lvl="3" marL="1371600" rtl="0" algn="l">
              <a:spcBef>
                <a:spcPts val="0"/>
              </a:spcBef>
              <a:spcAft>
                <a:spcPts val="0"/>
              </a:spcAft>
              <a:buNone/>
            </a:pPr>
            <a:r>
              <a:t/>
            </a:r>
            <a:endParaRPr sz="1800"/>
          </a:p>
          <a:p>
            <a:pPr indent="0" lvl="3" marL="1371600" rtl="0" algn="l">
              <a:spcBef>
                <a:spcPts val="0"/>
              </a:spcBef>
              <a:spcAft>
                <a:spcPts val="0"/>
              </a:spcAft>
              <a:buNone/>
            </a:pPr>
            <a:r>
              <a:t/>
            </a:r>
            <a:endParaRPr sz="1800"/>
          </a:p>
          <a:p>
            <a:pPr indent="0" lvl="3" marL="1371600" rtl="0" algn="l">
              <a:spcBef>
                <a:spcPts val="0"/>
              </a:spcBef>
              <a:spcAft>
                <a:spcPts val="0"/>
              </a:spcAft>
              <a:buNone/>
            </a:pPr>
            <a:r>
              <a:t/>
            </a:r>
            <a:endParaRPr sz="1800"/>
          </a:p>
        </p:txBody>
      </p:sp>
      <p:sp>
        <p:nvSpPr>
          <p:cNvPr id="206" name="Google Shape;206;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3" name="Google Shape;213;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rmAutofit/>
          </a:bodyPr>
          <a:lstStyle/>
          <a:p>
            <a:pPr indent="0" lvl="0" marL="0" rtl="0" algn="l">
              <a:lnSpc>
                <a:spcPct val="80000"/>
              </a:lnSpc>
              <a:spcBef>
                <a:spcPts val="0"/>
              </a:spcBef>
              <a:spcAft>
                <a:spcPts val="0"/>
              </a:spcAft>
              <a:buNone/>
            </a:pPr>
            <a:r>
              <a:rPr lang="en-US" sz="570"/>
              <a:t>Fusion-io with SSDs on PCI cards (go directly to the CPU)</a:t>
            </a:r>
            <a:endParaRPr/>
          </a:p>
          <a:p>
            <a:pPr indent="0" lvl="0" marL="0" rtl="0" algn="l">
              <a:lnSpc>
                <a:spcPct val="80000"/>
              </a:lnSpc>
              <a:spcBef>
                <a:spcPts val="0"/>
              </a:spcBef>
              <a:spcAft>
                <a:spcPts val="0"/>
              </a:spcAft>
              <a:buNone/>
            </a:pPr>
            <a:r>
              <a:t/>
            </a:r>
            <a:endParaRPr sz="570"/>
          </a:p>
          <a:p>
            <a:pPr indent="0" lvl="0" marL="0" rtl="0" algn="l">
              <a:lnSpc>
                <a:spcPct val="80000"/>
              </a:lnSpc>
              <a:spcBef>
                <a:spcPts val="0"/>
              </a:spcBef>
              <a:spcAft>
                <a:spcPts val="0"/>
              </a:spcAft>
              <a:buNone/>
            </a:pPr>
            <a:r>
              <a:rPr lang="en-US" sz="570"/>
              <a:t>Left: two form factor replacements for HDs</a:t>
            </a:r>
            <a:endParaRPr sz="570"/>
          </a:p>
          <a:p>
            <a:pPr indent="0" lvl="0" marL="0" rtl="0" algn="l">
              <a:lnSpc>
                <a:spcPct val="80000"/>
              </a:lnSpc>
              <a:spcBef>
                <a:spcPts val="0"/>
              </a:spcBef>
              <a:spcAft>
                <a:spcPts val="0"/>
              </a:spcAft>
              <a:buNone/>
            </a:pPr>
            <a:r>
              <a:t/>
            </a:r>
            <a:endParaRPr sz="570"/>
          </a:p>
          <a:p>
            <a:pPr indent="0" lvl="0" marL="0" rtl="0" algn="l">
              <a:lnSpc>
                <a:spcPct val="80000"/>
              </a:lnSpc>
              <a:spcBef>
                <a:spcPts val="0"/>
              </a:spcBef>
              <a:spcAft>
                <a:spcPts val="0"/>
              </a:spcAft>
              <a:buNone/>
            </a:pPr>
            <a:r>
              <a:rPr lang="en-US" sz="570"/>
              <a:t>	Please note that performance/longevity of the SSD HD replacements is not great</a:t>
            </a:r>
            <a:endParaRPr/>
          </a:p>
          <a:p>
            <a:pPr indent="0" lvl="0" marL="0" rtl="0" algn="l">
              <a:lnSpc>
                <a:spcPct val="80000"/>
              </a:lnSpc>
              <a:spcBef>
                <a:spcPts val="0"/>
              </a:spcBef>
              <a:spcAft>
                <a:spcPts val="0"/>
              </a:spcAft>
              <a:buNone/>
            </a:pPr>
            <a:r>
              <a:rPr lang="en-US" sz="570"/>
              <a:t>		They have a tendency to fail faster</a:t>
            </a:r>
            <a:endParaRPr/>
          </a:p>
          <a:p>
            <a:pPr indent="0" lvl="0" marL="0" rtl="0" algn="l">
              <a:lnSpc>
                <a:spcPct val="80000"/>
              </a:lnSpc>
              <a:spcBef>
                <a:spcPts val="0"/>
              </a:spcBef>
              <a:spcAft>
                <a:spcPts val="0"/>
              </a:spcAft>
              <a:buNone/>
            </a:pPr>
            <a:r>
              <a:rPr lang="en-US" sz="570"/>
              <a:t>		also performance is unreliable: from 1GB to 100MB/s  because they use more power, therefore heat up faster, and slowdown</a:t>
            </a:r>
            <a:endParaRPr sz="570"/>
          </a:p>
          <a:p>
            <a:pPr indent="0" lvl="0" marL="0" rtl="0" algn="l">
              <a:lnSpc>
                <a:spcPct val="80000"/>
              </a:lnSpc>
              <a:spcBef>
                <a:spcPts val="0"/>
              </a:spcBef>
              <a:spcAft>
                <a:spcPts val="0"/>
              </a:spcAft>
              <a:buNone/>
            </a:pPr>
            <a:r>
              <a:t/>
            </a:r>
            <a:endParaRPr sz="570"/>
          </a:p>
          <a:p>
            <a:pPr indent="0" lvl="0" marL="0" rtl="0" algn="l">
              <a:lnSpc>
                <a:spcPct val="80000"/>
              </a:lnSpc>
              <a:spcBef>
                <a:spcPts val="0"/>
              </a:spcBef>
              <a:spcAft>
                <a:spcPts val="0"/>
              </a:spcAft>
              <a:buNone/>
            </a:pPr>
            <a:r>
              <a:rPr lang="en-US" sz="570"/>
              <a:t>______________________________</a:t>
            </a:r>
            <a:endParaRPr/>
          </a:p>
          <a:p>
            <a:pPr indent="0" lvl="0" marL="0" rtl="0" algn="l">
              <a:lnSpc>
                <a:spcPct val="80000"/>
              </a:lnSpc>
              <a:spcBef>
                <a:spcPts val="0"/>
              </a:spcBef>
              <a:spcAft>
                <a:spcPts val="0"/>
              </a:spcAft>
              <a:buNone/>
            </a:pPr>
            <a:r>
              <a:t/>
            </a:r>
            <a:endParaRPr sz="570"/>
          </a:p>
          <a:p>
            <a:pPr indent="0" lvl="0" marL="0" rtl="0" algn="l">
              <a:lnSpc>
                <a:spcPct val="80000"/>
              </a:lnSpc>
              <a:spcBef>
                <a:spcPts val="0"/>
              </a:spcBef>
              <a:spcAft>
                <a:spcPts val="0"/>
              </a:spcAft>
              <a:buNone/>
            </a:pPr>
            <a:r>
              <a:rPr lang="en-US" sz="570"/>
              <a:t>SSD $$ is becoming interesting—10X faster than the hard drive </a:t>
            </a:r>
            <a:endParaRPr/>
          </a:p>
          <a:p>
            <a:pPr indent="0" lvl="0" marL="0" rtl="0" algn="l">
              <a:lnSpc>
                <a:spcPct val="80000"/>
              </a:lnSpc>
              <a:spcBef>
                <a:spcPts val="0"/>
              </a:spcBef>
              <a:spcAft>
                <a:spcPts val="0"/>
              </a:spcAft>
              <a:buNone/>
            </a:pPr>
            <a:r>
              <a:rPr lang="en-US" sz="570"/>
              <a:t>	not going to pay more for SSD performance</a:t>
            </a:r>
            <a:endParaRPr/>
          </a:p>
          <a:p>
            <a:pPr indent="0" lvl="0" marL="0" rtl="0" algn="l">
              <a:lnSpc>
                <a:spcPct val="80000"/>
              </a:lnSpc>
              <a:spcBef>
                <a:spcPts val="0"/>
              </a:spcBef>
              <a:spcAft>
                <a:spcPts val="0"/>
              </a:spcAft>
              <a:buNone/>
            </a:pPr>
            <a:r>
              <a:rPr lang="en-US" sz="570"/>
              <a:t>Performance/$$ is the same</a:t>
            </a:r>
            <a:endParaRPr/>
          </a:p>
          <a:p>
            <a:pPr indent="0" lvl="0" marL="0" rtl="0" algn="l">
              <a:lnSpc>
                <a:spcPct val="80000"/>
              </a:lnSpc>
              <a:spcBef>
                <a:spcPts val="0"/>
              </a:spcBef>
              <a:spcAft>
                <a:spcPts val="0"/>
              </a:spcAft>
              <a:buNone/>
            </a:pPr>
            <a:r>
              <a:rPr lang="en-US" sz="570"/>
              <a:t>But the catch is CAPACITY is not the same!</a:t>
            </a:r>
            <a:endParaRPr/>
          </a:p>
          <a:p>
            <a:pPr indent="0" lvl="0" marL="0" rtl="0" algn="l">
              <a:lnSpc>
                <a:spcPct val="80000"/>
              </a:lnSpc>
              <a:spcBef>
                <a:spcPts val="0"/>
              </a:spcBef>
              <a:spcAft>
                <a:spcPts val="0"/>
              </a:spcAft>
              <a:buNone/>
            </a:pPr>
            <a:r>
              <a:t/>
            </a:r>
            <a:endParaRPr sz="570"/>
          </a:p>
          <a:p>
            <a:pPr indent="0" lvl="0" marL="0" marR="0" rtl="0" algn="l">
              <a:lnSpc>
                <a:spcPct val="80000"/>
              </a:lnSpc>
              <a:spcBef>
                <a:spcPts val="0"/>
              </a:spcBef>
              <a:spcAft>
                <a:spcPts val="0"/>
              </a:spcAft>
              <a:buClr>
                <a:schemeClr val="dk1"/>
              </a:buClr>
              <a:buSzPts val="570"/>
              <a:buFont typeface="Calibri"/>
              <a:buNone/>
            </a:pPr>
            <a:r>
              <a:rPr lang="en-US" sz="570"/>
              <a:t>_____________________</a:t>
            </a:r>
            <a:endParaRPr/>
          </a:p>
          <a:p>
            <a:pPr indent="0" lvl="0" marL="0" rtl="0" algn="l">
              <a:lnSpc>
                <a:spcPct val="80000"/>
              </a:lnSpc>
              <a:spcBef>
                <a:spcPts val="0"/>
              </a:spcBef>
              <a:spcAft>
                <a:spcPts val="0"/>
              </a:spcAft>
              <a:buNone/>
            </a:pPr>
            <a:r>
              <a:t/>
            </a:r>
            <a:endParaRPr sz="570"/>
          </a:p>
          <a:p>
            <a:pPr indent="0" lvl="0" marL="0" rtl="0" algn="l">
              <a:lnSpc>
                <a:spcPct val="80000"/>
              </a:lnSpc>
              <a:spcBef>
                <a:spcPts val="0"/>
              </a:spcBef>
              <a:spcAft>
                <a:spcPts val="0"/>
              </a:spcAft>
              <a:buNone/>
            </a:pPr>
            <a:r>
              <a:rPr lang="en-US" sz="570"/>
              <a:t>Right side picture—PCIe card with SSD (this is what Fusion IO is doing this—the best for performance but pretty pricey--8TB was $120,000 last time we checked)</a:t>
            </a:r>
            <a:endParaRPr/>
          </a:p>
          <a:p>
            <a:pPr indent="0" lvl="0" marL="0" rtl="0" algn="l">
              <a:lnSpc>
                <a:spcPct val="80000"/>
              </a:lnSpc>
              <a:spcBef>
                <a:spcPts val="0"/>
              </a:spcBef>
              <a:spcAft>
                <a:spcPts val="0"/>
              </a:spcAft>
              <a:buNone/>
            </a:pPr>
            <a:r>
              <a:rPr lang="en-US" sz="570"/>
              <a:t>	1TB available/card</a:t>
            </a:r>
            <a:endParaRPr/>
          </a:p>
          <a:p>
            <a:pPr indent="0" lvl="0" marL="0" rtl="0" algn="l">
              <a:lnSpc>
                <a:spcPct val="80000"/>
              </a:lnSpc>
              <a:spcBef>
                <a:spcPts val="0"/>
              </a:spcBef>
              <a:spcAft>
                <a:spcPts val="0"/>
              </a:spcAft>
              <a:buNone/>
            </a:pPr>
            <a:r>
              <a:rPr lang="en-US" sz="570"/>
              <a:t>	max performance of an SSD—then no RAID controller in the path—goes directly to CPU</a:t>
            </a:r>
            <a:endParaRPr/>
          </a:p>
          <a:p>
            <a:pPr indent="0" lvl="0" marL="0" rtl="0" algn="l">
              <a:lnSpc>
                <a:spcPct val="80000"/>
              </a:lnSpc>
              <a:spcBef>
                <a:spcPts val="0"/>
              </a:spcBef>
              <a:spcAft>
                <a:spcPts val="0"/>
              </a:spcAft>
              <a:buNone/>
            </a:pPr>
            <a:r>
              <a:t/>
            </a:r>
            <a:endParaRPr sz="570"/>
          </a:p>
          <a:p>
            <a:pPr indent="0" lvl="0" marL="0" rtl="0" algn="l">
              <a:lnSpc>
                <a:spcPct val="80000"/>
              </a:lnSpc>
              <a:spcBef>
                <a:spcPts val="0"/>
              </a:spcBef>
              <a:spcAft>
                <a:spcPts val="0"/>
              </a:spcAft>
              <a:buNone/>
            </a:pPr>
            <a:r>
              <a:rPr lang="en-US" sz="570"/>
              <a:t>Form factor SSDs fail faster (examples shown on the left side)</a:t>
            </a:r>
            <a:endParaRPr/>
          </a:p>
          <a:p>
            <a:pPr indent="0" lvl="0" marL="0" rtl="0" algn="l">
              <a:lnSpc>
                <a:spcPct val="80000"/>
              </a:lnSpc>
              <a:spcBef>
                <a:spcPts val="0"/>
              </a:spcBef>
              <a:spcAft>
                <a:spcPts val="0"/>
              </a:spcAft>
              <a:buNone/>
            </a:pPr>
            <a:r>
              <a:t/>
            </a:r>
            <a:endParaRPr sz="570"/>
          </a:p>
          <a:p>
            <a:pPr indent="0" lvl="0" marL="0" rtl="0" algn="l">
              <a:lnSpc>
                <a:spcPct val="80000"/>
              </a:lnSpc>
              <a:spcBef>
                <a:spcPts val="0"/>
              </a:spcBef>
              <a:spcAft>
                <a:spcPts val="0"/>
              </a:spcAft>
              <a:buNone/>
            </a:pPr>
            <a:r>
              <a:rPr lang="en-US" sz="570"/>
              <a:t>SSD performance is not predictable</a:t>
            </a:r>
            <a:endParaRPr/>
          </a:p>
          <a:p>
            <a:pPr indent="0" lvl="0" marL="0" rtl="0" algn="l">
              <a:lnSpc>
                <a:spcPct val="80000"/>
              </a:lnSpc>
              <a:spcBef>
                <a:spcPts val="0"/>
              </a:spcBef>
              <a:spcAft>
                <a:spcPts val="0"/>
              </a:spcAft>
              <a:buNone/>
            </a:pPr>
            <a:r>
              <a:rPr lang="en-US" sz="570"/>
              <a:t>	uses more power than a physical drive</a:t>
            </a:r>
            <a:endParaRPr/>
          </a:p>
          <a:p>
            <a:pPr indent="0" lvl="0" marL="0" rtl="0" algn="l">
              <a:lnSpc>
                <a:spcPct val="80000"/>
              </a:lnSpc>
              <a:spcBef>
                <a:spcPts val="0"/>
              </a:spcBef>
              <a:spcAft>
                <a:spcPts val="0"/>
              </a:spcAft>
              <a:buNone/>
            </a:pPr>
            <a:r>
              <a:rPr lang="en-US" sz="570"/>
              <a:t>	they warm up much more to a point where systems cannot cool them down</a:t>
            </a:r>
            <a:endParaRPr/>
          </a:p>
          <a:p>
            <a:pPr indent="0" lvl="0" marL="0" rtl="0" algn="l">
              <a:lnSpc>
                <a:spcPct val="80000"/>
              </a:lnSpc>
              <a:spcBef>
                <a:spcPts val="0"/>
              </a:spcBef>
              <a:spcAft>
                <a:spcPts val="0"/>
              </a:spcAft>
              <a:buNone/>
            </a:pPr>
            <a:r>
              <a:rPr lang="en-US" sz="570"/>
              <a:t>	internal measurement in systems and the SSDs will slow down (killing performance)</a:t>
            </a:r>
            <a:endParaRPr/>
          </a:p>
          <a:p>
            <a:pPr indent="0" lvl="0" marL="0" rtl="0" algn="l">
              <a:lnSpc>
                <a:spcPct val="80000"/>
              </a:lnSpc>
              <a:spcBef>
                <a:spcPts val="0"/>
              </a:spcBef>
              <a:spcAft>
                <a:spcPts val="0"/>
              </a:spcAft>
              <a:buNone/>
            </a:pPr>
            <a:r>
              <a:t/>
            </a:r>
            <a:endParaRPr sz="570"/>
          </a:p>
          <a:p>
            <a:pPr indent="0" lvl="0" marL="0" rtl="0" algn="l">
              <a:lnSpc>
                <a:spcPct val="80000"/>
              </a:lnSpc>
              <a:spcBef>
                <a:spcPts val="0"/>
              </a:spcBef>
              <a:spcAft>
                <a:spcPts val="0"/>
              </a:spcAft>
              <a:buNone/>
            </a:pPr>
            <a:r>
              <a:rPr lang="en-US" sz="570"/>
              <a:t>	Slow down from 1GBs to 100MB/s—becomes super slow—therefore it is harder to predict how fast your I/O is going to be</a:t>
            </a:r>
            <a:endParaRPr/>
          </a:p>
          <a:p>
            <a:pPr indent="0" lvl="0" marL="0" rtl="0" algn="l">
              <a:lnSpc>
                <a:spcPct val="80000"/>
              </a:lnSpc>
              <a:spcBef>
                <a:spcPts val="0"/>
              </a:spcBef>
              <a:spcAft>
                <a:spcPts val="0"/>
              </a:spcAft>
              <a:buNone/>
            </a:pPr>
            <a:r>
              <a:t/>
            </a:r>
            <a:endParaRPr sz="570"/>
          </a:p>
          <a:p>
            <a:pPr indent="0" lvl="0" marL="0" rtl="0" algn="l">
              <a:lnSpc>
                <a:spcPct val="80000"/>
              </a:lnSpc>
              <a:spcBef>
                <a:spcPts val="0"/>
              </a:spcBef>
              <a:spcAft>
                <a:spcPts val="0"/>
              </a:spcAft>
              <a:buNone/>
            </a:pPr>
            <a:r>
              <a:rPr lang="en-US" sz="570"/>
              <a:t>On the other hand,</a:t>
            </a:r>
            <a:endParaRPr/>
          </a:p>
          <a:p>
            <a:pPr indent="0" lvl="0" marL="0" rtl="0" algn="l">
              <a:lnSpc>
                <a:spcPct val="80000"/>
              </a:lnSpc>
              <a:spcBef>
                <a:spcPts val="0"/>
              </a:spcBef>
              <a:spcAft>
                <a:spcPts val="0"/>
              </a:spcAft>
              <a:buNone/>
            </a:pPr>
            <a:r>
              <a:rPr lang="en-US" sz="570"/>
              <a:t>Hard drives are predictable and cooled</a:t>
            </a:r>
            <a:endParaRPr sz="570"/>
          </a:p>
          <a:p>
            <a:pPr indent="0" lvl="0" marL="0" rtl="0" algn="l">
              <a:lnSpc>
                <a:spcPct val="80000"/>
              </a:lnSpc>
              <a:spcBef>
                <a:spcPts val="0"/>
              </a:spcBef>
              <a:spcAft>
                <a:spcPts val="0"/>
              </a:spcAft>
              <a:buNone/>
            </a:pPr>
            <a:r>
              <a:t/>
            </a:r>
            <a:endParaRPr sz="570"/>
          </a:p>
          <a:p>
            <a:pPr indent="0" lvl="0" marL="0" rtl="0" algn="l">
              <a:lnSpc>
                <a:spcPct val="80000"/>
              </a:lnSpc>
              <a:spcBef>
                <a:spcPts val="0"/>
              </a:spcBef>
              <a:spcAft>
                <a:spcPts val="0"/>
              </a:spcAft>
              <a:buNone/>
            </a:pPr>
            <a:r>
              <a:rPr lang="en-US" sz="570"/>
              <a:t>_______________________________</a:t>
            </a:r>
            <a:endParaRPr/>
          </a:p>
          <a:p>
            <a:pPr indent="0" lvl="0" marL="0" rtl="0" algn="l">
              <a:lnSpc>
                <a:spcPct val="80000"/>
              </a:lnSpc>
              <a:spcBef>
                <a:spcPts val="0"/>
              </a:spcBef>
              <a:spcAft>
                <a:spcPts val="0"/>
              </a:spcAft>
              <a:buNone/>
            </a:pPr>
            <a:r>
              <a:t/>
            </a:r>
            <a:endParaRPr sz="570"/>
          </a:p>
          <a:p>
            <a:pPr indent="0" lvl="0" marL="0" rtl="0" algn="l">
              <a:lnSpc>
                <a:spcPct val="80000"/>
              </a:lnSpc>
              <a:spcBef>
                <a:spcPts val="0"/>
              </a:spcBef>
              <a:spcAft>
                <a:spcPts val="0"/>
              </a:spcAft>
              <a:buNone/>
            </a:pPr>
            <a:r>
              <a:rPr lang="en-US" sz="570"/>
              <a:t>SSD, cost much more than HD, but a much faster. They come in different packages:</a:t>
            </a:r>
            <a:endParaRPr/>
          </a:p>
          <a:p>
            <a:pPr indent="0" lvl="0" marL="0" rtl="0" algn="l">
              <a:lnSpc>
                <a:spcPct val="80000"/>
              </a:lnSpc>
              <a:spcBef>
                <a:spcPts val="0"/>
              </a:spcBef>
              <a:spcAft>
                <a:spcPts val="0"/>
              </a:spcAft>
              <a:buNone/>
            </a:pPr>
            <a:r>
              <a:t/>
            </a:r>
            <a:endParaRPr sz="570"/>
          </a:p>
          <a:p>
            <a:pPr indent="-36195" lvl="0" marL="0" rtl="0" algn="l">
              <a:lnSpc>
                <a:spcPct val="80000"/>
              </a:lnSpc>
              <a:spcBef>
                <a:spcPts val="0"/>
              </a:spcBef>
              <a:spcAft>
                <a:spcPts val="0"/>
              </a:spcAft>
              <a:buClr>
                <a:schemeClr val="dk1"/>
              </a:buClr>
              <a:buSzPts val="570"/>
              <a:buFont typeface="Calibri"/>
              <a:buChar char="-"/>
            </a:pPr>
            <a:r>
              <a:rPr lang="en-US" sz="570"/>
              <a:t>PCIe card: some vendors (Fusion I/O) build PCI cards with SSD. The current maximum capacity is 1TB per card. Since those cards are PCIe, the data transfer between the main memory and the SSD is just limited by the SSD speed and the PCIe speed: in other words, it is really fast  (several GB/sec per card). The drawbacks are that 1TB uses a PCIe slot. This design often means that a PCI extender is needed, but if space and performance is an issue, this is the best solution. Those SSD cards can also be an deployment issue: replacing a failed card means that the server must be open.</a:t>
            </a:r>
            <a:endParaRPr/>
          </a:p>
          <a:p>
            <a:pPr indent="0" lvl="0" marL="0" rtl="0" algn="l">
              <a:lnSpc>
                <a:spcPct val="80000"/>
              </a:lnSpc>
              <a:spcBef>
                <a:spcPts val="0"/>
              </a:spcBef>
              <a:spcAft>
                <a:spcPts val="0"/>
              </a:spcAft>
              <a:buClr>
                <a:schemeClr val="dk1"/>
              </a:buClr>
              <a:buSzPts val="570"/>
              <a:buFont typeface="Calibri"/>
              <a:buNone/>
            </a:pPr>
            <a:r>
              <a:t/>
            </a:r>
            <a:endParaRPr sz="570"/>
          </a:p>
          <a:p>
            <a:pPr indent="-36195" lvl="0" marL="0" rtl="0" algn="l">
              <a:lnSpc>
                <a:spcPct val="80000"/>
              </a:lnSpc>
              <a:spcBef>
                <a:spcPts val="0"/>
              </a:spcBef>
              <a:spcAft>
                <a:spcPts val="0"/>
              </a:spcAft>
              <a:buClr>
                <a:schemeClr val="dk1"/>
              </a:buClr>
              <a:buSzPts val="570"/>
              <a:buFont typeface="Calibri"/>
              <a:buChar char="-"/>
            </a:pPr>
            <a:r>
              <a:rPr lang="en-US" sz="570"/>
              <a:t>- HD replacement: some vendors (IBM, WD, etc) have product that a physical replacement for HD: same form factor, same connectivity (SAS, SATA…). This allows for easier migration path from HD to SSD, but the performance is limited by the controller. Also, not all controllers are good at controlling SSD drives: always make sure that the controller is “SSD capable”.</a:t>
            </a:r>
            <a:endParaRPr/>
          </a:p>
        </p:txBody>
      </p:sp>
      <p:sp>
        <p:nvSpPr>
          <p:cNvPr id="214" name="Google Shape;214;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3" name="Google Shape;223;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1200"/>
              <a:buFont typeface="Arial"/>
              <a:buNone/>
            </a:pPr>
            <a:r>
              <a:rPr lang="en-US" sz="1200"/>
              <a:t>In general, RAID controllers are often optimized for a given workload, rarely for performance.</a:t>
            </a:r>
            <a:endParaRPr/>
          </a:p>
          <a:p>
            <a:pPr indent="-76200" lvl="1" marL="457200" rtl="0" algn="l">
              <a:spcBef>
                <a:spcPts val="0"/>
              </a:spcBef>
              <a:spcAft>
                <a:spcPts val="0"/>
              </a:spcAft>
              <a:buClr>
                <a:schemeClr val="dk1"/>
              </a:buClr>
              <a:buSzPts val="1200"/>
              <a:buFont typeface="Arial"/>
              <a:buChar char="•"/>
            </a:pPr>
            <a:r>
              <a:rPr lang="en-US" sz="1200"/>
              <a:t>Trade-offs between reliability and speed.</a:t>
            </a:r>
            <a:endParaRPr/>
          </a:p>
          <a:p>
            <a:pPr indent="0" lvl="1" marL="457200" rtl="0" algn="l">
              <a:spcBef>
                <a:spcPts val="0"/>
              </a:spcBef>
              <a:spcAft>
                <a:spcPts val="0"/>
              </a:spcAft>
              <a:buClr>
                <a:schemeClr val="dk1"/>
              </a:buClr>
              <a:buSzPts val="1200"/>
              <a:buFont typeface="Arial"/>
              <a:buNone/>
            </a:pPr>
            <a:r>
              <a:t/>
            </a:r>
            <a:endParaRPr sz="1200"/>
          </a:p>
          <a:p>
            <a:pPr indent="-76200" lvl="0" marL="0" marR="0" rtl="0" algn="l">
              <a:lnSpc>
                <a:spcPct val="100000"/>
              </a:lnSpc>
              <a:spcBef>
                <a:spcPts val="0"/>
              </a:spcBef>
              <a:spcAft>
                <a:spcPts val="0"/>
              </a:spcAft>
              <a:buClr>
                <a:schemeClr val="dk1"/>
              </a:buClr>
              <a:buSzPts val="1200"/>
              <a:buFont typeface="Arial"/>
              <a:buChar char="•"/>
            </a:pPr>
            <a:r>
              <a:rPr lang="en-US"/>
              <a:t>(Disk controllers, RAID or not, are usually designed for “entreprise”.) This usually means that the controller is often configured with RAID 5 or 6. </a:t>
            </a:r>
            <a:endParaRPr sz="1200"/>
          </a:p>
          <a:p>
            <a:pPr indent="0" lvl="0" marL="0" rtl="0" algn="l">
              <a:spcBef>
                <a:spcPts val="0"/>
              </a:spcBef>
              <a:spcAft>
                <a:spcPts val="0"/>
              </a:spcAft>
              <a:buClr>
                <a:schemeClr val="dk1"/>
              </a:buClr>
              <a:buSzPts val="1200"/>
              <a:buFont typeface="Arial"/>
              <a:buNone/>
            </a:pPr>
            <a:r>
              <a:t/>
            </a:r>
            <a:endParaRPr sz="1200"/>
          </a:p>
          <a:p>
            <a:pPr indent="-76200" lvl="0" marL="0" rtl="0" algn="l">
              <a:spcBef>
                <a:spcPts val="0"/>
              </a:spcBef>
              <a:spcAft>
                <a:spcPts val="0"/>
              </a:spcAft>
              <a:buClr>
                <a:schemeClr val="dk1"/>
              </a:buClr>
              <a:buSzPts val="1200"/>
              <a:buFont typeface="Arial"/>
              <a:buChar char="•"/>
            </a:pPr>
            <a:r>
              <a:rPr lang="en-US" sz="1200"/>
              <a:t>RAID0 is the fastest of all RAID levels but is also the least reliable.</a:t>
            </a:r>
            <a:endParaRPr/>
          </a:p>
          <a:p>
            <a:pPr indent="0" lvl="1" marL="457200" rtl="0" algn="l">
              <a:spcBef>
                <a:spcPts val="0"/>
              </a:spcBef>
              <a:spcAft>
                <a:spcPts val="0"/>
              </a:spcAft>
              <a:buClr>
                <a:schemeClr val="dk1"/>
              </a:buClr>
              <a:buSzPts val="1200"/>
              <a:buFont typeface="Arial"/>
              <a:buNone/>
            </a:pPr>
            <a:r>
              <a:t/>
            </a:r>
            <a:endParaRPr sz="1200"/>
          </a:p>
          <a:p>
            <a:pPr indent="-76200" lvl="0" marL="0" marR="0" rtl="0" algn="l">
              <a:lnSpc>
                <a:spcPct val="100000"/>
              </a:lnSpc>
              <a:spcBef>
                <a:spcPts val="0"/>
              </a:spcBef>
              <a:spcAft>
                <a:spcPts val="0"/>
              </a:spcAft>
              <a:buClr>
                <a:schemeClr val="dk1"/>
              </a:buClr>
              <a:buSzPts val="1200"/>
              <a:buFont typeface="Arial"/>
              <a:buChar char="•"/>
            </a:pPr>
            <a:r>
              <a:rPr lang="en-US"/>
              <a:t>As a consequence, controllers are most of the time not capable of running all  the drives at full speed: </a:t>
            </a:r>
            <a:endParaRPr/>
          </a:p>
          <a:p>
            <a:pPr indent="-76200" lvl="1" marL="457200" marR="0" rtl="0" algn="l">
              <a:lnSpc>
                <a:spcPct val="100000"/>
              </a:lnSpc>
              <a:spcBef>
                <a:spcPts val="0"/>
              </a:spcBef>
              <a:spcAft>
                <a:spcPts val="0"/>
              </a:spcAft>
              <a:buClr>
                <a:schemeClr val="dk1"/>
              </a:buClr>
              <a:buSzPts val="1200"/>
              <a:buFont typeface="Arial"/>
              <a:buChar char="•"/>
            </a:pPr>
            <a:r>
              <a:rPr lang="en-US"/>
              <a:t>A rule of thumb is that if a controller is said to handle up to X drives, it can handle up to 2/3 X drivers at full speed.</a:t>
            </a:r>
            <a:endParaRPr sz="1200"/>
          </a:p>
          <a:p>
            <a:pPr indent="0" lvl="0" marL="0" rtl="0" algn="l">
              <a:spcBef>
                <a:spcPts val="0"/>
              </a:spcBef>
              <a:spcAft>
                <a:spcPts val="0"/>
              </a:spcAft>
              <a:buClr>
                <a:schemeClr val="dk1"/>
              </a:buClr>
              <a:buSzPts val="1200"/>
              <a:buFont typeface="Arial"/>
              <a:buNone/>
            </a:pPr>
            <a:r>
              <a:t/>
            </a:r>
            <a:endParaRPr sz="1200"/>
          </a:p>
          <a:p>
            <a:pPr indent="0" lvl="0" marL="0" rtl="0" algn="l">
              <a:spcBef>
                <a:spcPts val="0"/>
              </a:spcBef>
              <a:spcAft>
                <a:spcPts val="0"/>
              </a:spcAft>
              <a:buClr>
                <a:schemeClr val="dk1"/>
              </a:buClr>
              <a:buSzPts val="1200"/>
              <a:buFont typeface="Arial"/>
              <a:buNone/>
            </a:pPr>
            <a:r>
              <a:t/>
            </a:r>
            <a:endParaRPr sz="1200"/>
          </a:p>
          <a:p>
            <a:pPr indent="0" lvl="0" marL="0" rtl="0" algn="l">
              <a:spcBef>
                <a:spcPts val="0"/>
              </a:spcBef>
              <a:spcAft>
                <a:spcPts val="0"/>
              </a:spcAft>
              <a:buClr>
                <a:schemeClr val="dk1"/>
              </a:buClr>
              <a:buSzPts val="1200"/>
              <a:buFont typeface="Arial"/>
              <a:buNone/>
            </a:pPr>
            <a:r>
              <a:t/>
            </a:r>
            <a:endParaRPr sz="1200"/>
          </a:p>
        </p:txBody>
      </p:sp>
      <p:sp>
        <p:nvSpPr>
          <p:cNvPr id="224" name="Google Shape;224;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2" name="Google Shape;232;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a:p>
            <a:pPr indent="0" lvl="0" marL="0" rtl="0" algn="l">
              <a:spcBef>
                <a:spcPts val="0"/>
              </a:spcBef>
              <a:spcAft>
                <a:spcPts val="0"/>
              </a:spcAft>
              <a:buNone/>
            </a:pPr>
            <a:r>
              <a:rPr lang="en-US"/>
              <a:t>Some high end controllers (Areca for instance) are specifically designed for a workflow similar to a DTN workflow: sequential read/write. They may have Gigabytes of SRAM for internal buffering, PCIe x16..</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Finally, some RAID controllers are specifically designed to scale up. In addition to wire internal drives, they can control external drives, directly or in a daisy chain manner</a:t>
            </a:r>
            <a:endParaRPr/>
          </a:p>
          <a:p>
            <a:pPr indent="0" lvl="0" marL="0" rtl="0" algn="l">
              <a:spcBef>
                <a:spcPts val="0"/>
              </a:spcBef>
              <a:spcAft>
                <a:spcPts val="0"/>
              </a:spcAft>
              <a:buNone/>
            </a:pPr>
            <a:r>
              <a:rPr lang="en-US"/>
              <a:t> </a:t>
            </a:r>
            <a:endParaRPr/>
          </a:p>
          <a:p>
            <a:pPr indent="0" lvl="0" marL="0" rtl="0" algn="l">
              <a:spcBef>
                <a:spcPts val="0"/>
              </a:spcBef>
              <a:spcAft>
                <a:spcPts val="0"/>
              </a:spcAft>
              <a:buNone/>
            </a:pPr>
            <a:r>
              <a:t/>
            </a:r>
            <a:endParaRPr/>
          </a:p>
        </p:txBody>
      </p:sp>
      <p:sp>
        <p:nvSpPr>
          <p:cNvPr id="233" name="Google Shape;233;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0" name="Google Shape;240;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800"/>
              <a:t>Last thing in the hardware queue is to think about the Network subsystem</a:t>
            </a:r>
            <a:endParaRPr sz="1800"/>
          </a:p>
          <a:p>
            <a:pPr indent="0" lvl="0" marL="0" rtl="0" algn="l">
              <a:spcBef>
                <a:spcPts val="0"/>
              </a:spcBef>
              <a:spcAft>
                <a:spcPts val="0"/>
              </a:spcAft>
              <a:buNone/>
            </a:pPr>
            <a:r>
              <a:t/>
            </a:r>
            <a:endParaRPr sz="1800"/>
          </a:p>
          <a:p>
            <a:pPr indent="0" lvl="0" marL="0" rtl="0" algn="l">
              <a:spcBef>
                <a:spcPts val="0"/>
              </a:spcBef>
              <a:spcAft>
                <a:spcPts val="0"/>
              </a:spcAft>
              <a:buNone/>
            </a:pPr>
            <a:r>
              <a:rPr lang="en-US" sz="1800"/>
              <a:t>Networking subsystem is the second subsystem after the storage that is critical and could be a major bottle neck. </a:t>
            </a:r>
            <a:endParaRPr/>
          </a:p>
          <a:p>
            <a:pPr indent="0" lvl="0" marL="0" rtl="0" algn="l">
              <a:spcBef>
                <a:spcPts val="0"/>
              </a:spcBef>
              <a:spcAft>
                <a:spcPts val="0"/>
              </a:spcAft>
              <a:buNone/>
            </a:pPr>
            <a:r>
              <a:t/>
            </a:r>
            <a:endParaRPr sz="1800"/>
          </a:p>
          <a:p>
            <a:pPr indent="0" lvl="0" marL="0" rtl="0" algn="l">
              <a:spcBef>
                <a:spcPts val="0"/>
              </a:spcBef>
              <a:spcAft>
                <a:spcPts val="0"/>
              </a:spcAft>
              <a:buNone/>
            </a:pPr>
            <a:r>
              <a:rPr lang="en-US" sz="1800"/>
              <a:t>The choice of your NIC(s) will impact performance.</a:t>
            </a:r>
            <a:endParaRPr/>
          </a:p>
          <a:p>
            <a:pPr indent="0" lvl="0" marL="0" rtl="0" algn="l">
              <a:spcBef>
                <a:spcPts val="0"/>
              </a:spcBef>
              <a:spcAft>
                <a:spcPts val="0"/>
              </a:spcAft>
              <a:buNone/>
            </a:pPr>
            <a:r>
              <a:t/>
            </a:r>
            <a:endParaRPr sz="1800"/>
          </a:p>
          <a:p>
            <a:pPr indent="0" lvl="0" marL="0" rtl="0" algn="l">
              <a:spcBef>
                <a:spcPts val="0"/>
              </a:spcBef>
              <a:spcAft>
                <a:spcPts val="0"/>
              </a:spcAft>
              <a:buNone/>
            </a:pPr>
            <a:r>
              <a:t/>
            </a:r>
            <a:endParaRPr sz="1800"/>
          </a:p>
          <a:p>
            <a:pPr indent="0" lvl="0" marL="0" rtl="0" algn="l">
              <a:spcBef>
                <a:spcPts val="0"/>
              </a:spcBef>
              <a:spcAft>
                <a:spcPts val="0"/>
              </a:spcAft>
              <a:buNone/>
            </a:pPr>
            <a:r>
              <a:t/>
            </a:r>
            <a:endParaRPr sz="1800"/>
          </a:p>
          <a:p>
            <a:pPr indent="0" lvl="0" marL="0" rtl="0" algn="l">
              <a:spcBef>
                <a:spcPts val="0"/>
              </a:spcBef>
              <a:spcAft>
                <a:spcPts val="0"/>
              </a:spcAft>
              <a:buNone/>
            </a:pPr>
            <a:r>
              <a:rPr lang="en-US" sz="1800"/>
              <a:t>There is a huge performance difference between cheap and expensive 10G NICs.</a:t>
            </a:r>
            <a:endParaRPr/>
          </a:p>
          <a:p>
            <a:pPr indent="0" lvl="1" marL="457200" rtl="0" algn="l">
              <a:spcBef>
                <a:spcPts val="0"/>
              </a:spcBef>
              <a:spcAft>
                <a:spcPts val="0"/>
              </a:spcAft>
              <a:buNone/>
            </a:pPr>
            <a:r>
              <a:rPr lang="en-US" sz="1800"/>
              <a:t>E.g. please don’t cheap out on the NIC – it’s important for an optimized DTN host. </a:t>
            </a:r>
            <a:endParaRPr/>
          </a:p>
          <a:p>
            <a:pPr indent="0" lvl="1" marL="457200" rtl="0" algn="l">
              <a:spcBef>
                <a:spcPts val="0"/>
              </a:spcBef>
              <a:spcAft>
                <a:spcPts val="0"/>
              </a:spcAft>
              <a:buNone/>
            </a:pPr>
            <a:r>
              <a:t/>
            </a:r>
            <a:endParaRPr sz="1800"/>
          </a:p>
          <a:p>
            <a:pPr indent="0" lvl="1" marL="457200" rtl="0" algn="l">
              <a:spcBef>
                <a:spcPts val="0"/>
              </a:spcBef>
              <a:spcAft>
                <a:spcPts val="0"/>
              </a:spcAft>
              <a:buNone/>
            </a:pPr>
            <a:r>
              <a:t/>
            </a:r>
            <a:endParaRPr sz="1800"/>
          </a:p>
          <a:p>
            <a:pPr indent="0" lvl="0" marL="0" rtl="0" algn="l">
              <a:spcBef>
                <a:spcPts val="0"/>
              </a:spcBef>
              <a:spcAft>
                <a:spcPts val="0"/>
              </a:spcAft>
              <a:buNone/>
            </a:pPr>
            <a:r>
              <a:rPr lang="en-US" sz="1800"/>
              <a:t>NIC features to look for include:</a:t>
            </a:r>
            <a:endParaRPr/>
          </a:p>
          <a:p>
            <a:pPr indent="0" lvl="1" marL="457200" rtl="0" algn="l">
              <a:spcBef>
                <a:spcPts val="0"/>
              </a:spcBef>
              <a:spcAft>
                <a:spcPts val="0"/>
              </a:spcAft>
              <a:buNone/>
            </a:pPr>
            <a:r>
              <a:rPr lang="en-US" sz="1800"/>
              <a:t>support for interrupt coalescing</a:t>
            </a:r>
            <a:endParaRPr/>
          </a:p>
          <a:p>
            <a:pPr indent="0" lvl="1" marL="457200" rtl="0" algn="l">
              <a:spcBef>
                <a:spcPts val="0"/>
              </a:spcBef>
              <a:spcAft>
                <a:spcPts val="0"/>
              </a:spcAft>
              <a:buNone/>
            </a:pPr>
            <a:r>
              <a:rPr lang="en-US" sz="1800"/>
              <a:t>support for MSI-X</a:t>
            </a:r>
            <a:endParaRPr/>
          </a:p>
          <a:p>
            <a:pPr indent="0" lvl="1" marL="457200" rtl="0" algn="l">
              <a:spcBef>
                <a:spcPts val="0"/>
              </a:spcBef>
              <a:spcAft>
                <a:spcPts val="0"/>
              </a:spcAft>
              <a:buNone/>
            </a:pPr>
            <a:r>
              <a:rPr lang="en-US" sz="1800"/>
              <a:t>TCP Offload Engine (TOE)</a:t>
            </a:r>
            <a:endParaRPr/>
          </a:p>
          <a:p>
            <a:pPr indent="0" lvl="1" marL="457200" rtl="0" algn="l">
              <a:spcBef>
                <a:spcPts val="0"/>
              </a:spcBef>
              <a:spcAft>
                <a:spcPts val="0"/>
              </a:spcAft>
              <a:buNone/>
            </a:pPr>
            <a:r>
              <a:rPr b="1" i="1" lang="en-US" sz="1800">
                <a:solidFill>
                  <a:srgbClr val="FF0000"/>
                </a:solidFill>
              </a:rPr>
              <a:t>support for zero-copy protocols such as RDMA (RoCE or iWARP)</a:t>
            </a:r>
            <a:endParaRPr/>
          </a:p>
          <a:p>
            <a:pPr indent="0" lvl="1" marL="457200" rtl="0" algn="l">
              <a:spcBef>
                <a:spcPts val="0"/>
              </a:spcBef>
              <a:spcAft>
                <a:spcPts val="0"/>
              </a:spcAft>
              <a:buNone/>
            </a:pPr>
            <a:r>
              <a:t/>
            </a:r>
            <a:endParaRPr b="1" i="1" sz="1800">
              <a:solidFill>
                <a:srgbClr val="FF0000"/>
              </a:solidFill>
            </a:endParaRPr>
          </a:p>
          <a:p>
            <a:pPr indent="0" lvl="0" marL="0" rtl="0" algn="l">
              <a:spcBef>
                <a:spcPts val="0"/>
              </a:spcBef>
              <a:spcAft>
                <a:spcPts val="0"/>
              </a:spcAft>
              <a:buNone/>
            </a:pPr>
            <a:r>
              <a:rPr lang="en-US" sz="1800"/>
              <a:t>Note that many 10G and 40G NICs come in dual ports, but that </a:t>
            </a:r>
            <a:r>
              <a:rPr b="1" i="1" lang="en-US" sz="1800" u="sng"/>
              <a:t>does not mean if you use both ports at the same time you get double the performance</a:t>
            </a:r>
            <a:r>
              <a:rPr lang="en-US" sz="1800"/>
              <a:t>. Often the second port is meant to be used as a backup port.</a:t>
            </a:r>
            <a:endParaRPr/>
          </a:p>
          <a:p>
            <a:pPr indent="0" lvl="0" marL="0" rtl="0" algn="l">
              <a:spcBef>
                <a:spcPts val="0"/>
              </a:spcBef>
              <a:spcAft>
                <a:spcPts val="0"/>
              </a:spcAft>
              <a:buNone/>
            </a:pPr>
            <a:r>
              <a:t/>
            </a:r>
            <a:endParaRPr sz="1800"/>
          </a:p>
          <a:p>
            <a:pPr indent="0" lvl="1" marL="457200" rtl="0" algn="l">
              <a:spcBef>
                <a:spcPts val="0"/>
              </a:spcBef>
              <a:spcAft>
                <a:spcPts val="0"/>
              </a:spcAft>
              <a:buNone/>
            </a:pPr>
            <a:r>
              <a:rPr lang="en-US" sz="1800"/>
              <a:t>True 2x10G capable cards include the Myricom 10G-PCIE2-8C2-2S and the Mellanox MCX312A-XCBT.</a:t>
            </a:r>
            <a:endParaRPr/>
          </a:p>
          <a:p>
            <a:pPr indent="0" lvl="0" marL="0" rtl="0" algn="l">
              <a:spcBef>
                <a:spcPts val="0"/>
              </a:spcBef>
              <a:spcAft>
                <a:spcPts val="0"/>
              </a:spcAft>
              <a:buNone/>
            </a:pPr>
            <a:r>
              <a:t/>
            </a:r>
            <a:endParaRPr/>
          </a:p>
        </p:txBody>
      </p:sp>
      <p:sp>
        <p:nvSpPr>
          <p:cNvPr id="241" name="Google Shape;241;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8" name="Google Shape;248;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800"/>
              <a:t>Last thing in the hardware queue is to think about the Network subsystem</a:t>
            </a:r>
            <a:endParaRPr sz="1800"/>
          </a:p>
          <a:p>
            <a:pPr indent="0" lvl="0" marL="0" rtl="0" algn="l">
              <a:spcBef>
                <a:spcPts val="0"/>
              </a:spcBef>
              <a:spcAft>
                <a:spcPts val="0"/>
              </a:spcAft>
              <a:buNone/>
            </a:pPr>
            <a:r>
              <a:t/>
            </a:r>
            <a:endParaRPr sz="1800"/>
          </a:p>
          <a:p>
            <a:pPr indent="0" lvl="0" marL="0" rtl="0" algn="l">
              <a:spcBef>
                <a:spcPts val="0"/>
              </a:spcBef>
              <a:spcAft>
                <a:spcPts val="0"/>
              </a:spcAft>
              <a:buNone/>
            </a:pPr>
            <a:r>
              <a:rPr lang="en-US" sz="1800"/>
              <a:t>Networking subsystem is the second subsystem after the storage that is critical and could be a major bottle neck. </a:t>
            </a:r>
            <a:endParaRPr/>
          </a:p>
          <a:p>
            <a:pPr indent="0" lvl="0" marL="0" rtl="0" algn="l">
              <a:spcBef>
                <a:spcPts val="0"/>
              </a:spcBef>
              <a:spcAft>
                <a:spcPts val="0"/>
              </a:spcAft>
              <a:buNone/>
            </a:pPr>
            <a:r>
              <a:t/>
            </a:r>
            <a:endParaRPr sz="1800"/>
          </a:p>
          <a:p>
            <a:pPr indent="0" lvl="0" marL="0" rtl="0" algn="l">
              <a:spcBef>
                <a:spcPts val="0"/>
              </a:spcBef>
              <a:spcAft>
                <a:spcPts val="0"/>
              </a:spcAft>
              <a:buNone/>
            </a:pPr>
            <a:r>
              <a:rPr lang="en-US" sz="1800"/>
              <a:t>The choice of your NIC(s) will impact performance.</a:t>
            </a:r>
            <a:endParaRPr/>
          </a:p>
          <a:p>
            <a:pPr indent="0" lvl="0" marL="0" rtl="0" algn="l">
              <a:spcBef>
                <a:spcPts val="0"/>
              </a:spcBef>
              <a:spcAft>
                <a:spcPts val="0"/>
              </a:spcAft>
              <a:buNone/>
            </a:pPr>
            <a:r>
              <a:t/>
            </a:r>
            <a:endParaRPr sz="1800"/>
          </a:p>
          <a:p>
            <a:pPr indent="0" lvl="0" marL="0" rtl="0" algn="l">
              <a:spcBef>
                <a:spcPts val="0"/>
              </a:spcBef>
              <a:spcAft>
                <a:spcPts val="0"/>
              </a:spcAft>
              <a:buNone/>
            </a:pPr>
            <a:r>
              <a:t/>
            </a:r>
            <a:endParaRPr sz="1800"/>
          </a:p>
          <a:p>
            <a:pPr indent="0" lvl="0" marL="0" rtl="0" algn="l">
              <a:spcBef>
                <a:spcPts val="0"/>
              </a:spcBef>
              <a:spcAft>
                <a:spcPts val="0"/>
              </a:spcAft>
              <a:buNone/>
            </a:pPr>
            <a:r>
              <a:t/>
            </a:r>
            <a:endParaRPr sz="1800"/>
          </a:p>
          <a:p>
            <a:pPr indent="0" lvl="0" marL="0" rtl="0" algn="l">
              <a:spcBef>
                <a:spcPts val="0"/>
              </a:spcBef>
              <a:spcAft>
                <a:spcPts val="0"/>
              </a:spcAft>
              <a:buNone/>
            </a:pPr>
            <a:r>
              <a:rPr lang="en-US" sz="1800"/>
              <a:t>There is a huge performance difference between cheap and expensive 10G NICs.</a:t>
            </a:r>
            <a:endParaRPr/>
          </a:p>
          <a:p>
            <a:pPr indent="0" lvl="1" marL="457200" rtl="0" algn="l">
              <a:spcBef>
                <a:spcPts val="0"/>
              </a:spcBef>
              <a:spcAft>
                <a:spcPts val="0"/>
              </a:spcAft>
              <a:buNone/>
            </a:pPr>
            <a:r>
              <a:rPr lang="en-US" sz="1800"/>
              <a:t>E.g. please don’t cheap out on the NIC – it’s important for an optimized DTN host. </a:t>
            </a:r>
            <a:endParaRPr/>
          </a:p>
          <a:p>
            <a:pPr indent="0" lvl="1" marL="457200" rtl="0" algn="l">
              <a:spcBef>
                <a:spcPts val="0"/>
              </a:spcBef>
              <a:spcAft>
                <a:spcPts val="0"/>
              </a:spcAft>
              <a:buNone/>
            </a:pPr>
            <a:r>
              <a:t/>
            </a:r>
            <a:endParaRPr sz="1800"/>
          </a:p>
          <a:p>
            <a:pPr indent="0" lvl="1" marL="457200" rtl="0" algn="l">
              <a:spcBef>
                <a:spcPts val="0"/>
              </a:spcBef>
              <a:spcAft>
                <a:spcPts val="0"/>
              </a:spcAft>
              <a:buNone/>
            </a:pPr>
            <a:r>
              <a:t/>
            </a:r>
            <a:endParaRPr sz="1800"/>
          </a:p>
          <a:p>
            <a:pPr indent="0" lvl="0" marL="0" rtl="0" algn="l">
              <a:spcBef>
                <a:spcPts val="0"/>
              </a:spcBef>
              <a:spcAft>
                <a:spcPts val="0"/>
              </a:spcAft>
              <a:buNone/>
            </a:pPr>
            <a:r>
              <a:rPr lang="en-US" sz="1800"/>
              <a:t>NIC features to look for include:</a:t>
            </a:r>
            <a:endParaRPr/>
          </a:p>
          <a:p>
            <a:pPr indent="0" lvl="1" marL="457200" rtl="0" algn="l">
              <a:spcBef>
                <a:spcPts val="0"/>
              </a:spcBef>
              <a:spcAft>
                <a:spcPts val="0"/>
              </a:spcAft>
              <a:buNone/>
            </a:pPr>
            <a:r>
              <a:rPr lang="en-US" sz="1800"/>
              <a:t>support for interrupt coalescing</a:t>
            </a:r>
            <a:endParaRPr/>
          </a:p>
          <a:p>
            <a:pPr indent="0" lvl="1" marL="457200" rtl="0" algn="l">
              <a:spcBef>
                <a:spcPts val="0"/>
              </a:spcBef>
              <a:spcAft>
                <a:spcPts val="0"/>
              </a:spcAft>
              <a:buNone/>
            </a:pPr>
            <a:r>
              <a:rPr lang="en-US" sz="1800"/>
              <a:t>support for MSI-X</a:t>
            </a:r>
            <a:endParaRPr/>
          </a:p>
          <a:p>
            <a:pPr indent="0" lvl="1" marL="457200" rtl="0" algn="l">
              <a:spcBef>
                <a:spcPts val="0"/>
              </a:spcBef>
              <a:spcAft>
                <a:spcPts val="0"/>
              </a:spcAft>
              <a:buNone/>
            </a:pPr>
            <a:r>
              <a:rPr lang="en-US" sz="1800"/>
              <a:t>TCP Offload Engine (TOE)</a:t>
            </a:r>
            <a:endParaRPr/>
          </a:p>
          <a:p>
            <a:pPr indent="0" lvl="1" marL="457200" rtl="0" algn="l">
              <a:spcBef>
                <a:spcPts val="0"/>
              </a:spcBef>
              <a:spcAft>
                <a:spcPts val="0"/>
              </a:spcAft>
              <a:buNone/>
            </a:pPr>
            <a:r>
              <a:rPr b="1" i="1" lang="en-US" sz="1800">
                <a:solidFill>
                  <a:srgbClr val="FF0000"/>
                </a:solidFill>
              </a:rPr>
              <a:t>support for zero-copy protocols such as RDMA (RoCE or iWARP)</a:t>
            </a:r>
            <a:endParaRPr/>
          </a:p>
          <a:p>
            <a:pPr indent="0" lvl="1" marL="457200" rtl="0" algn="l">
              <a:spcBef>
                <a:spcPts val="0"/>
              </a:spcBef>
              <a:spcAft>
                <a:spcPts val="0"/>
              </a:spcAft>
              <a:buNone/>
            </a:pPr>
            <a:r>
              <a:t/>
            </a:r>
            <a:endParaRPr b="1" i="1" sz="1800">
              <a:solidFill>
                <a:srgbClr val="FF0000"/>
              </a:solidFill>
            </a:endParaRPr>
          </a:p>
          <a:p>
            <a:pPr indent="0" lvl="0" marL="0" rtl="0" algn="l">
              <a:spcBef>
                <a:spcPts val="0"/>
              </a:spcBef>
              <a:spcAft>
                <a:spcPts val="0"/>
              </a:spcAft>
              <a:buNone/>
            </a:pPr>
            <a:r>
              <a:rPr lang="en-US" sz="1800"/>
              <a:t>Note that many 10G and 40G NICs come in dual ports, but that </a:t>
            </a:r>
            <a:r>
              <a:rPr b="1" i="1" lang="en-US" sz="1800" u="sng"/>
              <a:t>does not mean if you use both ports at the same time you get double the performance</a:t>
            </a:r>
            <a:r>
              <a:rPr lang="en-US" sz="1800"/>
              <a:t>. Often the second port is meant to be used as a backup port.</a:t>
            </a:r>
            <a:endParaRPr/>
          </a:p>
          <a:p>
            <a:pPr indent="0" lvl="0" marL="0" rtl="0" algn="l">
              <a:spcBef>
                <a:spcPts val="0"/>
              </a:spcBef>
              <a:spcAft>
                <a:spcPts val="0"/>
              </a:spcAft>
              <a:buNone/>
            </a:pPr>
            <a:r>
              <a:t/>
            </a:r>
            <a:endParaRPr sz="1800"/>
          </a:p>
          <a:p>
            <a:pPr indent="0" lvl="1" marL="457200" rtl="0" algn="l">
              <a:spcBef>
                <a:spcPts val="0"/>
              </a:spcBef>
              <a:spcAft>
                <a:spcPts val="0"/>
              </a:spcAft>
              <a:buNone/>
            </a:pPr>
            <a:r>
              <a:rPr lang="en-US" sz="1800"/>
              <a:t>True 2x10G capable cards include the Myricom 10G-PCIE2-8C2-2S and the Mellanox MCX312A-XCBT.</a:t>
            </a:r>
            <a:endParaRPr/>
          </a:p>
          <a:p>
            <a:pPr indent="0" lvl="0" marL="0" rtl="0" algn="l">
              <a:spcBef>
                <a:spcPts val="0"/>
              </a:spcBef>
              <a:spcAft>
                <a:spcPts val="0"/>
              </a:spcAft>
              <a:buNone/>
            </a:pPr>
            <a:r>
              <a:t/>
            </a:r>
            <a:endParaRPr/>
          </a:p>
        </p:txBody>
      </p:sp>
      <p:sp>
        <p:nvSpPr>
          <p:cNvPr id="249" name="Google Shape;249;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6" name="Google Shape;256;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800"/>
              <a:t>Last thing in the hardware queue is to think about the Network subsystem</a:t>
            </a:r>
            <a:endParaRPr sz="1800"/>
          </a:p>
          <a:p>
            <a:pPr indent="0" lvl="0" marL="0" rtl="0" algn="l">
              <a:spcBef>
                <a:spcPts val="0"/>
              </a:spcBef>
              <a:spcAft>
                <a:spcPts val="0"/>
              </a:spcAft>
              <a:buNone/>
            </a:pPr>
            <a:r>
              <a:t/>
            </a:r>
            <a:endParaRPr sz="1800"/>
          </a:p>
          <a:p>
            <a:pPr indent="0" lvl="0" marL="0" rtl="0" algn="l">
              <a:spcBef>
                <a:spcPts val="0"/>
              </a:spcBef>
              <a:spcAft>
                <a:spcPts val="0"/>
              </a:spcAft>
              <a:buNone/>
            </a:pPr>
            <a:r>
              <a:rPr lang="en-US" sz="1800"/>
              <a:t>Networking subsystem is the second subsystem after the storage that is critical and could be a major bottle neck. </a:t>
            </a:r>
            <a:endParaRPr/>
          </a:p>
          <a:p>
            <a:pPr indent="0" lvl="0" marL="0" rtl="0" algn="l">
              <a:spcBef>
                <a:spcPts val="0"/>
              </a:spcBef>
              <a:spcAft>
                <a:spcPts val="0"/>
              </a:spcAft>
              <a:buNone/>
            </a:pPr>
            <a:r>
              <a:t/>
            </a:r>
            <a:endParaRPr sz="1800"/>
          </a:p>
          <a:p>
            <a:pPr indent="0" lvl="0" marL="0" rtl="0" algn="l">
              <a:spcBef>
                <a:spcPts val="0"/>
              </a:spcBef>
              <a:spcAft>
                <a:spcPts val="0"/>
              </a:spcAft>
              <a:buNone/>
            </a:pPr>
            <a:r>
              <a:rPr lang="en-US" sz="1800"/>
              <a:t>The choice of your NIC(s) will impact performance.</a:t>
            </a:r>
            <a:endParaRPr/>
          </a:p>
          <a:p>
            <a:pPr indent="0" lvl="0" marL="0" rtl="0" algn="l">
              <a:spcBef>
                <a:spcPts val="0"/>
              </a:spcBef>
              <a:spcAft>
                <a:spcPts val="0"/>
              </a:spcAft>
              <a:buNone/>
            </a:pPr>
            <a:r>
              <a:t/>
            </a:r>
            <a:endParaRPr sz="1800"/>
          </a:p>
          <a:p>
            <a:pPr indent="0" lvl="0" marL="0" rtl="0" algn="l">
              <a:spcBef>
                <a:spcPts val="0"/>
              </a:spcBef>
              <a:spcAft>
                <a:spcPts val="0"/>
              </a:spcAft>
              <a:buNone/>
            </a:pPr>
            <a:r>
              <a:t/>
            </a:r>
            <a:endParaRPr sz="1800"/>
          </a:p>
          <a:p>
            <a:pPr indent="0" lvl="0" marL="0" rtl="0" algn="l">
              <a:spcBef>
                <a:spcPts val="0"/>
              </a:spcBef>
              <a:spcAft>
                <a:spcPts val="0"/>
              </a:spcAft>
              <a:buNone/>
            </a:pPr>
            <a:r>
              <a:t/>
            </a:r>
            <a:endParaRPr sz="1800"/>
          </a:p>
          <a:p>
            <a:pPr indent="0" lvl="0" marL="0" rtl="0" algn="l">
              <a:spcBef>
                <a:spcPts val="0"/>
              </a:spcBef>
              <a:spcAft>
                <a:spcPts val="0"/>
              </a:spcAft>
              <a:buNone/>
            </a:pPr>
            <a:r>
              <a:rPr lang="en-US" sz="1800"/>
              <a:t>There is a huge performance difference between cheap and expensive 10G NICs.</a:t>
            </a:r>
            <a:endParaRPr/>
          </a:p>
          <a:p>
            <a:pPr indent="0" lvl="1" marL="457200" rtl="0" algn="l">
              <a:spcBef>
                <a:spcPts val="0"/>
              </a:spcBef>
              <a:spcAft>
                <a:spcPts val="0"/>
              </a:spcAft>
              <a:buNone/>
            </a:pPr>
            <a:r>
              <a:rPr lang="en-US" sz="1800"/>
              <a:t>E.g. please don’t cheap out on the NIC – it’s important for an optimized DTN host. </a:t>
            </a:r>
            <a:endParaRPr/>
          </a:p>
          <a:p>
            <a:pPr indent="0" lvl="1" marL="457200" rtl="0" algn="l">
              <a:spcBef>
                <a:spcPts val="0"/>
              </a:spcBef>
              <a:spcAft>
                <a:spcPts val="0"/>
              </a:spcAft>
              <a:buNone/>
            </a:pPr>
            <a:r>
              <a:t/>
            </a:r>
            <a:endParaRPr sz="1800"/>
          </a:p>
          <a:p>
            <a:pPr indent="0" lvl="1" marL="457200" rtl="0" algn="l">
              <a:spcBef>
                <a:spcPts val="0"/>
              </a:spcBef>
              <a:spcAft>
                <a:spcPts val="0"/>
              </a:spcAft>
              <a:buNone/>
            </a:pPr>
            <a:r>
              <a:t/>
            </a:r>
            <a:endParaRPr sz="1800"/>
          </a:p>
          <a:p>
            <a:pPr indent="0" lvl="0" marL="0" rtl="0" algn="l">
              <a:spcBef>
                <a:spcPts val="0"/>
              </a:spcBef>
              <a:spcAft>
                <a:spcPts val="0"/>
              </a:spcAft>
              <a:buNone/>
            </a:pPr>
            <a:r>
              <a:rPr lang="en-US" sz="1800"/>
              <a:t>NIC features to look for include:</a:t>
            </a:r>
            <a:endParaRPr/>
          </a:p>
          <a:p>
            <a:pPr indent="0" lvl="1" marL="457200" rtl="0" algn="l">
              <a:spcBef>
                <a:spcPts val="0"/>
              </a:spcBef>
              <a:spcAft>
                <a:spcPts val="0"/>
              </a:spcAft>
              <a:buNone/>
            </a:pPr>
            <a:r>
              <a:rPr lang="en-US" sz="1800"/>
              <a:t>support for interrupt coalescing</a:t>
            </a:r>
            <a:endParaRPr/>
          </a:p>
          <a:p>
            <a:pPr indent="0" lvl="1" marL="457200" rtl="0" algn="l">
              <a:spcBef>
                <a:spcPts val="0"/>
              </a:spcBef>
              <a:spcAft>
                <a:spcPts val="0"/>
              </a:spcAft>
              <a:buNone/>
            </a:pPr>
            <a:r>
              <a:rPr lang="en-US" sz="1800"/>
              <a:t>support for MSI-X</a:t>
            </a:r>
            <a:endParaRPr/>
          </a:p>
          <a:p>
            <a:pPr indent="0" lvl="1" marL="457200" rtl="0" algn="l">
              <a:spcBef>
                <a:spcPts val="0"/>
              </a:spcBef>
              <a:spcAft>
                <a:spcPts val="0"/>
              </a:spcAft>
              <a:buNone/>
            </a:pPr>
            <a:r>
              <a:rPr lang="en-US" sz="1800"/>
              <a:t>TCP Offload Engine (TOE)</a:t>
            </a:r>
            <a:endParaRPr/>
          </a:p>
          <a:p>
            <a:pPr indent="0" lvl="1" marL="457200" rtl="0" algn="l">
              <a:spcBef>
                <a:spcPts val="0"/>
              </a:spcBef>
              <a:spcAft>
                <a:spcPts val="0"/>
              </a:spcAft>
              <a:buNone/>
            </a:pPr>
            <a:r>
              <a:rPr b="1" i="1" lang="en-US" sz="1800">
                <a:solidFill>
                  <a:srgbClr val="FF0000"/>
                </a:solidFill>
              </a:rPr>
              <a:t>support for zero-copy protocols such as RDMA (RoCE or iWARP)</a:t>
            </a:r>
            <a:endParaRPr/>
          </a:p>
          <a:p>
            <a:pPr indent="0" lvl="1" marL="457200" rtl="0" algn="l">
              <a:spcBef>
                <a:spcPts val="0"/>
              </a:spcBef>
              <a:spcAft>
                <a:spcPts val="0"/>
              </a:spcAft>
              <a:buNone/>
            </a:pPr>
            <a:r>
              <a:t/>
            </a:r>
            <a:endParaRPr b="1" i="1" sz="1800">
              <a:solidFill>
                <a:srgbClr val="FF0000"/>
              </a:solidFill>
            </a:endParaRPr>
          </a:p>
          <a:p>
            <a:pPr indent="0" lvl="0" marL="0" rtl="0" algn="l">
              <a:spcBef>
                <a:spcPts val="0"/>
              </a:spcBef>
              <a:spcAft>
                <a:spcPts val="0"/>
              </a:spcAft>
              <a:buNone/>
            </a:pPr>
            <a:r>
              <a:rPr lang="en-US" sz="1800"/>
              <a:t>Note that many 10G and 40G NICs come in dual ports, but that </a:t>
            </a:r>
            <a:r>
              <a:rPr b="1" i="1" lang="en-US" sz="1800" u="sng"/>
              <a:t>does not mean if you use both ports at the same time you get double the performance</a:t>
            </a:r>
            <a:r>
              <a:rPr lang="en-US" sz="1800"/>
              <a:t>. Often the second port is meant to be used as a backup port.</a:t>
            </a:r>
            <a:endParaRPr/>
          </a:p>
          <a:p>
            <a:pPr indent="0" lvl="0" marL="0" rtl="0" algn="l">
              <a:spcBef>
                <a:spcPts val="0"/>
              </a:spcBef>
              <a:spcAft>
                <a:spcPts val="0"/>
              </a:spcAft>
              <a:buNone/>
            </a:pPr>
            <a:r>
              <a:t/>
            </a:r>
            <a:endParaRPr sz="1800"/>
          </a:p>
          <a:p>
            <a:pPr indent="0" lvl="1" marL="457200" rtl="0" algn="l">
              <a:spcBef>
                <a:spcPts val="0"/>
              </a:spcBef>
              <a:spcAft>
                <a:spcPts val="0"/>
              </a:spcAft>
              <a:buNone/>
            </a:pPr>
            <a:r>
              <a:rPr lang="en-US" sz="1800"/>
              <a:t>True 2x10G capable cards include the Myricom 10G-PCIE2-8C2-2S and the Mellanox MCX312A-XCBT.</a:t>
            </a:r>
            <a:endParaRPr/>
          </a:p>
          <a:p>
            <a:pPr indent="0" lvl="0" marL="0" rtl="0" algn="l">
              <a:spcBef>
                <a:spcPts val="0"/>
              </a:spcBef>
              <a:spcAft>
                <a:spcPts val="0"/>
              </a:spcAft>
              <a:buNone/>
            </a:pPr>
            <a:r>
              <a:t/>
            </a:r>
            <a:endParaRPr/>
          </a:p>
        </p:txBody>
      </p:sp>
      <p:sp>
        <p:nvSpPr>
          <p:cNvPr id="257" name="Google Shape;257;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4" name="Google Shape;264;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800"/>
              <a:t>Last thing in the hardware queue is to think about the Network subsystem</a:t>
            </a:r>
            <a:endParaRPr sz="1800"/>
          </a:p>
          <a:p>
            <a:pPr indent="0" lvl="0" marL="0" rtl="0" algn="l">
              <a:spcBef>
                <a:spcPts val="0"/>
              </a:spcBef>
              <a:spcAft>
                <a:spcPts val="0"/>
              </a:spcAft>
              <a:buNone/>
            </a:pPr>
            <a:r>
              <a:t/>
            </a:r>
            <a:endParaRPr sz="1800"/>
          </a:p>
          <a:p>
            <a:pPr indent="0" lvl="0" marL="0" rtl="0" algn="l">
              <a:spcBef>
                <a:spcPts val="0"/>
              </a:spcBef>
              <a:spcAft>
                <a:spcPts val="0"/>
              </a:spcAft>
              <a:buNone/>
            </a:pPr>
            <a:r>
              <a:rPr lang="en-US" sz="1800"/>
              <a:t>Networking subsystem is the second subsystem after the storage that is critical and could be a major bottle neck. </a:t>
            </a:r>
            <a:endParaRPr/>
          </a:p>
          <a:p>
            <a:pPr indent="0" lvl="0" marL="0" rtl="0" algn="l">
              <a:spcBef>
                <a:spcPts val="0"/>
              </a:spcBef>
              <a:spcAft>
                <a:spcPts val="0"/>
              </a:spcAft>
              <a:buNone/>
            </a:pPr>
            <a:r>
              <a:t/>
            </a:r>
            <a:endParaRPr sz="1800"/>
          </a:p>
          <a:p>
            <a:pPr indent="0" lvl="0" marL="0" rtl="0" algn="l">
              <a:spcBef>
                <a:spcPts val="0"/>
              </a:spcBef>
              <a:spcAft>
                <a:spcPts val="0"/>
              </a:spcAft>
              <a:buNone/>
            </a:pPr>
            <a:r>
              <a:rPr lang="en-US" sz="1800"/>
              <a:t>The choice of your NIC(s) will impact performance.</a:t>
            </a:r>
            <a:endParaRPr/>
          </a:p>
          <a:p>
            <a:pPr indent="0" lvl="0" marL="0" rtl="0" algn="l">
              <a:spcBef>
                <a:spcPts val="0"/>
              </a:spcBef>
              <a:spcAft>
                <a:spcPts val="0"/>
              </a:spcAft>
              <a:buNone/>
            </a:pPr>
            <a:r>
              <a:t/>
            </a:r>
            <a:endParaRPr sz="1800"/>
          </a:p>
          <a:p>
            <a:pPr indent="0" lvl="0" marL="0" rtl="0" algn="l">
              <a:spcBef>
                <a:spcPts val="0"/>
              </a:spcBef>
              <a:spcAft>
                <a:spcPts val="0"/>
              </a:spcAft>
              <a:buNone/>
            </a:pPr>
            <a:r>
              <a:t/>
            </a:r>
            <a:endParaRPr sz="1800"/>
          </a:p>
          <a:p>
            <a:pPr indent="0" lvl="0" marL="0" rtl="0" algn="l">
              <a:spcBef>
                <a:spcPts val="0"/>
              </a:spcBef>
              <a:spcAft>
                <a:spcPts val="0"/>
              </a:spcAft>
              <a:buNone/>
            </a:pPr>
            <a:r>
              <a:t/>
            </a:r>
            <a:endParaRPr sz="1800"/>
          </a:p>
          <a:p>
            <a:pPr indent="0" lvl="0" marL="0" rtl="0" algn="l">
              <a:spcBef>
                <a:spcPts val="0"/>
              </a:spcBef>
              <a:spcAft>
                <a:spcPts val="0"/>
              </a:spcAft>
              <a:buNone/>
            </a:pPr>
            <a:r>
              <a:rPr lang="en-US" sz="1800"/>
              <a:t>There is a huge performance difference between cheap and expensive 10G NICs.</a:t>
            </a:r>
            <a:endParaRPr/>
          </a:p>
          <a:p>
            <a:pPr indent="0" lvl="1" marL="457200" rtl="0" algn="l">
              <a:spcBef>
                <a:spcPts val="0"/>
              </a:spcBef>
              <a:spcAft>
                <a:spcPts val="0"/>
              </a:spcAft>
              <a:buNone/>
            </a:pPr>
            <a:r>
              <a:rPr lang="en-US" sz="1800"/>
              <a:t>E.g. please don’t cheap out on the NIC – it’s important for an optimized DTN host. </a:t>
            </a:r>
            <a:endParaRPr/>
          </a:p>
          <a:p>
            <a:pPr indent="0" lvl="1" marL="457200" rtl="0" algn="l">
              <a:spcBef>
                <a:spcPts val="0"/>
              </a:spcBef>
              <a:spcAft>
                <a:spcPts val="0"/>
              </a:spcAft>
              <a:buNone/>
            </a:pPr>
            <a:r>
              <a:t/>
            </a:r>
            <a:endParaRPr sz="1800"/>
          </a:p>
          <a:p>
            <a:pPr indent="0" lvl="1" marL="457200" rtl="0" algn="l">
              <a:spcBef>
                <a:spcPts val="0"/>
              </a:spcBef>
              <a:spcAft>
                <a:spcPts val="0"/>
              </a:spcAft>
              <a:buNone/>
            </a:pPr>
            <a:r>
              <a:t/>
            </a:r>
            <a:endParaRPr sz="1800"/>
          </a:p>
          <a:p>
            <a:pPr indent="0" lvl="0" marL="0" rtl="0" algn="l">
              <a:spcBef>
                <a:spcPts val="0"/>
              </a:spcBef>
              <a:spcAft>
                <a:spcPts val="0"/>
              </a:spcAft>
              <a:buNone/>
            </a:pPr>
            <a:r>
              <a:rPr lang="en-US" sz="1800"/>
              <a:t>NIC features to look for include:</a:t>
            </a:r>
            <a:endParaRPr/>
          </a:p>
          <a:p>
            <a:pPr indent="0" lvl="1" marL="457200" rtl="0" algn="l">
              <a:spcBef>
                <a:spcPts val="0"/>
              </a:spcBef>
              <a:spcAft>
                <a:spcPts val="0"/>
              </a:spcAft>
              <a:buNone/>
            </a:pPr>
            <a:r>
              <a:rPr lang="en-US" sz="1800"/>
              <a:t>support for interrupt coalescing</a:t>
            </a:r>
            <a:endParaRPr/>
          </a:p>
          <a:p>
            <a:pPr indent="0" lvl="1" marL="457200" rtl="0" algn="l">
              <a:spcBef>
                <a:spcPts val="0"/>
              </a:spcBef>
              <a:spcAft>
                <a:spcPts val="0"/>
              </a:spcAft>
              <a:buNone/>
            </a:pPr>
            <a:r>
              <a:rPr lang="en-US" sz="1800"/>
              <a:t>support for MSI-X</a:t>
            </a:r>
            <a:endParaRPr/>
          </a:p>
          <a:p>
            <a:pPr indent="0" lvl="1" marL="457200" rtl="0" algn="l">
              <a:spcBef>
                <a:spcPts val="0"/>
              </a:spcBef>
              <a:spcAft>
                <a:spcPts val="0"/>
              </a:spcAft>
              <a:buNone/>
            </a:pPr>
            <a:r>
              <a:rPr lang="en-US" sz="1800"/>
              <a:t>TCP Offload Engine (TOE)</a:t>
            </a:r>
            <a:endParaRPr/>
          </a:p>
          <a:p>
            <a:pPr indent="0" lvl="1" marL="457200" rtl="0" algn="l">
              <a:spcBef>
                <a:spcPts val="0"/>
              </a:spcBef>
              <a:spcAft>
                <a:spcPts val="0"/>
              </a:spcAft>
              <a:buNone/>
            </a:pPr>
            <a:r>
              <a:rPr b="1" i="1" lang="en-US" sz="1800">
                <a:solidFill>
                  <a:srgbClr val="FF0000"/>
                </a:solidFill>
              </a:rPr>
              <a:t>support for zero-copy protocols such as RDMA (RoCE or iWARP)</a:t>
            </a:r>
            <a:endParaRPr/>
          </a:p>
          <a:p>
            <a:pPr indent="0" lvl="1" marL="457200" rtl="0" algn="l">
              <a:spcBef>
                <a:spcPts val="0"/>
              </a:spcBef>
              <a:spcAft>
                <a:spcPts val="0"/>
              </a:spcAft>
              <a:buNone/>
            </a:pPr>
            <a:r>
              <a:t/>
            </a:r>
            <a:endParaRPr b="1" i="1" sz="1800">
              <a:solidFill>
                <a:srgbClr val="FF0000"/>
              </a:solidFill>
            </a:endParaRPr>
          </a:p>
          <a:p>
            <a:pPr indent="0" lvl="0" marL="0" rtl="0" algn="l">
              <a:spcBef>
                <a:spcPts val="0"/>
              </a:spcBef>
              <a:spcAft>
                <a:spcPts val="0"/>
              </a:spcAft>
              <a:buNone/>
            </a:pPr>
            <a:r>
              <a:rPr lang="en-US" sz="1800"/>
              <a:t>Note that many 10G and 40G NICs come in dual ports, but that </a:t>
            </a:r>
            <a:r>
              <a:rPr b="1" i="1" lang="en-US" sz="1800" u="sng"/>
              <a:t>does not mean if you use both ports at the same time you get double the performance</a:t>
            </a:r>
            <a:r>
              <a:rPr lang="en-US" sz="1800"/>
              <a:t>. Often the second port is meant to be used as a backup port.</a:t>
            </a:r>
            <a:endParaRPr/>
          </a:p>
          <a:p>
            <a:pPr indent="0" lvl="0" marL="0" rtl="0" algn="l">
              <a:spcBef>
                <a:spcPts val="0"/>
              </a:spcBef>
              <a:spcAft>
                <a:spcPts val="0"/>
              </a:spcAft>
              <a:buNone/>
            </a:pPr>
            <a:r>
              <a:t/>
            </a:r>
            <a:endParaRPr sz="1800"/>
          </a:p>
          <a:p>
            <a:pPr indent="0" lvl="1" marL="457200" rtl="0" algn="l">
              <a:spcBef>
                <a:spcPts val="0"/>
              </a:spcBef>
              <a:spcAft>
                <a:spcPts val="0"/>
              </a:spcAft>
              <a:buNone/>
            </a:pPr>
            <a:r>
              <a:rPr lang="en-US" sz="1800"/>
              <a:t>True 2x10G capable cards include the Myricom 10G-PCIE2-8C2-2S and the Mellanox MCX312A-XCBT.</a:t>
            </a:r>
            <a:endParaRPr/>
          </a:p>
          <a:p>
            <a:pPr indent="0" lvl="0" marL="0" rtl="0" algn="l">
              <a:spcBef>
                <a:spcPts val="0"/>
              </a:spcBef>
              <a:spcAft>
                <a:spcPts val="0"/>
              </a:spcAft>
              <a:buNone/>
            </a:pPr>
            <a:r>
              <a:t/>
            </a:r>
            <a:endParaRPr/>
          </a:p>
        </p:txBody>
      </p:sp>
      <p:sp>
        <p:nvSpPr>
          <p:cNvPr id="265" name="Google Shape;265;p2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2" name="Google Shape;272;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800"/>
              <a:t>Last thing in the hardware queue is to think about the Network subsystem</a:t>
            </a:r>
            <a:endParaRPr sz="1800"/>
          </a:p>
          <a:p>
            <a:pPr indent="0" lvl="0" marL="0" rtl="0" algn="l">
              <a:spcBef>
                <a:spcPts val="0"/>
              </a:spcBef>
              <a:spcAft>
                <a:spcPts val="0"/>
              </a:spcAft>
              <a:buNone/>
            </a:pPr>
            <a:r>
              <a:t/>
            </a:r>
            <a:endParaRPr sz="1800"/>
          </a:p>
          <a:p>
            <a:pPr indent="0" lvl="0" marL="0" rtl="0" algn="l">
              <a:spcBef>
                <a:spcPts val="0"/>
              </a:spcBef>
              <a:spcAft>
                <a:spcPts val="0"/>
              </a:spcAft>
              <a:buNone/>
            </a:pPr>
            <a:r>
              <a:rPr lang="en-US" sz="1800"/>
              <a:t>Networking subsystem is the second subsystem after the storage that is critical and could be a major bottle neck. </a:t>
            </a:r>
            <a:endParaRPr/>
          </a:p>
          <a:p>
            <a:pPr indent="0" lvl="0" marL="0" rtl="0" algn="l">
              <a:spcBef>
                <a:spcPts val="0"/>
              </a:spcBef>
              <a:spcAft>
                <a:spcPts val="0"/>
              </a:spcAft>
              <a:buNone/>
            </a:pPr>
            <a:r>
              <a:t/>
            </a:r>
            <a:endParaRPr sz="1800"/>
          </a:p>
          <a:p>
            <a:pPr indent="0" lvl="0" marL="0" rtl="0" algn="l">
              <a:spcBef>
                <a:spcPts val="0"/>
              </a:spcBef>
              <a:spcAft>
                <a:spcPts val="0"/>
              </a:spcAft>
              <a:buNone/>
            </a:pPr>
            <a:r>
              <a:rPr lang="en-US" sz="1800"/>
              <a:t>The choice of your NIC(s) will impact performance.</a:t>
            </a:r>
            <a:endParaRPr/>
          </a:p>
          <a:p>
            <a:pPr indent="0" lvl="0" marL="0" rtl="0" algn="l">
              <a:spcBef>
                <a:spcPts val="0"/>
              </a:spcBef>
              <a:spcAft>
                <a:spcPts val="0"/>
              </a:spcAft>
              <a:buNone/>
            </a:pPr>
            <a:r>
              <a:t/>
            </a:r>
            <a:endParaRPr sz="1800"/>
          </a:p>
          <a:p>
            <a:pPr indent="0" lvl="0" marL="0" rtl="0" algn="l">
              <a:spcBef>
                <a:spcPts val="0"/>
              </a:spcBef>
              <a:spcAft>
                <a:spcPts val="0"/>
              </a:spcAft>
              <a:buNone/>
            </a:pPr>
            <a:r>
              <a:t/>
            </a:r>
            <a:endParaRPr sz="1800"/>
          </a:p>
          <a:p>
            <a:pPr indent="0" lvl="0" marL="0" rtl="0" algn="l">
              <a:spcBef>
                <a:spcPts val="0"/>
              </a:spcBef>
              <a:spcAft>
                <a:spcPts val="0"/>
              </a:spcAft>
              <a:buNone/>
            </a:pPr>
            <a:r>
              <a:t/>
            </a:r>
            <a:endParaRPr sz="1800"/>
          </a:p>
          <a:p>
            <a:pPr indent="0" lvl="0" marL="0" rtl="0" algn="l">
              <a:spcBef>
                <a:spcPts val="0"/>
              </a:spcBef>
              <a:spcAft>
                <a:spcPts val="0"/>
              </a:spcAft>
              <a:buNone/>
            </a:pPr>
            <a:r>
              <a:rPr lang="en-US" sz="1800"/>
              <a:t>There is a huge performance difference between cheap and expensive 10G NICs.</a:t>
            </a:r>
            <a:endParaRPr/>
          </a:p>
          <a:p>
            <a:pPr indent="0" lvl="1" marL="457200" rtl="0" algn="l">
              <a:spcBef>
                <a:spcPts val="0"/>
              </a:spcBef>
              <a:spcAft>
                <a:spcPts val="0"/>
              </a:spcAft>
              <a:buNone/>
            </a:pPr>
            <a:r>
              <a:rPr lang="en-US" sz="1800"/>
              <a:t>E.g. please don’t cheap out on the NIC – it’s important for an optimized DTN host. </a:t>
            </a:r>
            <a:endParaRPr/>
          </a:p>
          <a:p>
            <a:pPr indent="0" lvl="1" marL="457200" rtl="0" algn="l">
              <a:spcBef>
                <a:spcPts val="0"/>
              </a:spcBef>
              <a:spcAft>
                <a:spcPts val="0"/>
              </a:spcAft>
              <a:buNone/>
            </a:pPr>
            <a:r>
              <a:t/>
            </a:r>
            <a:endParaRPr sz="1800"/>
          </a:p>
          <a:p>
            <a:pPr indent="0" lvl="1" marL="457200" rtl="0" algn="l">
              <a:spcBef>
                <a:spcPts val="0"/>
              </a:spcBef>
              <a:spcAft>
                <a:spcPts val="0"/>
              </a:spcAft>
              <a:buNone/>
            </a:pPr>
            <a:r>
              <a:t/>
            </a:r>
            <a:endParaRPr sz="1800"/>
          </a:p>
          <a:p>
            <a:pPr indent="0" lvl="0" marL="0" rtl="0" algn="l">
              <a:spcBef>
                <a:spcPts val="0"/>
              </a:spcBef>
              <a:spcAft>
                <a:spcPts val="0"/>
              </a:spcAft>
              <a:buNone/>
            </a:pPr>
            <a:r>
              <a:rPr lang="en-US" sz="1800"/>
              <a:t>NIC features to look for include:</a:t>
            </a:r>
            <a:endParaRPr/>
          </a:p>
          <a:p>
            <a:pPr indent="0" lvl="1" marL="457200" rtl="0" algn="l">
              <a:spcBef>
                <a:spcPts val="0"/>
              </a:spcBef>
              <a:spcAft>
                <a:spcPts val="0"/>
              </a:spcAft>
              <a:buNone/>
            </a:pPr>
            <a:r>
              <a:rPr lang="en-US" sz="1800"/>
              <a:t>support for interrupt coalescing</a:t>
            </a:r>
            <a:endParaRPr/>
          </a:p>
          <a:p>
            <a:pPr indent="0" lvl="1" marL="457200" rtl="0" algn="l">
              <a:spcBef>
                <a:spcPts val="0"/>
              </a:spcBef>
              <a:spcAft>
                <a:spcPts val="0"/>
              </a:spcAft>
              <a:buNone/>
            </a:pPr>
            <a:r>
              <a:rPr lang="en-US" sz="1800"/>
              <a:t>support for MSI-X</a:t>
            </a:r>
            <a:endParaRPr/>
          </a:p>
          <a:p>
            <a:pPr indent="0" lvl="1" marL="457200" rtl="0" algn="l">
              <a:spcBef>
                <a:spcPts val="0"/>
              </a:spcBef>
              <a:spcAft>
                <a:spcPts val="0"/>
              </a:spcAft>
              <a:buNone/>
            </a:pPr>
            <a:r>
              <a:rPr lang="en-US" sz="1800"/>
              <a:t>TCP Offload Engine (TOE)</a:t>
            </a:r>
            <a:endParaRPr/>
          </a:p>
          <a:p>
            <a:pPr indent="0" lvl="1" marL="457200" rtl="0" algn="l">
              <a:spcBef>
                <a:spcPts val="0"/>
              </a:spcBef>
              <a:spcAft>
                <a:spcPts val="0"/>
              </a:spcAft>
              <a:buNone/>
            </a:pPr>
            <a:r>
              <a:rPr b="1" i="1" lang="en-US" sz="1800">
                <a:solidFill>
                  <a:srgbClr val="FF0000"/>
                </a:solidFill>
              </a:rPr>
              <a:t>support for zero-copy protocols such as RDMA (RoCE or iWARP)</a:t>
            </a:r>
            <a:endParaRPr/>
          </a:p>
          <a:p>
            <a:pPr indent="0" lvl="1" marL="457200" rtl="0" algn="l">
              <a:spcBef>
                <a:spcPts val="0"/>
              </a:spcBef>
              <a:spcAft>
                <a:spcPts val="0"/>
              </a:spcAft>
              <a:buNone/>
            </a:pPr>
            <a:r>
              <a:t/>
            </a:r>
            <a:endParaRPr b="1" i="1" sz="1800">
              <a:solidFill>
                <a:srgbClr val="FF0000"/>
              </a:solidFill>
            </a:endParaRPr>
          </a:p>
          <a:p>
            <a:pPr indent="0" lvl="0" marL="0" rtl="0" algn="l">
              <a:spcBef>
                <a:spcPts val="0"/>
              </a:spcBef>
              <a:spcAft>
                <a:spcPts val="0"/>
              </a:spcAft>
              <a:buNone/>
            </a:pPr>
            <a:r>
              <a:rPr lang="en-US" sz="1800"/>
              <a:t>Note that many 10G and 40G NICs come in dual ports, but that </a:t>
            </a:r>
            <a:r>
              <a:rPr b="1" i="1" lang="en-US" sz="1800" u="sng"/>
              <a:t>does not mean if you use both ports at the same time you get double the performance</a:t>
            </a:r>
            <a:r>
              <a:rPr lang="en-US" sz="1800"/>
              <a:t>. Often the second port is meant to be used as a backup port.</a:t>
            </a:r>
            <a:endParaRPr/>
          </a:p>
          <a:p>
            <a:pPr indent="0" lvl="0" marL="0" rtl="0" algn="l">
              <a:spcBef>
                <a:spcPts val="0"/>
              </a:spcBef>
              <a:spcAft>
                <a:spcPts val="0"/>
              </a:spcAft>
              <a:buNone/>
            </a:pPr>
            <a:r>
              <a:t/>
            </a:r>
            <a:endParaRPr sz="1800"/>
          </a:p>
          <a:p>
            <a:pPr indent="0" lvl="1" marL="457200" rtl="0" algn="l">
              <a:spcBef>
                <a:spcPts val="0"/>
              </a:spcBef>
              <a:spcAft>
                <a:spcPts val="0"/>
              </a:spcAft>
              <a:buNone/>
            </a:pPr>
            <a:r>
              <a:rPr lang="en-US" sz="1800"/>
              <a:t>True 2x10G capable cards include the Myricom 10G-PCIE2-8C2-2S and the Mellanox MCX312A-XCBT.</a:t>
            </a:r>
            <a:endParaRPr/>
          </a:p>
          <a:p>
            <a:pPr indent="0" lvl="0" marL="0" rtl="0" algn="l">
              <a:spcBef>
                <a:spcPts val="0"/>
              </a:spcBef>
              <a:spcAft>
                <a:spcPts val="0"/>
              </a:spcAft>
              <a:buNone/>
            </a:pPr>
            <a:r>
              <a:t/>
            </a:r>
            <a:endParaRPr/>
          </a:p>
        </p:txBody>
      </p:sp>
      <p:sp>
        <p:nvSpPr>
          <p:cNvPr id="273" name="Google Shape;273;p2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0" name="Google Shape;280;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800"/>
              <a:t>Last thing in the hardware queue is to think about the Network subsystem</a:t>
            </a:r>
            <a:endParaRPr sz="1800"/>
          </a:p>
          <a:p>
            <a:pPr indent="0" lvl="0" marL="0" rtl="0" algn="l">
              <a:spcBef>
                <a:spcPts val="0"/>
              </a:spcBef>
              <a:spcAft>
                <a:spcPts val="0"/>
              </a:spcAft>
              <a:buNone/>
            </a:pPr>
            <a:r>
              <a:t/>
            </a:r>
            <a:endParaRPr sz="1800"/>
          </a:p>
          <a:p>
            <a:pPr indent="0" lvl="0" marL="0" rtl="0" algn="l">
              <a:spcBef>
                <a:spcPts val="0"/>
              </a:spcBef>
              <a:spcAft>
                <a:spcPts val="0"/>
              </a:spcAft>
              <a:buNone/>
            </a:pPr>
            <a:r>
              <a:rPr lang="en-US" sz="1800"/>
              <a:t>Networking subsystem is the second subsystem after the storage that is critical and could be a major bottle neck. </a:t>
            </a:r>
            <a:endParaRPr/>
          </a:p>
          <a:p>
            <a:pPr indent="0" lvl="0" marL="0" rtl="0" algn="l">
              <a:spcBef>
                <a:spcPts val="0"/>
              </a:spcBef>
              <a:spcAft>
                <a:spcPts val="0"/>
              </a:spcAft>
              <a:buNone/>
            </a:pPr>
            <a:r>
              <a:t/>
            </a:r>
            <a:endParaRPr sz="1800"/>
          </a:p>
          <a:p>
            <a:pPr indent="0" lvl="0" marL="0" rtl="0" algn="l">
              <a:spcBef>
                <a:spcPts val="0"/>
              </a:spcBef>
              <a:spcAft>
                <a:spcPts val="0"/>
              </a:spcAft>
              <a:buNone/>
            </a:pPr>
            <a:r>
              <a:rPr lang="en-US" sz="1800"/>
              <a:t>The choice of your NIC(s) will impact performance.</a:t>
            </a:r>
            <a:endParaRPr/>
          </a:p>
          <a:p>
            <a:pPr indent="0" lvl="0" marL="0" rtl="0" algn="l">
              <a:spcBef>
                <a:spcPts val="0"/>
              </a:spcBef>
              <a:spcAft>
                <a:spcPts val="0"/>
              </a:spcAft>
              <a:buNone/>
            </a:pPr>
            <a:r>
              <a:t/>
            </a:r>
            <a:endParaRPr sz="1800"/>
          </a:p>
          <a:p>
            <a:pPr indent="0" lvl="0" marL="0" rtl="0" algn="l">
              <a:spcBef>
                <a:spcPts val="0"/>
              </a:spcBef>
              <a:spcAft>
                <a:spcPts val="0"/>
              </a:spcAft>
              <a:buNone/>
            </a:pPr>
            <a:r>
              <a:t/>
            </a:r>
            <a:endParaRPr sz="1800"/>
          </a:p>
          <a:p>
            <a:pPr indent="0" lvl="0" marL="0" rtl="0" algn="l">
              <a:spcBef>
                <a:spcPts val="0"/>
              </a:spcBef>
              <a:spcAft>
                <a:spcPts val="0"/>
              </a:spcAft>
              <a:buNone/>
            </a:pPr>
            <a:r>
              <a:t/>
            </a:r>
            <a:endParaRPr sz="1800"/>
          </a:p>
          <a:p>
            <a:pPr indent="0" lvl="0" marL="0" rtl="0" algn="l">
              <a:spcBef>
                <a:spcPts val="0"/>
              </a:spcBef>
              <a:spcAft>
                <a:spcPts val="0"/>
              </a:spcAft>
              <a:buNone/>
            </a:pPr>
            <a:r>
              <a:rPr lang="en-US" sz="1800"/>
              <a:t>There is a huge performance difference between cheap and expensive 10G NICs.</a:t>
            </a:r>
            <a:endParaRPr/>
          </a:p>
          <a:p>
            <a:pPr indent="0" lvl="1" marL="457200" rtl="0" algn="l">
              <a:spcBef>
                <a:spcPts val="0"/>
              </a:spcBef>
              <a:spcAft>
                <a:spcPts val="0"/>
              </a:spcAft>
              <a:buNone/>
            </a:pPr>
            <a:r>
              <a:rPr lang="en-US" sz="1800"/>
              <a:t>E.g. please don’t cheap out on the NIC – it’s important for an optimized DTN host. </a:t>
            </a:r>
            <a:endParaRPr/>
          </a:p>
          <a:p>
            <a:pPr indent="0" lvl="1" marL="457200" rtl="0" algn="l">
              <a:spcBef>
                <a:spcPts val="0"/>
              </a:spcBef>
              <a:spcAft>
                <a:spcPts val="0"/>
              </a:spcAft>
              <a:buNone/>
            </a:pPr>
            <a:r>
              <a:t/>
            </a:r>
            <a:endParaRPr sz="1800"/>
          </a:p>
          <a:p>
            <a:pPr indent="0" lvl="1" marL="457200" rtl="0" algn="l">
              <a:spcBef>
                <a:spcPts val="0"/>
              </a:spcBef>
              <a:spcAft>
                <a:spcPts val="0"/>
              </a:spcAft>
              <a:buNone/>
            </a:pPr>
            <a:r>
              <a:t/>
            </a:r>
            <a:endParaRPr sz="1800"/>
          </a:p>
          <a:p>
            <a:pPr indent="0" lvl="0" marL="0" rtl="0" algn="l">
              <a:spcBef>
                <a:spcPts val="0"/>
              </a:spcBef>
              <a:spcAft>
                <a:spcPts val="0"/>
              </a:spcAft>
              <a:buNone/>
            </a:pPr>
            <a:r>
              <a:rPr lang="en-US" sz="1800"/>
              <a:t>NIC features to look for include:</a:t>
            </a:r>
            <a:endParaRPr/>
          </a:p>
          <a:p>
            <a:pPr indent="0" lvl="1" marL="457200" rtl="0" algn="l">
              <a:spcBef>
                <a:spcPts val="0"/>
              </a:spcBef>
              <a:spcAft>
                <a:spcPts val="0"/>
              </a:spcAft>
              <a:buNone/>
            </a:pPr>
            <a:r>
              <a:rPr lang="en-US" sz="1800"/>
              <a:t>support for interrupt coalescing</a:t>
            </a:r>
            <a:endParaRPr/>
          </a:p>
          <a:p>
            <a:pPr indent="0" lvl="1" marL="457200" rtl="0" algn="l">
              <a:spcBef>
                <a:spcPts val="0"/>
              </a:spcBef>
              <a:spcAft>
                <a:spcPts val="0"/>
              </a:spcAft>
              <a:buNone/>
            </a:pPr>
            <a:r>
              <a:rPr lang="en-US" sz="1800"/>
              <a:t>support for MSI-X</a:t>
            </a:r>
            <a:endParaRPr/>
          </a:p>
          <a:p>
            <a:pPr indent="0" lvl="1" marL="457200" rtl="0" algn="l">
              <a:spcBef>
                <a:spcPts val="0"/>
              </a:spcBef>
              <a:spcAft>
                <a:spcPts val="0"/>
              </a:spcAft>
              <a:buNone/>
            </a:pPr>
            <a:r>
              <a:rPr lang="en-US" sz="1800"/>
              <a:t>TCP Offload Engine (TOE)</a:t>
            </a:r>
            <a:endParaRPr/>
          </a:p>
          <a:p>
            <a:pPr indent="0" lvl="1" marL="457200" rtl="0" algn="l">
              <a:spcBef>
                <a:spcPts val="0"/>
              </a:spcBef>
              <a:spcAft>
                <a:spcPts val="0"/>
              </a:spcAft>
              <a:buNone/>
            </a:pPr>
            <a:r>
              <a:rPr b="1" i="1" lang="en-US" sz="1800">
                <a:solidFill>
                  <a:srgbClr val="FF0000"/>
                </a:solidFill>
              </a:rPr>
              <a:t>support for zero-copy protocols such as RDMA (RoCE or iWARP)</a:t>
            </a:r>
            <a:endParaRPr/>
          </a:p>
          <a:p>
            <a:pPr indent="0" lvl="1" marL="457200" rtl="0" algn="l">
              <a:spcBef>
                <a:spcPts val="0"/>
              </a:spcBef>
              <a:spcAft>
                <a:spcPts val="0"/>
              </a:spcAft>
              <a:buNone/>
            </a:pPr>
            <a:r>
              <a:t/>
            </a:r>
            <a:endParaRPr b="1" i="1" sz="1800">
              <a:solidFill>
                <a:srgbClr val="FF0000"/>
              </a:solidFill>
            </a:endParaRPr>
          </a:p>
          <a:p>
            <a:pPr indent="0" lvl="0" marL="0" rtl="0" algn="l">
              <a:spcBef>
                <a:spcPts val="0"/>
              </a:spcBef>
              <a:spcAft>
                <a:spcPts val="0"/>
              </a:spcAft>
              <a:buNone/>
            </a:pPr>
            <a:r>
              <a:rPr lang="en-US" sz="1800"/>
              <a:t>Note that many 10G and 40G NICs come in dual ports, but that </a:t>
            </a:r>
            <a:r>
              <a:rPr b="1" i="1" lang="en-US" sz="1800" u="sng"/>
              <a:t>does not mean if you use both ports at the same time you get double the performance</a:t>
            </a:r>
            <a:r>
              <a:rPr lang="en-US" sz="1800"/>
              <a:t>. Often the second port is meant to be used as a backup port.</a:t>
            </a:r>
            <a:endParaRPr/>
          </a:p>
          <a:p>
            <a:pPr indent="0" lvl="0" marL="0" rtl="0" algn="l">
              <a:spcBef>
                <a:spcPts val="0"/>
              </a:spcBef>
              <a:spcAft>
                <a:spcPts val="0"/>
              </a:spcAft>
              <a:buNone/>
            </a:pPr>
            <a:r>
              <a:t/>
            </a:r>
            <a:endParaRPr sz="1800"/>
          </a:p>
          <a:p>
            <a:pPr indent="0" lvl="1" marL="457200" rtl="0" algn="l">
              <a:spcBef>
                <a:spcPts val="0"/>
              </a:spcBef>
              <a:spcAft>
                <a:spcPts val="0"/>
              </a:spcAft>
              <a:buNone/>
            </a:pPr>
            <a:r>
              <a:rPr lang="en-US" sz="1800"/>
              <a:t>True 2x10G capable cards include the Myricom 10G-PCIE2-8C2-2S and the Mellanox MCX312A-XCBT.</a:t>
            </a:r>
            <a:endParaRPr/>
          </a:p>
          <a:p>
            <a:pPr indent="0" lvl="0" marL="0" rtl="0" algn="l">
              <a:spcBef>
                <a:spcPts val="0"/>
              </a:spcBef>
              <a:spcAft>
                <a:spcPts val="0"/>
              </a:spcAft>
              <a:buNone/>
            </a:pPr>
            <a:r>
              <a:t/>
            </a:r>
            <a:endParaRPr/>
          </a:p>
        </p:txBody>
      </p:sp>
      <p:sp>
        <p:nvSpPr>
          <p:cNvPr id="281" name="Google Shape;281;p2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8" name="Google Shape;288;p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a:t>It is important to pay attention to the hardware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Hardware is especially important because you can be stuck with long-lasting performance bottlenecks if you’re not careful with</a:t>
            </a:r>
            <a:endParaRPr/>
          </a:p>
          <a:p>
            <a:pPr indent="0" lvl="0" marL="0" rtl="0" algn="l">
              <a:spcBef>
                <a:spcPts val="0"/>
              </a:spcBef>
              <a:spcAft>
                <a:spcPts val="0"/>
              </a:spcAft>
              <a:buNone/>
            </a:pPr>
            <a:r>
              <a:rPr lang="en-US"/>
              <a:t>	components that are incompatible, </a:t>
            </a:r>
            <a:endParaRPr/>
          </a:p>
          <a:p>
            <a:pPr indent="0" lvl="0" marL="0" rtl="0" algn="l">
              <a:spcBef>
                <a:spcPts val="0"/>
              </a:spcBef>
              <a:spcAft>
                <a:spcPts val="0"/>
              </a:spcAft>
              <a:buNone/>
            </a:pPr>
            <a:r>
              <a:rPr lang="en-US"/>
              <a:t>	have wrong interfaces </a:t>
            </a:r>
            <a:endParaRPr/>
          </a:p>
          <a:p>
            <a:pPr indent="0" lvl="0" marL="0" rtl="0" algn="l">
              <a:spcBef>
                <a:spcPts val="0"/>
              </a:spcBef>
              <a:spcAft>
                <a:spcPts val="0"/>
              </a:spcAft>
              <a:buNone/>
            </a:pPr>
            <a:r>
              <a:rPr lang="en-US"/>
              <a:t>	or run out of capacity</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Want to make sure the hardware you choose/purchase is </a:t>
            </a:r>
            <a:endParaRPr/>
          </a:p>
          <a:p>
            <a:pPr indent="0" lvl="0" marL="0" rtl="0" algn="l">
              <a:spcBef>
                <a:spcPts val="0"/>
              </a:spcBef>
              <a:spcAft>
                <a:spcPts val="0"/>
              </a:spcAft>
              <a:buNone/>
            </a:pPr>
            <a:r>
              <a:rPr lang="en-US"/>
              <a:t>-Expandable for future needs at least 3-5 years out </a:t>
            </a:r>
            <a:endParaRPr/>
          </a:p>
          <a:p>
            <a:pPr indent="0" lvl="0" marL="0" rtl="0" algn="l">
              <a:spcBef>
                <a:spcPts val="0"/>
              </a:spcBef>
              <a:spcAft>
                <a:spcPts val="0"/>
              </a:spcAft>
              <a:buNone/>
            </a:pPr>
            <a:r>
              <a:rPr lang="en-US"/>
              <a:t>-and supportable—because backyard concoctions can be hard to work with… </a:t>
            </a:r>
            <a:endParaRPr/>
          </a:p>
        </p:txBody>
      </p:sp>
      <p:sp>
        <p:nvSpPr>
          <p:cNvPr id="289" name="Google Shape;289;p2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7" name="Google Shape;297;p2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rmAutofit/>
          </a:bodyPr>
          <a:lstStyle/>
          <a:p>
            <a:pPr indent="0" lvl="0" marL="0" rtl="0" algn="l">
              <a:lnSpc>
                <a:spcPct val="80000"/>
              </a:lnSpc>
              <a:spcBef>
                <a:spcPts val="0"/>
              </a:spcBef>
              <a:spcAft>
                <a:spcPts val="0"/>
              </a:spcAft>
              <a:buNone/>
            </a:pPr>
            <a:r>
              <a:rPr lang="en-US" sz="930"/>
              <a:t>What composes a DTN</a:t>
            </a:r>
            <a:endParaRPr/>
          </a:p>
          <a:p>
            <a:pPr indent="0" lvl="0" marL="0" rtl="0" algn="l">
              <a:lnSpc>
                <a:spcPct val="80000"/>
              </a:lnSpc>
              <a:spcBef>
                <a:spcPts val="0"/>
              </a:spcBef>
              <a:spcAft>
                <a:spcPts val="0"/>
              </a:spcAft>
              <a:buNone/>
            </a:pPr>
            <a:r>
              <a:t/>
            </a:r>
            <a:endParaRPr sz="930"/>
          </a:p>
          <a:p>
            <a:pPr indent="0" lvl="0" marL="0" rtl="0" algn="l">
              <a:lnSpc>
                <a:spcPct val="80000"/>
              </a:lnSpc>
              <a:spcBef>
                <a:spcPts val="0"/>
              </a:spcBef>
              <a:spcAft>
                <a:spcPts val="0"/>
              </a:spcAft>
              <a:buNone/>
            </a:pPr>
            <a:r>
              <a:rPr lang="en-US" sz="1395"/>
              <a:t>A DTN server is made of several subsystems:</a:t>
            </a:r>
            <a:endParaRPr/>
          </a:p>
          <a:p>
            <a:pPr indent="0" lvl="1" marL="457200" rtl="0" algn="l">
              <a:lnSpc>
                <a:spcPct val="80000"/>
              </a:lnSpc>
              <a:spcBef>
                <a:spcPts val="0"/>
              </a:spcBef>
              <a:spcAft>
                <a:spcPts val="0"/>
              </a:spcAft>
              <a:buNone/>
            </a:pPr>
            <a:r>
              <a:rPr b="1" lang="en-US" sz="1085"/>
              <a:t>Storage</a:t>
            </a:r>
            <a:endParaRPr sz="1085"/>
          </a:p>
          <a:p>
            <a:pPr indent="0" lvl="1" marL="457200" rtl="0" algn="l">
              <a:lnSpc>
                <a:spcPct val="80000"/>
              </a:lnSpc>
              <a:spcBef>
                <a:spcPts val="0"/>
              </a:spcBef>
              <a:spcAft>
                <a:spcPts val="0"/>
              </a:spcAft>
              <a:buNone/>
            </a:pPr>
            <a:r>
              <a:rPr b="1" lang="en-US" sz="1085"/>
              <a:t>Networking</a:t>
            </a:r>
            <a:endParaRPr sz="1085"/>
          </a:p>
          <a:p>
            <a:pPr indent="0" lvl="1" marL="457200" rtl="0" algn="l">
              <a:lnSpc>
                <a:spcPct val="80000"/>
              </a:lnSpc>
              <a:spcBef>
                <a:spcPts val="0"/>
              </a:spcBef>
              <a:spcAft>
                <a:spcPts val="0"/>
              </a:spcAft>
              <a:buNone/>
            </a:pPr>
            <a:r>
              <a:rPr b="1" lang="en-US" sz="1085"/>
              <a:t>Motherboard</a:t>
            </a:r>
            <a:endParaRPr sz="1085"/>
          </a:p>
          <a:p>
            <a:pPr indent="0" lvl="1" marL="457200" rtl="0" algn="l">
              <a:lnSpc>
                <a:spcPct val="80000"/>
              </a:lnSpc>
              <a:spcBef>
                <a:spcPts val="0"/>
              </a:spcBef>
              <a:spcAft>
                <a:spcPts val="0"/>
              </a:spcAft>
              <a:buNone/>
            </a:pPr>
            <a:r>
              <a:rPr b="1" lang="en-US" sz="1085"/>
              <a:t>Chassis</a:t>
            </a:r>
            <a:endParaRPr sz="930"/>
          </a:p>
          <a:p>
            <a:pPr indent="0" lvl="0" marL="0" rtl="0" algn="l">
              <a:lnSpc>
                <a:spcPct val="80000"/>
              </a:lnSpc>
              <a:spcBef>
                <a:spcPts val="0"/>
              </a:spcBef>
              <a:spcAft>
                <a:spcPts val="0"/>
              </a:spcAft>
              <a:buNone/>
            </a:pPr>
            <a:r>
              <a:t/>
            </a:r>
            <a:endParaRPr sz="930"/>
          </a:p>
          <a:p>
            <a:pPr indent="0" lvl="0" marL="0" rtl="0" algn="l">
              <a:lnSpc>
                <a:spcPct val="80000"/>
              </a:lnSpc>
              <a:spcBef>
                <a:spcPts val="0"/>
              </a:spcBef>
              <a:spcAft>
                <a:spcPts val="0"/>
              </a:spcAft>
              <a:buNone/>
            </a:pPr>
            <a:r>
              <a:rPr lang="en-US" sz="930"/>
              <a:t>Each needs to perform optimally for the DTN workflow—any of these things components can be the bottleneck if you’re not careful</a:t>
            </a:r>
            <a:endParaRPr/>
          </a:p>
          <a:p>
            <a:pPr indent="0" lvl="0" marL="0" rtl="0" algn="l">
              <a:lnSpc>
                <a:spcPct val="80000"/>
              </a:lnSpc>
              <a:spcBef>
                <a:spcPts val="0"/>
              </a:spcBef>
              <a:spcAft>
                <a:spcPts val="0"/>
              </a:spcAft>
              <a:buNone/>
            </a:pPr>
            <a:r>
              <a:t/>
            </a:r>
            <a:endParaRPr sz="930"/>
          </a:p>
          <a:p>
            <a:pPr indent="0" lvl="0" marL="0" marR="0" rtl="0" algn="l">
              <a:lnSpc>
                <a:spcPct val="80000"/>
              </a:lnSpc>
              <a:spcBef>
                <a:spcPts val="0"/>
              </a:spcBef>
              <a:spcAft>
                <a:spcPts val="0"/>
              </a:spcAft>
              <a:buClr>
                <a:schemeClr val="dk1"/>
              </a:buClr>
              <a:buSzPts val="930"/>
              <a:buFont typeface="Calibri"/>
              <a:buNone/>
            </a:pPr>
            <a:r>
              <a:rPr lang="en-US" sz="930"/>
              <a:t>There is always one thing that prevents you from going faster—eliminate as many bottlenecks as possible with hardware as a start </a:t>
            </a:r>
            <a:endParaRPr/>
          </a:p>
          <a:p>
            <a:pPr indent="0" lvl="0" marL="0" marR="0" rtl="0" algn="l">
              <a:lnSpc>
                <a:spcPct val="80000"/>
              </a:lnSpc>
              <a:spcBef>
                <a:spcPts val="0"/>
              </a:spcBef>
              <a:spcAft>
                <a:spcPts val="0"/>
              </a:spcAft>
              <a:buClr>
                <a:schemeClr val="dk1"/>
              </a:buClr>
              <a:buSzPts val="930"/>
              <a:buFont typeface="Calibri"/>
              <a:buNone/>
            </a:pPr>
            <a:r>
              <a:t/>
            </a:r>
            <a:endParaRPr sz="930"/>
          </a:p>
          <a:p>
            <a:pPr indent="0" lvl="0" marL="0" marR="0" rtl="0" algn="l">
              <a:lnSpc>
                <a:spcPct val="80000"/>
              </a:lnSpc>
              <a:spcBef>
                <a:spcPts val="0"/>
              </a:spcBef>
              <a:spcAft>
                <a:spcPts val="0"/>
              </a:spcAft>
              <a:buClr>
                <a:schemeClr val="dk1"/>
              </a:buClr>
              <a:buSzPts val="930"/>
              <a:buFont typeface="Calibri"/>
              <a:buNone/>
            </a:pPr>
            <a:r>
              <a:rPr lang="en-US" sz="930"/>
              <a:t>Only job is big sequential writes and big sequential reads—large file IO</a:t>
            </a:r>
            <a:endParaRPr/>
          </a:p>
          <a:p>
            <a:pPr indent="0" lvl="0" marL="0" rtl="0" algn="l">
              <a:lnSpc>
                <a:spcPct val="80000"/>
              </a:lnSpc>
              <a:spcBef>
                <a:spcPts val="0"/>
              </a:spcBef>
              <a:spcAft>
                <a:spcPts val="0"/>
              </a:spcAft>
              <a:buNone/>
            </a:pPr>
            <a:r>
              <a:t/>
            </a:r>
            <a:endParaRPr sz="930"/>
          </a:p>
          <a:p>
            <a:pPr indent="0" lvl="0" marL="0" rtl="0" algn="l">
              <a:lnSpc>
                <a:spcPct val="80000"/>
              </a:lnSpc>
              <a:spcBef>
                <a:spcPts val="0"/>
              </a:spcBef>
              <a:spcAft>
                <a:spcPts val="0"/>
              </a:spcAft>
              <a:buNone/>
            </a:pPr>
            <a:r>
              <a:rPr lang="en-US" sz="930"/>
              <a:t>_______________</a:t>
            </a:r>
            <a:endParaRPr/>
          </a:p>
          <a:p>
            <a:pPr indent="0" lvl="0" marL="0" rtl="0" algn="l">
              <a:lnSpc>
                <a:spcPct val="80000"/>
              </a:lnSpc>
              <a:spcBef>
                <a:spcPts val="0"/>
              </a:spcBef>
              <a:spcAft>
                <a:spcPts val="0"/>
              </a:spcAft>
              <a:buNone/>
            </a:pPr>
            <a:r>
              <a:rPr b="1" lang="en-US" sz="930"/>
              <a:t>Also please note the workflow we are optimizing for here is </a:t>
            </a:r>
            <a:endParaRPr/>
          </a:p>
          <a:p>
            <a:pPr indent="0" lvl="0" marL="0" rtl="0" algn="l">
              <a:lnSpc>
                <a:spcPct val="80000"/>
              </a:lnSpc>
              <a:spcBef>
                <a:spcPts val="0"/>
              </a:spcBef>
              <a:spcAft>
                <a:spcPts val="0"/>
              </a:spcAft>
              <a:buNone/>
            </a:pPr>
            <a:r>
              <a:rPr b="1" lang="en-US" sz="930"/>
              <a:t>	sequential reads/write of large files, and a moderate number of high bandwidth flows. </a:t>
            </a:r>
            <a:endParaRPr sz="930"/>
          </a:p>
          <a:p>
            <a:pPr indent="0" lvl="0" marL="0" rtl="0" algn="l">
              <a:lnSpc>
                <a:spcPct val="80000"/>
              </a:lnSpc>
              <a:spcBef>
                <a:spcPts val="0"/>
              </a:spcBef>
              <a:spcAft>
                <a:spcPts val="0"/>
              </a:spcAft>
              <a:buNone/>
            </a:pPr>
            <a:r>
              <a:t/>
            </a:r>
            <a:endParaRPr sz="930"/>
          </a:p>
          <a:p>
            <a:pPr indent="0" lvl="0" marL="0" rtl="0" algn="l">
              <a:lnSpc>
                <a:spcPct val="80000"/>
              </a:lnSpc>
              <a:spcBef>
                <a:spcPts val="0"/>
              </a:spcBef>
              <a:spcAft>
                <a:spcPts val="0"/>
              </a:spcAft>
              <a:buNone/>
            </a:pPr>
            <a:r>
              <a:rPr lang="en-US" sz="930"/>
              <a:t>A Data Transfer Node is not a processing, rendering, server. Its only workflow is:</a:t>
            </a:r>
            <a:endParaRPr/>
          </a:p>
          <a:p>
            <a:pPr indent="0" lvl="0" marL="0" rtl="0" algn="l">
              <a:lnSpc>
                <a:spcPct val="80000"/>
              </a:lnSpc>
              <a:spcBef>
                <a:spcPts val="0"/>
              </a:spcBef>
              <a:spcAft>
                <a:spcPts val="0"/>
              </a:spcAft>
              <a:buNone/>
            </a:pPr>
            <a:r>
              <a:t/>
            </a:r>
            <a:endParaRPr sz="930"/>
          </a:p>
          <a:p>
            <a:pPr indent="0" lvl="0" marL="0" rtl="0" algn="l">
              <a:lnSpc>
                <a:spcPct val="80000"/>
              </a:lnSpc>
              <a:spcBef>
                <a:spcPts val="0"/>
              </a:spcBef>
              <a:spcAft>
                <a:spcPts val="0"/>
              </a:spcAft>
              <a:buNone/>
            </a:pPr>
            <a:r>
              <a:rPr lang="en-US" sz="930"/>
              <a:t>Sender host:</a:t>
            </a:r>
            <a:endParaRPr/>
          </a:p>
          <a:p>
            <a:pPr indent="0" lvl="0" marL="0" rtl="0" algn="l">
              <a:lnSpc>
                <a:spcPct val="80000"/>
              </a:lnSpc>
              <a:spcBef>
                <a:spcPts val="0"/>
              </a:spcBef>
              <a:spcAft>
                <a:spcPts val="0"/>
              </a:spcAft>
              <a:buNone/>
            </a:pPr>
            <a:r>
              <a:rPr lang="en-US" sz="930"/>
              <a:t>	1) read data from the storage subsystem</a:t>
            </a:r>
            <a:endParaRPr/>
          </a:p>
          <a:p>
            <a:pPr indent="0" lvl="0" marL="0" rtl="0" algn="l">
              <a:lnSpc>
                <a:spcPct val="80000"/>
              </a:lnSpc>
              <a:spcBef>
                <a:spcPts val="0"/>
              </a:spcBef>
              <a:spcAft>
                <a:spcPts val="0"/>
              </a:spcAft>
              <a:buNone/>
            </a:pPr>
            <a:r>
              <a:rPr lang="en-US" sz="930"/>
              <a:t>	2) send it to the receiver host</a:t>
            </a:r>
            <a:endParaRPr/>
          </a:p>
          <a:p>
            <a:pPr indent="0" lvl="0" marL="0" rtl="0" algn="l">
              <a:lnSpc>
                <a:spcPct val="80000"/>
              </a:lnSpc>
              <a:spcBef>
                <a:spcPts val="0"/>
              </a:spcBef>
              <a:spcAft>
                <a:spcPts val="0"/>
              </a:spcAft>
              <a:buNone/>
            </a:pPr>
            <a:r>
              <a:t/>
            </a:r>
            <a:endParaRPr sz="930"/>
          </a:p>
          <a:p>
            <a:pPr indent="0" lvl="0" marL="0" rtl="0" algn="l">
              <a:lnSpc>
                <a:spcPct val="80000"/>
              </a:lnSpc>
              <a:spcBef>
                <a:spcPts val="0"/>
              </a:spcBef>
              <a:spcAft>
                <a:spcPts val="0"/>
              </a:spcAft>
              <a:buNone/>
            </a:pPr>
            <a:r>
              <a:rPr lang="en-US" sz="930"/>
              <a:t>Receiver host:</a:t>
            </a:r>
            <a:endParaRPr/>
          </a:p>
          <a:p>
            <a:pPr indent="0" lvl="0" marL="0" rtl="0" algn="l">
              <a:lnSpc>
                <a:spcPct val="80000"/>
              </a:lnSpc>
              <a:spcBef>
                <a:spcPts val="0"/>
              </a:spcBef>
              <a:spcAft>
                <a:spcPts val="0"/>
              </a:spcAft>
              <a:buNone/>
            </a:pPr>
            <a:r>
              <a:rPr lang="en-US" sz="930"/>
              <a:t>	1) read data from the network</a:t>
            </a:r>
            <a:endParaRPr/>
          </a:p>
          <a:p>
            <a:pPr indent="0" lvl="0" marL="0" rtl="0" algn="l">
              <a:lnSpc>
                <a:spcPct val="80000"/>
              </a:lnSpc>
              <a:spcBef>
                <a:spcPts val="0"/>
              </a:spcBef>
              <a:spcAft>
                <a:spcPts val="0"/>
              </a:spcAft>
              <a:buNone/>
            </a:pPr>
            <a:r>
              <a:rPr lang="en-US" sz="930"/>
              <a:t>	2) write it onto the storage subsystem</a:t>
            </a:r>
            <a:endParaRPr/>
          </a:p>
          <a:p>
            <a:pPr indent="0" lvl="0" marL="0" rtl="0" algn="l">
              <a:lnSpc>
                <a:spcPct val="80000"/>
              </a:lnSpc>
              <a:spcBef>
                <a:spcPts val="0"/>
              </a:spcBef>
              <a:spcAft>
                <a:spcPts val="0"/>
              </a:spcAft>
              <a:buNone/>
            </a:pPr>
            <a:r>
              <a:t/>
            </a:r>
            <a:endParaRPr sz="930"/>
          </a:p>
        </p:txBody>
      </p:sp>
      <p:sp>
        <p:nvSpPr>
          <p:cNvPr id="298" name="Google Shape;298;p2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5" name="Google Shape;305;p2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306" name="Google Shape;306;p2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p2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4" name="Google Shape;314;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1" name="Google Shape;321;p2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interrupt coalencing is used to a</a:t>
            </a:r>
            <a:r>
              <a:rPr lang="en-US"/>
              <a:t>void flooding the host system with too many interrupts, packets are collected and one single interrupt is generated for multiple packets.</a:t>
            </a:r>
            <a:endParaRPr/>
          </a:p>
          <a:p>
            <a:pPr indent="-76200" lvl="0" marL="0" rtl="0" algn="l">
              <a:spcBef>
                <a:spcPts val="0"/>
              </a:spcBef>
              <a:spcAft>
                <a:spcPts val="0"/>
              </a:spcAft>
              <a:buClr>
                <a:schemeClr val="dk1"/>
              </a:buClr>
              <a:buSzPts val="1200"/>
              <a:buFont typeface="Arial"/>
              <a:buChar char="•"/>
            </a:pPr>
            <a:r>
              <a:rPr lang="en-US"/>
              <a:t>Not all NIC support it</a:t>
            </a:r>
            <a:endParaRPr/>
          </a:p>
          <a:p>
            <a:pPr indent="-76200" lvl="0" marL="0" rtl="0" algn="l">
              <a:spcBef>
                <a:spcPts val="0"/>
              </a:spcBef>
              <a:spcAft>
                <a:spcPts val="0"/>
              </a:spcAft>
              <a:buClr>
                <a:schemeClr val="dk1"/>
              </a:buClr>
              <a:buSzPts val="1200"/>
              <a:buFont typeface="Arial"/>
              <a:buChar char="•"/>
            </a:pPr>
            <a:r>
              <a:rPr lang="en-US"/>
              <a:t>75-100 micro-seconds timeout</a:t>
            </a:r>
            <a:endParaRPr/>
          </a:p>
          <a:p>
            <a:pPr indent="-76200" lvl="0" marL="0" rtl="0" algn="l">
              <a:spcBef>
                <a:spcPts val="0"/>
              </a:spcBef>
              <a:spcAft>
                <a:spcPts val="0"/>
              </a:spcAft>
              <a:buClr>
                <a:schemeClr val="dk1"/>
              </a:buClr>
              <a:buSzPts val="1200"/>
              <a:buFont typeface="Arial"/>
              <a:buChar char="•"/>
            </a:pPr>
            <a:r>
              <a:rPr lang="en-US"/>
              <a:t>Is critical for high performance NIC (10Gb, 40Gb…)</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322" name="Google Shape;322;p2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p2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9" name="Google Shape;329;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6" name="Google Shape;336;p2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337" name="Google Shape;337;p2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4" name="Google Shape;344;p3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For interrupt binding, you need to know where the card is, and where the cores are.</a:t>
            </a:r>
            <a:endParaRPr/>
          </a:p>
        </p:txBody>
      </p:sp>
      <p:sp>
        <p:nvSpPr>
          <p:cNvPr id="345" name="Google Shape;345;p3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3" name="Google Shape;353;p3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TRIM informs the disk when the filesystem has freed a block</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More controllers should support TRIM now – however, make sure you check into this.</a:t>
            </a:r>
            <a:endParaRPr/>
          </a:p>
        </p:txBody>
      </p:sp>
      <p:sp>
        <p:nvSpPr>
          <p:cNvPr id="354" name="Google Shape;354;p3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p3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1" name="Google Shape;361;p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 name="Shape 366"/>
        <p:cNvGrpSpPr/>
        <p:nvPr/>
      </p:nvGrpSpPr>
      <p:grpSpPr>
        <a:xfrm>
          <a:off x="0" y="0"/>
          <a:ext cx="0" cy="0"/>
          <a:chOff x="0" y="0"/>
          <a:chExt cx="0" cy="0"/>
        </a:xfrm>
      </p:grpSpPr>
      <p:sp>
        <p:nvSpPr>
          <p:cNvPr id="367" name="Google Shape;367;p3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368" name="Google Shape;368;p33:notes"/>
          <p:cNvSpPr/>
          <p:nvPr>
            <p:ph idx="2" type="sldImg"/>
          </p:nvPr>
        </p:nvSpPr>
        <p:spPr>
          <a:xfrm>
            <a:off x="338138" y="677863"/>
            <a:ext cx="6165850" cy="3468687"/>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
        <p:nvSpPr>
          <p:cNvPr id="369" name="Google Shape;369;p33:notes"/>
          <p:cNvSpPr txBox="1"/>
          <p:nvPr>
            <p:ph idx="1" type="body"/>
          </p:nvPr>
        </p:nvSpPr>
        <p:spPr>
          <a:xfrm>
            <a:off x="902081" y="4373285"/>
            <a:ext cx="5036613" cy="4071680"/>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p3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376" name="Google Shape;376;p34:notes"/>
          <p:cNvSpPr/>
          <p:nvPr>
            <p:ph idx="2" type="sldImg"/>
          </p:nvPr>
        </p:nvSpPr>
        <p:spPr>
          <a:xfrm>
            <a:off x="338138" y="677863"/>
            <a:ext cx="6165850" cy="3468687"/>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
        <p:nvSpPr>
          <p:cNvPr id="377" name="Google Shape;377;p34:notes"/>
          <p:cNvSpPr txBox="1"/>
          <p:nvPr>
            <p:ph idx="1" type="body"/>
          </p:nvPr>
        </p:nvSpPr>
        <p:spPr>
          <a:xfrm>
            <a:off x="902081" y="4373285"/>
            <a:ext cx="5036613" cy="4071680"/>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3" name="Shape 383"/>
        <p:cNvGrpSpPr/>
        <p:nvPr/>
      </p:nvGrpSpPr>
      <p:grpSpPr>
        <a:xfrm>
          <a:off x="0" y="0"/>
          <a:ext cx="0" cy="0"/>
          <a:chOff x="0" y="0"/>
          <a:chExt cx="0" cy="0"/>
        </a:xfrm>
      </p:grpSpPr>
      <p:sp>
        <p:nvSpPr>
          <p:cNvPr id="384" name="Google Shape;384;p3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5" name="Google Shape;385;p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0" name="Shape 390"/>
        <p:cNvGrpSpPr/>
        <p:nvPr/>
      </p:nvGrpSpPr>
      <p:grpSpPr>
        <a:xfrm>
          <a:off x="0" y="0"/>
          <a:ext cx="0" cy="0"/>
          <a:chOff x="0" y="0"/>
          <a:chExt cx="0" cy="0"/>
        </a:xfrm>
      </p:grpSpPr>
      <p:sp>
        <p:nvSpPr>
          <p:cNvPr id="391" name="Google Shape;391;p3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2" name="Google Shape;392;p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7" name="Shape 397"/>
        <p:cNvGrpSpPr/>
        <p:nvPr/>
      </p:nvGrpSpPr>
      <p:grpSpPr>
        <a:xfrm>
          <a:off x="0" y="0"/>
          <a:ext cx="0" cy="0"/>
          <a:chOff x="0" y="0"/>
          <a:chExt cx="0" cy="0"/>
        </a:xfrm>
      </p:grpSpPr>
      <p:sp>
        <p:nvSpPr>
          <p:cNvPr id="398" name="Google Shape;398;p3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399" name="Google Shape;399;p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00" name="Google Shape;400;p3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7" name="Shape 407"/>
        <p:cNvGrpSpPr/>
        <p:nvPr/>
      </p:nvGrpSpPr>
      <p:grpSpPr>
        <a:xfrm>
          <a:off x="0" y="0"/>
          <a:ext cx="0" cy="0"/>
          <a:chOff x="0" y="0"/>
          <a:chExt cx="0" cy="0"/>
        </a:xfrm>
      </p:grpSpPr>
      <p:sp>
        <p:nvSpPr>
          <p:cNvPr id="408" name="Google Shape;408;p3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409" name="Google Shape;409;p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10" name="Google Shape;410;p3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5" name="Shape 415"/>
        <p:cNvGrpSpPr/>
        <p:nvPr/>
      </p:nvGrpSpPr>
      <p:grpSpPr>
        <a:xfrm>
          <a:off x="0" y="0"/>
          <a:ext cx="0" cy="0"/>
          <a:chOff x="0" y="0"/>
          <a:chExt cx="0" cy="0"/>
        </a:xfrm>
      </p:grpSpPr>
      <p:sp>
        <p:nvSpPr>
          <p:cNvPr id="416" name="Google Shape;416;p3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7" name="Google Shape;417;p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2" name="Shape 422"/>
        <p:cNvGrpSpPr/>
        <p:nvPr/>
      </p:nvGrpSpPr>
      <p:grpSpPr>
        <a:xfrm>
          <a:off x="0" y="0"/>
          <a:ext cx="0" cy="0"/>
          <a:chOff x="0" y="0"/>
          <a:chExt cx="0" cy="0"/>
        </a:xfrm>
      </p:grpSpPr>
      <p:sp>
        <p:nvSpPr>
          <p:cNvPr id="423" name="Google Shape;423;p4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424" name="Google Shape;424;p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25" name="Google Shape;425;p4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0" name="Shape 430"/>
        <p:cNvGrpSpPr/>
        <p:nvPr/>
      </p:nvGrpSpPr>
      <p:grpSpPr>
        <a:xfrm>
          <a:off x="0" y="0"/>
          <a:ext cx="0" cy="0"/>
          <a:chOff x="0" y="0"/>
          <a:chExt cx="0" cy="0"/>
        </a:xfrm>
      </p:grpSpPr>
      <p:sp>
        <p:nvSpPr>
          <p:cNvPr id="431" name="Google Shape;431;p4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432" name="Google Shape;432;p4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33" name="Google Shape;433;p4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7" name="Shape 437"/>
        <p:cNvGrpSpPr/>
        <p:nvPr/>
      </p:nvGrpSpPr>
      <p:grpSpPr>
        <a:xfrm>
          <a:off x="0" y="0"/>
          <a:ext cx="0" cy="0"/>
          <a:chOff x="0" y="0"/>
          <a:chExt cx="0" cy="0"/>
        </a:xfrm>
      </p:grpSpPr>
      <p:sp>
        <p:nvSpPr>
          <p:cNvPr id="438" name="Google Shape;438;p4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439" name="Google Shape;439;p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40" name="Google Shape;440;p4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4" name="Shape 444"/>
        <p:cNvGrpSpPr/>
        <p:nvPr/>
      </p:nvGrpSpPr>
      <p:grpSpPr>
        <a:xfrm>
          <a:off x="0" y="0"/>
          <a:ext cx="0" cy="0"/>
          <a:chOff x="0" y="0"/>
          <a:chExt cx="0" cy="0"/>
        </a:xfrm>
      </p:grpSpPr>
      <p:sp>
        <p:nvSpPr>
          <p:cNvPr id="445" name="Google Shape;445;p4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6" name="Google Shape;446;p4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jpg"/><Relationship Id="rId3" Type="http://schemas.openxmlformats.org/officeDocument/2006/relationships/image" Target="../media/image6.jpg"/><Relationship Id="rId4" Type="http://schemas.openxmlformats.org/officeDocument/2006/relationships/image" Target="../media/image1.png"/><Relationship Id="rId5" Type="http://schemas.openxmlformats.org/officeDocument/2006/relationships/image" Target="../media/image15.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jpg"/><Relationship Id="rId3" Type="http://schemas.openxmlformats.org/officeDocument/2006/relationships/image" Target="../media/image6.jpg"/><Relationship Id="rId4" Type="http://schemas.openxmlformats.org/officeDocument/2006/relationships/image" Target="../media/image1.png"/><Relationship Id="rId5" Type="http://schemas.openxmlformats.org/officeDocument/2006/relationships/image" Target="../media/image15.jp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0.png"/><Relationship Id="rId4" Type="http://schemas.openxmlformats.org/officeDocument/2006/relationships/image" Target="../media/image16.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6" name="Shape 16"/>
        <p:cNvGrpSpPr/>
        <p:nvPr/>
      </p:nvGrpSpPr>
      <p:grpSpPr>
        <a:xfrm>
          <a:off x="0" y="0"/>
          <a:ext cx="0" cy="0"/>
          <a:chOff x="0" y="0"/>
          <a:chExt cx="0" cy="0"/>
        </a:xfrm>
      </p:grpSpPr>
      <p:sp>
        <p:nvSpPr>
          <p:cNvPr id="17" name="Google Shape;17;p45"/>
          <p:cNvSpPr txBox="1"/>
          <p:nvPr>
            <p:ph type="ctrTitle"/>
          </p:nvPr>
        </p:nvSpPr>
        <p:spPr>
          <a:xfrm>
            <a:off x="1509712" y="1728789"/>
            <a:ext cx="9144000" cy="2195512"/>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 name="Google Shape;18;p45"/>
          <p:cNvSpPr txBox="1"/>
          <p:nvPr>
            <p:ph idx="1" type="subTitle"/>
          </p:nvPr>
        </p:nvSpPr>
        <p:spPr>
          <a:xfrm>
            <a:off x="1509712" y="4016376"/>
            <a:ext cx="9144000" cy="1184275"/>
          </a:xfrm>
          <a:prstGeom prst="rect">
            <a:avLst/>
          </a:prstGeom>
          <a:noFill/>
          <a:ln>
            <a:noFill/>
          </a:ln>
        </p:spPr>
        <p:txBody>
          <a:bodyPr anchorCtr="0" anchor="t" bIns="45700" lIns="91425" spcFirstLastPara="1" rIns="91425" wrap="square" tIns="45700">
            <a:normAutofit/>
          </a:bodyPr>
          <a:lstStyle>
            <a:lvl1pPr lvl="0" algn="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9" name="Google Shape;19;p4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4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21" name="Google Shape;21;p45"/>
          <p:cNvSpPr txBox="1"/>
          <p:nvPr>
            <p:ph idx="11" type="ftr"/>
          </p:nvPr>
        </p:nvSpPr>
        <p:spPr>
          <a:xfrm>
            <a:off x="3889310" y="6352300"/>
            <a:ext cx="434029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sz="1200">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pic>
        <p:nvPicPr>
          <p:cNvPr descr="header image" id="22" name="Google Shape;22;p45"/>
          <p:cNvPicPr preferRelativeResize="0"/>
          <p:nvPr/>
        </p:nvPicPr>
        <p:blipFill rotWithShape="1">
          <a:blip r:embed="rId2">
            <a:alphaModFix/>
          </a:blip>
          <a:srcRect b="0" l="0" r="0" t="0"/>
          <a:stretch/>
        </p:blipFill>
        <p:spPr>
          <a:xfrm>
            <a:off x="140676" y="18064"/>
            <a:ext cx="5800297" cy="1618649"/>
          </a:xfrm>
          <a:prstGeom prst="rect">
            <a:avLst/>
          </a:prstGeom>
          <a:noFill/>
          <a:ln>
            <a:noFill/>
          </a:ln>
        </p:spPr>
      </p:pic>
      <p:pic>
        <p:nvPicPr>
          <p:cNvPr descr="LCI Workshops home" id="23" name="Google Shape;23;p45"/>
          <p:cNvPicPr preferRelativeResize="0"/>
          <p:nvPr/>
        </p:nvPicPr>
        <p:blipFill rotWithShape="1">
          <a:blip r:embed="rId3">
            <a:alphaModFix/>
          </a:blip>
          <a:srcRect b="0" l="0" r="0" t="0"/>
          <a:stretch/>
        </p:blipFill>
        <p:spPr>
          <a:xfrm>
            <a:off x="6260123" y="18065"/>
            <a:ext cx="5674927" cy="1651193"/>
          </a:xfrm>
          <a:prstGeom prst="rect">
            <a:avLst/>
          </a:prstGeom>
          <a:noFill/>
          <a:ln>
            <a:noFill/>
          </a:ln>
        </p:spPr>
      </p:pic>
      <p:pic>
        <p:nvPicPr>
          <p:cNvPr id="24" name="Google Shape;24;p45"/>
          <p:cNvPicPr preferRelativeResize="0"/>
          <p:nvPr/>
        </p:nvPicPr>
        <p:blipFill rotWithShape="1">
          <a:blip r:embed="rId4">
            <a:alphaModFix/>
          </a:blip>
          <a:srcRect b="0" l="0" r="0" t="0"/>
          <a:stretch/>
        </p:blipFill>
        <p:spPr>
          <a:xfrm>
            <a:off x="248424" y="5706084"/>
            <a:ext cx="1807364" cy="491563"/>
          </a:xfrm>
          <a:prstGeom prst="rect">
            <a:avLst/>
          </a:prstGeom>
          <a:noFill/>
          <a:ln>
            <a:noFill/>
          </a:ln>
        </p:spPr>
      </p:pic>
      <p:pic>
        <p:nvPicPr>
          <p:cNvPr id="25" name="Google Shape;25;p45"/>
          <p:cNvPicPr preferRelativeResize="0"/>
          <p:nvPr/>
        </p:nvPicPr>
        <p:blipFill rotWithShape="1">
          <a:blip r:embed="rId5">
            <a:alphaModFix/>
          </a:blip>
          <a:srcRect b="0" l="0" r="0" t="0"/>
          <a:stretch/>
        </p:blipFill>
        <p:spPr>
          <a:xfrm>
            <a:off x="10997642" y="5706084"/>
            <a:ext cx="1053679" cy="605865"/>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6" name="Shape 26"/>
        <p:cNvGrpSpPr/>
        <p:nvPr/>
      </p:nvGrpSpPr>
      <p:grpSpPr>
        <a:xfrm>
          <a:off x="0" y="0"/>
          <a:ext cx="0" cy="0"/>
          <a:chOff x="0" y="0"/>
          <a:chExt cx="0" cy="0"/>
        </a:xfrm>
      </p:grpSpPr>
      <p:sp>
        <p:nvSpPr>
          <p:cNvPr id="27" name="Google Shape;27;p4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8" name="Google Shape;28;p46"/>
          <p:cNvSpPr txBox="1"/>
          <p:nvPr>
            <p:ph idx="1" type="body"/>
          </p:nvPr>
        </p:nvSpPr>
        <p:spPr>
          <a:xfrm>
            <a:off x="838200" y="1825625"/>
            <a:ext cx="10515600" cy="3996677"/>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9" name="Google Shape;29;p4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4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id="31" name="Google Shape;31;p46"/>
          <p:cNvPicPr preferRelativeResize="0"/>
          <p:nvPr/>
        </p:nvPicPr>
        <p:blipFill rotWithShape="1">
          <a:blip r:embed="rId2">
            <a:alphaModFix/>
          </a:blip>
          <a:srcRect b="0" l="0" r="0" t="0"/>
          <a:stretch/>
        </p:blipFill>
        <p:spPr>
          <a:xfrm>
            <a:off x="9672638" y="5694282"/>
            <a:ext cx="1681162" cy="840581"/>
          </a:xfrm>
          <a:prstGeom prst="rect">
            <a:avLst/>
          </a:prstGeom>
          <a:noFill/>
          <a:ln>
            <a:noFill/>
          </a:ln>
        </p:spPr>
      </p:pic>
      <p:sp>
        <p:nvSpPr>
          <p:cNvPr id="32" name="Google Shape;32;p46"/>
          <p:cNvSpPr txBox="1"/>
          <p:nvPr>
            <p:ph idx="11" type="ftr"/>
          </p:nvPr>
        </p:nvSpPr>
        <p:spPr>
          <a:xfrm>
            <a:off x="3889310" y="6352300"/>
            <a:ext cx="434029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sz="1200">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4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47"/>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 name="Google Shape;36;p47"/>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 name="Google Shape;37;p4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4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39" name="Google Shape;39;p47"/>
          <p:cNvSpPr txBox="1"/>
          <p:nvPr>
            <p:ph idx="11" type="ftr"/>
          </p:nvPr>
        </p:nvSpPr>
        <p:spPr>
          <a:xfrm>
            <a:off x="3889310" y="6352300"/>
            <a:ext cx="434029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sz="1200">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pic>
        <p:nvPicPr>
          <p:cNvPr id="40" name="Google Shape;40;p47"/>
          <p:cNvPicPr preferRelativeResize="0"/>
          <p:nvPr/>
        </p:nvPicPr>
        <p:blipFill rotWithShape="1">
          <a:blip r:embed="rId2">
            <a:alphaModFix/>
          </a:blip>
          <a:srcRect b="0" l="0" r="0" t="0"/>
          <a:stretch/>
        </p:blipFill>
        <p:spPr>
          <a:xfrm>
            <a:off x="9672638" y="5694282"/>
            <a:ext cx="1681162" cy="840581"/>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Slide">
  <p:cSld name="1_Title Slide">
    <p:spTree>
      <p:nvGrpSpPr>
        <p:cNvPr id="41" name="Shape 41"/>
        <p:cNvGrpSpPr/>
        <p:nvPr/>
      </p:nvGrpSpPr>
      <p:grpSpPr>
        <a:xfrm>
          <a:off x="0" y="0"/>
          <a:ext cx="0" cy="0"/>
          <a:chOff x="0" y="0"/>
          <a:chExt cx="0" cy="0"/>
        </a:xfrm>
      </p:grpSpPr>
      <p:sp>
        <p:nvSpPr>
          <p:cNvPr id="42" name="Google Shape;42;p48"/>
          <p:cNvSpPr txBox="1"/>
          <p:nvPr>
            <p:ph type="ctrTitle"/>
          </p:nvPr>
        </p:nvSpPr>
        <p:spPr>
          <a:xfrm>
            <a:off x="1509712" y="1728789"/>
            <a:ext cx="9144000" cy="2195512"/>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3" name="Google Shape;43;p48"/>
          <p:cNvSpPr txBox="1"/>
          <p:nvPr>
            <p:ph idx="1" type="subTitle"/>
          </p:nvPr>
        </p:nvSpPr>
        <p:spPr>
          <a:xfrm>
            <a:off x="1509712" y="4016376"/>
            <a:ext cx="9144000" cy="1184275"/>
          </a:xfrm>
          <a:prstGeom prst="rect">
            <a:avLst/>
          </a:prstGeom>
          <a:noFill/>
          <a:ln>
            <a:noFill/>
          </a:ln>
        </p:spPr>
        <p:txBody>
          <a:bodyPr anchorCtr="0" anchor="t" bIns="45700" lIns="91425" spcFirstLastPara="1" rIns="91425" wrap="square" tIns="45700">
            <a:normAutofit/>
          </a:bodyPr>
          <a:lstStyle>
            <a:lvl1pPr lvl="0" algn="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44" name="Google Shape;44;p4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5" name="Google Shape;45;p4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46" name="Google Shape;46;p48"/>
          <p:cNvSpPr txBox="1"/>
          <p:nvPr>
            <p:ph idx="11" type="ftr"/>
          </p:nvPr>
        </p:nvSpPr>
        <p:spPr>
          <a:xfrm>
            <a:off x="3889310" y="6352300"/>
            <a:ext cx="434029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sz="1200">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pic>
        <p:nvPicPr>
          <p:cNvPr descr="header image" id="47" name="Google Shape;47;p48"/>
          <p:cNvPicPr preferRelativeResize="0"/>
          <p:nvPr/>
        </p:nvPicPr>
        <p:blipFill rotWithShape="1">
          <a:blip r:embed="rId2">
            <a:alphaModFix/>
          </a:blip>
          <a:srcRect b="0" l="0" r="0" t="0"/>
          <a:stretch/>
        </p:blipFill>
        <p:spPr>
          <a:xfrm>
            <a:off x="140676" y="18064"/>
            <a:ext cx="5800297" cy="1618649"/>
          </a:xfrm>
          <a:prstGeom prst="rect">
            <a:avLst/>
          </a:prstGeom>
          <a:noFill/>
          <a:ln>
            <a:noFill/>
          </a:ln>
        </p:spPr>
      </p:pic>
      <p:pic>
        <p:nvPicPr>
          <p:cNvPr descr="LCI Workshops home" id="48" name="Google Shape;48;p48"/>
          <p:cNvPicPr preferRelativeResize="0"/>
          <p:nvPr/>
        </p:nvPicPr>
        <p:blipFill rotWithShape="1">
          <a:blip r:embed="rId3">
            <a:alphaModFix/>
          </a:blip>
          <a:srcRect b="0" l="0" r="0" t="0"/>
          <a:stretch/>
        </p:blipFill>
        <p:spPr>
          <a:xfrm>
            <a:off x="6260123" y="18065"/>
            <a:ext cx="5674927" cy="1651193"/>
          </a:xfrm>
          <a:prstGeom prst="rect">
            <a:avLst/>
          </a:prstGeom>
          <a:noFill/>
          <a:ln>
            <a:noFill/>
          </a:ln>
        </p:spPr>
      </p:pic>
      <p:pic>
        <p:nvPicPr>
          <p:cNvPr id="49" name="Google Shape;49;p48"/>
          <p:cNvPicPr preferRelativeResize="0"/>
          <p:nvPr/>
        </p:nvPicPr>
        <p:blipFill rotWithShape="1">
          <a:blip r:embed="rId4">
            <a:alphaModFix/>
          </a:blip>
          <a:srcRect b="0" l="0" r="0" t="0"/>
          <a:stretch/>
        </p:blipFill>
        <p:spPr>
          <a:xfrm>
            <a:off x="248424" y="5706084"/>
            <a:ext cx="1807364" cy="491563"/>
          </a:xfrm>
          <a:prstGeom prst="rect">
            <a:avLst/>
          </a:prstGeom>
          <a:noFill/>
          <a:ln>
            <a:noFill/>
          </a:ln>
        </p:spPr>
      </p:pic>
      <p:pic>
        <p:nvPicPr>
          <p:cNvPr id="50" name="Google Shape;50;p48"/>
          <p:cNvPicPr preferRelativeResize="0"/>
          <p:nvPr/>
        </p:nvPicPr>
        <p:blipFill rotWithShape="1">
          <a:blip r:embed="rId5">
            <a:alphaModFix/>
          </a:blip>
          <a:srcRect b="0" l="0" r="0" t="0"/>
          <a:stretch/>
        </p:blipFill>
        <p:spPr>
          <a:xfrm>
            <a:off x="10997642" y="5706084"/>
            <a:ext cx="1053679" cy="605865"/>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51" name="Shape 51"/>
        <p:cNvGrpSpPr/>
        <p:nvPr/>
      </p:nvGrpSpPr>
      <p:grpSpPr>
        <a:xfrm>
          <a:off x="0" y="0"/>
          <a:ext cx="0" cy="0"/>
          <a:chOff x="0" y="0"/>
          <a:chExt cx="0" cy="0"/>
        </a:xfrm>
      </p:grpSpPr>
      <p:sp>
        <p:nvSpPr>
          <p:cNvPr id="52" name="Google Shape;52;p49"/>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3" name="Google Shape;53;p49"/>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54" name="Google Shape;54;p4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5" name="Google Shape;55;p4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56" name="Google Shape;56;p49"/>
          <p:cNvSpPr txBox="1"/>
          <p:nvPr>
            <p:ph idx="11" type="ftr"/>
          </p:nvPr>
        </p:nvSpPr>
        <p:spPr>
          <a:xfrm>
            <a:off x="3889310" y="6352300"/>
            <a:ext cx="434029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sz="1200">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pic>
        <p:nvPicPr>
          <p:cNvPr id="57" name="Google Shape;57;p49"/>
          <p:cNvPicPr preferRelativeResize="0"/>
          <p:nvPr/>
        </p:nvPicPr>
        <p:blipFill rotWithShape="1">
          <a:blip r:embed="rId2">
            <a:alphaModFix/>
          </a:blip>
          <a:srcRect b="0" l="0" r="0" t="0"/>
          <a:stretch/>
        </p:blipFill>
        <p:spPr>
          <a:xfrm>
            <a:off x="0" y="9524"/>
            <a:ext cx="4124326" cy="2062163"/>
          </a:xfrm>
          <a:prstGeom prst="rect">
            <a:avLst/>
          </a:prstGeom>
          <a:noFill/>
          <a:ln>
            <a:noFill/>
          </a:ln>
        </p:spPr>
      </p:pic>
      <p:pic>
        <p:nvPicPr>
          <p:cNvPr id="58" name="Google Shape;58;p49"/>
          <p:cNvPicPr preferRelativeResize="0"/>
          <p:nvPr/>
        </p:nvPicPr>
        <p:blipFill rotWithShape="1">
          <a:blip r:embed="rId3">
            <a:alphaModFix/>
          </a:blip>
          <a:srcRect b="0" l="0" r="0" t="0"/>
          <a:stretch/>
        </p:blipFill>
        <p:spPr>
          <a:xfrm>
            <a:off x="7149432" y="5586588"/>
            <a:ext cx="2160336" cy="636673"/>
          </a:xfrm>
          <a:prstGeom prst="rect">
            <a:avLst/>
          </a:prstGeom>
          <a:noFill/>
          <a:ln>
            <a:noFill/>
          </a:ln>
        </p:spPr>
      </p:pic>
      <p:pic>
        <p:nvPicPr>
          <p:cNvPr id="59" name="Google Shape;59;p49"/>
          <p:cNvPicPr preferRelativeResize="0"/>
          <p:nvPr/>
        </p:nvPicPr>
        <p:blipFill rotWithShape="1">
          <a:blip r:embed="rId4">
            <a:alphaModFix/>
          </a:blip>
          <a:srcRect b="0" l="0" r="0" t="0"/>
          <a:stretch/>
        </p:blipFill>
        <p:spPr>
          <a:xfrm>
            <a:off x="9503592" y="5507897"/>
            <a:ext cx="1850208" cy="715364"/>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60" name="Shape 60"/>
        <p:cNvGrpSpPr/>
        <p:nvPr/>
      </p:nvGrpSpPr>
      <p:grpSpPr>
        <a:xfrm>
          <a:off x="0" y="0"/>
          <a:ext cx="0" cy="0"/>
          <a:chOff x="0" y="0"/>
          <a:chExt cx="0" cy="0"/>
        </a:xfrm>
      </p:grpSpPr>
      <p:sp>
        <p:nvSpPr>
          <p:cNvPr id="61" name="Google Shape;61;p50"/>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2" name="Google Shape;62;p50"/>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63" name="Google Shape;63;p50"/>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4" name="Google Shape;64;p50"/>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65" name="Google Shape;65;p50"/>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6" name="Google Shape;66;p5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5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68" name="Google Shape;68;p50"/>
          <p:cNvSpPr txBox="1"/>
          <p:nvPr>
            <p:ph idx="11" type="ftr"/>
          </p:nvPr>
        </p:nvSpPr>
        <p:spPr>
          <a:xfrm>
            <a:off x="3889310" y="6352300"/>
            <a:ext cx="434029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sz="1200">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pic>
        <p:nvPicPr>
          <p:cNvPr id="69" name="Google Shape;69;p50"/>
          <p:cNvPicPr preferRelativeResize="0"/>
          <p:nvPr/>
        </p:nvPicPr>
        <p:blipFill rotWithShape="1">
          <a:blip r:embed="rId2">
            <a:alphaModFix/>
          </a:blip>
          <a:srcRect b="0" l="0" r="0" t="0"/>
          <a:stretch/>
        </p:blipFill>
        <p:spPr>
          <a:xfrm>
            <a:off x="9672638" y="5694282"/>
            <a:ext cx="1681162" cy="840581"/>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0" name="Shape 70"/>
        <p:cNvGrpSpPr/>
        <p:nvPr/>
      </p:nvGrpSpPr>
      <p:grpSpPr>
        <a:xfrm>
          <a:off x="0" y="0"/>
          <a:ext cx="0" cy="0"/>
          <a:chOff x="0" y="0"/>
          <a:chExt cx="0" cy="0"/>
        </a:xfrm>
      </p:grpSpPr>
      <p:sp>
        <p:nvSpPr>
          <p:cNvPr id="71" name="Google Shape;71;p5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2" name="Google Shape;72;p5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5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74" name="Google Shape;74;p51"/>
          <p:cNvSpPr txBox="1"/>
          <p:nvPr>
            <p:ph idx="11" type="ftr"/>
          </p:nvPr>
        </p:nvSpPr>
        <p:spPr>
          <a:xfrm>
            <a:off x="3889310" y="6352300"/>
            <a:ext cx="434029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sz="1200">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pic>
        <p:nvPicPr>
          <p:cNvPr id="75" name="Google Shape;75;p51"/>
          <p:cNvPicPr preferRelativeResize="0"/>
          <p:nvPr/>
        </p:nvPicPr>
        <p:blipFill rotWithShape="1">
          <a:blip r:embed="rId2">
            <a:alphaModFix/>
          </a:blip>
          <a:srcRect b="0" l="0" r="0" t="0"/>
          <a:stretch/>
        </p:blipFill>
        <p:spPr>
          <a:xfrm>
            <a:off x="9672638" y="5694282"/>
            <a:ext cx="1681162" cy="840581"/>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76" name="Shape 76"/>
        <p:cNvGrpSpPr/>
        <p:nvPr/>
      </p:nvGrpSpPr>
      <p:grpSpPr>
        <a:xfrm>
          <a:off x="0" y="0"/>
          <a:ext cx="0" cy="0"/>
          <a:chOff x="0" y="0"/>
          <a:chExt cx="0" cy="0"/>
        </a:xfrm>
      </p:grpSpPr>
      <p:sp>
        <p:nvSpPr>
          <p:cNvPr id="77" name="Google Shape;77;p5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5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79" name="Google Shape;79;p52"/>
          <p:cNvSpPr txBox="1"/>
          <p:nvPr>
            <p:ph idx="11" type="ftr"/>
          </p:nvPr>
        </p:nvSpPr>
        <p:spPr>
          <a:xfrm>
            <a:off x="3889310" y="6352300"/>
            <a:ext cx="434029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sz="1200">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pic>
        <p:nvPicPr>
          <p:cNvPr id="80" name="Google Shape;80;p52"/>
          <p:cNvPicPr preferRelativeResize="0"/>
          <p:nvPr/>
        </p:nvPicPr>
        <p:blipFill rotWithShape="1">
          <a:blip r:embed="rId2">
            <a:alphaModFix/>
          </a:blip>
          <a:srcRect b="0" l="0" r="0" t="0"/>
          <a:stretch/>
        </p:blipFill>
        <p:spPr>
          <a:xfrm>
            <a:off x="9672638" y="5694282"/>
            <a:ext cx="1681162" cy="840581"/>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81" name="Shape 81"/>
        <p:cNvGrpSpPr/>
        <p:nvPr/>
      </p:nvGrpSpPr>
      <p:grpSpPr>
        <a:xfrm>
          <a:off x="0" y="0"/>
          <a:ext cx="0" cy="0"/>
          <a:chOff x="0" y="0"/>
          <a:chExt cx="0" cy="0"/>
        </a:xfrm>
      </p:grpSpPr>
      <p:sp>
        <p:nvSpPr>
          <p:cNvPr id="82" name="Google Shape;82;p53"/>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3" name="Google Shape;83;p53"/>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84" name="Google Shape;84;p53"/>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85" name="Google Shape;85;p5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6" name="Google Shape;86;p5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87" name="Google Shape;87;p53"/>
          <p:cNvSpPr txBox="1"/>
          <p:nvPr>
            <p:ph idx="11" type="ftr"/>
          </p:nvPr>
        </p:nvSpPr>
        <p:spPr>
          <a:xfrm>
            <a:off x="3889310" y="6352300"/>
            <a:ext cx="434029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sz="1200">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pic>
        <p:nvPicPr>
          <p:cNvPr id="88" name="Google Shape;88;p53"/>
          <p:cNvPicPr preferRelativeResize="0"/>
          <p:nvPr/>
        </p:nvPicPr>
        <p:blipFill rotWithShape="1">
          <a:blip r:embed="rId2">
            <a:alphaModFix/>
          </a:blip>
          <a:srcRect b="0" l="0" r="0" t="0"/>
          <a:stretch/>
        </p:blipFill>
        <p:spPr>
          <a:xfrm>
            <a:off x="9672638" y="5694282"/>
            <a:ext cx="1681162" cy="840581"/>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89" name="Shape 89"/>
        <p:cNvGrpSpPr/>
        <p:nvPr/>
      </p:nvGrpSpPr>
      <p:grpSpPr>
        <a:xfrm>
          <a:off x="0" y="0"/>
          <a:ext cx="0" cy="0"/>
          <a:chOff x="0" y="0"/>
          <a:chExt cx="0" cy="0"/>
        </a:xfrm>
      </p:grpSpPr>
      <p:sp>
        <p:nvSpPr>
          <p:cNvPr id="90" name="Google Shape;90;p54"/>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1" name="Google Shape;91;p54"/>
          <p:cNvSpPr/>
          <p:nvPr>
            <p:ph idx="2" type="pic"/>
          </p:nvPr>
        </p:nvSpPr>
        <p:spPr>
          <a:xfrm>
            <a:off x="5183188" y="987425"/>
            <a:ext cx="6172200" cy="4873625"/>
          </a:xfrm>
          <a:prstGeom prst="rect">
            <a:avLst/>
          </a:prstGeom>
          <a:noFill/>
          <a:ln>
            <a:noFill/>
          </a:ln>
        </p:spPr>
      </p:sp>
      <p:sp>
        <p:nvSpPr>
          <p:cNvPr id="92" name="Google Shape;92;p54"/>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93" name="Google Shape;93;p5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4" name="Google Shape;94;p5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95" name="Google Shape;95;p54"/>
          <p:cNvSpPr txBox="1"/>
          <p:nvPr>
            <p:ph idx="11" type="ftr"/>
          </p:nvPr>
        </p:nvSpPr>
        <p:spPr>
          <a:xfrm>
            <a:off x="3889310" y="6352300"/>
            <a:ext cx="434029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sz="1200">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pic>
        <p:nvPicPr>
          <p:cNvPr id="96" name="Google Shape;96;p54"/>
          <p:cNvPicPr preferRelativeResize="0"/>
          <p:nvPr/>
        </p:nvPicPr>
        <p:blipFill rotWithShape="1">
          <a:blip r:embed="rId2">
            <a:alphaModFix/>
          </a:blip>
          <a:srcRect b="0" l="0" r="0" t="0"/>
          <a:stretch/>
        </p:blipFill>
        <p:spPr>
          <a:xfrm>
            <a:off x="9672638" y="5694282"/>
            <a:ext cx="1681162" cy="840581"/>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theme" Target="../theme/theme2.xml"/><Relationship Id="rId10" Type="http://schemas.openxmlformats.org/officeDocument/2006/relationships/slideLayout" Target="../slideLayouts/slideLayout10.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4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44"/>
          <p:cNvSpPr txBox="1"/>
          <p:nvPr>
            <p:ph idx="1" type="body"/>
          </p:nvPr>
        </p:nvSpPr>
        <p:spPr>
          <a:xfrm>
            <a:off x="838200" y="1825625"/>
            <a:ext cx="10515600" cy="3996677"/>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4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44"/>
          <p:cNvSpPr txBox="1"/>
          <p:nvPr>
            <p:ph idx="11" type="ftr"/>
          </p:nvPr>
        </p:nvSpPr>
        <p:spPr>
          <a:xfrm>
            <a:off x="3889310" y="6352300"/>
            <a:ext cx="434029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4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15" name="Google Shape;15;p44"/>
          <p:cNvSpPr/>
          <p:nvPr/>
        </p:nvSpPr>
        <p:spPr>
          <a:xfrm>
            <a:off x="0" y="0"/>
            <a:ext cx="137160" cy="6848480"/>
          </a:xfrm>
          <a:prstGeom prst="rect">
            <a:avLst/>
          </a:prstGeom>
          <a:gradFill>
            <a:gsLst>
              <a:gs pos="0">
                <a:srgbClr val="6CBFDC">
                  <a:alpha val="49803"/>
                </a:srgbClr>
              </a:gs>
              <a:gs pos="20000">
                <a:srgbClr val="459582">
                  <a:alpha val="49803"/>
                </a:srgbClr>
              </a:gs>
              <a:gs pos="42000">
                <a:srgbClr val="BAC851">
                  <a:alpha val="49803"/>
                </a:srgbClr>
              </a:gs>
              <a:gs pos="62000">
                <a:srgbClr val="A42E40">
                  <a:alpha val="49803"/>
                </a:srgbClr>
              </a:gs>
              <a:gs pos="85000">
                <a:srgbClr val="84C8D3">
                  <a:alpha val="49803"/>
                </a:srgbClr>
              </a:gs>
              <a:gs pos="100000">
                <a:srgbClr val="84C8D3">
                  <a:alpha val="49803"/>
                </a:srgbClr>
              </a:gs>
            </a:gsLst>
            <a:path path="circle">
              <a:fillToRect l="100%" t="100%"/>
            </a:path>
            <a:tileRect b="-100%" r="-100%"/>
          </a:gradFill>
          <a:ln>
            <a:noFill/>
          </a:ln>
          <a:effectLst>
            <a:outerShdw blurRad="40000" rotWithShape="0" dir="5400000" dist="23000">
              <a:srgbClr val="000000">
                <a:alpha val="34509"/>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Calibri"/>
              <a:buNone/>
            </a:pPr>
            <a:r>
              <a:t/>
            </a:r>
            <a:endParaRPr b="0" i="0" sz="1800" u="none" cap="none" strike="noStrike">
              <a:solidFill>
                <a:schemeClr val="accent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hyperlink" Target="https://creativecommons.org/licenses/by-nc-nd/4.0/"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hyperlink" Target="mailto:engage@es.net"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hyperlink" Target="mailto:engage@es.net"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hyperlink" Target="mailto:engage@es.net"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hyperlink" Target="mailto:engage@es.net" TargetMode="External"/><Relationship Id="rId4" Type="http://schemas.openxmlformats.org/officeDocument/2006/relationships/image" Target="../media/image19.gif"/></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hyperlink" Target="mailto:engage@es.net"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2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21.png"/><Relationship Id="rId4" Type="http://schemas.openxmlformats.org/officeDocument/2006/relationships/image" Target="../media/image2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2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2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2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hyperlink" Target="mailto:engage@es.net"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hyperlink" Target="mailto:engage@es.net"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28.png"/><Relationship Id="rId4" Type="http://schemas.openxmlformats.org/officeDocument/2006/relationships/image" Target="../media/image27.png"/><Relationship Id="rId5" Type="http://schemas.openxmlformats.org/officeDocument/2006/relationships/image" Target="../media/image26.png"/><Relationship Id="rId6" Type="http://schemas.openxmlformats.org/officeDocument/2006/relationships/hyperlink" Target="mailto:engage@es.net"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29.jpg"/><Relationship Id="rId4" Type="http://schemas.openxmlformats.org/officeDocument/2006/relationships/hyperlink" Target="mailto:engage@es.net"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hyperlink" Target="mailto:engage@es.net"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hyperlink" Target="mailto:engage@es.net"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hyperlink" Target="https://www.supermicro.com/en/aplus/system/2u/2124/as-2124us-tnrp.cfm" TargetMode="External"/><Relationship Id="rId4" Type="http://schemas.openxmlformats.org/officeDocument/2006/relationships/hyperlink" Target="mailto:engage@es.net"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hyperlink" Target="https://www.gigabyte.com/us/Rack-Server/R281-NO0-rev-400" TargetMode="External"/><Relationship Id="rId4" Type="http://schemas.openxmlformats.org/officeDocument/2006/relationships/hyperlink" Target="mailto:engage@es.net"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hyperlink" Target="mailto:engage@es.net"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hyperlink" Target="mailto:engage@es.net"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hyperlink" Target="mailto:engage@es.net"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hyperlink" Target="mailto:engage@es.net" TargetMode="External"/><Relationship Id="rId4" Type="http://schemas.openxmlformats.org/officeDocument/2006/relationships/image" Target="../media/image30.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hyperlink" Target="mailto:engage@es.net" TargetMode="External"/><Relationship Id="rId4" Type="http://schemas.openxmlformats.org/officeDocument/2006/relationships/image" Target="../media/image34.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hyperlink" Target="http://fasterdata.es.net/science-dmz/DTN/tuning" TargetMode="External"/><Relationship Id="rId4" Type="http://schemas.openxmlformats.org/officeDocument/2006/relationships/hyperlink" Target="mailto:engage@es.net" TargetMode="External"/><Relationship Id="rId5" Type="http://schemas.openxmlformats.org/officeDocument/2006/relationships/image" Target="../media/image3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hyperlink" Target="mailto:engage@es.net" TargetMode="Externa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hyperlink" Target="mailto:engage@es.net" TargetMode="Externa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hyperlink" Target="mailto:engage@es.net" TargetMode="Externa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32.png"/><Relationship Id="rId4" Type="http://schemas.openxmlformats.org/officeDocument/2006/relationships/hyperlink" Target="mailto:engage@es.net" TargetMode="Externa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hyperlink" Target="mailto:engage@es.net" TargetMode="Externa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hyperlink" Target="mailto:engage@es.net" TargetMode="Externa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hyperlink" Target="mailto:engage@es.net" TargetMode="Externa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hyperlink" Target="mailto:engage@es.net" TargetMode="Externa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hyperlink" Target="mailto:engage@es.net" TargetMode="Externa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hyperlink" Target="mailto:engage@es.net" TargetMode="Externa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 Id="rId3" Type="http://schemas.openxmlformats.org/officeDocument/2006/relationships/hyperlink" Target="http://www.psc.edu/networking/projects/hpn-ssh/" TargetMode="External"/><Relationship Id="rId4" Type="http://schemas.openxmlformats.org/officeDocument/2006/relationships/hyperlink" Target="mailto:engage@es.net" TargetMode="External"/><Relationship Id="rId5" Type="http://schemas.openxmlformats.org/officeDocument/2006/relationships/image" Target="../media/image35.jpg"/><Relationship Id="rId6" Type="http://schemas.openxmlformats.org/officeDocument/2006/relationships/image" Target="../media/image33.jp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 Id="rId3" Type="http://schemas.openxmlformats.org/officeDocument/2006/relationships/hyperlink" Target="mailto:engage@es.net" TargetMode="Externa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 Id="rId3" Type="http://schemas.openxmlformats.org/officeDocument/2006/relationships/hyperlink" Target="http://www.asperasoft.com/" TargetMode="External"/><Relationship Id="rId4" Type="http://schemas.openxmlformats.org/officeDocument/2006/relationships/hyperlink" Target="http://www.dataexpedition.com/" TargetMode="External"/><Relationship Id="rId5" Type="http://schemas.openxmlformats.org/officeDocument/2006/relationships/hyperlink" Target="mailto:engage@es.net" TargetMode="Externa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 Id="rId3" Type="http://schemas.openxmlformats.org/officeDocument/2006/relationships/hyperlink" Target="mailto:engage@es.net" TargetMode="Externa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 Id="rId3" Type="http://schemas.openxmlformats.org/officeDocument/2006/relationships/hyperlink" Target="mailto:engage@es.net" TargetMode="External"/><Relationship Id="rId4" Type="http://schemas.openxmlformats.org/officeDocument/2006/relationships/image" Target="../media/image37.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 Id="rId3" Type="http://schemas.openxmlformats.org/officeDocument/2006/relationships/hyperlink" Target="mailto:engage@es.net" TargetMode="External"/><Relationship Id="rId4" Type="http://schemas.openxmlformats.org/officeDocument/2006/relationships/image" Target="../media/image36.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1"/>
          <p:cNvSpPr txBox="1"/>
          <p:nvPr/>
        </p:nvSpPr>
        <p:spPr>
          <a:xfrm>
            <a:off x="1898648" y="3429000"/>
            <a:ext cx="8381999" cy="1658103"/>
          </a:xfrm>
          <a:prstGeom prst="rect">
            <a:avLst/>
          </a:prstGeom>
          <a:noFill/>
          <a:ln>
            <a:noFill/>
          </a:ln>
        </p:spPr>
        <p:txBody>
          <a:bodyPr anchorCtr="0" anchor="t" bIns="45700" lIns="91425" spcFirstLastPara="1" rIns="91425" wrap="square" tIns="45700">
            <a:noAutofit/>
          </a:bodyPr>
          <a:lstStyle/>
          <a:p>
            <a:pPr indent="0" lvl="0" marL="0" marR="0" rtl="0" algn="ctr">
              <a:lnSpc>
                <a:spcPct val="90000"/>
              </a:lnSpc>
              <a:spcBef>
                <a:spcPts val="0"/>
              </a:spcBef>
              <a:spcAft>
                <a:spcPts val="0"/>
              </a:spcAft>
              <a:buClr>
                <a:schemeClr val="dk1"/>
              </a:buClr>
              <a:buSzPts val="2400"/>
              <a:buFont typeface="Arial"/>
              <a:buNone/>
            </a:pPr>
            <a:r>
              <a:rPr b="0" i="0" lang="en-US" sz="2400" u="none" cap="none" strike="noStrike">
                <a:solidFill>
                  <a:schemeClr val="dk1"/>
                </a:solidFill>
                <a:latin typeface="Calibri"/>
                <a:ea typeface="Calibri"/>
                <a:cs typeface="Calibri"/>
                <a:sym typeface="Calibri"/>
              </a:rPr>
              <a:t>Vernard Martin, Solutions Architect and Infrastructure Team Lead</a:t>
            </a:r>
            <a:br>
              <a:rPr b="0" i="0" lang="en-US" sz="2400" u="none" cap="none" strike="noStrike">
                <a:solidFill>
                  <a:schemeClr val="dk1"/>
                </a:solidFill>
                <a:latin typeface="Calibri"/>
                <a:ea typeface="Calibri"/>
                <a:cs typeface="Calibri"/>
                <a:sym typeface="Calibri"/>
              </a:rPr>
            </a:br>
            <a:r>
              <a:rPr b="0" i="0" lang="en-US" sz="2400" u="none" cap="none" strike="noStrike">
                <a:solidFill>
                  <a:schemeClr val="dk1"/>
                </a:solidFill>
                <a:latin typeface="Calibri"/>
                <a:ea typeface="Calibri"/>
                <a:cs typeface="Calibri"/>
                <a:sym typeface="Calibri"/>
              </a:rPr>
              <a:t>Scientific Computing &amp; Bioinformatics Services </a:t>
            </a:r>
            <a:br>
              <a:rPr b="0" i="0" lang="en-US" sz="2400" u="none" cap="none" strike="noStrike">
                <a:solidFill>
                  <a:schemeClr val="dk1"/>
                </a:solidFill>
                <a:latin typeface="Calibri"/>
                <a:ea typeface="Calibri"/>
                <a:cs typeface="Calibri"/>
                <a:sym typeface="Calibri"/>
              </a:rPr>
            </a:br>
            <a:r>
              <a:rPr b="0" i="0" lang="en-US" sz="2400" u="none" cap="none" strike="noStrike">
                <a:solidFill>
                  <a:schemeClr val="dk1"/>
                </a:solidFill>
                <a:latin typeface="Calibri"/>
                <a:ea typeface="Calibri"/>
                <a:cs typeface="Calibri"/>
                <a:sym typeface="Calibri"/>
              </a:rPr>
              <a:t>Office of Advanced Molecular Detection</a:t>
            </a:r>
            <a:br>
              <a:rPr b="0" i="0" lang="en-US" sz="2400" u="none" cap="none" strike="noStrike">
                <a:solidFill>
                  <a:schemeClr val="dk1"/>
                </a:solidFill>
                <a:latin typeface="Calibri"/>
                <a:ea typeface="Calibri"/>
                <a:cs typeface="Calibri"/>
                <a:sym typeface="Calibri"/>
              </a:rPr>
            </a:br>
            <a:r>
              <a:rPr b="0" i="0" lang="en-US" sz="2400" u="none" cap="none" strike="noStrike">
                <a:solidFill>
                  <a:schemeClr val="dk1"/>
                </a:solidFill>
                <a:latin typeface="Calibri"/>
                <a:ea typeface="Calibri"/>
                <a:cs typeface="Calibri"/>
                <a:sym typeface="Calibri"/>
              </a:rPr>
              <a:t>Centers for Disease Control &amp; Prevention</a:t>
            </a:r>
            <a:endParaRPr b="0" i="0" sz="2400" u="none" cap="none" strike="noStrike">
              <a:solidFill>
                <a:schemeClr val="dk1"/>
              </a:solidFill>
              <a:latin typeface="Calibri"/>
              <a:ea typeface="Calibri"/>
              <a:cs typeface="Calibri"/>
              <a:sym typeface="Calibri"/>
            </a:endParaRPr>
          </a:p>
          <a:p>
            <a:pPr indent="0" lvl="0" marL="0" marR="0" rtl="0" algn="ctr">
              <a:lnSpc>
                <a:spcPct val="90000"/>
              </a:lnSpc>
              <a:spcBef>
                <a:spcPts val="300"/>
              </a:spcBef>
              <a:spcAft>
                <a:spcPts val="0"/>
              </a:spcAft>
              <a:buClr>
                <a:schemeClr val="dk1"/>
              </a:buClr>
              <a:buSzPts val="2400"/>
              <a:buFont typeface="Arial"/>
              <a:buNone/>
            </a:pPr>
            <a:r>
              <a:t/>
            </a:r>
            <a:endParaRPr b="0" i="0" sz="2400" u="none" cap="none" strike="noStrike">
              <a:solidFill>
                <a:schemeClr val="dk1"/>
              </a:solidFill>
              <a:latin typeface="Calibri"/>
              <a:ea typeface="Calibri"/>
              <a:cs typeface="Calibri"/>
              <a:sym typeface="Calibri"/>
            </a:endParaRPr>
          </a:p>
        </p:txBody>
      </p:sp>
      <p:sp>
        <p:nvSpPr>
          <p:cNvPr id="102" name="Google Shape;102;p1"/>
          <p:cNvSpPr txBox="1"/>
          <p:nvPr/>
        </p:nvSpPr>
        <p:spPr>
          <a:xfrm>
            <a:off x="41273" y="2409823"/>
            <a:ext cx="12096751" cy="994533"/>
          </a:xfrm>
          <a:prstGeom prst="rect">
            <a:avLst/>
          </a:prstGeom>
          <a:noFill/>
          <a:ln>
            <a:noFill/>
          </a:ln>
        </p:spPr>
        <p:txBody>
          <a:bodyPr anchorCtr="0" anchor="b" bIns="45700" lIns="91425" spcFirstLastPara="1" rIns="91425" wrap="square" tIns="45700">
            <a:normAutofit/>
          </a:bodyPr>
          <a:lstStyle/>
          <a:p>
            <a:pPr indent="0" lvl="0" marL="0" marR="0" rtl="0" algn="ctr">
              <a:lnSpc>
                <a:spcPct val="90000"/>
              </a:lnSpc>
              <a:spcBef>
                <a:spcPts val="0"/>
              </a:spcBef>
              <a:spcAft>
                <a:spcPts val="0"/>
              </a:spcAft>
              <a:buClr>
                <a:schemeClr val="dk1"/>
              </a:buClr>
              <a:buSzPts val="6000"/>
              <a:buFont typeface="Calibri"/>
              <a:buNone/>
            </a:pPr>
            <a:r>
              <a:rPr b="0" i="0" lang="en-US" sz="6000" u="none" cap="none" strike="noStrike">
                <a:solidFill>
                  <a:schemeClr val="dk1"/>
                </a:solidFill>
                <a:latin typeface="Calibri"/>
                <a:ea typeface="Calibri"/>
                <a:cs typeface="Calibri"/>
                <a:sym typeface="Calibri"/>
              </a:rPr>
              <a:t>Data Movement Hardware &amp; Software</a:t>
            </a:r>
            <a:endParaRPr/>
          </a:p>
        </p:txBody>
      </p:sp>
      <p:sp>
        <p:nvSpPr>
          <p:cNvPr id="103" name="Google Shape;103;p1"/>
          <p:cNvSpPr txBox="1"/>
          <p:nvPr/>
        </p:nvSpPr>
        <p:spPr>
          <a:xfrm>
            <a:off x="2403231" y="5526588"/>
            <a:ext cx="7544714" cy="898500"/>
          </a:xfrm>
          <a:prstGeom prst="rect">
            <a:avLst/>
          </a:prstGeom>
          <a:noFill/>
          <a:ln>
            <a:noFill/>
          </a:ln>
        </p:spPr>
        <p:txBody>
          <a:bodyPr anchorCtr="0" anchor="b" bIns="45700" lIns="91425" spcFirstLastPara="1" rIns="91425" wrap="square" tIns="45700">
            <a:normAutofit fontScale="32500" lnSpcReduction="20000"/>
          </a:bodyPr>
          <a:lstStyle/>
          <a:p>
            <a:pPr indent="0" lvl="0" marL="0" marR="0" rtl="0" algn="l">
              <a:lnSpc>
                <a:spcPct val="90000"/>
              </a:lnSpc>
              <a:spcBef>
                <a:spcPts val="0"/>
              </a:spcBef>
              <a:spcAft>
                <a:spcPts val="0"/>
              </a:spcAft>
              <a:buClr>
                <a:schemeClr val="dk1"/>
              </a:buClr>
              <a:buSzPct val="100000"/>
              <a:buFont typeface="Calibri"/>
              <a:buNone/>
            </a:pPr>
            <a:r>
              <a:t/>
            </a:r>
            <a:endParaRPr b="0" i="0" sz="6000" u="none" cap="none" strike="noStrike">
              <a:solidFill>
                <a:schemeClr val="dk1"/>
              </a:solidFill>
              <a:latin typeface="Calibri"/>
              <a:ea typeface="Calibri"/>
              <a:cs typeface="Calibri"/>
              <a:sym typeface="Calibri"/>
            </a:endParaRPr>
          </a:p>
          <a:p>
            <a:pPr indent="0" lvl="0" marL="0" marR="0" rtl="0" algn="l">
              <a:lnSpc>
                <a:spcPct val="90000"/>
              </a:lnSpc>
              <a:spcBef>
                <a:spcPts val="0"/>
              </a:spcBef>
              <a:spcAft>
                <a:spcPts val="0"/>
              </a:spcAft>
              <a:buClr>
                <a:schemeClr val="dk1"/>
              </a:buClr>
              <a:buSzPct val="100000"/>
              <a:buFont typeface="Calibri"/>
              <a:buNone/>
            </a:pPr>
            <a:r>
              <a:rPr b="0" i="0" lang="en-US" sz="4800" u="none" cap="none" strike="noStrike">
                <a:solidFill>
                  <a:schemeClr val="dk1"/>
                </a:solidFill>
                <a:latin typeface="Calibri"/>
                <a:ea typeface="Calibri"/>
                <a:cs typeface="Calibri"/>
                <a:sym typeface="Calibri"/>
              </a:rPr>
              <a:t>This document is a result of work by volunteer LCI instructors and is licensed under CC BY-NC-ND 4.0 (</a:t>
            </a:r>
            <a:r>
              <a:rPr b="0" i="0" lang="en-US" sz="4800" u="sng" cap="none" strike="noStrike">
                <a:solidFill>
                  <a:schemeClr val="dk1"/>
                </a:solidFill>
                <a:latin typeface="Calibri"/>
                <a:ea typeface="Calibri"/>
                <a:cs typeface="Calibri"/>
                <a:sym typeface="Calibri"/>
                <a:hlinkClick r:id="rId3">
                  <a:extLst>
                    <a:ext uri="{A12FA001-AC4F-418D-AE19-62706E023703}">
                      <ahyp:hlinkClr val="tx"/>
                    </a:ext>
                  </a:extLst>
                </a:hlinkClick>
              </a:rPr>
              <a:t>https://creativecommons.org/licenses/by-nc-nd/4.0/</a:t>
            </a:r>
            <a:r>
              <a:rPr b="0" i="0" lang="en-US" sz="4800" u="none" cap="none" strike="noStrike">
                <a:solidFill>
                  <a:schemeClr val="dk1"/>
                </a:solidFill>
                <a:latin typeface="Calibri"/>
                <a:ea typeface="Calibri"/>
                <a:cs typeface="Calibri"/>
                <a:sym typeface="Calibri"/>
              </a:rPr>
              <a:t>).</a:t>
            </a:r>
            <a:endParaRPr b="0" i="1" sz="48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5333"/>
              <a:buFont typeface="Calibri"/>
              <a:buNone/>
            </a:pPr>
            <a:r>
              <a:rPr lang="en-US" sz="5333"/>
              <a:t>Data Transfer Node</a:t>
            </a:r>
            <a:endParaRPr/>
          </a:p>
        </p:txBody>
      </p:sp>
      <p:sp>
        <p:nvSpPr>
          <p:cNvPr id="110" name="Google Shape;110;p2"/>
          <p:cNvSpPr txBox="1"/>
          <p:nvPr>
            <p:ph idx="1" type="body"/>
          </p:nvPr>
        </p:nvSpPr>
        <p:spPr>
          <a:xfrm>
            <a:off x="838200" y="1825625"/>
            <a:ext cx="10515600" cy="3996677"/>
          </a:xfrm>
          <a:prstGeom prst="rect">
            <a:avLst/>
          </a:prstGeom>
          <a:noFill/>
          <a:ln>
            <a:noFill/>
          </a:ln>
        </p:spPr>
        <p:txBody>
          <a:bodyPr anchorCtr="0" anchor="t" bIns="45700" lIns="91425" spcFirstLastPara="1" rIns="91425" wrap="square" tIns="45700">
            <a:normAutofit fontScale="92500" lnSpcReduction="10000"/>
          </a:bodyPr>
          <a:lstStyle/>
          <a:p>
            <a:pPr indent="-228600" lvl="0" marL="228600" rtl="0" algn="l">
              <a:lnSpc>
                <a:spcPct val="90000"/>
              </a:lnSpc>
              <a:spcBef>
                <a:spcPts val="0"/>
              </a:spcBef>
              <a:spcAft>
                <a:spcPts val="0"/>
              </a:spcAft>
              <a:buClr>
                <a:schemeClr val="dk1"/>
              </a:buClr>
              <a:buSzPct val="100000"/>
              <a:buChar char="•"/>
            </a:pPr>
            <a:r>
              <a:rPr lang="en-US" sz="2400"/>
              <a:t>A DTN server is made of several subsystems. Each needs to perform optimally for the DTN workflow:</a:t>
            </a:r>
            <a:endParaRPr/>
          </a:p>
          <a:p>
            <a:pPr indent="-228661" lvl="1" marL="685800" rtl="0" algn="l">
              <a:lnSpc>
                <a:spcPct val="90000"/>
              </a:lnSpc>
              <a:spcBef>
                <a:spcPts val="500"/>
              </a:spcBef>
              <a:spcAft>
                <a:spcPts val="0"/>
              </a:spcAft>
              <a:buClr>
                <a:schemeClr val="dk1"/>
              </a:buClr>
              <a:buSzPct val="100000"/>
              <a:buChar char="•"/>
            </a:pPr>
            <a:r>
              <a:rPr b="1" lang="en-US" sz="1867"/>
              <a:t>Storage:</a:t>
            </a:r>
            <a:r>
              <a:rPr lang="en-US" sz="1867"/>
              <a:t> capacity, performance, reliability, physical footprint</a:t>
            </a:r>
            <a:endParaRPr/>
          </a:p>
          <a:p>
            <a:pPr indent="-228661" lvl="1" marL="685800" rtl="0" algn="l">
              <a:lnSpc>
                <a:spcPct val="90000"/>
              </a:lnSpc>
              <a:spcBef>
                <a:spcPts val="500"/>
              </a:spcBef>
              <a:spcAft>
                <a:spcPts val="0"/>
              </a:spcAft>
              <a:buClr>
                <a:schemeClr val="dk1"/>
              </a:buClr>
              <a:buSzPct val="100000"/>
              <a:buChar char="•"/>
            </a:pPr>
            <a:r>
              <a:rPr b="1" lang="en-US" sz="1867"/>
              <a:t>Networking:</a:t>
            </a:r>
            <a:r>
              <a:rPr lang="en-US" sz="1867"/>
              <a:t> protocol support, optimization, reliability</a:t>
            </a:r>
            <a:endParaRPr/>
          </a:p>
          <a:p>
            <a:pPr indent="-228661" lvl="1" marL="685800" rtl="0" algn="l">
              <a:lnSpc>
                <a:spcPct val="90000"/>
              </a:lnSpc>
              <a:spcBef>
                <a:spcPts val="500"/>
              </a:spcBef>
              <a:spcAft>
                <a:spcPts val="0"/>
              </a:spcAft>
              <a:buClr>
                <a:schemeClr val="dk1"/>
              </a:buClr>
              <a:buSzPct val="100000"/>
              <a:buChar char="•"/>
            </a:pPr>
            <a:r>
              <a:rPr b="1" lang="en-US" sz="1867"/>
              <a:t>Motherboard: </a:t>
            </a:r>
            <a:r>
              <a:rPr lang="en-US" sz="1867"/>
              <a:t>I/O paths, PCIe subsystem, IPMI</a:t>
            </a:r>
            <a:endParaRPr/>
          </a:p>
          <a:p>
            <a:pPr indent="-228661" lvl="1" marL="685800" rtl="0" algn="l">
              <a:lnSpc>
                <a:spcPct val="90000"/>
              </a:lnSpc>
              <a:spcBef>
                <a:spcPts val="500"/>
              </a:spcBef>
              <a:spcAft>
                <a:spcPts val="0"/>
              </a:spcAft>
              <a:buClr>
                <a:schemeClr val="dk1"/>
              </a:buClr>
              <a:buSzPct val="100000"/>
              <a:buChar char="•"/>
            </a:pPr>
            <a:r>
              <a:rPr b="1" lang="en-US" sz="1867"/>
              <a:t>Chassis:</a:t>
            </a:r>
            <a:r>
              <a:rPr lang="en-US" sz="1867"/>
              <a:t> adequate power supply, extra cooling  </a:t>
            </a:r>
            <a:endParaRPr/>
          </a:p>
          <a:p>
            <a:pPr indent="-87629" lvl="0" marL="228600" rtl="0" algn="l">
              <a:lnSpc>
                <a:spcPct val="90000"/>
              </a:lnSpc>
              <a:spcBef>
                <a:spcPts val="1000"/>
              </a:spcBef>
              <a:spcAft>
                <a:spcPts val="0"/>
              </a:spcAft>
              <a:buClr>
                <a:schemeClr val="dk1"/>
              </a:buClr>
              <a:buSzPct val="100000"/>
              <a:buNone/>
            </a:pPr>
            <a:r>
              <a:t/>
            </a:r>
            <a:endParaRPr b="1" sz="2400"/>
          </a:p>
          <a:p>
            <a:pPr indent="-228600" lvl="0" marL="228600" rtl="0" algn="l">
              <a:lnSpc>
                <a:spcPct val="90000"/>
              </a:lnSpc>
              <a:spcBef>
                <a:spcPts val="1000"/>
              </a:spcBef>
              <a:spcAft>
                <a:spcPts val="0"/>
              </a:spcAft>
              <a:buClr>
                <a:schemeClr val="dk1"/>
              </a:buClr>
              <a:buSzPct val="100000"/>
              <a:buChar char="•"/>
            </a:pPr>
            <a:r>
              <a:rPr b="1" lang="en-US" sz="2400"/>
              <a:t>Note: the workflow we are optimizing for here is sequential reads/write of large files, and a moderate number of high bandwidth flows. </a:t>
            </a:r>
            <a:endParaRPr/>
          </a:p>
          <a:p>
            <a:pPr indent="-87629" lvl="0" marL="228600" rtl="0" algn="l">
              <a:lnSpc>
                <a:spcPct val="90000"/>
              </a:lnSpc>
              <a:spcBef>
                <a:spcPts val="1000"/>
              </a:spcBef>
              <a:spcAft>
                <a:spcPts val="0"/>
              </a:spcAft>
              <a:buClr>
                <a:schemeClr val="dk1"/>
              </a:buClr>
              <a:buSzPct val="100000"/>
              <a:buNone/>
            </a:pPr>
            <a:r>
              <a:t/>
            </a:r>
            <a:endParaRPr b="1" sz="2400"/>
          </a:p>
          <a:p>
            <a:pPr indent="-228600" lvl="0" marL="228600" rtl="0" algn="l">
              <a:lnSpc>
                <a:spcPct val="90000"/>
              </a:lnSpc>
              <a:spcBef>
                <a:spcPts val="1000"/>
              </a:spcBef>
              <a:spcAft>
                <a:spcPts val="0"/>
              </a:spcAft>
              <a:buClr>
                <a:schemeClr val="dk1"/>
              </a:buClr>
              <a:buSzPct val="100000"/>
              <a:buChar char="•"/>
            </a:pPr>
            <a:r>
              <a:rPr lang="en-US" sz="2400"/>
              <a:t>We assume this host is dedicated to data transfer, and not doing data analysis/manipulation</a:t>
            </a:r>
            <a:endParaRPr b="1" sz="2400"/>
          </a:p>
        </p:txBody>
      </p:sp>
      <p:sp>
        <p:nvSpPr>
          <p:cNvPr id="111" name="Google Shape;111;p2"/>
          <p:cNvSpPr txBox="1"/>
          <p:nvPr>
            <p:ph idx="10" type="dt"/>
          </p:nvPr>
        </p:nvSpPr>
        <p:spPr>
          <a:xfrm>
            <a:off x="8093240" y="6613560"/>
            <a:ext cx="3972947" cy="182563"/>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US" sz="1067">
                <a:solidFill>
                  <a:srgbClr val="000000"/>
                </a:solidFill>
                <a:latin typeface="Arial"/>
                <a:ea typeface="Arial"/>
                <a:cs typeface="Arial"/>
                <a:sym typeface="Arial"/>
              </a:rPr>
              <a:t>‹#›</a:t>
            </a:fld>
            <a:r>
              <a:rPr lang="en-US" sz="1067">
                <a:solidFill>
                  <a:srgbClr val="000000"/>
                </a:solidFill>
                <a:latin typeface="Arial"/>
                <a:ea typeface="Arial"/>
                <a:cs typeface="Arial"/>
                <a:sym typeface="Arial"/>
              </a:rPr>
              <a:t> – ESnet Science Engagement (</a:t>
            </a:r>
            <a:r>
              <a:rPr lang="en-US" sz="1067" u="sng">
                <a:solidFill>
                  <a:srgbClr val="000000"/>
                </a:solidFill>
                <a:latin typeface="Arial"/>
                <a:ea typeface="Arial"/>
                <a:cs typeface="Arial"/>
                <a:sym typeface="Arial"/>
                <a:hlinkClick r:id="rId3">
                  <a:extLst>
                    <a:ext uri="{A12FA001-AC4F-418D-AE19-62706E023703}">
                      <ahyp:hlinkClr val="tx"/>
                    </a:ext>
                  </a:extLst>
                </a:hlinkClick>
              </a:rPr>
              <a:t>engage@es.net</a:t>
            </a:r>
            <a:r>
              <a:rPr lang="en-US" sz="1067">
                <a:solidFill>
                  <a:srgbClr val="000000"/>
                </a:solidFill>
                <a:latin typeface="Arial"/>
                <a:ea typeface="Arial"/>
                <a:cs typeface="Arial"/>
                <a:sym typeface="Arial"/>
              </a:rPr>
              <a:t>) - 5/12/2024</a:t>
            </a:r>
            <a:endParaRPr sz="1067">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Motherboard and Chassis selection</a:t>
            </a:r>
            <a:endParaRPr/>
          </a:p>
        </p:txBody>
      </p:sp>
      <p:sp>
        <p:nvSpPr>
          <p:cNvPr id="118" name="Google Shape;118;p3"/>
          <p:cNvSpPr txBox="1"/>
          <p:nvPr>
            <p:ph idx="1" type="body"/>
          </p:nvPr>
        </p:nvSpPr>
        <p:spPr>
          <a:xfrm>
            <a:off x="838200" y="1825625"/>
            <a:ext cx="10515600" cy="3996677"/>
          </a:xfrm>
          <a:prstGeom prst="rect">
            <a:avLst/>
          </a:prstGeom>
          <a:noFill/>
          <a:ln>
            <a:noFill/>
          </a:ln>
        </p:spPr>
        <p:txBody>
          <a:bodyPr anchorCtr="0" anchor="t" bIns="45700" lIns="91425" spcFirstLastPara="1" rIns="91425" wrap="square" tIns="45700">
            <a:normAutofit fontScale="92500" lnSpcReduction="20000"/>
          </a:bodyPr>
          <a:lstStyle/>
          <a:p>
            <a:pPr indent="-228600" lvl="0" marL="228600" rtl="0" algn="l">
              <a:lnSpc>
                <a:spcPct val="90000"/>
              </a:lnSpc>
              <a:spcBef>
                <a:spcPts val="0"/>
              </a:spcBef>
              <a:spcAft>
                <a:spcPts val="0"/>
              </a:spcAft>
              <a:buClr>
                <a:schemeClr val="dk1"/>
              </a:buClr>
              <a:buSzPct val="100000"/>
              <a:buChar char="•"/>
            </a:pPr>
            <a:r>
              <a:rPr lang="en-US"/>
              <a:t>Chassis</a:t>
            </a:r>
            <a:endParaRPr/>
          </a:p>
          <a:p>
            <a:pPr indent="-228600" lvl="1" marL="685800" rtl="0" algn="l">
              <a:lnSpc>
                <a:spcPct val="90000"/>
              </a:lnSpc>
              <a:spcBef>
                <a:spcPts val="500"/>
              </a:spcBef>
              <a:spcAft>
                <a:spcPts val="0"/>
              </a:spcAft>
              <a:buClr>
                <a:schemeClr val="dk1"/>
              </a:buClr>
              <a:buSzPct val="100000"/>
              <a:buChar char="•"/>
            </a:pPr>
            <a:r>
              <a:rPr lang="en-US"/>
              <a:t>Extra cooling (for future expansion, unless you buy the system full)</a:t>
            </a:r>
            <a:endParaRPr/>
          </a:p>
          <a:p>
            <a:pPr indent="-228600" lvl="1" marL="685800" rtl="0" algn="l">
              <a:lnSpc>
                <a:spcPct val="90000"/>
              </a:lnSpc>
              <a:spcBef>
                <a:spcPts val="500"/>
              </a:spcBef>
              <a:spcAft>
                <a:spcPts val="0"/>
              </a:spcAft>
              <a:buClr>
                <a:schemeClr val="dk1"/>
              </a:buClr>
              <a:buSzPct val="100000"/>
              <a:buChar char="•"/>
            </a:pPr>
            <a:r>
              <a:rPr lang="en-US"/>
              <a:t>Make sure the power supply is adequate</a:t>
            </a:r>
            <a:endParaRPr/>
          </a:p>
          <a:p>
            <a:pPr indent="-228600" lvl="0" marL="228600" rtl="0" algn="l">
              <a:lnSpc>
                <a:spcPct val="90000"/>
              </a:lnSpc>
              <a:spcBef>
                <a:spcPts val="1000"/>
              </a:spcBef>
              <a:spcAft>
                <a:spcPts val="0"/>
              </a:spcAft>
              <a:buClr>
                <a:schemeClr val="dk1"/>
              </a:buClr>
              <a:buSzPct val="100000"/>
              <a:buChar char="•"/>
            </a:pPr>
            <a:r>
              <a:rPr lang="en-US"/>
              <a:t>Motherboard/CPU</a:t>
            </a:r>
            <a:endParaRPr/>
          </a:p>
          <a:p>
            <a:pPr indent="-228600" lvl="1" marL="685800" rtl="0" algn="l">
              <a:lnSpc>
                <a:spcPct val="90000"/>
              </a:lnSpc>
              <a:spcBef>
                <a:spcPts val="500"/>
              </a:spcBef>
              <a:spcAft>
                <a:spcPts val="0"/>
              </a:spcAft>
              <a:buClr>
                <a:schemeClr val="dk1"/>
              </a:buClr>
              <a:buSzPct val="100000"/>
              <a:buChar char="•"/>
            </a:pPr>
            <a:r>
              <a:rPr lang="en-US"/>
              <a:t>Cascade Lake/Alder lake/Raptor Lake or newer CPU architecture (e.g. for 10/40G, you can get away with a reasonably modern machine)</a:t>
            </a:r>
            <a:endParaRPr/>
          </a:p>
          <a:p>
            <a:pPr indent="-228600" lvl="2" marL="1143000" rtl="0" algn="l">
              <a:lnSpc>
                <a:spcPct val="90000"/>
              </a:lnSpc>
              <a:spcBef>
                <a:spcPts val="500"/>
              </a:spcBef>
              <a:spcAft>
                <a:spcPts val="0"/>
              </a:spcAft>
              <a:buClr>
                <a:schemeClr val="dk1"/>
              </a:buClr>
              <a:buSzPct val="100000"/>
              <a:buChar char="•"/>
            </a:pPr>
            <a:r>
              <a:rPr lang="en-US"/>
              <a:t>High clock rate better than high core count for DTNs – max this out</a:t>
            </a:r>
            <a:endParaRPr/>
          </a:p>
          <a:p>
            <a:pPr indent="-228600" lvl="2" marL="1143000" rtl="0" algn="l">
              <a:lnSpc>
                <a:spcPct val="90000"/>
              </a:lnSpc>
              <a:spcBef>
                <a:spcPts val="500"/>
              </a:spcBef>
              <a:spcAft>
                <a:spcPts val="0"/>
              </a:spcAft>
              <a:buClr>
                <a:schemeClr val="dk1"/>
              </a:buClr>
              <a:buSzPct val="100000"/>
              <a:buChar char="•"/>
            </a:pPr>
            <a:r>
              <a:rPr lang="en-US"/>
              <a:t>Faster QPIC for communication between processors</a:t>
            </a:r>
            <a:endParaRPr/>
          </a:p>
          <a:p>
            <a:pPr indent="-228600" lvl="1" marL="685800" rtl="0" algn="l">
              <a:lnSpc>
                <a:spcPct val="90000"/>
              </a:lnSpc>
              <a:spcBef>
                <a:spcPts val="500"/>
              </a:spcBef>
              <a:spcAft>
                <a:spcPts val="0"/>
              </a:spcAft>
              <a:buClr>
                <a:schemeClr val="dk1"/>
              </a:buClr>
              <a:buSzPct val="100000"/>
              <a:buChar char="•"/>
            </a:pPr>
            <a:r>
              <a:rPr lang="en-US"/>
              <a:t>PCI Gen 3 or newer (40G and 100G requires PCI Gen 3)</a:t>
            </a:r>
            <a:endParaRPr/>
          </a:p>
          <a:p>
            <a:pPr indent="-228600" lvl="1" marL="685800" rtl="0" algn="l">
              <a:lnSpc>
                <a:spcPct val="90000"/>
              </a:lnSpc>
              <a:spcBef>
                <a:spcPts val="500"/>
              </a:spcBef>
              <a:spcAft>
                <a:spcPts val="0"/>
              </a:spcAft>
              <a:buClr>
                <a:schemeClr val="dk1"/>
              </a:buClr>
              <a:buSzPct val="100000"/>
              <a:buChar char="•"/>
            </a:pPr>
            <a:r>
              <a:rPr lang="en-US"/>
              <a:t>Memory speed – faster is better, more is better</a:t>
            </a:r>
            <a:endParaRPr/>
          </a:p>
          <a:p>
            <a:pPr indent="-228600" lvl="2" marL="1143000" rtl="0" algn="l">
              <a:lnSpc>
                <a:spcPct val="90000"/>
              </a:lnSpc>
              <a:spcBef>
                <a:spcPts val="500"/>
              </a:spcBef>
              <a:spcAft>
                <a:spcPts val="0"/>
              </a:spcAft>
              <a:buClr>
                <a:schemeClr val="dk1"/>
              </a:buClr>
              <a:buSzPct val="100000"/>
              <a:buChar char="•"/>
            </a:pPr>
            <a:r>
              <a:rPr lang="en-US"/>
              <a:t>We recommend 128GB of RAM for a DTN node</a:t>
            </a:r>
            <a:endParaRPr/>
          </a:p>
          <a:p>
            <a:pPr indent="-228600" lvl="2" marL="1143000" rtl="0" algn="l">
              <a:lnSpc>
                <a:spcPct val="90000"/>
              </a:lnSpc>
              <a:spcBef>
                <a:spcPts val="500"/>
              </a:spcBef>
              <a:spcAft>
                <a:spcPts val="0"/>
              </a:spcAft>
              <a:buClr>
                <a:schemeClr val="dk1"/>
              </a:buClr>
              <a:buSzPct val="100000"/>
              <a:buChar char="•"/>
            </a:pPr>
            <a:r>
              <a:rPr lang="en-US"/>
              <a:t>Balance CPU,RAM, &amp; I/O means sometimes more nodes rather than larger ones</a:t>
            </a:r>
            <a:endParaRPr/>
          </a:p>
          <a:p>
            <a:pPr indent="-228600" lvl="1" marL="685800" rtl="0" algn="l">
              <a:lnSpc>
                <a:spcPct val="90000"/>
              </a:lnSpc>
              <a:spcBef>
                <a:spcPts val="500"/>
              </a:spcBef>
              <a:spcAft>
                <a:spcPts val="0"/>
              </a:spcAft>
              <a:buClr>
                <a:schemeClr val="dk1"/>
              </a:buClr>
              <a:buSzPct val="100000"/>
              <a:buChar char="•"/>
            </a:pPr>
            <a:r>
              <a:rPr lang="en-US"/>
              <a:t>IPMI for remote management (optional but really not)</a:t>
            </a:r>
            <a:endParaRPr/>
          </a:p>
        </p:txBody>
      </p:sp>
      <p:sp>
        <p:nvSpPr>
          <p:cNvPr id="119" name="Google Shape;119;p3"/>
          <p:cNvSpPr txBox="1"/>
          <p:nvPr>
            <p:ph idx="10" type="dt"/>
          </p:nvPr>
        </p:nvSpPr>
        <p:spPr>
          <a:xfrm>
            <a:off x="7527651" y="6538912"/>
            <a:ext cx="4054749"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US" sz="1067"/>
              <a:t>‹#›</a:t>
            </a:fld>
            <a:r>
              <a:rPr lang="en-US" sz="1067"/>
              <a:t> – ESnet Science Engagement (</a:t>
            </a:r>
            <a:r>
              <a:rPr lang="en-US" sz="1067" u="sng">
                <a:solidFill>
                  <a:schemeClr val="hlink"/>
                </a:solidFill>
                <a:hlinkClick r:id="rId3"/>
              </a:rPr>
              <a:t>engage@es.net</a:t>
            </a:r>
            <a:r>
              <a:rPr lang="en-US" sz="1067"/>
              <a:t>) - 5/12/2024</a:t>
            </a:r>
            <a:endParaRPr sz="1067"/>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4"/>
          <p:cNvSpPr txBox="1"/>
          <p:nvPr>
            <p:ph type="title"/>
          </p:nvPr>
        </p:nvSpPr>
        <p:spPr>
          <a:xfrm>
            <a:off x="0" y="274639"/>
            <a:ext cx="12192000" cy="11430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PCI Slot Considerations</a:t>
            </a:r>
            <a:endParaRPr/>
          </a:p>
        </p:txBody>
      </p:sp>
      <p:sp>
        <p:nvSpPr>
          <p:cNvPr id="126" name="Google Shape;126;p4"/>
          <p:cNvSpPr txBox="1"/>
          <p:nvPr>
            <p:ph idx="1" type="body"/>
          </p:nvPr>
        </p:nvSpPr>
        <p:spPr>
          <a:xfrm>
            <a:off x="609600" y="1310994"/>
            <a:ext cx="10972800" cy="4708525"/>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PCI slots are defined by:</a:t>
            </a:r>
            <a:endParaRPr/>
          </a:p>
          <a:p>
            <a:pPr indent="-228600" lvl="1" marL="685800" rtl="0" algn="l">
              <a:lnSpc>
                <a:spcPct val="90000"/>
              </a:lnSpc>
              <a:spcBef>
                <a:spcPts val="500"/>
              </a:spcBef>
              <a:spcAft>
                <a:spcPts val="0"/>
              </a:spcAft>
              <a:buClr>
                <a:schemeClr val="dk1"/>
              </a:buClr>
              <a:buSzPts val="2400"/>
              <a:buChar char="•"/>
            </a:pPr>
            <a:r>
              <a:rPr lang="en-US"/>
              <a:t>Slot width: </a:t>
            </a:r>
            <a:endParaRPr/>
          </a:p>
          <a:p>
            <a:pPr indent="-228600" lvl="2" marL="1143000" rtl="0" algn="l">
              <a:lnSpc>
                <a:spcPct val="90000"/>
              </a:lnSpc>
              <a:spcBef>
                <a:spcPts val="500"/>
              </a:spcBef>
              <a:spcAft>
                <a:spcPts val="0"/>
              </a:spcAft>
              <a:buClr>
                <a:schemeClr val="dk1"/>
              </a:buClr>
              <a:buSzPts val="2000"/>
              <a:buChar char="•"/>
            </a:pPr>
            <a:r>
              <a:rPr lang="en-US"/>
              <a:t>Physical card and form factor</a:t>
            </a:r>
            <a:endParaRPr/>
          </a:p>
          <a:p>
            <a:pPr indent="-228600" lvl="2" marL="1143000" rtl="0" algn="l">
              <a:lnSpc>
                <a:spcPct val="90000"/>
              </a:lnSpc>
              <a:spcBef>
                <a:spcPts val="500"/>
              </a:spcBef>
              <a:spcAft>
                <a:spcPts val="0"/>
              </a:spcAft>
              <a:buClr>
                <a:schemeClr val="dk1"/>
              </a:buClr>
              <a:buSzPts val="2000"/>
              <a:buChar char="•"/>
            </a:pPr>
            <a:r>
              <a:rPr lang="en-US"/>
              <a:t>Max number of lanes</a:t>
            </a:r>
            <a:endParaRPr/>
          </a:p>
          <a:p>
            <a:pPr indent="-228600" lvl="1" marL="685800" rtl="0" algn="l">
              <a:lnSpc>
                <a:spcPct val="90000"/>
              </a:lnSpc>
              <a:spcBef>
                <a:spcPts val="500"/>
              </a:spcBef>
              <a:spcAft>
                <a:spcPts val="0"/>
              </a:spcAft>
              <a:buClr>
                <a:schemeClr val="dk1"/>
              </a:buClr>
              <a:buSzPts val="2400"/>
              <a:buChar char="•"/>
            </a:pPr>
            <a:r>
              <a:rPr lang="en-US"/>
              <a:t>Lane count:</a:t>
            </a:r>
            <a:endParaRPr/>
          </a:p>
          <a:p>
            <a:pPr indent="-228600" lvl="2" marL="1143000" rtl="0" algn="l">
              <a:lnSpc>
                <a:spcPct val="90000"/>
              </a:lnSpc>
              <a:spcBef>
                <a:spcPts val="500"/>
              </a:spcBef>
              <a:spcAft>
                <a:spcPts val="0"/>
              </a:spcAft>
              <a:buClr>
                <a:schemeClr val="dk1"/>
              </a:buClr>
              <a:buSzPts val="2000"/>
              <a:buChar char="•"/>
            </a:pPr>
            <a:r>
              <a:rPr lang="en-US"/>
              <a:t>Maximum bandwidth per lane</a:t>
            </a:r>
            <a:endParaRPr/>
          </a:p>
          <a:p>
            <a:pPr indent="-228600" lvl="2" marL="1143000" rtl="0" algn="l">
              <a:lnSpc>
                <a:spcPct val="90000"/>
              </a:lnSpc>
              <a:spcBef>
                <a:spcPts val="500"/>
              </a:spcBef>
              <a:spcAft>
                <a:spcPts val="0"/>
              </a:spcAft>
              <a:buClr>
                <a:schemeClr val="dk1"/>
              </a:buClr>
              <a:buSzPts val="2000"/>
              <a:buChar char="•"/>
            </a:pPr>
            <a:r>
              <a:rPr lang="en-US"/>
              <a:t>Most cards will run slower in a slower slot</a:t>
            </a:r>
            <a:endParaRPr/>
          </a:p>
          <a:p>
            <a:pPr indent="-228600" lvl="2" marL="1143000" rtl="0" algn="l">
              <a:lnSpc>
                <a:spcPct val="90000"/>
              </a:lnSpc>
              <a:spcBef>
                <a:spcPts val="500"/>
              </a:spcBef>
              <a:spcAft>
                <a:spcPts val="0"/>
              </a:spcAft>
              <a:buClr>
                <a:schemeClr val="dk1"/>
              </a:buClr>
              <a:buSzPts val="2000"/>
              <a:buChar char="•"/>
            </a:pPr>
            <a:r>
              <a:rPr lang="en-US"/>
              <a:t>Not all cards will use all lanes</a:t>
            </a:r>
            <a:endParaRPr/>
          </a:p>
        </p:txBody>
      </p:sp>
      <p:sp>
        <p:nvSpPr>
          <p:cNvPr id="127" name="Google Shape;127;p4"/>
          <p:cNvSpPr txBox="1"/>
          <p:nvPr>
            <p:ph idx="10" type="dt"/>
          </p:nvPr>
        </p:nvSpPr>
        <p:spPr>
          <a:xfrm>
            <a:off x="8093240" y="6613560"/>
            <a:ext cx="3972947" cy="182563"/>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US" sz="1067">
                <a:solidFill>
                  <a:srgbClr val="000000"/>
                </a:solidFill>
                <a:latin typeface="Arial"/>
                <a:ea typeface="Arial"/>
                <a:cs typeface="Arial"/>
                <a:sym typeface="Arial"/>
              </a:rPr>
              <a:t>‹#›</a:t>
            </a:fld>
            <a:r>
              <a:rPr lang="en-US" sz="1067">
                <a:solidFill>
                  <a:srgbClr val="000000"/>
                </a:solidFill>
                <a:latin typeface="Arial"/>
                <a:ea typeface="Arial"/>
                <a:cs typeface="Arial"/>
                <a:sym typeface="Arial"/>
              </a:rPr>
              <a:t> – ESnet Science Engagement (</a:t>
            </a:r>
            <a:r>
              <a:rPr lang="en-US" sz="1067" u="sng">
                <a:solidFill>
                  <a:srgbClr val="000000"/>
                </a:solidFill>
                <a:latin typeface="Arial"/>
                <a:ea typeface="Arial"/>
                <a:cs typeface="Arial"/>
                <a:sym typeface="Arial"/>
                <a:hlinkClick r:id="rId3">
                  <a:extLst>
                    <a:ext uri="{A12FA001-AC4F-418D-AE19-62706E023703}">
                      <ahyp:hlinkClr val="tx"/>
                    </a:ext>
                  </a:extLst>
                </a:hlinkClick>
              </a:rPr>
              <a:t>engage@es.net</a:t>
            </a:r>
            <a:r>
              <a:rPr lang="en-US" sz="1067">
                <a:solidFill>
                  <a:srgbClr val="000000"/>
                </a:solidFill>
                <a:latin typeface="Arial"/>
                <a:ea typeface="Arial"/>
                <a:cs typeface="Arial"/>
                <a:sym typeface="Arial"/>
              </a:rPr>
              <a:t>) - 5/12/2024</a:t>
            </a:r>
            <a:endParaRPr sz="1067">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5"/>
          <p:cNvSpPr txBox="1"/>
          <p:nvPr>
            <p:ph type="title"/>
          </p:nvPr>
        </p:nvSpPr>
        <p:spPr>
          <a:xfrm>
            <a:off x="0" y="274639"/>
            <a:ext cx="12192000" cy="11430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PCI Slot Considerations</a:t>
            </a:r>
            <a:endParaRPr/>
          </a:p>
        </p:txBody>
      </p:sp>
      <p:sp>
        <p:nvSpPr>
          <p:cNvPr id="134" name="Google Shape;134;p5"/>
          <p:cNvSpPr txBox="1"/>
          <p:nvPr>
            <p:ph idx="1" type="body"/>
          </p:nvPr>
        </p:nvSpPr>
        <p:spPr>
          <a:xfrm>
            <a:off x="609601" y="1310994"/>
            <a:ext cx="7359463" cy="4708525"/>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Card being inserted:</a:t>
            </a:r>
            <a:endParaRPr/>
          </a:p>
          <a:p>
            <a:pPr indent="-228600" lvl="1" marL="685800" rtl="0" algn="l">
              <a:lnSpc>
                <a:spcPct val="90000"/>
              </a:lnSpc>
              <a:spcBef>
                <a:spcPts val="500"/>
              </a:spcBef>
              <a:spcAft>
                <a:spcPts val="0"/>
              </a:spcAft>
              <a:buClr>
                <a:schemeClr val="dk1"/>
              </a:buClr>
              <a:buSzPts val="2400"/>
              <a:buChar char="•"/>
            </a:pPr>
            <a:r>
              <a:rPr lang="en-US"/>
              <a:t>x8 Slot Width</a:t>
            </a:r>
            <a:endParaRPr/>
          </a:p>
          <a:p>
            <a:pPr indent="-228600" lvl="0" marL="228600" rtl="0" algn="l">
              <a:lnSpc>
                <a:spcPct val="90000"/>
              </a:lnSpc>
              <a:spcBef>
                <a:spcPts val="1000"/>
              </a:spcBef>
              <a:spcAft>
                <a:spcPts val="0"/>
              </a:spcAft>
              <a:buClr>
                <a:schemeClr val="dk1"/>
              </a:buClr>
              <a:buSzPts val="2800"/>
              <a:buChar char="•"/>
            </a:pPr>
            <a:r>
              <a:rPr lang="en-US"/>
              <a:t>Slot being used:</a:t>
            </a:r>
            <a:endParaRPr/>
          </a:p>
          <a:p>
            <a:pPr indent="-228600" lvl="1" marL="685800" rtl="0" algn="l">
              <a:lnSpc>
                <a:spcPct val="90000"/>
              </a:lnSpc>
              <a:spcBef>
                <a:spcPts val="500"/>
              </a:spcBef>
              <a:spcAft>
                <a:spcPts val="0"/>
              </a:spcAft>
              <a:buClr>
                <a:schemeClr val="dk1"/>
              </a:buClr>
              <a:buSzPts val="2400"/>
              <a:buChar char="•"/>
            </a:pPr>
            <a:r>
              <a:rPr lang="en-US"/>
              <a:t>x8 Slot Width</a:t>
            </a:r>
            <a:endParaRPr/>
          </a:p>
          <a:p>
            <a:pPr indent="-228600" lvl="0" marL="228600" rtl="0" algn="l">
              <a:lnSpc>
                <a:spcPct val="90000"/>
              </a:lnSpc>
              <a:spcBef>
                <a:spcPts val="1000"/>
              </a:spcBef>
              <a:spcAft>
                <a:spcPts val="0"/>
              </a:spcAft>
              <a:buClr>
                <a:schemeClr val="dk1"/>
              </a:buClr>
              <a:buSzPts val="2800"/>
              <a:buChar char="•"/>
            </a:pPr>
            <a:r>
              <a:rPr lang="en-US"/>
              <a:t>Wider Slot (bottom):</a:t>
            </a:r>
            <a:endParaRPr/>
          </a:p>
          <a:p>
            <a:pPr indent="-228600" lvl="1" marL="685800" rtl="0" algn="l">
              <a:lnSpc>
                <a:spcPct val="90000"/>
              </a:lnSpc>
              <a:spcBef>
                <a:spcPts val="500"/>
              </a:spcBef>
              <a:spcAft>
                <a:spcPts val="0"/>
              </a:spcAft>
              <a:buClr>
                <a:schemeClr val="dk1"/>
              </a:buClr>
              <a:buSzPts val="2400"/>
              <a:buChar char="•"/>
            </a:pPr>
            <a:r>
              <a:rPr lang="en-US"/>
              <a:t>x16 Slot Width </a:t>
            </a:r>
            <a:endParaRPr/>
          </a:p>
        </p:txBody>
      </p:sp>
      <p:sp>
        <p:nvSpPr>
          <p:cNvPr id="135" name="Google Shape;135;p5"/>
          <p:cNvSpPr txBox="1"/>
          <p:nvPr>
            <p:ph idx="10" type="dt"/>
          </p:nvPr>
        </p:nvSpPr>
        <p:spPr>
          <a:xfrm>
            <a:off x="8093240" y="6613560"/>
            <a:ext cx="3972947" cy="182563"/>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US" sz="1067">
                <a:solidFill>
                  <a:srgbClr val="000000"/>
                </a:solidFill>
                <a:latin typeface="Arial"/>
                <a:ea typeface="Arial"/>
                <a:cs typeface="Arial"/>
                <a:sym typeface="Arial"/>
              </a:rPr>
              <a:t>‹#›</a:t>
            </a:fld>
            <a:r>
              <a:rPr lang="en-US" sz="1067">
                <a:solidFill>
                  <a:srgbClr val="000000"/>
                </a:solidFill>
                <a:latin typeface="Arial"/>
                <a:ea typeface="Arial"/>
                <a:cs typeface="Arial"/>
                <a:sym typeface="Arial"/>
              </a:rPr>
              <a:t> – ESnet Science Engagement (</a:t>
            </a:r>
            <a:r>
              <a:rPr lang="en-US" sz="1067" u="sng">
                <a:solidFill>
                  <a:srgbClr val="000000"/>
                </a:solidFill>
                <a:latin typeface="Arial"/>
                <a:ea typeface="Arial"/>
                <a:cs typeface="Arial"/>
                <a:sym typeface="Arial"/>
                <a:hlinkClick r:id="rId3">
                  <a:extLst>
                    <a:ext uri="{A12FA001-AC4F-418D-AE19-62706E023703}">
                      <ahyp:hlinkClr val="tx"/>
                    </a:ext>
                  </a:extLst>
                </a:hlinkClick>
              </a:rPr>
              <a:t>engage@es.net</a:t>
            </a:r>
            <a:r>
              <a:rPr lang="en-US" sz="1067">
                <a:solidFill>
                  <a:srgbClr val="000000"/>
                </a:solidFill>
                <a:latin typeface="Arial"/>
                <a:ea typeface="Arial"/>
                <a:cs typeface="Arial"/>
                <a:sym typeface="Arial"/>
              </a:rPr>
              <a:t>) - 5/12/2024</a:t>
            </a:r>
            <a:endParaRPr sz="1067">
              <a:solidFill>
                <a:srgbClr val="000000"/>
              </a:solidFill>
              <a:latin typeface="Arial"/>
              <a:ea typeface="Arial"/>
              <a:cs typeface="Arial"/>
              <a:sym typeface="Arial"/>
            </a:endParaRPr>
          </a:p>
        </p:txBody>
      </p:sp>
      <p:pic>
        <p:nvPicPr>
          <p:cNvPr id="136" name="Google Shape;136;p5"/>
          <p:cNvPicPr preferRelativeResize="0"/>
          <p:nvPr/>
        </p:nvPicPr>
        <p:blipFill rotWithShape="1">
          <a:blip r:embed="rId4">
            <a:alphaModFix/>
          </a:blip>
          <a:srcRect b="0" l="0" r="0" t="0"/>
          <a:stretch/>
        </p:blipFill>
        <p:spPr>
          <a:xfrm>
            <a:off x="7969063" y="1216886"/>
            <a:ext cx="3680179" cy="4802633"/>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5333"/>
              <a:buFont typeface="Calibri"/>
              <a:buNone/>
            </a:pPr>
            <a:r>
              <a:rPr lang="en-US" sz="5333"/>
              <a:t>PCI Bus Considerations</a:t>
            </a:r>
            <a:endParaRPr/>
          </a:p>
        </p:txBody>
      </p:sp>
      <p:sp>
        <p:nvSpPr>
          <p:cNvPr id="143" name="Google Shape;143;p6"/>
          <p:cNvSpPr txBox="1"/>
          <p:nvPr>
            <p:ph idx="1" type="body"/>
          </p:nvPr>
        </p:nvSpPr>
        <p:spPr>
          <a:xfrm>
            <a:off x="609600" y="1417639"/>
            <a:ext cx="10972800" cy="4609061"/>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3200"/>
              <a:buChar char="•"/>
            </a:pPr>
            <a:r>
              <a:rPr lang="en-US" sz="3200"/>
              <a:t>Example:</a:t>
            </a:r>
            <a:endParaRPr/>
          </a:p>
          <a:p>
            <a:pPr indent="-228600" lvl="1" marL="685800" rtl="0" algn="l">
              <a:lnSpc>
                <a:spcPct val="90000"/>
              </a:lnSpc>
              <a:spcBef>
                <a:spcPts val="500"/>
              </a:spcBef>
              <a:spcAft>
                <a:spcPts val="0"/>
              </a:spcAft>
              <a:buClr>
                <a:schemeClr val="dk1"/>
              </a:buClr>
              <a:buSzPts val="2667"/>
              <a:buChar char="•"/>
            </a:pPr>
            <a:r>
              <a:rPr lang="en-US" sz="2667"/>
              <a:t>10GE NICs require an 8 lane PCIe-2 slot</a:t>
            </a:r>
            <a:endParaRPr/>
          </a:p>
          <a:p>
            <a:pPr indent="-228600" lvl="1" marL="685800" rtl="0" algn="l">
              <a:lnSpc>
                <a:spcPct val="90000"/>
              </a:lnSpc>
              <a:spcBef>
                <a:spcPts val="500"/>
              </a:spcBef>
              <a:spcAft>
                <a:spcPts val="0"/>
              </a:spcAft>
              <a:buClr>
                <a:schemeClr val="dk1"/>
              </a:buClr>
              <a:buSzPts val="2667"/>
              <a:buChar char="•"/>
            </a:pPr>
            <a:r>
              <a:rPr lang="en-US" sz="2667"/>
              <a:t>40G/QDR NICs require an 8 lane PCIe-3 slot</a:t>
            </a:r>
            <a:endParaRPr/>
          </a:p>
          <a:p>
            <a:pPr indent="-228600" lvl="1" marL="685800" rtl="0" algn="l">
              <a:lnSpc>
                <a:spcPct val="90000"/>
              </a:lnSpc>
              <a:spcBef>
                <a:spcPts val="500"/>
              </a:spcBef>
              <a:spcAft>
                <a:spcPts val="0"/>
              </a:spcAft>
              <a:buClr>
                <a:schemeClr val="dk1"/>
              </a:buClr>
              <a:buSzPts val="2667"/>
              <a:buChar char="•"/>
            </a:pPr>
            <a:r>
              <a:rPr lang="en-US" sz="2667"/>
              <a:t>100G NICs (ex. Mellanox) requires a 16 lane PCIe-3 slot</a:t>
            </a:r>
            <a:endParaRPr/>
          </a:p>
          <a:p>
            <a:pPr indent="-228600" lvl="1" marL="685800" rtl="0" algn="l">
              <a:lnSpc>
                <a:spcPct val="90000"/>
              </a:lnSpc>
              <a:spcBef>
                <a:spcPts val="500"/>
              </a:spcBef>
              <a:spcAft>
                <a:spcPts val="0"/>
              </a:spcAft>
              <a:buClr>
                <a:schemeClr val="dk1"/>
              </a:buClr>
              <a:buSzPts val="2667"/>
              <a:buChar char="•"/>
            </a:pPr>
            <a:r>
              <a:rPr lang="en-US" sz="2667"/>
              <a:t>Most RAID controllers require an 8 lane PCIe-2 slot</a:t>
            </a:r>
            <a:endParaRPr/>
          </a:p>
          <a:p>
            <a:pPr indent="-228600" lvl="1" marL="685800" rtl="0" algn="l">
              <a:lnSpc>
                <a:spcPct val="90000"/>
              </a:lnSpc>
              <a:spcBef>
                <a:spcPts val="500"/>
              </a:spcBef>
              <a:spcAft>
                <a:spcPts val="0"/>
              </a:spcAft>
              <a:buClr>
                <a:schemeClr val="dk1"/>
              </a:buClr>
              <a:buSzPts val="2667"/>
              <a:buChar char="•"/>
            </a:pPr>
            <a:r>
              <a:rPr lang="en-US" sz="2667"/>
              <a:t>Fusion-IO cards may require a 16 lane PCIe-3 slot</a:t>
            </a:r>
            <a:endParaRPr/>
          </a:p>
        </p:txBody>
      </p:sp>
      <p:sp>
        <p:nvSpPr>
          <p:cNvPr id="144" name="Google Shape;144;p6"/>
          <p:cNvSpPr txBox="1"/>
          <p:nvPr>
            <p:ph idx="10" type="dt"/>
          </p:nvPr>
        </p:nvSpPr>
        <p:spPr>
          <a:xfrm>
            <a:off x="8093240" y="6613560"/>
            <a:ext cx="3972947" cy="182563"/>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US" sz="1067">
                <a:solidFill>
                  <a:srgbClr val="000000"/>
                </a:solidFill>
                <a:latin typeface="Arial"/>
                <a:ea typeface="Arial"/>
                <a:cs typeface="Arial"/>
                <a:sym typeface="Arial"/>
              </a:rPr>
              <a:t>‹#›</a:t>
            </a:fld>
            <a:r>
              <a:rPr lang="en-US" sz="1067">
                <a:solidFill>
                  <a:srgbClr val="000000"/>
                </a:solidFill>
                <a:latin typeface="Arial"/>
                <a:ea typeface="Arial"/>
                <a:cs typeface="Arial"/>
                <a:sym typeface="Arial"/>
              </a:rPr>
              <a:t> – ESnet Science Engagement (</a:t>
            </a:r>
            <a:r>
              <a:rPr lang="en-US" sz="1067" u="sng">
                <a:solidFill>
                  <a:srgbClr val="000000"/>
                </a:solidFill>
                <a:latin typeface="Arial"/>
                <a:ea typeface="Arial"/>
                <a:cs typeface="Arial"/>
                <a:sym typeface="Arial"/>
                <a:hlinkClick r:id="rId3">
                  <a:extLst>
                    <a:ext uri="{A12FA001-AC4F-418D-AE19-62706E023703}">
                      <ahyp:hlinkClr val="tx"/>
                    </a:ext>
                  </a:extLst>
                </a:hlinkClick>
              </a:rPr>
              <a:t>engage@es.net</a:t>
            </a:r>
            <a:r>
              <a:rPr lang="en-US" sz="1067">
                <a:solidFill>
                  <a:srgbClr val="000000"/>
                </a:solidFill>
                <a:latin typeface="Arial"/>
                <a:ea typeface="Arial"/>
                <a:cs typeface="Arial"/>
                <a:sym typeface="Arial"/>
              </a:rPr>
              <a:t>) - 5/12/2024</a:t>
            </a:r>
            <a:endParaRPr sz="1067">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-Storage Architectures - Internal</a:t>
            </a:r>
            <a:endParaRPr/>
          </a:p>
        </p:txBody>
      </p:sp>
      <p:sp>
        <p:nvSpPr>
          <p:cNvPr id="151" name="Google Shape;151;p7"/>
          <p:cNvSpPr txBox="1"/>
          <p:nvPr/>
        </p:nvSpPr>
        <p:spPr>
          <a:xfrm>
            <a:off x="609600" y="3304167"/>
            <a:ext cx="10972800" cy="2677656"/>
          </a:xfrm>
          <a:prstGeom prst="rect">
            <a:avLst/>
          </a:prstGeom>
          <a:noFill/>
          <a:ln>
            <a:noFill/>
          </a:ln>
        </p:spPr>
        <p:txBody>
          <a:bodyPr anchorCtr="0" anchor="t" bIns="45700" lIns="91425" spcFirstLastPara="1" rIns="91425" wrap="square" tIns="45700">
            <a:spAutoFit/>
          </a:bodyPr>
          <a:lstStyle/>
          <a:p>
            <a:pPr indent="-380990" lvl="0" marL="380990" marR="0" rtl="0" algn="l">
              <a:spcBef>
                <a:spcPts val="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DTN with internal RAID is self-contained</a:t>
            </a:r>
            <a:endParaRPr/>
          </a:p>
          <a:p>
            <a:pPr indent="-380990" lvl="1" marL="990575" marR="0" rtl="0" algn="l">
              <a:spcBef>
                <a:spcPts val="0"/>
              </a:spcBef>
              <a:spcAft>
                <a:spcPts val="0"/>
              </a:spcAft>
              <a:buClr>
                <a:schemeClr val="dk1"/>
              </a:buClr>
              <a:buSzPts val="2400"/>
              <a:buFont typeface="Merriweather Sans"/>
              <a:buChar char="-"/>
            </a:pPr>
            <a:r>
              <a:rPr b="0" i="0" lang="en-US" sz="2400" u="none" cap="none" strike="noStrike">
                <a:solidFill>
                  <a:schemeClr val="dk1"/>
                </a:solidFill>
                <a:latin typeface="Calibri"/>
                <a:ea typeface="Calibri"/>
                <a:cs typeface="Calibri"/>
                <a:sym typeface="Calibri"/>
              </a:rPr>
              <a:t>Same CPU, RAM, etc. as DTN with external storage</a:t>
            </a:r>
            <a:endParaRPr/>
          </a:p>
          <a:p>
            <a:pPr indent="-380990" lvl="1" marL="990575" marR="0" rtl="0" algn="l">
              <a:spcBef>
                <a:spcPts val="0"/>
              </a:spcBef>
              <a:spcAft>
                <a:spcPts val="0"/>
              </a:spcAft>
              <a:buClr>
                <a:schemeClr val="dk1"/>
              </a:buClr>
              <a:buSzPts val="2400"/>
              <a:buFont typeface="Merriweather Sans"/>
              <a:buChar char="-"/>
            </a:pPr>
            <a:r>
              <a:rPr b="0" i="0" lang="en-US" sz="2400" u="none" cap="none" strike="noStrike">
                <a:solidFill>
                  <a:schemeClr val="dk1"/>
                </a:solidFill>
                <a:latin typeface="Calibri"/>
                <a:ea typeface="Calibri"/>
                <a:cs typeface="Calibri"/>
                <a:sym typeface="Calibri"/>
              </a:rPr>
              <a:t>No external dependencies for storage</a:t>
            </a:r>
            <a:endParaRPr/>
          </a:p>
          <a:p>
            <a:pPr indent="-380990" lvl="1" marL="990575" marR="0" rtl="0" algn="l">
              <a:spcBef>
                <a:spcPts val="0"/>
              </a:spcBef>
              <a:spcAft>
                <a:spcPts val="0"/>
              </a:spcAft>
              <a:buClr>
                <a:schemeClr val="dk1"/>
              </a:buClr>
              <a:buSzPts val="2400"/>
              <a:buFont typeface="Merriweather Sans"/>
              <a:buChar char="-"/>
            </a:pPr>
            <a:r>
              <a:rPr b="0" i="0" lang="en-US" sz="2400" u="none" cap="none" strike="noStrike">
                <a:solidFill>
                  <a:schemeClr val="dk1"/>
                </a:solidFill>
                <a:latin typeface="Calibri"/>
                <a:ea typeface="Calibri"/>
                <a:cs typeface="Calibri"/>
                <a:sym typeface="Calibri"/>
              </a:rPr>
              <a:t>Deployable anywhere</a:t>
            </a:r>
            <a:endParaRPr/>
          </a:p>
          <a:p>
            <a:pPr indent="-380990" lvl="1" marL="990575" marR="0" rtl="0" algn="l">
              <a:spcBef>
                <a:spcPts val="0"/>
              </a:spcBef>
              <a:spcAft>
                <a:spcPts val="0"/>
              </a:spcAft>
              <a:buClr>
                <a:schemeClr val="dk1"/>
              </a:buClr>
              <a:buSzPts val="2400"/>
              <a:buFont typeface="Merriweather Sans"/>
              <a:buChar char="-"/>
            </a:pPr>
            <a:r>
              <a:rPr b="0" i="0" lang="en-US" sz="2400" u="none" cap="none" strike="noStrike">
                <a:solidFill>
                  <a:schemeClr val="dk1"/>
                </a:solidFill>
                <a:latin typeface="Calibri"/>
                <a:ea typeface="Calibri"/>
                <a:cs typeface="Calibri"/>
                <a:sym typeface="Calibri"/>
              </a:rPr>
              <a:t>Limited scalability</a:t>
            </a:r>
            <a:endParaRPr/>
          </a:p>
          <a:p>
            <a:pPr indent="-380990" lvl="1" marL="990575" marR="0" rtl="0" algn="l">
              <a:spcBef>
                <a:spcPts val="0"/>
              </a:spcBef>
              <a:spcAft>
                <a:spcPts val="0"/>
              </a:spcAft>
              <a:buClr>
                <a:schemeClr val="dk1"/>
              </a:buClr>
              <a:buSzPts val="2400"/>
              <a:buFont typeface="Merriweather Sans"/>
              <a:buChar char="-"/>
            </a:pPr>
            <a:r>
              <a:rPr b="0" i="0" lang="en-US" sz="2400" u="none" cap="none" strike="noStrike">
                <a:solidFill>
                  <a:schemeClr val="dk1"/>
                </a:solidFill>
                <a:latin typeface="Calibri"/>
                <a:ea typeface="Calibri"/>
                <a:cs typeface="Calibri"/>
                <a:sym typeface="Calibri"/>
              </a:rPr>
              <a:t>Storage managed locally (you get whatever tools the RAID controller gives you)</a:t>
            </a:r>
            <a:endParaRPr/>
          </a:p>
          <a:p>
            <a:pPr indent="-228590" lvl="1" marL="990575" marR="0" rtl="0" algn="l">
              <a:spcBef>
                <a:spcPts val="0"/>
              </a:spcBef>
              <a:spcAft>
                <a:spcPts val="0"/>
              </a:spcAft>
              <a:buClr>
                <a:schemeClr val="dk1"/>
              </a:buClr>
              <a:buSzPts val="2400"/>
              <a:buFont typeface="Arial"/>
              <a:buNone/>
            </a:pPr>
            <a:r>
              <a:t/>
            </a:r>
            <a:endParaRPr b="0" i="0" sz="2400" u="none" cap="none" strike="noStrike">
              <a:solidFill>
                <a:schemeClr val="dk1"/>
              </a:solidFill>
              <a:latin typeface="Calibri"/>
              <a:ea typeface="Calibri"/>
              <a:cs typeface="Calibri"/>
              <a:sym typeface="Calibri"/>
            </a:endParaRPr>
          </a:p>
        </p:txBody>
      </p:sp>
      <p:pic>
        <p:nvPicPr>
          <p:cNvPr descr="RAID-v1.pdf" id="152" name="Google Shape;152;p7"/>
          <p:cNvPicPr preferRelativeResize="0"/>
          <p:nvPr>
            <p:ph idx="1" type="body"/>
          </p:nvPr>
        </p:nvPicPr>
        <p:blipFill rotWithShape="1">
          <a:blip r:embed="rId3">
            <a:alphaModFix/>
          </a:blip>
          <a:srcRect b="28805" l="11656" r="1887" t="20656"/>
          <a:stretch/>
        </p:blipFill>
        <p:spPr>
          <a:xfrm>
            <a:off x="4656540" y="1102078"/>
            <a:ext cx="7485300" cy="27408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8"/>
          <p:cNvSpPr txBox="1"/>
          <p:nvPr>
            <p:ph type="title"/>
          </p:nvPr>
        </p:nvSpPr>
        <p:spPr>
          <a:xfrm>
            <a:off x="609600" y="110779"/>
            <a:ext cx="10972800" cy="11430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Storage Architectures - External</a:t>
            </a:r>
            <a:endParaRPr/>
          </a:p>
        </p:txBody>
      </p:sp>
      <p:sp>
        <p:nvSpPr>
          <p:cNvPr id="159" name="Google Shape;159;p8"/>
          <p:cNvSpPr txBox="1"/>
          <p:nvPr/>
        </p:nvSpPr>
        <p:spPr>
          <a:xfrm>
            <a:off x="998587" y="4265227"/>
            <a:ext cx="10583813" cy="1733488"/>
          </a:xfrm>
          <a:prstGeom prst="rect">
            <a:avLst/>
          </a:prstGeom>
          <a:noFill/>
          <a:ln>
            <a:noFill/>
          </a:ln>
        </p:spPr>
        <p:txBody>
          <a:bodyPr anchorCtr="0" anchor="t" bIns="45700" lIns="91425" spcFirstLastPara="1" rIns="91425" wrap="square" tIns="45700">
            <a:spAutoFit/>
          </a:bodyPr>
          <a:lstStyle/>
          <a:p>
            <a:pPr indent="-380990" lvl="0" marL="380990" marR="0" rtl="0" algn="l">
              <a:spcBef>
                <a:spcPts val="0"/>
              </a:spcBef>
              <a:spcAft>
                <a:spcPts val="0"/>
              </a:spcAft>
              <a:buClr>
                <a:schemeClr val="dk1"/>
              </a:buClr>
              <a:buSzPts val="2133"/>
              <a:buFont typeface="Arial"/>
              <a:buChar char="•"/>
            </a:pPr>
            <a:r>
              <a:rPr b="0" i="0" lang="en-US" sz="2133" u="none" cap="none" strike="noStrike">
                <a:solidFill>
                  <a:schemeClr val="dk1"/>
                </a:solidFill>
                <a:latin typeface="Calibri"/>
                <a:ea typeface="Calibri"/>
                <a:cs typeface="Calibri"/>
                <a:sym typeface="Calibri"/>
              </a:rPr>
              <a:t>These are essentially the same from a DTN host design perspective</a:t>
            </a:r>
            <a:endParaRPr/>
          </a:p>
          <a:p>
            <a:pPr indent="-380990" lvl="1" marL="990575" marR="0" rtl="0" algn="l">
              <a:spcBef>
                <a:spcPts val="0"/>
              </a:spcBef>
              <a:spcAft>
                <a:spcPts val="0"/>
              </a:spcAft>
              <a:buClr>
                <a:schemeClr val="dk1"/>
              </a:buClr>
              <a:buSzPts val="2133"/>
              <a:buFont typeface="Merriweather Sans"/>
              <a:buChar char="-"/>
            </a:pPr>
            <a:r>
              <a:rPr b="0" i="0" lang="en-US" sz="2133" u="none" cap="none" strike="noStrike">
                <a:solidFill>
                  <a:schemeClr val="dk1"/>
                </a:solidFill>
                <a:latin typeface="Calibri"/>
                <a:ea typeface="Calibri"/>
                <a:cs typeface="Calibri"/>
                <a:sym typeface="Calibri"/>
              </a:rPr>
              <a:t>IB, Ethernet, or Fibrechannel card connects to external storage</a:t>
            </a:r>
            <a:endParaRPr/>
          </a:p>
          <a:p>
            <a:pPr indent="-380990" lvl="1" marL="990575" marR="0" rtl="0" algn="l">
              <a:spcBef>
                <a:spcPts val="0"/>
              </a:spcBef>
              <a:spcAft>
                <a:spcPts val="0"/>
              </a:spcAft>
              <a:buClr>
                <a:schemeClr val="dk1"/>
              </a:buClr>
              <a:buSzPts val="2133"/>
              <a:buFont typeface="Merriweather Sans"/>
              <a:buChar char="-"/>
            </a:pPr>
            <a:r>
              <a:rPr b="0" i="0" lang="en-US" sz="2133" u="none" cap="none" strike="noStrike">
                <a:solidFill>
                  <a:schemeClr val="dk1"/>
                </a:solidFill>
                <a:latin typeface="Calibri"/>
                <a:ea typeface="Calibri"/>
                <a:cs typeface="Calibri"/>
                <a:sym typeface="Calibri"/>
              </a:rPr>
              <a:t>Other system components (CPU, RAM, etc.) the same</a:t>
            </a:r>
            <a:endParaRPr/>
          </a:p>
          <a:p>
            <a:pPr indent="-380990" lvl="1" marL="990575" marR="0" rtl="0" algn="l">
              <a:spcBef>
                <a:spcPts val="0"/>
              </a:spcBef>
              <a:spcAft>
                <a:spcPts val="0"/>
              </a:spcAft>
              <a:buClr>
                <a:schemeClr val="dk1"/>
              </a:buClr>
              <a:buSzPts val="2133"/>
              <a:buFont typeface="Merriweather Sans"/>
              <a:buChar char="-"/>
            </a:pPr>
            <a:r>
              <a:rPr b="0" i="0" lang="en-US" sz="2133" u="none" cap="none" strike="noStrike">
                <a:solidFill>
                  <a:schemeClr val="dk1"/>
                </a:solidFill>
                <a:latin typeface="Calibri"/>
                <a:ea typeface="Calibri"/>
                <a:cs typeface="Calibri"/>
                <a:sym typeface="Calibri"/>
              </a:rPr>
              <a:t>Central storage management, greater flexibility</a:t>
            </a:r>
            <a:endParaRPr/>
          </a:p>
          <a:p>
            <a:pPr indent="-380990" lvl="1" marL="990575" marR="0" rtl="0" algn="l">
              <a:spcBef>
                <a:spcPts val="0"/>
              </a:spcBef>
              <a:spcAft>
                <a:spcPts val="0"/>
              </a:spcAft>
              <a:buClr>
                <a:schemeClr val="dk1"/>
              </a:buClr>
              <a:buSzPts val="2133"/>
              <a:buFont typeface="Merriweather Sans"/>
              <a:buChar char="-"/>
            </a:pPr>
            <a:r>
              <a:rPr b="0" i="0" lang="en-US" sz="2133" u="none" cap="none" strike="noStrike">
                <a:solidFill>
                  <a:schemeClr val="dk1"/>
                </a:solidFill>
                <a:latin typeface="Calibri"/>
                <a:ea typeface="Calibri"/>
                <a:cs typeface="Calibri"/>
                <a:sym typeface="Calibri"/>
              </a:rPr>
              <a:t>Integration with other large-scale resources (e.g. HPC)</a:t>
            </a:r>
            <a:endParaRPr/>
          </a:p>
        </p:txBody>
      </p:sp>
      <p:pic>
        <p:nvPicPr>
          <p:cNvPr descr="global-filesystem-v1a.pdf" id="160" name="Google Shape;160;p8"/>
          <p:cNvPicPr preferRelativeResize="0"/>
          <p:nvPr>
            <p:ph idx="1" type="body"/>
          </p:nvPr>
        </p:nvPicPr>
        <p:blipFill rotWithShape="1">
          <a:blip r:embed="rId3">
            <a:alphaModFix/>
          </a:blip>
          <a:srcRect b="51230" l="3940" r="6438" t="17339"/>
          <a:stretch/>
        </p:blipFill>
        <p:spPr>
          <a:xfrm>
            <a:off x="2600570" y="2669453"/>
            <a:ext cx="7264641" cy="1595775"/>
          </a:xfrm>
          <a:prstGeom prst="rect">
            <a:avLst/>
          </a:prstGeom>
          <a:noFill/>
          <a:ln>
            <a:noFill/>
          </a:ln>
        </p:spPr>
      </p:pic>
      <p:pic>
        <p:nvPicPr>
          <p:cNvPr descr="fiberchannel-v1.pdf" id="161" name="Google Shape;161;p8"/>
          <p:cNvPicPr preferRelativeResize="0"/>
          <p:nvPr/>
        </p:nvPicPr>
        <p:blipFill rotWithShape="1">
          <a:blip r:embed="rId4">
            <a:alphaModFix/>
          </a:blip>
          <a:srcRect b="51231" l="3545" r="5746" t="17497"/>
          <a:stretch/>
        </p:blipFill>
        <p:spPr>
          <a:xfrm>
            <a:off x="2512367" y="1222401"/>
            <a:ext cx="7352844" cy="158775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9"/>
          <p:cNvSpPr txBox="1"/>
          <p:nvPr>
            <p:ph type="title"/>
          </p:nvPr>
        </p:nvSpPr>
        <p:spPr>
          <a:xfrm>
            <a:off x="609600" y="110779"/>
            <a:ext cx="10972800" cy="11430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DTNs in a Facility</a:t>
            </a:r>
            <a:endParaRPr/>
          </a:p>
        </p:txBody>
      </p:sp>
      <p:pic>
        <p:nvPicPr>
          <p:cNvPr descr="science-dmz-cluster-dtn-bare-v9.pdf" id="168" name="Google Shape;168;p9"/>
          <p:cNvPicPr preferRelativeResize="0"/>
          <p:nvPr>
            <p:ph idx="1" type="body"/>
          </p:nvPr>
        </p:nvPicPr>
        <p:blipFill rotWithShape="1">
          <a:blip r:embed="rId3">
            <a:alphaModFix/>
          </a:blip>
          <a:srcRect b="15849" l="0" r="0" t="15850"/>
          <a:stretch/>
        </p:blipFill>
        <p:spPr>
          <a:xfrm>
            <a:off x="609600" y="1600202"/>
            <a:ext cx="10972800" cy="4344484"/>
          </a:xfrm>
          <a:prstGeom prst="rect">
            <a:avLst/>
          </a:prstGeom>
          <a:noFill/>
          <a:ln>
            <a:noFill/>
          </a:ln>
        </p:spPr>
      </p:pic>
      <p:sp>
        <p:nvSpPr>
          <p:cNvPr id="169" name="Google Shape;169;p9"/>
          <p:cNvSpPr txBox="1"/>
          <p:nvPr/>
        </p:nvSpPr>
        <p:spPr>
          <a:xfrm>
            <a:off x="3973689" y="2325510"/>
            <a:ext cx="1279389" cy="5847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US" sz="1600" u="none" cap="none" strike="noStrike">
                <a:solidFill>
                  <a:schemeClr val="dk1"/>
                </a:solidFill>
                <a:latin typeface="Calibri"/>
                <a:ea typeface="Calibri"/>
                <a:cs typeface="Calibri"/>
                <a:sym typeface="Calibri"/>
              </a:rPr>
              <a:t>40G/100G</a:t>
            </a:r>
            <a:endParaRPr/>
          </a:p>
          <a:p>
            <a:pPr indent="0" lvl="0" marL="0" marR="0" rtl="0" algn="l">
              <a:spcBef>
                <a:spcPts val="0"/>
              </a:spcBef>
              <a:spcAft>
                <a:spcPts val="0"/>
              </a:spcAft>
              <a:buNone/>
            </a:pPr>
            <a:r>
              <a:rPr b="1" i="1" lang="en-US" sz="1600">
                <a:solidFill>
                  <a:schemeClr val="dk1"/>
                </a:solidFill>
                <a:latin typeface="Calibri"/>
                <a:ea typeface="Calibri"/>
                <a:cs typeface="Calibri"/>
                <a:sym typeface="Calibri"/>
              </a:rPr>
              <a:t>Downstream</a:t>
            </a:r>
            <a:endParaRPr/>
          </a:p>
        </p:txBody>
      </p:sp>
      <p:sp>
        <p:nvSpPr>
          <p:cNvPr id="170" name="Google Shape;170;p9"/>
          <p:cNvSpPr txBox="1"/>
          <p:nvPr/>
        </p:nvSpPr>
        <p:spPr>
          <a:xfrm>
            <a:off x="8255831" y="1871690"/>
            <a:ext cx="409086" cy="25654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067">
                <a:solidFill>
                  <a:schemeClr val="dk1"/>
                </a:solidFill>
                <a:latin typeface="Calibri"/>
                <a:ea typeface="Calibri"/>
                <a:cs typeface="Calibri"/>
                <a:sym typeface="Calibri"/>
              </a:rPr>
              <a:t>10G</a:t>
            </a:r>
            <a:endParaRPr/>
          </a:p>
        </p:txBody>
      </p:sp>
      <p:sp>
        <p:nvSpPr>
          <p:cNvPr id="171" name="Google Shape;171;p9"/>
          <p:cNvSpPr txBox="1"/>
          <p:nvPr/>
        </p:nvSpPr>
        <p:spPr>
          <a:xfrm>
            <a:off x="6472187" y="2181881"/>
            <a:ext cx="409086" cy="25654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067">
                <a:solidFill>
                  <a:schemeClr val="dk1"/>
                </a:solidFill>
                <a:latin typeface="Calibri"/>
                <a:ea typeface="Calibri"/>
                <a:cs typeface="Calibri"/>
                <a:sym typeface="Calibri"/>
              </a:rPr>
              <a:t>10G</a:t>
            </a:r>
            <a:endParaRPr/>
          </a:p>
        </p:txBody>
      </p:sp>
      <p:sp>
        <p:nvSpPr>
          <p:cNvPr id="172" name="Google Shape;172;p9"/>
          <p:cNvSpPr txBox="1"/>
          <p:nvPr/>
        </p:nvSpPr>
        <p:spPr>
          <a:xfrm>
            <a:off x="6096000" y="1871690"/>
            <a:ext cx="409086" cy="25654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067">
                <a:solidFill>
                  <a:schemeClr val="dk1"/>
                </a:solidFill>
                <a:latin typeface="Calibri"/>
                <a:ea typeface="Calibri"/>
                <a:cs typeface="Calibri"/>
                <a:sym typeface="Calibri"/>
              </a:rPr>
              <a:t>10G</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10"/>
          <p:cNvSpPr txBox="1"/>
          <p:nvPr>
            <p:ph type="title"/>
          </p:nvPr>
        </p:nvSpPr>
        <p:spPr>
          <a:xfrm>
            <a:off x="609600" y="110779"/>
            <a:ext cx="10972800" cy="11430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DTNs in a Facility – Network Paths</a:t>
            </a:r>
            <a:endParaRPr/>
          </a:p>
        </p:txBody>
      </p:sp>
      <p:pic>
        <p:nvPicPr>
          <p:cNvPr descr="science-dmz-cluster-dtn-path-v9.pdf" id="179" name="Google Shape;179;p10"/>
          <p:cNvPicPr preferRelativeResize="0"/>
          <p:nvPr>
            <p:ph idx="1" type="body"/>
          </p:nvPr>
        </p:nvPicPr>
        <p:blipFill rotWithShape="1">
          <a:blip r:embed="rId3">
            <a:alphaModFix/>
          </a:blip>
          <a:srcRect b="15849" l="0" r="0" t="15850"/>
          <a:stretch/>
        </p:blipFill>
        <p:spPr>
          <a:xfrm>
            <a:off x="609600" y="1600202"/>
            <a:ext cx="10972800" cy="4344484"/>
          </a:xfrm>
          <a:prstGeom prst="rect">
            <a:avLst/>
          </a:prstGeom>
          <a:noFill/>
          <a:ln>
            <a:noFill/>
          </a:ln>
        </p:spPr>
      </p:pic>
      <p:sp>
        <p:nvSpPr>
          <p:cNvPr id="180" name="Google Shape;180;p10"/>
          <p:cNvSpPr txBox="1"/>
          <p:nvPr/>
        </p:nvSpPr>
        <p:spPr>
          <a:xfrm>
            <a:off x="3973689" y="2325510"/>
            <a:ext cx="1279389" cy="5847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US" sz="1600">
                <a:solidFill>
                  <a:schemeClr val="dk1"/>
                </a:solidFill>
                <a:latin typeface="Calibri"/>
                <a:ea typeface="Calibri"/>
                <a:cs typeface="Calibri"/>
                <a:sym typeface="Calibri"/>
              </a:rPr>
              <a:t>40G/100G</a:t>
            </a:r>
            <a:endParaRPr/>
          </a:p>
          <a:p>
            <a:pPr indent="0" lvl="0" marL="0" marR="0" rtl="0" algn="l">
              <a:spcBef>
                <a:spcPts val="0"/>
              </a:spcBef>
              <a:spcAft>
                <a:spcPts val="0"/>
              </a:spcAft>
              <a:buNone/>
            </a:pPr>
            <a:r>
              <a:rPr b="1" i="1" lang="en-US" sz="1600">
                <a:solidFill>
                  <a:schemeClr val="dk1"/>
                </a:solidFill>
                <a:latin typeface="Calibri"/>
                <a:ea typeface="Calibri"/>
                <a:cs typeface="Calibri"/>
                <a:sym typeface="Calibri"/>
              </a:rPr>
              <a:t>Downstream</a:t>
            </a:r>
            <a:endParaRPr/>
          </a:p>
        </p:txBody>
      </p:sp>
      <p:sp>
        <p:nvSpPr>
          <p:cNvPr id="181" name="Google Shape;181;p10"/>
          <p:cNvSpPr txBox="1"/>
          <p:nvPr/>
        </p:nvSpPr>
        <p:spPr>
          <a:xfrm>
            <a:off x="8255831" y="1871690"/>
            <a:ext cx="409086" cy="25654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067">
                <a:solidFill>
                  <a:schemeClr val="dk1"/>
                </a:solidFill>
                <a:latin typeface="Calibri"/>
                <a:ea typeface="Calibri"/>
                <a:cs typeface="Calibri"/>
                <a:sym typeface="Calibri"/>
              </a:rPr>
              <a:t>10G</a:t>
            </a:r>
            <a:endParaRPr/>
          </a:p>
        </p:txBody>
      </p:sp>
      <p:sp>
        <p:nvSpPr>
          <p:cNvPr id="182" name="Google Shape;182;p10"/>
          <p:cNvSpPr txBox="1"/>
          <p:nvPr/>
        </p:nvSpPr>
        <p:spPr>
          <a:xfrm>
            <a:off x="6472187" y="2181881"/>
            <a:ext cx="409086" cy="25654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067">
                <a:solidFill>
                  <a:schemeClr val="dk1"/>
                </a:solidFill>
                <a:latin typeface="Calibri"/>
                <a:ea typeface="Calibri"/>
                <a:cs typeface="Calibri"/>
                <a:sym typeface="Calibri"/>
              </a:rPr>
              <a:t>10G</a:t>
            </a:r>
            <a:endParaRPr/>
          </a:p>
        </p:txBody>
      </p:sp>
      <p:sp>
        <p:nvSpPr>
          <p:cNvPr id="183" name="Google Shape;183;p10"/>
          <p:cNvSpPr txBox="1"/>
          <p:nvPr/>
        </p:nvSpPr>
        <p:spPr>
          <a:xfrm>
            <a:off x="6096000" y="1871690"/>
            <a:ext cx="409086" cy="25654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067">
                <a:solidFill>
                  <a:schemeClr val="dk1"/>
                </a:solidFill>
                <a:latin typeface="Calibri"/>
                <a:ea typeface="Calibri"/>
                <a:cs typeface="Calibri"/>
                <a:sym typeface="Calibri"/>
              </a:rPr>
              <a:t>10G</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11"/>
          <p:cNvSpPr txBox="1"/>
          <p:nvPr>
            <p:ph type="title"/>
          </p:nvPr>
        </p:nvSpPr>
        <p:spPr>
          <a:xfrm>
            <a:off x="609600" y="110779"/>
            <a:ext cx="10972800" cy="11430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DTNs in a Facility – Security</a:t>
            </a:r>
            <a:endParaRPr/>
          </a:p>
        </p:txBody>
      </p:sp>
      <p:pic>
        <p:nvPicPr>
          <p:cNvPr descr="science-dmz-cluster-dtn-sec-v9.pdf" id="190" name="Google Shape;190;p11"/>
          <p:cNvPicPr preferRelativeResize="0"/>
          <p:nvPr>
            <p:ph idx="1" type="body"/>
          </p:nvPr>
        </p:nvPicPr>
        <p:blipFill rotWithShape="1">
          <a:blip r:embed="rId3">
            <a:alphaModFix/>
          </a:blip>
          <a:srcRect b="15849" l="0" r="0" t="15850"/>
          <a:stretch/>
        </p:blipFill>
        <p:spPr>
          <a:xfrm>
            <a:off x="609600" y="1600202"/>
            <a:ext cx="10972800" cy="4344484"/>
          </a:xfrm>
          <a:prstGeom prst="rect">
            <a:avLst/>
          </a:prstGeom>
          <a:noFill/>
          <a:ln>
            <a:noFill/>
          </a:ln>
        </p:spPr>
      </p:pic>
      <p:sp>
        <p:nvSpPr>
          <p:cNvPr id="191" name="Google Shape;191;p11"/>
          <p:cNvSpPr txBox="1"/>
          <p:nvPr/>
        </p:nvSpPr>
        <p:spPr>
          <a:xfrm>
            <a:off x="3973689" y="2325510"/>
            <a:ext cx="1279389" cy="5847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US" sz="1600">
                <a:solidFill>
                  <a:schemeClr val="dk1"/>
                </a:solidFill>
                <a:latin typeface="Calibri"/>
                <a:ea typeface="Calibri"/>
                <a:cs typeface="Calibri"/>
                <a:sym typeface="Calibri"/>
              </a:rPr>
              <a:t>40G/100G</a:t>
            </a:r>
            <a:endParaRPr/>
          </a:p>
          <a:p>
            <a:pPr indent="0" lvl="0" marL="0" marR="0" rtl="0" algn="l">
              <a:spcBef>
                <a:spcPts val="0"/>
              </a:spcBef>
              <a:spcAft>
                <a:spcPts val="0"/>
              </a:spcAft>
              <a:buNone/>
            </a:pPr>
            <a:r>
              <a:rPr b="1" i="1" lang="en-US" sz="1600">
                <a:solidFill>
                  <a:schemeClr val="dk1"/>
                </a:solidFill>
                <a:latin typeface="Calibri"/>
                <a:ea typeface="Calibri"/>
                <a:cs typeface="Calibri"/>
                <a:sym typeface="Calibri"/>
              </a:rPr>
              <a:t>Downstream</a:t>
            </a:r>
            <a:endParaRPr/>
          </a:p>
        </p:txBody>
      </p:sp>
      <p:sp>
        <p:nvSpPr>
          <p:cNvPr id="192" name="Google Shape;192;p11"/>
          <p:cNvSpPr txBox="1"/>
          <p:nvPr/>
        </p:nvSpPr>
        <p:spPr>
          <a:xfrm>
            <a:off x="8255831" y="1871690"/>
            <a:ext cx="409086" cy="25654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067">
                <a:solidFill>
                  <a:schemeClr val="dk1"/>
                </a:solidFill>
                <a:latin typeface="Calibri"/>
                <a:ea typeface="Calibri"/>
                <a:cs typeface="Calibri"/>
                <a:sym typeface="Calibri"/>
              </a:rPr>
              <a:t>10G</a:t>
            </a:r>
            <a:endParaRPr/>
          </a:p>
        </p:txBody>
      </p:sp>
      <p:sp>
        <p:nvSpPr>
          <p:cNvPr id="193" name="Google Shape;193;p11"/>
          <p:cNvSpPr txBox="1"/>
          <p:nvPr/>
        </p:nvSpPr>
        <p:spPr>
          <a:xfrm>
            <a:off x="6472187" y="2181881"/>
            <a:ext cx="409086" cy="25654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067">
                <a:solidFill>
                  <a:schemeClr val="dk1"/>
                </a:solidFill>
                <a:latin typeface="Calibri"/>
                <a:ea typeface="Calibri"/>
                <a:cs typeface="Calibri"/>
                <a:sym typeface="Calibri"/>
              </a:rPr>
              <a:t>10G</a:t>
            </a:r>
            <a:endParaRPr/>
          </a:p>
        </p:txBody>
      </p:sp>
      <p:sp>
        <p:nvSpPr>
          <p:cNvPr id="194" name="Google Shape;194;p11"/>
          <p:cNvSpPr txBox="1"/>
          <p:nvPr/>
        </p:nvSpPr>
        <p:spPr>
          <a:xfrm>
            <a:off x="6096000" y="1871690"/>
            <a:ext cx="409086" cy="25654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067">
                <a:solidFill>
                  <a:schemeClr val="dk1"/>
                </a:solidFill>
                <a:latin typeface="Calibri"/>
                <a:ea typeface="Calibri"/>
                <a:cs typeface="Calibri"/>
                <a:sym typeface="Calibri"/>
              </a:rPr>
              <a:t>10G</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1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5333"/>
              <a:buFont typeface="Calibri"/>
              <a:buNone/>
            </a:pPr>
            <a:r>
              <a:rPr lang="en-US" sz="5333"/>
              <a:t>Storage Subsystem Selection</a:t>
            </a:r>
            <a:endParaRPr/>
          </a:p>
        </p:txBody>
      </p:sp>
      <p:sp>
        <p:nvSpPr>
          <p:cNvPr id="201" name="Google Shape;201;p12"/>
          <p:cNvSpPr txBox="1"/>
          <p:nvPr>
            <p:ph idx="1" type="body"/>
          </p:nvPr>
        </p:nvSpPr>
        <p:spPr>
          <a:xfrm>
            <a:off x="609600" y="1600201"/>
            <a:ext cx="10972800" cy="4563532"/>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Font typeface="Arial"/>
              <a:buChar char="•"/>
            </a:pPr>
            <a:r>
              <a:rPr lang="en-US"/>
              <a:t>Deciding what storage to use in your DTN is based on what you are optimizing for:  </a:t>
            </a:r>
            <a:endParaRPr/>
          </a:p>
          <a:p>
            <a:pPr indent="-228600" lvl="1" marL="685800" rtl="0" algn="l">
              <a:lnSpc>
                <a:spcPct val="90000"/>
              </a:lnSpc>
              <a:spcBef>
                <a:spcPts val="500"/>
              </a:spcBef>
              <a:spcAft>
                <a:spcPts val="0"/>
              </a:spcAft>
              <a:buClr>
                <a:schemeClr val="dk1"/>
              </a:buClr>
              <a:buSzPts val="2400"/>
              <a:buChar char="•"/>
            </a:pPr>
            <a:r>
              <a:rPr lang="en-US"/>
              <a:t>performance, reliability, capacity, and/or cost</a:t>
            </a:r>
            <a:endParaRPr/>
          </a:p>
          <a:p>
            <a:pPr indent="-228600" lvl="0" marL="228600" rtl="0" algn="l">
              <a:lnSpc>
                <a:spcPct val="90000"/>
              </a:lnSpc>
              <a:spcBef>
                <a:spcPts val="1000"/>
              </a:spcBef>
              <a:spcAft>
                <a:spcPts val="0"/>
              </a:spcAft>
              <a:buClr>
                <a:schemeClr val="dk1"/>
              </a:buClr>
              <a:buSzPts val="2800"/>
              <a:buFont typeface="Arial"/>
              <a:buChar char="•"/>
            </a:pPr>
            <a:r>
              <a:rPr lang="en-US"/>
              <a:t>SATA disks historically have been cheaper and higher capacity, while SAS disks typically have been the fastest. </a:t>
            </a:r>
            <a:endParaRPr/>
          </a:p>
          <a:p>
            <a:pPr indent="-228600" lvl="1" marL="685800" rtl="0" algn="l">
              <a:lnSpc>
                <a:spcPct val="90000"/>
              </a:lnSpc>
              <a:spcBef>
                <a:spcPts val="500"/>
              </a:spcBef>
              <a:spcAft>
                <a:spcPts val="0"/>
              </a:spcAft>
              <a:buClr>
                <a:schemeClr val="dk1"/>
              </a:buClr>
              <a:buSzPts val="2400"/>
              <a:buChar char="•"/>
            </a:pPr>
            <a:r>
              <a:rPr lang="en-US"/>
              <a:t>Technologies have been converging (and its hard to keep up)</a:t>
            </a:r>
            <a:endParaRPr/>
          </a:p>
          <a:p>
            <a:pPr indent="-228600" lvl="0" marL="228600" rtl="0" algn="l">
              <a:lnSpc>
                <a:spcPct val="90000"/>
              </a:lnSpc>
              <a:spcBef>
                <a:spcPts val="1000"/>
              </a:spcBef>
              <a:spcAft>
                <a:spcPts val="0"/>
              </a:spcAft>
              <a:buClr>
                <a:schemeClr val="dk1"/>
              </a:buClr>
              <a:buSzPts val="2800"/>
              <a:buChar char="•"/>
            </a:pPr>
            <a:r>
              <a:rPr lang="en-US"/>
              <a:t>Do what you can support well (ditto for filesystems – ZFS, ext4, etc.)</a:t>
            </a:r>
            <a:endParaRPr/>
          </a:p>
          <a:p>
            <a:pPr indent="-228600" lvl="1" marL="685800" rtl="0" algn="l">
              <a:lnSpc>
                <a:spcPct val="90000"/>
              </a:lnSpc>
              <a:spcBef>
                <a:spcPts val="500"/>
              </a:spcBef>
              <a:spcAft>
                <a:spcPts val="0"/>
              </a:spcAft>
              <a:buClr>
                <a:schemeClr val="dk1"/>
              </a:buClr>
              <a:buSzPts val="2400"/>
              <a:buChar char="•"/>
            </a:pPr>
            <a:r>
              <a:rPr lang="en-US"/>
              <a:t>Support is more than just what a vendor supports</a:t>
            </a:r>
            <a:endParaRPr/>
          </a:p>
          <a:p>
            <a:pPr indent="-228600" lvl="1" marL="685800" rtl="0" algn="l">
              <a:lnSpc>
                <a:spcPct val="90000"/>
              </a:lnSpc>
              <a:spcBef>
                <a:spcPts val="500"/>
              </a:spcBef>
              <a:spcAft>
                <a:spcPts val="0"/>
              </a:spcAft>
              <a:buClr>
                <a:schemeClr val="dk1"/>
              </a:buClr>
              <a:buSzPts val="2400"/>
              <a:buChar char="•"/>
            </a:pPr>
            <a:r>
              <a:rPr lang="en-US"/>
              <a:t>Internal talent can be the deciding factor more often than not</a:t>
            </a:r>
            <a:endParaRPr/>
          </a:p>
        </p:txBody>
      </p:sp>
      <p:sp>
        <p:nvSpPr>
          <p:cNvPr id="202" name="Google Shape;202;p12"/>
          <p:cNvSpPr txBox="1"/>
          <p:nvPr>
            <p:ph idx="10" type="dt"/>
          </p:nvPr>
        </p:nvSpPr>
        <p:spPr>
          <a:xfrm>
            <a:off x="8093240" y="6613560"/>
            <a:ext cx="3972947" cy="182563"/>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US" sz="1067">
                <a:solidFill>
                  <a:srgbClr val="000000"/>
                </a:solidFill>
                <a:latin typeface="Arial"/>
                <a:ea typeface="Arial"/>
                <a:cs typeface="Arial"/>
                <a:sym typeface="Arial"/>
              </a:rPr>
              <a:t>‹#›</a:t>
            </a:fld>
            <a:r>
              <a:rPr lang="en-US" sz="1067">
                <a:solidFill>
                  <a:srgbClr val="000000"/>
                </a:solidFill>
                <a:latin typeface="Arial"/>
                <a:ea typeface="Arial"/>
                <a:cs typeface="Arial"/>
                <a:sym typeface="Arial"/>
              </a:rPr>
              <a:t> – ESnet Science Engagement (</a:t>
            </a:r>
            <a:r>
              <a:rPr lang="en-US" sz="1067" u="sng">
                <a:solidFill>
                  <a:srgbClr val="000000"/>
                </a:solidFill>
                <a:latin typeface="Arial"/>
                <a:ea typeface="Arial"/>
                <a:cs typeface="Arial"/>
                <a:sym typeface="Arial"/>
                <a:hlinkClick r:id="rId3">
                  <a:extLst>
                    <a:ext uri="{A12FA001-AC4F-418D-AE19-62706E023703}">
                      <ahyp:hlinkClr val="tx"/>
                    </a:ext>
                  </a:extLst>
                </a:hlinkClick>
              </a:rPr>
              <a:t>engage@es.net</a:t>
            </a:r>
            <a:r>
              <a:rPr lang="en-US" sz="1067">
                <a:solidFill>
                  <a:srgbClr val="000000"/>
                </a:solidFill>
                <a:latin typeface="Arial"/>
                <a:ea typeface="Arial"/>
                <a:cs typeface="Arial"/>
                <a:sym typeface="Arial"/>
              </a:rPr>
              <a:t>) - 5/12/2024</a:t>
            </a:r>
            <a:endParaRPr sz="1067">
              <a:solidFill>
                <a:srgbClr val="000000"/>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1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5333"/>
              <a:buFont typeface="Calibri"/>
              <a:buNone/>
            </a:pPr>
            <a:r>
              <a:rPr lang="en-US" sz="5333"/>
              <a:t>SSDs and HDs</a:t>
            </a:r>
            <a:endParaRPr/>
          </a:p>
        </p:txBody>
      </p:sp>
      <p:sp>
        <p:nvSpPr>
          <p:cNvPr id="209" name="Google Shape;209;p13"/>
          <p:cNvSpPr txBox="1"/>
          <p:nvPr>
            <p:ph idx="1" type="body"/>
          </p:nvPr>
        </p:nvSpPr>
        <p:spPr>
          <a:xfrm>
            <a:off x="609601" y="1417639"/>
            <a:ext cx="11243265" cy="4708525"/>
          </a:xfrm>
          <a:prstGeom prst="rect">
            <a:avLst/>
          </a:prstGeom>
          <a:noFill/>
          <a:ln>
            <a:noFill/>
          </a:ln>
        </p:spPr>
        <p:txBody>
          <a:bodyPr anchorCtr="0" anchor="t" bIns="45700" lIns="91425" spcFirstLastPara="1" rIns="91425" wrap="square" tIns="45700">
            <a:normAutofit fontScale="92500" lnSpcReduction="20000"/>
          </a:bodyPr>
          <a:lstStyle/>
          <a:p>
            <a:pPr indent="-228661" lvl="0" marL="228600" rtl="0" algn="l">
              <a:lnSpc>
                <a:spcPct val="90000"/>
              </a:lnSpc>
              <a:spcBef>
                <a:spcPts val="0"/>
              </a:spcBef>
              <a:spcAft>
                <a:spcPts val="0"/>
              </a:spcAft>
              <a:buClr>
                <a:schemeClr val="dk1"/>
              </a:buClr>
              <a:buSzPct val="100000"/>
              <a:buChar char="•"/>
            </a:pPr>
            <a:r>
              <a:rPr lang="en-US" sz="2667"/>
              <a:t>SSD storage costs much more than traditional hard drives (HDs), but are much faster. They come in different styles:</a:t>
            </a:r>
            <a:endParaRPr/>
          </a:p>
          <a:p>
            <a:pPr indent="-228600" lvl="1" marL="685800" rtl="0" algn="l">
              <a:lnSpc>
                <a:spcPct val="90000"/>
              </a:lnSpc>
              <a:spcBef>
                <a:spcPts val="500"/>
              </a:spcBef>
              <a:spcAft>
                <a:spcPts val="0"/>
              </a:spcAft>
              <a:buClr>
                <a:schemeClr val="dk1"/>
              </a:buClr>
              <a:buSzPct val="100000"/>
              <a:buChar char="•"/>
            </a:pPr>
            <a:r>
              <a:rPr lang="en-US"/>
              <a:t>PCIe card: some vendors (Fusion-IO) build PCI cards with SSDs. </a:t>
            </a:r>
            <a:endParaRPr/>
          </a:p>
          <a:p>
            <a:pPr indent="-228600" lvl="2" marL="1143000" rtl="0" algn="l">
              <a:lnSpc>
                <a:spcPct val="90000"/>
              </a:lnSpc>
              <a:spcBef>
                <a:spcPts val="500"/>
              </a:spcBef>
              <a:spcAft>
                <a:spcPts val="0"/>
              </a:spcAft>
              <a:buClr>
                <a:schemeClr val="dk1"/>
              </a:buClr>
              <a:buSzPct val="100000"/>
              <a:buChar char="•"/>
            </a:pPr>
            <a:r>
              <a:rPr lang="en-US" sz="2400"/>
              <a:t>These are the fastest type of SSD: up to several GBytes/sec per card. </a:t>
            </a:r>
            <a:endParaRPr/>
          </a:p>
          <a:p>
            <a:pPr indent="-228600" lvl="3" marL="1600200" rtl="0" algn="l">
              <a:lnSpc>
                <a:spcPct val="90000"/>
              </a:lnSpc>
              <a:spcBef>
                <a:spcPts val="500"/>
              </a:spcBef>
              <a:spcAft>
                <a:spcPts val="0"/>
              </a:spcAft>
              <a:buClr>
                <a:schemeClr val="dk1"/>
              </a:buClr>
              <a:buSzPct val="100000"/>
              <a:buChar char="•"/>
            </a:pPr>
            <a:r>
              <a:rPr lang="en-US" sz="2400"/>
              <a:t>Note that this type of SSD is typically not hot-swapable.</a:t>
            </a:r>
            <a:endParaRPr/>
          </a:p>
          <a:p>
            <a:pPr indent="-228600" lvl="1" marL="685800" rtl="0" algn="l">
              <a:lnSpc>
                <a:spcPct val="90000"/>
              </a:lnSpc>
              <a:spcBef>
                <a:spcPts val="500"/>
              </a:spcBef>
              <a:spcAft>
                <a:spcPts val="0"/>
              </a:spcAft>
              <a:buClr>
                <a:schemeClr val="dk1"/>
              </a:buClr>
              <a:buSzPct val="100000"/>
              <a:buChar char="•"/>
            </a:pPr>
            <a:r>
              <a:rPr lang="en-US"/>
              <a:t>HD replacement: several vendors now sell SSD-based drives that have the same form factor as traditional drives such as SAS and SATA. </a:t>
            </a:r>
            <a:endParaRPr/>
          </a:p>
          <a:p>
            <a:pPr indent="-228600" lvl="2" marL="1143000" rtl="0" algn="l">
              <a:lnSpc>
                <a:spcPct val="90000"/>
              </a:lnSpc>
              <a:spcBef>
                <a:spcPts val="500"/>
              </a:spcBef>
              <a:spcAft>
                <a:spcPts val="0"/>
              </a:spcAft>
              <a:buClr>
                <a:schemeClr val="dk1"/>
              </a:buClr>
              <a:buSzPct val="100000"/>
              <a:buChar char="•"/>
            </a:pPr>
            <a:r>
              <a:rPr lang="en-US" sz="2400"/>
              <a:t>The downside to this approach is that performance is limited by the RAID controller, and not all controllers work well with SSD.</a:t>
            </a:r>
            <a:endParaRPr/>
          </a:p>
          <a:p>
            <a:pPr indent="-228600" lvl="3" marL="1600200" rtl="0" algn="l">
              <a:lnSpc>
                <a:spcPct val="90000"/>
              </a:lnSpc>
              <a:spcBef>
                <a:spcPts val="500"/>
              </a:spcBef>
              <a:spcAft>
                <a:spcPts val="0"/>
              </a:spcAft>
              <a:buClr>
                <a:srgbClr val="FF0000"/>
              </a:buClr>
              <a:buSzPct val="100000"/>
              <a:buChar char="•"/>
            </a:pPr>
            <a:r>
              <a:rPr b="1" i="1" lang="en-US" sz="2400">
                <a:solidFill>
                  <a:srgbClr val="FF0000"/>
                </a:solidFill>
              </a:rPr>
              <a:t>Be sure that your RAID controller is “SSD capable”</a:t>
            </a:r>
            <a:r>
              <a:rPr lang="en-US" sz="2400"/>
              <a:t>.</a:t>
            </a:r>
            <a:endParaRPr/>
          </a:p>
          <a:p>
            <a:pPr indent="-228600" lvl="1" marL="685800" rtl="0" algn="l">
              <a:lnSpc>
                <a:spcPct val="90000"/>
              </a:lnSpc>
              <a:spcBef>
                <a:spcPts val="500"/>
              </a:spcBef>
              <a:spcAft>
                <a:spcPts val="0"/>
              </a:spcAft>
              <a:buClr>
                <a:schemeClr val="dk1"/>
              </a:buClr>
              <a:buSzPct val="100000"/>
              <a:buChar char="•"/>
            </a:pPr>
            <a:r>
              <a:rPr lang="en-US"/>
              <a:t>NVME is the new kid on the block and prices are coming down.</a:t>
            </a:r>
            <a:endParaRPr/>
          </a:p>
          <a:p>
            <a:pPr indent="-72009" lvl="0" marL="228600" rtl="0" algn="l">
              <a:lnSpc>
                <a:spcPct val="90000"/>
              </a:lnSpc>
              <a:spcBef>
                <a:spcPts val="1000"/>
              </a:spcBef>
              <a:spcAft>
                <a:spcPts val="0"/>
              </a:spcAft>
              <a:buClr>
                <a:schemeClr val="dk1"/>
              </a:buClr>
              <a:buSzPct val="100000"/>
              <a:buFont typeface="Arial"/>
              <a:buNone/>
            </a:pPr>
            <a:r>
              <a:t/>
            </a:r>
            <a:endParaRPr sz="2667"/>
          </a:p>
          <a:p>
            <a:pPr indent="-228661" lvl="0" marL="228600" rtl="0" algn="l">
              <a:lnSpc>
                <a:spcPct val="90000"/>
              </a:lnSpc>
              <a:spcBef>
                <a:spcPts val="1000"/>
              </a:spcBef>
              <a:spcAft>
                <a:spcPts val="0"/>
              </a:spcAft>
              <a:buClr>
                <a:schemeClr val="dk1"/>
              </a:buClr>
              <a:buSzPct val="100000"/>
              <a:buFont typeface="Arial"/>
              <a:buChar char="•"/>
            </a:pPr>
            <a:r>
              <a:rPr lang="en-US" sz="2667"/>
              <a:t>Note that the price of SSD is coming down quickly, so an SSD-based solution may be worth considering for your DTNs.</a:t>
            </a:r>
            <a:endParaRPr/>
          </a:p>
          <a:p>
            <a:pPr indent="-87629" lvl="0" marL="228600" rtl="0" algn="l">
              <a:lnSpc>
                <a:spcPct val="90000"/>
              </a:lnSpc>
              <a:spcBef>
                <a:spcPts val="1000"/>
              </a:spcBef>
              <a:spcAft>
                <a:spcPts val="0"/>
              </a:spcAft>
              <a:buClr>
                <a:schemeClr val="dk1"/>
              </a:buClr>
              <a:buSzPct val="100000"/>
              <a:buFont typeface="Arial"/>
              <a:buNone/>
            </a:pPr>
            <a:r>
              <a:t/>
            </a:r>
            <a:endParaRPr sz="2400"/>
          </a:p>
        </p:txBody>
      </p:sp>
      <p:sp>
        <p:nvSpPr>
          <p:cNvPr id="210" name="Google Shape;210;p13"/>
          <p:cNvSpPr txBox="1"/>
          <p:nvPr>
            <p:ph idx="10" type="dt"/>
          </p:nvPr>
        </p:nvSpPr>
        <p:spPr>
          <a:xfrm>
            <a:off x="8093240" y="6613560"/>
            <a:ext cx="3972947" cy="182563"/>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US" sz="1067">
                <a:solidFill>
                  <a:srgbClr val="000000"/>
                </a:solidFill>
                <a:latin typeface="Arial"/>
                <a:ea typeface="Arial"/>
                <a:cs typeface="Arial"/>
                <a:sym typeface="Arial"/>
              </a:rPr>
              <a:t>‹#›</a:t>
            </a:fld>
            <a:r>
              <a:rPr lang="en-US" sz="1067">
                <a:solidFill>
                  <a:srgbClr val="000000"/>
                </a:solidFill>
                <a:latin typeface="Arial"/>
                <a:ea typeface="Arial"/>
                <a:cs typeface="Arial"/>
                <a:sym typeface="Arial"/>
              </a:rPr>
              <a:t> – ESnet Science Engagement (</a:t>
            </a:r>
            <a:r>
              <a:rPr lang="en-US" sz="1067" u="sng">
                <a:solidFill>
                  <a:srgbClr val="000000"/>
                </a:solidFill>
                <a:latin typeface="Arial"/>
                <a:ea typeface="Arial"/>
                <a:cs typeface="Arial"/>
                <a:sym typeface="Arial"/>
                <a:hlinkClick r:id="rId3">
                  <a:extLst>
                    <a:ext uri="{A12FA001-AC4F-418D-AE19-62706E023703}">
                      <ahyp:hlinkClr val="tx"/>
                    </a:ext>
                  </a:extLst>
                </a:hlinkClick>
              </a:rPr>
              <a:t>engage@es.net</a:t>
            </a:r>
            <a:r>
              <a:rPr lang="en-US" sz="1067">
                <a:solidFill>
                  <a:srgbClr val="000000"/>
                </a:solidFill>
                <a:latin typeface="Arial"/>
                <a:ea typeface="Arial"/>
                <a:cs typeface="Arial"/>
                <a:sym typeface="Arial"/>
              </a:rPr>
              <a:t>) - 5/12/2024</a:t>
            </a:r>
            <a:endParaRPr sz="1067">
              <a:solidFill>
                <a:srgbClr val="000000"/>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14"/>
          <p:cNvSpPr txBox="1"/>
          <p:nvPr>
            <p:ph type="title"/>
          </p:nvPr>
        </p:nvSpPr>
        <p:spPr>
          <a:xfrm>
            <a:off x="609600" y="157831"/>
            <a:ext cx="11083219" cy="11430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5333"/>
              <a:buFont typeface="Calibri"/>
              <a:buNone/>
            </a:pPr>
            <a:r>
              <a:rPr lang="en-US" sz="5333"/>
              <a:t>SSD Form Factors</a:t>
            </a:r>
            <a:endParaRPr/>
          </a:p>
        </p:txBody>
      </p:sp>
      <p:pic>
        <p:nvPicPr>
          <p:cNvPr id="217" name="Google Shape;217;p14"/>
          <p:cNvPicPr preferRelativeResize="0"/>
          <p:nvPr/>
        </p:nvPicPr>
        <p:blipFill rotWithShape="1">
          <a:blip r:embed="rId3">
            <a:alphaModFix/>
          </a:blip>
          <a:srcRect b="0" l="0" r="0" t="0"/>
          <a:stretch/>
        </p:blipFill>
        <p:spPr>
          <a:xfrm>
            <a:off x="1654193" y="1672914"/>
            <a:ext cx="3127884" cy="1626500"/>
          </a:xfrm>
          <a:prstGeom prst="rect">
            <a:avLst/>
          </a:prstGeom>
          <a:noFill/>
          <a:ln>
            <a:noFill/>
          </a:ln>
        </p:spPr>
      </p:pic>
      <p:pic>
        <p:nvPicPr>
          <p:cNvPr id="218" name="Google Shape;218;p14"/>
          <p:cNvPicPr preferRelativeResize="0"/>
          <p:nvPr/>
        </p:nvPicPr>
        <p:blipFill rotWithShape="1">
          <a:blip r:embed="rId4">
            <a:alphaModFix/>
          </a:blip>
          <a:srcRect b="0" l="0" r="0" t="0"/>
          <a:stretch/>
        </p:blipFill>
        <p:spPr>
          <a:xfrm>
            <a:off x="7257079" y="2835091"/>
            <a:ext cx="4690533" cy="2311400"/>
          </a:xfrm>
          <a:prstGeom prst="rect">
            <a:avLst/>
          </a:prstGeom>
          <a:noFill/>
          <a:ln>
            <a:noFill/>
          </a:ln>
        </p:spPr>
      </p:pic>
      <p:pic>
        <p:nvPicPr>
          <p:cNvPr id="219" name="Google Shape;219;p14"/>
          <p:cNvPicPr preferRelativeResize="0"/>
          <p:nvPr/>
        </p:nvPicPr>
        <p:blipFill rotWithShape="1">
          <a:blip r:embed="rId5">
            <a:alphaModFix/>
          </a:blip>
          <a:srcRect b="0" l="0" r="0" t="0"/>
          <a:stretch/>
        </p:blipFill>
        <p:spPr>
          <a:xfrm>
            <a:off x="1601675" y="3948535"/>
            <a:ext cx="3180400" cy="1941523"/>
          </a:xfrm>
          <a:prstGeom prst="rect">
            <a:avLst/>
          </a:prstGeom>
          <a:noFill/>
          <a:ln>
            <a:noFill/>
          </a:ln>
        </p:spPr>
      </p:pic>
      <p:sp>
        <p:nvSpPr>
          <p:cNvPr id="220" name="Google Shape;220;p14"/>
          <p:cNvSpPr txBox="1"/>
          <p:nvPr>
            <p:ph idx="10" type="dt"/>
          </p:nvPr>
        </p:nvSpPr>
        <p:spPr>
          <a:xfrm>
            <a:off x="8093240" y="6613560"/>
            <a:ext cx="3972947" cy="182563"/>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US" sz="1067">
                <a:solidFill>
                  <a:srgbClr val="000000"/>
                </a:solidFill>
                <a:latin typeface="Arial"/>
                <a:ea typeface="Arial"/>
                <a:cs typeface="Arial"/>
                <a:sym typeface="Arial"/>
              </a:rPr>
              <a:t>‹#›</a:t>
            </a:fld>
            <a:r>
              <a:rPr lang="en-US" sz="1067">
                <a:solidFill>
                  <a:srgbClr val="000000"/>
                </a:solidFill>
                <a:latin typeface="Arial"/>
                <a:ea typeface="Arial"/>
                <a:cs typeface="Arial"/>
                <a:sym typeface="Arial"/>
              </a:rPr>
              <a:t> – ESnet Science Engagement (</a:t>
            </a:r>
            <a:r>
              <a:rPr lang="en-US" sz="1067" u="sng">
                <a:solidFill>
                  <a:srgbClr val="000000"/>
                </a:solidFill>
                <a:latin typeface="Arial"/>
                <a:ea typeface="Arial"/>
                <a:cs typeface="Arial"/>
                <a:sym typeface="Arial"/>
                <a:hlinkClick r:id="rId6">
                  <a:extLst>
                    <a:ext uri="{A12FA001-AC4F-418D-AE19-62706E023703}">
                      <ahyp:hlinkClr val="tx"/>
                    </a:ext>
                  </a:extLst>
                </a:hlinkClick>
              </a:rPr>
              <a:t>engage@es.net</a:t>
            </a:r>
            <a:r>
              <a:rPr lang="en-US" sz="1067">
                <a:solidFill>
                  <a:srgbClr val="000000"/>
                </a:solidFill>
                <a:latin typeface="Arial"/>
                <a:ea typeface="Arial"/>
                <a:cs typeface="Arial"/>
                <a:sym typeface="Arial"/>
              </a:rPr>
              <a:t>) - 5/12/2024</a:t>
            </a:r>
            <a:endParaRPr sz="1067">
              <a:solidFill>
                <a:srgbClr val="000000"/>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pic>
        <p:nvPicPr>
          <p:cNvPr descr="areca.jpg" id="226" name="Google Shape;226;p15"/>
          <p:cNvPicPr preferRelativeResize="0"/>
          <p:nvPr/>
        </p:nvPicPr>
        <p:blipFill rotWithShape="1">
          <a:blip r:embed="rId3">
            <a:alphaModFix/>
          </a:blip>
          <a:srcRect b="0" l="0" r="0" t="0"/>
          <a:stretch/>
        </p:blipFill>
        <p:spPr>
          <a:xfrm>
            <a:off x="2831325" y="1202181"/>
            <a:ext cx="5762169" cy="3333751"/>
          </a:xfrm>
          <a:prstGeom prst="rect">
            <a:avLst/>
          </a:prstGeom>
          <a:noFill/>
          <a:ln>
            <a:noFill/>
          </a:ln>
        </p:spPr>
      </p:pic>
      <p:sp>
        <p:nvSpPr>
          <p:cNvPr id="227" name="Google Shape;227;p1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5333"/>
              <a:buFont typeface="Calibri"/>
              <a:buNone/>
            </a:pPr>
            <a:r>
              <a:rPr lang="en-US" sz="5333"/>
              <a:t>RAID Controllers</a:t>
            </a:r>
            <a:endParaRPr/>
          </a:p>
        </p:txBody>
      </p:sp>
      <p:sp>
        <p:nvSpPr>
          <p:cNvPr id="228" name="Google Shape;228;p15"/>
          <p:cNvSpPr txBox="1"/>
          <p:nvPr>
            <p:ph idx="1" type="body"/>
          </p:nvPr>
        </p:nvSpPr>
        <p:spPr>
          <a:xfrm>
            <a:off x="327379" y="4440310"/>
            <a:ext cx="10972800" cy="1407127"/>
          </a:xfrm>
          <a:prstGeom prst="rect">
            <a:avLst/>
          </a:prstGeom>
          <a:noFill/>
          <a:ln>
            <a:noFill/>
          </a:ln>
        </p:spPr>
        <p:txBody>
          <a:bodyPr anchorCtr="0" anchor="t" bIns="45700" lIns="91425" spcFirstLastPara="1" rIns="91425" wrap="square" tIns="45700">
            <a:normAutofit fontScale="85000" lnSpcReduction="20000"/>
          </a:bodyPr>
          <a:lstStyle/>
          <a:p>
            <a:pPr indent="-228660" lvl="0" marL="228600" rtl="0" algn="l">
              <a:lnSpc>
                <a:spcPct val="90000"/>
              </a:lnSpc>
              <a:spcBef>
                <a:spcPts val="0"/>
              </a:spcBef>
              <a:spcAft>
                <a:spcPts val="0"/>
              </a:spcAft>
              <a:buClr>
                <a:schemeClr val="dk1"/>
              </a:buClr>
              <a:buSzPct val="100000"/>
              <a:buFont typeface="Arial"/>
              <a:buChar char="•"/>
            </a:pPr>
            <a:r>
              <a:rPr lang="en-US" sz="2667"/>
              <a:t>Often optimized for a given workload, rarely for performance.</a:t>
            </a:r>
            <a:endParaRPr/>
          </a:p>
          <a:p>
            <a:pPr indent="-228660" lvl="0" marL="228600" rtl="0" algn="l">
              <a:lnSpc>
                <a:spcPct val="90000"/>
              </a:lnSpc>
              <a:spcBef>
                <a:spcPts val="1000"/>
              </a:spcBef>
              <a:spcAft>
                <a:spcPts val="0"/>
              </a:spcAft>
              <a:buClr>
                <a:schemeClr val="dk1"/>
              </a:buClr>
              <a:buSzPct val="100000"/>
              <a:buFont typeface="Arial"/>
              <a:buChar char="•"/>
            </a:pPr>
            <a:r>
              <a:rPr lang="en-US" sz="2667"/>
              <a:t>RAID0 is the fastest of all RAID levels but is also the least reliable.</a:t>
            </a:r>
            <a:endParaRPr/>
          </a:p>
          <a:p>
            <a:pPr indent="-228660" lvl="0" marL="228600" rtl="0" algn="l">
              <a:lnSpc>
                <a:spcPct val="90000"/>
              </a:lnSpc>
              <a:spcBef>
                <a:spcPts val="1000"/>
              </a:spcBef>
              <a:spcAft>
                <a:spcPts val="0"/>
              </a:spcAft>
              <a:buClr>
                <a:schemeClr val="dk1"/>
              </a:buClr>
              <a:buSzPct val="100000"/>
              <a:buFont typeface="Arial"/>
              <a:buChar char="•"/>
            </a:pPr>
            <a:r>
              <a:rPr lang="en-US" sz="2667"/>
              <a:t>The performance of the RAID controller is a factor of the number of drives and its own processing engine.</a:t>
            </a:r>
            <a:endParaRPr/>
          </a:p>
        </p:txBody>
      </p:sp>
      <p:sp>
        <p:nvSpPr>
          <p:cNvPr id="229" name="Google Shape;229;p15"/>
          <p:cNvSpPr txBox="1"/>
          <p:nvPr>
            <p:ph idx="10" type="dt"/>
          </p:nvPr>
        </p:nvSpPr>
        <p:spPr>
          <a:xfrm>
            <a:off x="8093240" y="6613560"/>
            <a:ext cx="3972947" cy="182563"/>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US" sz="1067">
                <a:solidFill>
                  <a:srgbClr val="000000"/>
                </a:solidFill>
                <a:latin typeface="Arial"/>
                <a:ea typeface="Arial"/>
                <a:cs typeface="Arial"/>
                <a:sym typeface="Arial"/>
              </a:rPr>
              <a:t>‹#›</a:t>
            </a:fld>
            <a:r>
              <a:rPr lang="en-US" sz="1067">
                <a:solidFill>
                  <a:srgbClr val="000000"/>
                </a:solidFill>
                <a:latin typeface="Arial"/>
                <a:ea typeface="Arial"/>
                <a:cs typeface="Arial"/>
                <a:sym typeface="Arial"/>
              </a:rPr>
              <a:t> – ESnet Science Engagement (</a:t>
            </a:r>
            <a:r>
              <a:rPr lang="en-US" sz="1067" u="sng">
                <a:solidFill>
                  <a:srgbClr val="000000"/>
                </a:solidFill>
                <a:latin typeface="Arial"/>
                <a:ea typeface="Arial"/>
                <a:cs typeface="Arial"/>
                <a:sym typeface="Arial"/>
                <a:hlinkClick r:id="rId4">
                  <a:extLst>
                    <a:ext uri="{A12FA001-AC4F-418D-AE19-62706E023703}">
                      <ahyp:hlinkClr val="tx"/>
                    </a:ext>
                  </a:extLst>
                </a:hlinkClick>
              </a:rPr>
              <a:t>engage@es.net</a:t>
            </a:r>
            <a:r>
              <a:rPr lang="en-US" sz="1067">
                <a:solidFill>
                  <a:srgbClr val="000000"/>
                </a:solidFill>
                <a:latin typeface="Arial"/>
                <a:ea typeface="Arial"/>
                <a:cs typeface="Arial"/>
                <a:sym typeface="Arial"/>
              </a:rPr>
              <a:t>) - 5/12/2024</a:t>
            </a:r>
            <a:endParaRPr sz="1067">
              <a:solidFill>
                <a:srgbClr val="000000"/>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1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5333"/>
              <a:buFont typeface="Calibri"/>
              <a:buNone/>
            </a:pPr>
            <a:r>
              <a:rPr lang="en-US" sz="5333"/>
              <a:t>RAID Controller</a:t>
            </a:r>
            <a:endParaRPr/>
          </a:p>
        </p:txBody>
      </p:sp>
      <p:sp>
        <p:nvSpPr>
          <p:cNvPr id="236" name="Google Shape;236;p16"/>
          <p:cNvSpPr txBox="1"/>
          <p:nvPr>
            <p:ph idx="1" type="body"/>
          </p:nvPr>
        </p:nvSpPr>
        <p:spPr>
          <a:xfrm>
            <a:off x="609600" y="1612900"/>
            <a:ext cx="10972800" cy="4525963"/>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Be sure your RAID controller has the following:</a:t>
            </a:r>
            <a:endParaRPr/>
          </a:p>
          <a:p>
            <a:pPr indent="-228600" lvl="1" marL="685800" rtl="0" algn="l">
              <a:lnSpc>
                <a:spcPct val="90000"/>
              </a:lnSpc>
              <a:spcBef>
                <a:spcPts val="500"/>
              </a:spcBef>
              <a:spcAft>
                <a:spcPts val="0"/>
              </a:spcAft>
              <a:buClr>
                <a:schemeClr val="dk1"/>
              </a:buClr>
              <a:buSzPts val="2400"/>
              <a:buFont typeface="Arial"/>
              <a:buChar char="•"/>
            </a:pPr>
            <a:r>
              <a:rPr lang="en-US"/>
              <a:t>&gt;= 1GB of on-board cache</a:t>
            </a:r>
            <a:endParaRPr/>
          </a:p>
          <a:p>
            <a:pPr indent="-228600" lvl="1" marL="685800" rtl="0" algn="l">
              <a:lnSpc>
                <a:spcPct val="90000"/>
              </a:lnSpc>
              <a:spcBef>
                <a:spcPts val="500"/>
              </a:spcBef>
              <a:spcAft>
                <a:spcPts val="0"/>
              </a:spcAft>
              <a:buClr>
                <a:schemeClr val="dk1"/>
              </a:buClr>
              <a:buSzPts val="2400"/>
              <a:buFont typeface="Arial"/>
              <a:buChar char="•"/>
            </a:pPr>
            <a:r>
              <a:rPr lang="en-US"/>
              <a:t>PCIe Gen3 support (and your board can support that)</a:t>
            </a:r>
            <a:endParaRPr/>
          </a:p>
          <a:p>
            <a:pPr indent="-228600" lvl="1" marL="685800" rtl="0" algn="l">
              <a:lnSpc>
                <a:spcPct val="90000"/>
              </a:lnSpc>
              <a:spcBef>
                <a:spcPts val="500"/>
              </a:spcBef>
              <a:spcAft>
                <a:spcPts val="0"/>
              </a:spcAft>
              <a:buClr>
                <a:schemeClr val="dk1"/>
              </a:buClr>
              <a:buSzPts val="2400"/>
              <a:buFont typeface="Arial"/>
              <a:buChar char="•"/>
            </a:pPr>
            <a:r>
              <a:rPr lang="en-US"/>
              <a:t>dual-core RAID-on-Chip (ROC) processor </a:t>
            </a:r>
            <a:r>
              <a:rPr b="1" i="1" lang="en-US">
                <a:solidFill>
                  <a:srgbClr val="FF0000"/>
                </a:solidFill>
              </a:rPr>
              <a:t>if you will have more than 8 drives</a:t>
            </a:r>
            <a:endParaRPr/>
          </a:p>
        </p:txBody>
      </p:sp>
      <p:sp>
        <p:nvSpPr>
          <p:cNvPr id="237" name="Google Shape;237;p16"/>
          <p:cNvSpPr txBox="1"/>
          <p:nvPr>
            <p:ph idx="10" type="dt"/>
          </p:nvPr>
        </p:nvSpPr>
        <p:spPr>
          <a:xfrm>
            <a:off x="8093240" y="6613560"/>
            <a:ext cx="3972947" cy="182563"/>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US" sz="1067">
                <a:solidFill>
                  <a:srgbClr val="000000"/>
                </a:solidFill>
                <a:latin typeface="Arial"/>
                <a:ea typeface="Arial"/>
                <a:cs typeface="Arial"/>
                <a:sym typeface="Arial"/>
              </a:rPr>
              <a:t>‹#›</a:t>
            </a:fld>
            <a:r>
              <a:rPr lang="en-US" sz="1067">
                <a:solidFill>
                  <a:srgbClr val="000000"/>
                </a:solidFill>
                <a:latin typeface="Arial"/>
                <a:ea typeface="Arial"/>
                <a:cs typeface="Arial"/>
                <a:sym typeface="Arial"/>
              </a:rPr>
              <a:t> – ESnet Science Engagement (</a:t>
            </a:r>
            <a:r>
              <a:rPr lang="en-US" sz="1067" u="sng">
                <a:solidFill>
                  <a:srgbClr val="000000"/>
                </a:solidFill>
                <a:latin typeface="Arial"/>
                <a:ea typeface="Arial"/>
                <a:cs typeface="Arial"/>
                <a:sym typeface="Arial"/>
                <a:hlinkClick r:id="rId3">
                  <a:extLst>
                    <a:ext uri="{A12FA001-AC4F-418D-AE19-62706E023703}">
                      <ahyp:hlinkClr val="tx"/>
                    </a:ext>
                  </a:extLst>
                </a:hlinkClick>
              </a:rPr>
              <a:t>engage@es.net</a:t>
            </a:r>
            <a:r>
              <a:rPr lang="en-US" sz="1067">
                <a:solidFill>
                  <a:srgbClr val="000000"/>
                </a:solidFill>
                <a:latin typeface="Arial"/>
                <a:ea typeface="Arial"/>
                <a:cs typeface="Arial"/>
                <a:sym typeface="Arial"/>
              </a:rPr>
              <a:t>) - 5/12/2024</a:t>
            </a:r>
            <a:endParaRPr sz="1067">
              <a:solidFill>
                <a:srgbClr val="000000"/>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1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5333"/>
              <a:buFont typeface="Calibri"/>
              <a:buNone/>
            </a:pPr>
            <a:r>
              <a:rPr lang="en-US" sz="5333"/>
              <a:t>Network Subsystem Selection</a:t>
            </a:r>
            <a:endParaRPr/>
          </a:p>
        </p:txBody>
      </p:sp>
      <p:sp>
        <p:nvSpPr>
          <p:cNvPr id="244" name="Google Shape;244;p17"/>
          <p:cNvSpPr txBox="1"/>
          <p:nvPr>
            <p:ph idx="1" type="body"/>
          </p:nvPr>
        </p:nvSpPr>
        <p:spPr>
          <a:xfrm>
            <a:off x="609600" y="1328739"/>
            <a:ext cx="10972800" cy="4886325"/>
          </a:xfrm>
          <a:prstGeom prst="rect">
            <a:avLst/>
          </a:prstGeom>
          <a:noFill/>
          <a:ln>
            <a:noFill/>
          </a:ln>
        </p:spPr>
        <p:txBody>
          <a:bodyPr anchorCtr="0" anchor="t" bIns="45700" lIns="91425" spcFirstLastPara="1" rIns="91425" wrap="square" tIns="45700">
            <a:normAutofit lnSpcReduction="10000"/>
          </a:bodyPr>
          <a:lstStyle/>
          <a:p>
            <a:pPr indent="-228600" lvl="0" marL="228600" rtl="0" algn="l">
              <a:lnSpc>
                <a:spcPct val="90000"/>
              </a:lnSpc>
              <a:spcBef>
                <a:spcPts val="0"/>
              </a:spcBef>
              <a:spcAft>
                <a:spcPts val="0"/>
              </a:spcAft>
              <a:buClr>
                <a:schemeClr val="dk1"/>
              </a:buClr>
              <a:buSzPts val="2400"/>
              <a:buChar char="•"/>
            </a:pPr>
            <a:r>
              <a:rPr lang="en-US" sz="2400"/>
              <a:t>There is a huge performance difference between cheap and expensive 10G/40G NICs.</a:t>
            </a:r>
            <a:endParaRPr/>
          </a:p>
          <a:p>
            <a:pPr indent="-228600" lvl="1" marL="685800" rtl="0" algn="l">
              <a:lnSpc>
                <a:spcPct val="90000"/>
              </a:lnSpc>
              <a:spcBef>
                <a:spcPts val="500"/>
              </a:spcBef>
              <a:spcAft>
                <a:spcPts val="0"/>
              </a:spcAft>
              <a:buClr>
                <a:schemeClr val="dk1"/>
              </a:buClr>
              <a:buSzPts val="2400"/>
              <a:buChar char="•"/>
            </a:pPr>
            <a:r>
              <a:rPr lang="en-US"/>
              <a:t>E.g. please don’t cheap out on the NIC – it’s important for an optimized DTN host. </a:t>
            </a:r>
            <a:endParaRPr/>
          </a:p>
          <a:p>
            <a:pPr indent="-228600" lvl="0" marL="228600" rtl="0" algn="l">
              <a:lnSpc>
                <a:spcPct val="90000"/>
              </a:lnSpc>
              <a:spcBef>
                <a:spcPts val="1000"/>
              </a:spcBef>
              <a:spcAft>
                <a:spcPts val="0"/>
              </a:spcAft>
              <a:buClr>
                <a:schemeClr val="dk1"/>
              </a:buClr>
              <a:buSzPts val="2400"/>
              <a:buChar char="•"/>
            </a:pPr>
            <a:r>
              <a:rPr lang="en-US" sz="2400"/>
              <a:t>NIC features to look for include:</a:t>
            </a:r>
            <a:endParaRPr/>
          </a:p>
          <a:p>
            <a:pPr indent="-228600" lvl="1" marL="685800" rtl="0" algn="l">
              <a:lnSpc>
                <a:spcPct val="90000"/>
              </a:lnSpc>
              <a:spcBef>
                <a:spcPts val="500"/>
              </a:spcBef>
              <a:spcAft>
                <a:spcPts val="0"/>
              </a:spcAft>
              <a:buClr>
                <a:schemeClr val="dk1"/>
              </a:buClr>
              <a:buSzPts val="2400"/>
              <a:buChar char="•"/>
            </a:pPr>
            <a:r>
              <a:rPr lang="en-US"/>
              <a:t>support for interrupt coalescing</a:t>
            </a:r>
            <a:endParaRPr/>
          </a:p>
          <a:p>
            <a:pPr indent="-228600" lvl="1" marL="685800" rtl="0" algn="l">
              <a:lnSpc>
                <a:spcPct val="90000"/>
              </a:lnSpc>
              <a:spcBef>
                <a:spcPts val="500"/>
              </a:spcBef>
              <a:spcAft>
                <a:spcPts val="0"/>
              </a:spcAft>
              <a:buClr>
                <a:schemeClr val="dk1"/>
              </a:buClr>
              <a:buSzPts val="2400"/>
              <a:buChar char="•"/>
            </a:pPr>
            <a:r>
              <a:rPr lang="en-US"/>
              <a:t>support for MSI-X</a:t>
            </a:r>
            <a:endParaRPr/>
          </a:p>
          <a:p>
            <a:pPr indent="-228600" lvl="1" marL="685800" rtl="0" algn="l">
              <a:lnSpc>
                <a:spcPct val="90000"/>
              </a:lnSpc>
              <a:spcBef>
                <a:spcPts val="500"/>
              </a:spcBef>
              <a:spcAft>
                <a:spcPts val="0"/>
              </a:spcAft>
              <a:buClr>
                <a:schemeClr val="dk1"/>
              </a:buClr>
              <a:buSzPts val="2400"/>
              <a:buChar char="•"/>
            </a:pPr>
            <a:r>
              <a:rPr lang="en-US"/>
              <a:t>TCP Offload Engine (TOE)</a:t>
            </a:r>
            <a:endParaRPr/>
          </a:p>
          <a:p>
            <a:pPr indent="-228600" lvl="1" marL="685800" rtl="0" algn="l">
              <a:lnSpc>
                <a:spcPct val="90000"/>
              </a:lnSpc>
              <a:spcBef>
                <a:spcPts val="500"/>
              </a:spcBef>
              <a:spcAft>
                <a:spcPts val="0"/>
              </a:spcAft>
              <a:buClr>
                <a:srgbClr val="FF0000"/>
              </a:buClr>
              <a:buSzPts val="2400"/>
              <a:buChar char="•"/>
            </a:pPr>
            <a:r>
              <a:rPr b="1" i="1" lang="en-US">
                <a:solidFill>
                  <a:srgbClr val="FF0000"/>
                </a:solidFill>
              </a:rPr>
              <a:t>support for zero-copy protocols such as RDMA (RoCE or iWARP)</a:t>
            </a:r>
            <a:endParaRPr/>
          </a:p>
          <a:p>
            <a:pPr indent="-228600" lvl="0" marL="228600" rtl="0" algn="l">
              <a:lnSpc>
                <a:spcPct val="90000"/>
              </a:lnSpc>
              <a:spcBef>
                <a:spcPts val="1000"/>
              </a:spcBef>
              <a:spcAft>
                <a:spcPts val="0"/>
              </a:spcAft>
              <a:buClr>
                <a:schemeClr val="dk1"/>
              </a:buClr>
              <a:buSzPts val="2400"/>
              <a:buChar char="•"/>
            </a:pPr>
            <a:r>
              <a:rPr lang="en-US" sz="2400"/>
              <a:t>Note that many 10G/40G/100G NICs come in dual ports, but that </a:t>
            </a:r>
            <a:r>
              <a:rPr b="1" i="1" lang="en-US" sz="2400" u="sng"/>
              <a:t>does not mean if you use both ports at the same time you get double the performance</a:t>
            </a:r>
            <a:r>
              <a:rPr lang="en-US" sz="2400"/>
              <a:t>. Often the second port is meant to be used as a backup port.</a:t>
            </a:r>
            <a:endParaRPr/>
          </a:p>
          <a:p>
            <a:pPr indent="-228600" lvl="1" marL="685800" rtl="0" algn="l">
              <a:lnSpc>
                <a:spcPct val="90000"/>
              </a:lnSpc>
              <a:spcBef>
                <a:spcPts val="500"/>
              </a:spcBef>
              <a:spcAft>
                <a:spcPts val="0"/>
              </a:spcAft>
              <a:buClr>
                <a:schemeClr val="dk1"/>
              </a:buClr>
              <a:buSzPts val="2400"/>
              <a:buChar char="•"/>
            </a:pPr>
            <a:r>
              <a:rPr lang="en-US"/>
              <a:t>Myricom 10G-PCIE2-8C2-2S </a:t>
            </a:r>
            <a:endParaRPr/>
          </a:p>
          <a:p>
            <a:pPr indent="-228600" lvl="1" marL="685800" rtl="0" algn="l">
              <a:lnSpc>
                <a:spcPct val="90000"/>
              </a:lnSpc>
              <a:spcBef>
                <a:spcPts val="500"/>
              </a:spcBef>
              <a:spcAft>
                <a:spcPts val="0"/>
              </a:spcAft>
              <a:buClr>
                <a:schemeClr val="dk1"/>
              </a:buClr>
              <a:buSzPts val="2400"/>
              <a:buChar char="•"/>
            </a:pPr>
            <a:r>
              <a:rPr lang="en-US"/>
              <a:t>Mellanox MCX312A-XCBT</a:t>
            </a:r>
            <a:endParaRPr/>
          </a:p>
          <a:p>
            <a:pPr indent="-228600" lvl="1" marL="685800" rtl="0" algn="l">
              <a:lnSpc>
                <a:spcPct val="90000"/>
              </a:lnSpc>
              <a:spcBef>
                <a:spcPts val="500"/>
              </a:spcBef>
              <a:spcAft>
                <a:spcPts val="0"/>
              </a:spcAft>
              <a:buClr>
                <a:schemeClr val="dk1"/>
              </a:buClr>
              <a:buSzPts val="2400"/>
              <a:buChar char="•"/>
            </a:pPr>
            <a:r>
              <a:rPr lang="en-US"/>
              <a:t>Mellanox ConnectX-3 , ConnectX-4 </a:t>
            </a:r>
            <a:endParaRPr/>
          </a:p>
          <a:p>
            <a:pPr indent="-76200" lvl="1" marL="685800" rtl="0" algn="l">
              <a:lnSpc>
                <a:spcPct val="90000"/>
              </a:lnSpc>
              <a:spcBef>
                <a:spcPts val="500"/>
              </a:spcBef>
              <a:spcAft>
                <a:spcPts val="0"/>
              </a:spcAft>
              <a:buClr>
                <a:schemeClr val="dk1"/>
              </a:buClr>
              <a:buSzPts val="2400"/>
              <a:buNone/>
            </a:pPr>
            <a:r>
              <a:t/>
            </a:r>
            <a:endParaRPr/>
          </a:p>
        </p:txBody>
      </p:sp>
      <p:sp>
        <p:nvSpPr>
          <p:cNvPr id="245" name="Google Shape;245;p17"/>
          <p:cNvSpPr txBox="1"/>
          <p:nvPr>
            <p:ph idx="10" type="dt"/>
          </p:nvPr>
        </p:nvSpPr>
        <p:spPr>
          <a:xfrm>
            <a:off x="8093240" y="6613560"/>
            <a:ext cx="3972947" cy="182563"/>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US" sz="1067">
                <a:solidFill>
                  <a:srgbClr val="000000"/>
                </a:solidFill>
                <a:latin typeface="Arial"/>
                <a:ea typeface="Arial"/>
                <a:cs typeface="Arial"/>
                <a:sym typeface="Arial"/>
              </a:rPr>
              <a:t>‹#›</a:t>
            </a:fld>
            <a:r>
              <a:rPr lang="en-US" sz="1067">
                <a:solidFill>
                  <a:srgbClr val="000000"/>
                </a:solidFill>
                <a:latin typeface="Arial"/>
                <a:ea typeface="Arial"/>
                <a:cs typeface="Arial"/>
                <a:sym typeface="Arial"/>
              </a:rPr>
              <a:t> – ESnet Science Engagement (</a:t>
            </a:r>
            <a:r>
              <a:rPr lang="en-US" sz="1067" u="sng">
                <a:solidFill>
                  <a:srgbClr val="000000"/>
                </a:solidFill>
                <a:latin typeface="Arial"/>
                <a:ea typeface="Arial"/>
                <a:cs typeface="Arial"/>
                <a:sym typeface="Arial"/>
                <a:hlinkClick r:id="rId3">
                  <a:extLst>
                    <a:ext uri="{A12FA001-AC4F-418D-AE19-62706E023703}">
                      <ahyp:hlinkClr val="tx"/>
                    </a:ext>
                  </a:extLst>
                </a:hlinkClick>
              </a:rPr>
              <a:t>engage@es.net</a:t>
            </a:r>
            <a:r>
              <a:rPr lang="en-US" sz="1067">
                <a:solidFill>
                  <a:srgbClr val="000000"/>
                </a:solidFill>
                <a:latin typeface="Arial"/>
                <a:ea typeface="Arial"/>
                <a:cs typeface="Arial"/>
                <a:sym typeface="Arial"/>
              </a:rPr>
              <a:t>) - 5/12/2024</a:t>
            </a:r>
            <a:endParaRPr sz="1067">
              <a:solidFill>
                <a:srgbClr val="000000"/>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p1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5333"/>
              <a:buFont typeface="Calibri"/>
              <a:buNone/>
            </a:pPr>
            <a:r>
              <a:rPr lang="en-US" sz="5333"/>
              <a:t>Reference Implementation (2023)</a:t>
            </a:r>
            <a:endParaRPr/>
          </a:p>
        </p:txBody>
      </p:sp>
      <p:sp>
        <p:nvSpPr>
          <p:cNvPr id="252" name="Google Shape;252;p18"/>
          <p:cNvSpPr txBox="1"/>
          <p:nvPr>
            <p:ph idx="1" type="body"/>
          </p:nvPr>
        </p:nvSpPr>
        <p:spPr>
          <a:xfrm>
            <a:off x="609600" y="1328739"/>
            <a:ext cx="10972800" cy="4886325"/>
          </a:xfrm>
          <a:prstGeom prst="rect">
            <a:avLst/>
          </a:prstGeom>
          <a:noFill/>
          <a:ln>
            <a:noFill/>
          </a:ln>
        </p:spPr>
        <p:txBody>
          <a:bodyPr anchorCtr="0" anchor="t" bIns="45700" lIns="91425" spcFirstLastPara="1" rIns="91425" wrap="square" tIns="45700">
            <a:normAutofit fontScale="62500" lnSpcReduction="20000"/>
          </a:bodyPr>
          <a:lstStyle/>
          <a:p>
            <a:pPr indent="-228600" lvl="0" marL="228600" rtl="0" algn="l">
              <a:lnSpc>
                <a:spcPct val="90000"/>
              </a:lnSpc>
              <a:spcBef>
                <a:spcPts val="0"/>
              </a:spcBef>
              <a:spcAft>
                <a:spcPts val="0"/>
              </a:spcAft>
              <a:buClr>
                <a:schemeClr val="dk1"/>
              </a:buClr>
              <a:buSzPct val="100000"/>
              <a:buChar char="•"/>
            </a:pPr>
            <a:r>
              <a:rPr lang="en-US" sz="2400"/>
              <a:t>Hardware description</a:t>
            </a:r>
            <a:endParaRPr/>
          </a:p>
          <a:p>
            <a:pPr indent="-228600" lvl="0" marL="228600" rtl="0" algn="l">
              <a:lnSpc>
                <a:spcPct val="90000"/>
              </a:lnSpc>
              <a:spcBef>
                <a:spcPts val="1000"/>
              </a:spcBef>
              <a:spcAft>
                <a:spcPts val="0"/>
              </a:spcAft>
              <a:buClr>
                <a:srgbClr val="000000"/>
              </a:buClr>
              <a:buSzPct val="100000"/>
              <a:buFont typeface="Arial"/>
              <a:buChar char="•"/>
            </a:pPr>
            <a:r>
              <a:rPr b="0" i="0" lang="en-US" sz="1800">
                <a:solidFill>
                  <a:srgbClr val="000000"/>
                </a:solidFill>
                <a:latin typeface="Open Sans"/>
                <a:ea typeface="Open Sans"/>
                <a:cs typeface="Open Sans"/>
                <a:sym typeface="Open Sans"/>
              </a:rPr>
              <a:t>The total cost of this server was around $25K in late 2022.  These systems be deployed to ESnet in late 2022 and into 2023 for ESnet6</a:t>
            </a:r>
            <a:endParaRPr/>
          </a:p>
          <a:p>
            <a:pPr indent="-228600" lvl="0" marL="228600" rtl="0" algn="l">
              <a:lnSpc>
                <a:spcPct val="90000"/>
              </a:lnSpc>
              <a:spcBef>
                <a:spcPts val="1000"/>
              </a:spcBef>
              <a:spcAft>
                <a:spcPts val="0"/>
              </a:spcAft>
              <a:buClr>
                <a:srgbClr val="000000"/>
              </a:buClr>
              <a:buSzPct val="100000"/>
              <a:buFont typeface="Arial"/>
              <a:buChar char="•"/>
            </a:pPr>
            <a:r>
              <a:rPr b="0" i="0" lang="en-US">
                <a:solidFill>
                  <a:srgbClr val="000000"/>
                </a:solidFill>
                <a:highlight>
                  <a:srgbClr val="FFFFFF"/>
                </a:highlight>
                <a:latin typeface="Open Sans"/>
                <a:ea typeface="Open Sans"/>
                <a:cs typeface="Open Sans"/>
                <a:sym typeface="Open Sans"/>
              </a:rPr>
              <a:t>Base System:  </a:t>
            </a:r>
            <a:r>
              <a:rPr b="0" i="0" lang="en-US" u="sng">
                <a:solidFill>
                  <a:srgbClr val="2C4E95"/>
                </a:solidFill>
                <a:highlight>
                  <a:srgbClr val="FFFFFF"/>
                </a:highlight>
                <a:latin typeface="Open Sans"/>
                <a:ea typeface="Open Sans"/>
                <a:cs typeface="Open Sans"/>
                <a:sym typeface="Open Sans"/>
                <a:hlinkClick r:id="rId3">
                  <a:extLst>
                    <a:ext uri="{A12FA001-AC4F-418D-AE19-62706E023703}">
                      <ahyp:hlinkClr val="tx"/>
                    </a:ext>
                  </a:extLst>
                </a:hlinkClick>
              </a:rPr>
              <a:t>Supermicro 2124US-TNRP</a:t>
            </a:r>
            <a:r>
              <a:rPr b="0" i="0" lang="en-US">
                <a:solidFill>
                  <a:srgbClr val="000000"/>
                </a:solidFill>
                <a:highlight>
                  <a:srgbClr val="FFFFFF"/>
                </a:highlight>
                <a:latin typeface="Open Sans"/>
                <a:ea typeface="Open Sans"/>
                <a:cs typeface="Open Sans"/>
                <a:sym typeface="Open Sans"/>
              </a:rPr>
              <a:t> 2U dual AMD socket SP3 server</a:t>
            </a:r>
            <a:endParaRPr/>
          </a:p>
          <a:p>
            <a:pPr indent="-285750" lvl="1" marL="742950" rtl="0" algn="l">
              <a:lnSpc>
                <a:spcPct val="90000"/>
              </a:lnSpc>
              <a:spcBef>
                <a:spcPts val="500"/>
              </a:spcBef>
              <a:spcAft>
                <a:spcPts val="0"/>
              </a:spcAft>
              <a:buClr>
                <a:srgbClr val="000000"/>
              </a:buClr>
              <a:buSzPct val="100000"/>
              <a:buFont typeface="Arial"/>
              <a:buChar char="•"/>
            </a:pPr>
            <a:r>
              <a:rPr b="0" i="0" lang="en-US">
                <a:solidFill>
                  <a:srgbClr val="000000"/>
                </a:solidFill>
                <a:highlight>
                  <a:srgbClr val="FFFFFF"/>
                </a:highlight>
                <a:latin typeface="Open Sans"/>
                <a:ea typeface="Open Sans"/>
                <a:cs typeface="Open Sans"/>
                <a:sym typeface="Open Sans"/>
              </a:rPr>
              <a:t>onboard VGA, dual10G RJ45, dual10G SFP+, onboard dedicated IPMI RJ45</a:t>
            </a:r>
            <a:endParaRPr/>
          </a:p>
          <a:p>
            <a:pPr indent="-285750" lvl="1" marL="742950" rtl="0" algn="l">
              <a:lnSpc>
                <a:spcPct val="90000"/>
              </a:lnSpc>
              <a:spcBef>
                <a:spcPts val="500"/>
              </a:spcBef>
              <a:spcAft>
                <a:spcPts val="0"/>
              </a:spcAft>
              <a:buClr>
                <a:srgbClr val="000000"/>
              </a:buClr>
              <a:buSzPct val="100000"/>
              <a:buFont typeface="Arial"/>
              <a:buChar char="•"/>
            </a:pPr>
            <a:r>
              <a:rPr b="0" i="0" lang="en-US">
                <a:solidFill>
                  <a:srgbClr val="000000"/>
                </a:solidFill>
                <a:highlight>
                  <a:srgbClr val="FFFFFF"/>
                </a:highlight>
                <a:latin typeface="Open Sans"/>
                <a:ea typeface="Open Sans"/>
                <a:cs typeface="Open Sans"/>
                <a:sym typeface="Open Sans"/>
              </a:rPr>
              <a:t>1 PCI-E 4.0 x16 slot,</a:t>
            </a:r>
            <a:endParaRPr/>
          </a:p>
          <a:p>
            <a:pPr indent="-285750" lvl="1" marL="742950" rtl="0" algn="l">
              <a:lnSpc>
                <a:spcPct val="90000"/>
              </a:lnSpc>
              <a:spcBef>
                <a:spcPts val="500"/>
              </a:spcBef>
              <a:spcAft>
                <a:spcPts val="0"/>
              </a:spcAft>
              <a:buClr>
                <a:srgbClr val="000000"/>
              </a:buClr>
              <a:buSzPct val="100000"/>
              <a:buFont typeface="Arial"/>
              <a:buChar char="•"/>
            </a:pPr>
            <a:r>
              <a:rPr b="0" i="0" lang="en-US">
                <a:solidFill>
                  <a:srgbClr val="000000"/>
                </a:solidFill>
                <a:highlight>
                  <a:srgbClr val="FFFFFF"/>
                </a:highlight>
                <a:latin typeface="Open Sans"/>
                <a:ea typeface="Open Sans"/>
                <a:cs typeface="Open Sans"/>
                <a:sym typeface="Open Sans"/>
              </a:rPr>
              <a:t>24 front access NVME hotswap bays</a:t>
            </a:r>
            <a:endParaRPr/>
          </a:p>
          <a:p>
            <a:pPr indent="-285750" lvl="1" marL="742950" rtl="0" algn="l">
              <a:lnSpc>
                <a:spcPct val="90000"/>
              </a:lnSpc>
              <a:spcBef>
                <a:spcPts val="500"/>
              </a:spcBef>
              <a:spcAft>
                <a:spcPts val="0"/>
              </a:spcAft>
              <a:buClr>
                <a:srgbClr val="000000"/>
              </a:buClr>
              <a:buSzPct val="100000"/>
              <a:buFont typeface="Arial"/>
              <a:buChar char="•"/>
            </a:pPr>
            <a:r>
              <a:rPr b="0" i="0" lang="en-US">
                <a:solidFill>
                  <a:srgbClr val="000000"/>
                </a:solidFill>
                <a:highlight>
                  <a:srgbClr val="FFFFFF"/>
                </a:highlight>
                <a:latin typeface="Open Sans"/>
                <a:ea typeface="Open Sans"/>
                <a:cs typeface="Open Sans"/>
                <a:sym typeface="Open Sans"/>
              </a:rPr>
              <a:t>dual redundant hotswap 1200W PSU</a:t>
            </a:r>
            <a:endParaRPr/>
          </a:p>
          <a:p>
            <a:pPr indent="-228600" lvl="0" marL="228600" rtl="0" algn="l">
              <a:lnSpc>
                <a:spcPct val="90000"/>
              </a:lnSpc>
              <a:spcBef>
                <a:spcPts val="1000"/>
              </a:spcBef>
              <a:spcAft>
                <a:spcPts val="0"/>
              </a:spcAft>
              <a:buClr>
                <a:srgbClr val="000000"/>
              </a:buClr>
              <a:buSzPct val="100000"/>
              <a:buFont typeface="Arial"/>
              <a:buChar char="•"/>
            </a:pPr>
            <a:r>
              <a:rPr b="0" i="0" lang="en-US">
                <a:solidFill>
                  <a:srgbClr val="000000"/>
                </a:solidFill>
                <a:highlight>
                  <a:srgbClr val="FFFFFF"/>
                </a:highlight>
                <a:latin typeface="Open Sans"/>
                <a:ea typeface="Open Sans"/>
                <a:cs typeface="Open Sans"/>
                <a:sym typeface="Open Sans"/>
              </a:rPr>
              <a:t>2x AMD EPYC Milan 73F3</a:t>
            </a:r>
            <a:endParaRPr/>
          </a:p>
          <a:p>
            <a:pPr indent="-285750" lvl="1" marL="742950" rtl="0" algn="l">
              <a:lnSpc>
                <a:spcPct val="90000"/>
              </a:lnSpc>
              <a:spcBef>
                <a:spcPts val="500"/>
              </a:spcBef>
              <a:spcAft>
                <a:spcPts val="0"/>
              </a:spcAft>
              <a:buClr>
                <a:srgbClr val="000000"/>
              </a:buClr>
              <a:buSzPct val="100000"/>
              <a:buFont typeface="Arial"/>
              <a:buChar char="•"/>
            </a:pPr>
            <a:r>
              <a:rPr b="0" i="0" lang="en-US">
                <a:solidFill>
                  <a:srgbClr val="000000"/>
                </a:solidFill>
                <a:highlight>
                  <a:srgbClr val="FFFFFF"/>
                </a:highlight>
                <a:latin typeface="Open Sans"/>
                <a:ea typeface="Open Sans"/>
                <a:cs typeface="Open Sans"/>
                <a:sym typeface="Open Sans"/>
              </a:rPr>
              <a:t>16 cores each</a:t>
            </a:r>
            <a:endParaRPr/>
          </a:p>
          <a:p>
            <a:pPr indent="-285750" lvl="1" marL="742950" rtl="0" algn="l">
              <a:lnSpc>
                <a:spcPct val="90000"/>
              </a:lnSpc>
              <a:spcBef>
                <a:spcPts val="500"/>
              </a:spcBef>
              <a:spcAft>
                <a:spcPts val="0"/>
              </a:spcAft>
              <a:buClr>
                <a:srgbClr val="000000"/>
              </a:buClr>
              <a:buSzPct val="100000"/>
              <a:buFont typeface="Arial"/>
              <a:buChar char="•"/>
            </a:pPr>
            <a:r>
              <a:rPr b="0" i="0" lang="en-US">
                <a:solidFill>
                  <a:srgbClr val="000000"/>
                </a:solidFill>
                <a:highlight>
                  <a:srgbClr val="FFFFFF"/>
                </a:highlight>
                <a:latin typeface="Open Sans"/>
                <a:ea typeface="Open Sans"/>
                <a:cs typeface="Open Sans"/>
                <a:sym typeface="Open Sans"/>
              </a:rPr>
              <a:t>3.5Ghz 240W TDP processor</a:t>
            </a:r>
            <a:endParaRPr/>
          </a:p>
          <a:p>
            <a:pPr indent="-228600" lvl="0" marL="228600" rtl="0" algn="l">
              <a:lnSpc>
                <a:spcPct val="90000"/>
              </a:lnSpc>
              <a:spcBef>
                <a:spcPts val="1000"/>
              </a:spcBef>
              <a:spcAft>
                <a:spcPts val="0"/>
              </a:spcAft>
              <a:buClr>
                <a:srgbClr val="000000"/>
              </a:buClr>
              <a:buSzPct val="100000"/>
              <a:buFont typeface="Arial"/>
              <a:buChar char="•"/>
            </a:pPr>
            <a:r>
              <a:rPr b="0" i="0" lang="en-US">
                <a:solidFill>
                  <a:srgbClr val="000000"/>
                </a:solidFill>
                <a:highlight>
                  <a:srgbClr val="FFFFFF"/>
                </a:highlight>
                <a:latin typeface="Open Sans"/>
                <a:ea typeface="Open Sans"/>
                <a:cs typeface="Open Sans"/>
                <a:sym typeface="Open Sans"/>
              </a:rPr>
              <a:t>256 GB RAM - 16x 16G DDR4 3200 ECC RDIMM</a:t>
            </a:r>
            <a:endParaRPr/>
          </a:p>
          <a:p>
            <a:pPr indent="-228600" lvl="0" marL="228600" rtl="0" algn="l">
              <a:lnSpc>
                <a:spcPct val="90000"/>
              </a:lnSpc>
              <a:spcBef>
                <a:spcPts val="1000"/>
              </a:spcBef>
              <a:spcAft>
                <a:spcPts val="0"/>
              </a:spcAft>
              <a:buClr>
                <a:srgbClr val="000000"/>
              </a:buClr>
              <a:buSzPct val="100000"/>
              <a:buFont typeface="Arial"/>
              <a:buChar char="•"/>
            </a:pPr>
            <a:r>
              <a:rPr b="0" i="0" lang="en-US">
                <a:solidFill>
                  <a:srgbClr val="000000"/>
                </a:solidFill>
                <a:highlight>
                  <a:srgbClr val="FFFFFF"/>
                </a:highlight>
                <a:latin typeface="Open Sans"/>
                <a:ea typeface="Open Sans"/>
                <a:cs typeface="Open Sans"/>
                <a:sym typeface="Open Sans"/>
              </a:rPr>
              <a:t>800G System Disk: 2x Micron 7300 MAX 800G U.2/2.5" NVME</a:t>
            </a:r>
            <a:endParaRPr/>
          </a:p>
          <a:p>
            <a:pPr indent="-228600" lvl="0" marL="228600" rtl="0" algn="l">
              <a:lnSpc>
                <a:spcPct val="90000"/>
              </a:lnSpc>
              <a:spcBef>
                <a:spcPts val="1000"/>
              </a:spcBef>
              <a:spcAft>
                <a:spcPts val="0"/>
              </a:spcAft>
              <a:buClr>
                <a:srgbClr val="000000"/>
              </a:buClr>
              <a:buSzPct val="100000"/>
              <a:buFont typeface="Arial"/>
              <a:buChar char="•"/>
            </a:pPr>
            <a:r>
              <a:rPr b="0" i="0" lang="en-US">
                <a:solidFill>
                  <a:srgbClr val="000000"/>
                </a:solidFill>
                <a:highlight>
                  <a:srgbClr val="FFFFFF"/>
                </a:highlight>
                <a:latin typeface="Open Sans"/>
                <a:ea typeface="Open Sans"/>
                <a:cs typeface="Open Sans"/>
                <a:sym typeface="Open Sans"/>
              </a:rPr>
              <a:t>25TB Data Disk: 10x Micron 9300 MAX 3.2TB U.2/2.5" NVME</a:t>
            </a:r>
            <a:endParaRPr/>
          </a:p>
          <a:p>
            <a:pPr indent="-228600" lvl="0" marL="228600" rtl="0" algn="l">
              <a:lnSpc>
                <a:spcPct val="90000"/>
              </a:lnSpc>
              <a:spcBef>
                <a:spcPts val="1000"/>
              </a:spcBef>
              <a:spcAft>
                <a:spcPts val="0"/>
              </a:spcAft>
              <a:buClr>
                <a:srgbClr val="000000"/>
              </a:buClr>
              <a:buSzPct val="100000"/>
              <a:buFont typeface="Arial"/>
              <a:buChar char="•"/>
            </a:pPr>
            <a:r>
              <a:rPr b="0" i="0" lang="en-US">
                <a:solidFill>
                  <a:srgbClr val="000000"/>
                </a:solidFill>
                <a:highlight>
                  <a:srgbClr val="FFFFFF"/>
                </a:highlight>
                <a:latin typeface="Open Sans"/>
                <a:ea typeface="Open Sans"/>
                <a:cs typeface="Open Sans"/>
                <a:sym typeface="Open Sans"/>
              </a:rPr>
              <a:t>NVIDIA MCX613106A-VDAT ConnectX-6 EN Adapter Card 200GbE</a:t>
            </a:r>
            <a:endParaRPr/>
          </a:p>
          <a:p>
            <a:pPr indent="-228600" lvl="0" marL="228600" rtl="0" algn="l">
              <a:lnSpc>
                <a:spcPct val="90000"/>
              </a:lnSpc>
              <a:spcBef>
                <a:spcPts val="1000"/>
              </a:spcBef>
              <a:spcAft>
                <a:spcPts val="0"/>
              </a:spcAft>
              <a:buClr>
                <a:srgbClr val="000000"/>
              </a:buClr>
              <a:buSzPct val="100000"/>
              <a:buFont typeface="Arial"/>
              <a:buChar char="•"/>
            </a:pPr>
            <a:r>
              <a:rPr b="0" i="0" lang="en-US">
                <a:solidFill>
                  <a:srgbClr val="000000"/>
                </a:solidFill>
                <a:highlight>
                  <a:srgbClr val="FFFFFF"/>
                </a:highlight>
                <a:latin typeface="Open Sans"/>
                <a:ea typeface="Open Sans"/>
                <a:cs typeface="Open Sans"/>
                <a:sym typeface="Open Sans"/>
              </a:rPr>
              <a:t>Mellanox MMA1L10-CR Optical Transceiver 100GbE QSFP28 LC-LC 1310nm LR4 up to 10km</a:t>
            </a:r>
            <a:endParaRPr/>
          </a:p>
          <a:p>
            <a:pPr indent="-228600" lvl="0" marL="228600" rtl="0" algn="l">
              <a:lnSpc>
                <a:spcPct val="90000"/>
              </a:lnSpc>
              <a:spcBef>
                <a:spcPts val="1000"/>
              </a:spcBef>
              <a:spcAft>
                <a:spcPts val="0"/>
              </a:spcAft>
              <a:buClr>
                <a:srgbClr val="000000"/>
              </a:buClr>
              <a:buSzPct val="100000"/>
              <a:buFont typeface="Arial"/>
              <a:buChar char="•"/>
            </a:pPr>
            <a:r>
              <a:rPr b="0" i="0" lang="en-US">
                <a:solidFill>
                  <a:srgbClr val="000000"/>
                </a:solidFill>
                <a:highlight>
                  <a:srgbClr val="FFFFFF"/>
                </a:highlight>
                <a:latin typeface="Open Sans"/>
                <a:ea typeface="Open Sans"/>
                <a:cs typeface="Open Sans"/>
                <a:sym typeface="Open Sans"/>
              </a:rPr>
              <a:t>OOB license for IPMI management</a:t>
            </a:r>
            <a:endParaRPr/>
          </a:p>
          <a:p>
            <a:pPr indent="-228600" lvl="0" marL="228600" rtl="0" algn="l">
              <a:lnSpc>
                <a:spcPct val="90000"/>
              </a:lnSpc>
              <a:spcBef>
                <a:spcPts val="1000"/>
              </a:spcBef>
              <a:spcAft>
                <a:spcPts val="0"/>
              </a:spcAft>
              <a:buClr>
                <a:srgbClr val="000000"/>
              </a:buClr>
              <a:buSzPct val="100000"/>
              <a:buFont typeface="Arial"/>
              <a:buChar char="•"/>
            </a:pPr>
            <a:r>
              <a:rPr b="0" i="0" lang="en-US">
                <a:solidFill>
                  <a:srgbClr val="000000"/>
                </a:solidFill>
                <a:highlight>
                  <a:srgbClr val="FFFFFF"/>
                </a:highlight>
                <a:latin typeface="Open Sans"/>
                <a:ea typeface="Open Sans"/>
                <a:cs typeface="Open Sans"/>
                <a:sym typeface="Open Sans"/>
              </a:rPr>
              <a:t>2x 1300W -48V DC PSU   OR   2x 1200W AC PSU</a:t>
            </a:r>
            <a:endParaRPr/>
          </a:p>
        </p:txBody>
      </p:sp>
      <p:sp>
        <p:nvSpPr>
          <p:cNvPr id="253" name="Google Shape;253;p18"/>
          <p:cNvSpPr txBox="1"/>
          <p:nvPr>
            <p:ph idx="10" type="dt"/>
          </p:nvPr>
        </p:nvSpPr>
        <p:spPr>
          <a:xfrm>
            <a:off x="8093240" y="6613560"/>
            <a:ext cx="3972947" cy="182563"/>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US" sz="1067">
                <a:solidFill>
                  <a:srgbClr val="000000"/>
                </a:solidFill>
                <a:latin typeface="Arial"/>
                <a:ea typeface="Arial"/>
                <a:cs typeface="Arial"/>
                <a:sym typeface="Arial"/>
              </a:rPr>
              <a:t>‹#›</a:t>
            </a:fld>
            <a:r>
              <a:rPr lang="en-US" sz="1067">
                <a:solidFill>
                  <a:srgbClr val="000000"/>
                </a:solidFill>
                <a:latin typeface="Arial"/>
                <a:ea typeface="Arial"/>
                <a:cs typeface="Arial"/>
                <a:sym typeface="Arial"/>
              </a:rPr>
              <a:t> – ESnet Science Engagement (</a:t>
            </a:r>
            <a:r>
              <a:rPr lang="en-US" sz="1067" u="sng">
                <a:solidFill>
                  <a:srgbClr val="000000"/>
                </a:solidFill>
                <a:latin typeface="Arial"/>
                <a:ea typeface="Arial"/>
                <a:cs typeface="Arial"/>
                <a:sym typeface="Arial"/>
                <a:hlinkClick r:id="rId4">
                  <a:extLst>
                    <a:ext uri="{A12FA001-AC4F-418D-AE19-62706E023703}">
                      <ahyp:hlinkClr val="tx"/>
                    </a:ext>
                  </a:extLst>
                </a:hlinkClick>
              </a:rPr>
              <a:t>engage@es.net</a:t>
            </a:r>
            <a:r>
              <a:rPr lang="en-US" sz="1067">
                <a:solidFill>
                  <a:srgbClr val="000000"/>
                </a:solidFill>
                <a:latin typeface="Arial"/>
                <a:ea typeface="Arial"/>
                <a:cs typeface="Arial"/>
                <a:sym typeface="Arial"/>
              </a:rPr>
              <a:t>) - 5/12/2024</a:t>
            </a:r>
            <a:endParaRPr sz="1067">
              <a:solidFill>
                <a:srgbClr val="000000"/>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p1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5333"/>
              <a:buFont typeface="Calibri"/>
              <a:buNone/>
            </a:pPr>
            <a:r>
              <a:rPr lang="en-US" sz="5333"/>
              <a:t>Reference Implementation (2020)</a:t>
            </a:r>
            <a:endParaRPr/>
          </a:p>
        </p:txBody>
      </p:sp>
      <p:sp>
        <p:nvSpPr>
          <p:cNvPr id="260" name="Google Shape;260;p19"/>
          <p:cNvSpPr txBox="1"/>
          <p:nvPr>
            <p:ph idx="1" type="body"/>
          </p:nvPr>
        </p:nvSpPr>
        <p:spPr>
          <a:xfrm>
            <a:off x="609600" y="1328739"/>
            <a:ext cx="10972800" cy="4886325"/>
          </a:xfrm>
          <a:prstGeom prst="rect">
            <a:avLst/>
          </a:prstGeom>
          <a:noFill/>
          <a:ln>
            <a:noFill/>
          </a:ln>
        </p:spPr>
        <p:txBody>
          <a:bodyPr anchorCtr="0" anchor="t" bIns="45700" lIns="91425" spcFirstLastPara="1" rIns="91425" wrap="square" tIns="45700">
            <a:normAutofit lnSpcReduction="10000"/>
          </a:bodyPr>
          <a:lstStyle/>
          <a:p>
            <a:pPr indent="-228600" lvl="0" marL="228600" rtl="0" algn="l">
              <a:lnSpc>
                <a:spcPct val="90000"/>
              </a:lnSpc>
              <a:spcBef>
                <a:spcPts val="0"/>
              </a:spcBef>
              <a:spcAft>
                <a:spcPts val="0"/>
              </a:spcAft>
              <a:buClr>
                <a:schemeClr val="dk1"/>
              </a:buClr>
              <a:buSzPts val="2400"/>
              <a:buChar char="•"/>
            </a:pPr>
            <a:r>
              <a:rPr lang="en-US" sz="2400"/>
              <a:t>Hardware description</a:t>
            </a:r>
            <a:endParaRPr/>
          </a:p>
          <a:p>
            <a:pPr indent="-228600" lvl="0" marL="228600" rtl="0" algn="l">
              <a:lnSpc>
                <a:spcPct val="90000"/>
              </a:lnSpc>
              <a:spcBef>
                <a:spcPts val="1000"/>
              </a:spcBef>
              <a:spcAft>
                <a:spcPts val="0"/>
              </a:spcAft>
              <a:buClr>
                <a:srgbClr val="000000"/>
              </a:buClr>
              <a:buSzPts val="1800"/>
              <a:buFont typeface="Arial"/>
              <a:buChar char="•"/>
            </a:pPr>
            <a:r>
              <a:rPr b="0" i="0" lang="en-US" sz="1800">
                <a:solidFill>
                  <a:srgbClr val="000000"/>
                </a:solidFill>
                <a:latin typeface="Open Sans"/>
                <a:ea typeface="Open Sans"/>
                <a:cs typeface="Open Sans"/>
                <a:sym typeface="Open Sans"/>
              </a:rPr>
              <a:t>The total cost of this server was approximately $21K in mid 2019</a:t>
            </a:r>
            <a:endParaRPr/>
          </a:p>
          <a:p>
            <a:pPr indent="-228600" lvl="0" marL="228600" rtl="0" algn="l">
              <a:lnSpc>
                <a:spcPct val="90000"/>
              </a:lnSpc>
              <a:spcBef>
                <a:spcPts val="1000"/>
              </a:spcBef>
              <a:spcAft>
                <a:spcPts val="0"/>
              </a:spcAft>
              <a:buClr>
                <a:srgbClr val="000000"/>
              </a:buClr>
              <a:buSzPts val="1800"/>
              <a:buFont typeface="Arial"/>
              <a:buChar char="•"/>
            </a:pPr>
            <a:r>
              <a:rPr b="0" i="0" lang="en-US" sz="1800">
                <a:solidFill>
                  <a:srgbClr val="000000"/>
                </a:solidFill>
                <a:latin typeface="Open Sans"/>
                <a:ea typeface="Open Sans"/>
                <a:cs typeface="Open Sans"/>
                <a:sym typeface="Open Sans"/>
              </a:rPr>
              <a:t>Base System: </a:t>
            </a:r>
            <a:r>
              <a:rPr b="0" i="0" lang="en-US" sz="1800" u="sng">
                <a:solidFill>
                  <a:srgbClr val="2C4E95"/>
                </a:solidFill>
                <a:latin typeface="Open Sans"/>
                <a:ea typeface="Open Sans"/>
                <a:cs typeface="Open Sans"/>
                <a:sym typeface="Open Sans"/>
                <a:hlinkClick r:id="rId3">
                  <a:extLst>
                    <a:ext uri="{A12FA001-AC4F-418D-AE19-62706E023703}">
                      <ahyp:hlinkClr val="tx"/>
                    </a:ext>
                  </a:extLst>
                </a:hlinkClick>
              </a:rPr>
              <a:t>Gigabyte R281-NO0 dual socket P 2U server</a:t>
            </a:r>
            <a:endParaRPr b="0" i="0" sz="1800">
              <a:solidFill>
                <a:srgbClr val="000000"/>
              </a:solidFill>
              <a:latin typeface="Open Sans"/>
              <a:ea typeface="Open Sans"/>
              <a:cs typeface="Open Sans"/>
              <a:sym typeface="Open Sans"/>
            </a:endParaRPr>
          </a:p>
          <a:p>
            <a:pPr indent="-285750" lvl="1" marL="742950" rtl="0" algn="l">
              <a:lnSpc>
                <a:spcPct val="90000"/>
              </a:lnSpc>
              <a:spcBef>
                <a:spcPts val="500"/>
              </a:spcBef>
              <a:spcAft>
                <a:spcPts val="0"/>
              </a:spcAft>
              <a:buClr>
                <a:srgbClr val="000000"/>
              </a:buClr>
              <a:buSzPts val="1800"/>
              <a:buFont typeface="Arial"/>
              <a:buChar char="•"/>
            </a:pPr>
            <a:r>
              <a:rPr b="0" i="0" lang="en-US" sz="1800">
                <a:solidFill>
                  <a:srgbClr val="000000"/>
                </a:solidFill>
                <a:latin typeface="Open Sans"/>
                <a:ea typeface="Open Sans"/>
                <a:cs typeface="Open Sans"/>
                <a:sym typeface="Open Sans"/>
              </a:rPr>
              <a:t>Onboard: VGA, 2 x GbE RJ45 Intel i350, IPMI dedicated LAN</a:t>
            </a:r>
            <a:endParaRPr/>
          </a:p>
          <a:p>
            <a:pPr indent="-285750" lvl="1" marL="742950" rtl="0" algn="l">
              <a:lnSpc>
                <a:spcPct val="90000"/>
              </a:lnSpc>
              <a:spcBef>
                <a:spcPts val="500"/>
              </a:spcBef>
              <a:spcAft>
                <a:spcPts val="0"/>
              </a:spcAft>
              <a:buClr>
                <a:srgbClr val="000000"/>
              </a:buClr>
              <a:buSzPts val="1800"/>
              <a:buFont typeface="Arial"/>
              <a:buChar char="•"/>
            </a:pPr>
            <a:r>
              <a:rPr b="0" i="0" lang="en-US" sz="1800">
                <a:solidFill>
                  <a:srgbClr val="000000"/>
                </a:solidFill>
                <a:latin typeface="Open Sans"/>
                <a:ea typeface="Open Sans"/>
                <a:cs typeface="Open Sans"/>
                <a:sym typeface="Open Sans"/>
              </a:rPr>
              <a:t>24 x front access U.2 hotswap bays</a:t>
            </a:r>
            <a:endParaRPr/>
          </a:p>
          <a:p>
            <a:pPr indent="-285750" lvl="1" marL="742950" rtl="0" algn="l">
              <a:lnSpc>
                <a:spcPct val="90000"/>
              </a:lnSpc>
              <a:spcBef>
                <a:spcPts val="500"/>
              </a:spcBef>
              <a:spcAft>
                <a:spcPts val="0"/>
              </a:spcAft>
              <a:buClr>
                <a:srgbClr val="000000"/>
              </a:buClr>
              <a:buSzPts val="1800"/>
              <a:buFont typeface="Arial"/>
              <a:buChar char="•"/>
            </a:pPr>
            <a:r>
              <a:rPr b="0" i="0" lang="en-US" sz="1800">
                <a:solidFill>
                  <a:srgbClr val="000000"/>
                </a:solidFill>
                <a:latin typeface="Open Sans"/>
                <a:ea typeface="Open Sans"/>
                <a:cs typeface="Open Sans"/>
                <a:sym typeface="Open Sans"/>
              </a:rPr>
              <a:t>2 x rear access 2.5” SATA hotswap bays</a:t>
            </a:r>
            <a:endParaRPr/>
          </a:p>
          <a:p>
            <a:pPr indent="-285750" lvl="1" marL="742950" rtl="0" algn="l">
              <a:lnSpc>
                <a:spcPct val="90000"/>
              </a:lnSpc>
              <a:spcBef>
                <a:spcPts val="500"/>
              </a:spcBef>
              <a:spcAft>
                <a:spcPts val="0"/>
              </a:spcAft>
              <a:buClr>
                <a:srgbClr val="000000"/>
              </a:buClr>
              <a:buSzPts val="1800"/>
              <a:buFont typeface="Arial"/>
              <a:buChar char="•"/>
            </a:pPr>
            <a:r>
              <a:rPr b="0" i="0" lang="en-US" sz="1800">
                <a:solidFill>
                  <a:srgbClr val="000000"/>
                </a:solidFill>
                <a:latin typeface="Open Sans"/>
                <a:ea typeface="Open Sans"/>
                <a:cs typeface="Open Sans"/>
                <a:sym typeface="Open Sans"/>
              </a:rPr>
              <a:t>Dual redundant hotswap 1600W PSU</a:t>
            </a:r>
            <a:endParaRPr/>
          </a:p>
          <a:p>
            <a:pPr indent="-228600" lvl="0" marL="228600" rtl="0" algn="l">
              <a:lnSpc>
                <a:spcPct val="90000"/>
              </a:lnSpc>
              <a:spcBef>
                <a:spcPts val="1000"/>
              </a:spcBef>
              <a:spcAft>
                <a:spcPts val="0"/>
              </a:spcAft>
              <a:buClr>
                <a:srgbClr val="000000"/>
              </a:buClr>
              <a:buSzPts val="1800"/>
              <a:buFont typeface="Arial"/>
              <a:buChar char="•"/>
            </a:pPr>
            <a:r>
              <a:rPr b="0" i="0" lang="en-US" sz="1800">
                <a:solidFill>
                  <a:srgbClr val="000000"/>
                </a:solidFill>
                <a:latin typeface="Open Sans"/>
                <a:ea typeface="Open Sans"/>
                <a:cs typeface="Open Sans"/>
                <a:sym typeface="Open Sans"/>
              </a:rPr>
              <a:t>2 x Intel Cascade lake Xeon Gold 6246</a:t>
            </a:r>
            <a:endParaRPr/>
          </a:p>
          <a:p>
            <a:pPr indent="-285750" lvl="1" marL="742950" rtl="0" algn="l">
              <a:lnSpc>
                <a:spcPct val="90000"/>
              </a:lnSpc>
              <a:spcBef>
                <a:spcPts val="500"/>
              </a:spcBef>
              <a:spcAft>
                <a:spcPts val="0"/>
              </a:spcAft>
              <a:buClr>
                <a:srgbClr val="000000"/>
              </a:buClr>
              <a:buSzPts val="1800"/>
              <a:buFont typeface="Arial"/>
              <a:buChar char="•"/>
            </a:pPr>
            <a:r>
              <a:rPr b="0" i="0" lang="en-US" sz="1800">
                <a:solidFill>
                  <a:srgbClr val="000000"/>
                </a:solidFill>
                <a:latin typeface="Open Sans"/>
                <a:ea typeface="Open Sans"/>
                <a:cs typeface="Open Sans"/>
                <a:sym typeface="Open Sans"/>
              </a:rPr>
              <a:t>12 cores each</a:t>
            </a:r>
            <a:endParaRPr/>
          </a:p>
          <a:p>
            <a:pPr indent="-285750" lvl="1" marL="742950" rtl="0" algn="l">
              <a:lnSpc>
                <a:spcPct val="90000"/>
              </a:lnSpc>
              <a:spcBef>
                <a:spcPts val="500"/>
              </a:spcBef>
              <a:spcAft>
                <a:spcPts val="0"/>
              </a:spcAft>
              <a:buClr>
                <a:srgbClr val="000000"/>
              </a:buClr>
              <a:buSzPts val="1800"/>
              <a:buFont typeface="Arial"/>
              <a:buChar char="•"/>
            </a:pPr>
            <a:r>
              <a:rPr b="0" i="0" lang="en-US" sz="1800">
                <a:solidFill>
                  <a:srgbClr val="000000"/>
                </a:solidFill>
                <a:latin typeface="Open Sans"/>
                <a:ea typeface="Open Sans"/>
                <a:cs typeface="Open Sans"/>
                <a:sym typeface="Open Sans"/>
              </a:rPr>
              <a:t>3.3GHz 165W TDP processor</a:t>
            </a:r>
            <a:endParaRPr/>
          </a:p>
          <a:p>
            <a:pPr indent="-228600" lvl="0" marL="228600" rtl="0" algn="l">
              <a:lnSpc>
                <a:spcPct val="90000"/>
              </a:lnSpc>
              <a:spcBef>
                <a:spcPts val="1000"/>
              </a:spcBef>
              <a:spcAft>
                <a:spcPts val="0"/>
              </a:spcAft>
              <a:buClr>
                <a:srgbClr val="000000"/>
              </a:buClr>
              <a:buSzPts val="1800"/>
              <a:buFont typeface="Arial"/>
              <a:buChar char="•"/>
            </a:pPr>
            <a:r>
              <a:rPr b="0" i="0" lang="en-US" sz="1800">
                <a:solidFill>
                  <a:srgbClr val="000000"/>
                </a:solidFill>
                <a:latin typeface="Open Sans"/>
                <a:ea typeface="Open Sans"/>
                <a:cs typeface="Open Sans"/>
                <a:sym typeface="Open Sans"/>
              </a:rPr>
              <a:t>12 x 16G DDR4 2933 ECC RDIMM (192G total)</a:t>
            </a:r>
            <a:endParaRPr/>
          </a:p>
          <a:p>
            <a:pPr indent="-228600" lvl="0" marL="228600" rtl="0" algn="l">
              <a:lnSpc>
                <a:spcPct val="90000"/>
              </a:lnSpc>
              <a:spcBef>
                <a:spcPts val="1000"/>
              </a:spcBef>
              <a:spcAft>
                <a:spcPts val="0"/>
              </a:spcAft>
              <a:buClr>
                <a:srgbClr val="000000"/>
              </a:buClr>
              <a:buSzPts val="1800"/>
              <a:buFont typeface="Arial"/>
              <a:buChar char="•"/>
            </a:pPr>
            <a:r>
              <a:rPr b="0" i="0" lang="en-US" sz="1800">
                <a:solidFill>
                  <a:srgbClr val="000000"/>
                </a:solidFill>
                <a:latin typeface="Open Sans"/>
                <a:ea typeface="Open Sans"/>
                <a:cs typeface="Open Sans"/>
                <a:sym typeface="Open Sans"/>
              </a:rPr>
              <a:t>10 x Intel P4610 1.6TB U.2/2.5” PCIe NVMe 3.0 x4 Drives (connect directly to CPU for VROC)</a:t>
            </a:r>
            <a:endParaRPr/>
          </a:p>
          <a:p>
            <a:pPr indent="-228600" lvl="0" marL="228600" rtl="0" algn="l">
              <a:lnSpc>
                <a:spcPct val="90000"/>
              </a:lnSpc>
              <a:spcBef>
                <a:spcPts val="1000"/>
              </a:spcBef>
              <a:spcAft>
                <a:spcPts val="0"/>
              </a:spcAft>
              <a:buClr>
                <a:srgbClr val="000000"/>
              </a:buClr>
              <a:buSzPts val="1800"/>
              <a:buFont typeface="Arial"/>
              <a:buChar char="•"/>
            </a:pPr>
            <a:r>
              <a:rPr b="0" i="0" lang="en-US" sz="1800">
                <a:solidFill>
                  <a:srgbClr val="000000"/>
                </a:solidFill>
                <a:latin typeface="Open Sans"/>
                <a:ea typeface="Open Sans"/>
                <a:cs typeface="Open Sans"/>
                <a:sym typeface="Open Sans"/>
              </a:rPr>
              <a:t>2 x Enterprise 960G 2.5“ SATA SSD (OS, onboard Intel SATA Raid 1)</a:t>
            </a:r>
            <a:endParaRPr/>
          </a:p>
          <a:p>
            <a:pPr indent="-228600" lvl="0" marL="228600" rtl="0" algn="l">
              <a:lnSpc>
                <a:spcPct val="90000"/>
              </a:lnSpc>
              <a:spcBef>
                <a:spcPts val="1000"/>
              </a:spcBef>
              <a:spcAft>
                <a:spcPts val="0"/>
              </a:spcAft>
              <a:buClr>
                <a:srgbClr val="000000"/>
              </a:buClr>
              <a:buSzPts val="1800"/>
              <a:buFont typeface="Arial"/>
              <a:buChar char="•"/>
            </a:pPr>
            <a:r>
              <a:rPr b="0" i="0" lang="en-US" sz="1800">
                <a:solidFill>
                  <a:srgbClr val="000000"/>
                </a:solidFill>
                <a:latin typeface="Open Sans"/>
                <a:ea typeface="Open Sans"/>
                <a:cs typeface="Open Sans"/>
                <a:sym typeface="Open Sans"/>
              </a:rPr>
              <a:t>VIntel® Virtual RAID On CPU (VROC) RAID 0, 1, 10, 5</a:t>
            </a:r>
            <a:endParaRPr/>
          </a:p>
          <a:p>
            <a:pPr indent="-228600" lvl="0" marL="228600" rtl="0" algn="l">
              <a:lnSpc>
                <a:spcPct val="90000"/>
              </a:lnSpc>
              <a:spcBef>
                <a:spcPts val="1000"/>
              </a:spcBef>
              <a:spcAft>
                <a:spcPts val="0"/>
              </a:spcAft>
              <a:buClr>
                <a:srgbClr val="000000"/>
              </a:buClr>
              <a:buSzPts val="1800"/>
              <a:buFont typeface="Arial"/>
              <a:buChar char="•"/>
            </a:pPr>
            <a:r>
              <a:rPr b="0" i="0" lang="en-US" sz="1800">
                <a:solidFill>
                  <a:srgbClr val="000000"/>
                </a:solidFill>
                <a:latin typeface="Open Sans"/>
                <a:ea typeface="Open Sans"/>
                <a:cs typeface="Open Sans"/>
                <a:sym typeface="Open Sans"/>
              </a:rPr>
              <a:t>Mellanox ConnectX-5 EN MCX516A-CCAT 40/50/100GbE dual-port QSFP28 NIC</a:t>
            </a:r>
            <a:endParaRPr/>
          </a:p>
        </p:txBody>
      </p:sp>
      <p:sp>
        <p:nvSpPr>
          <p:cNvPr id="261" name="Google Shape;261;p19"/>
          <p:cNvSpPr txBox="1"/>
          <p:nvPr>
            <p:ph idx="10" type="dt"/>
          </p:nvPr>
        </p:nvSpPr>
        <p:spPr>
          <a:xfrm>
            <a:off x="8093240" y="6613560"/>
            <a:ext cx="3972947" cy="182563"/>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US" sz="1067">
                <a:solidFill>
                  <a:srgbClr val="000000"/>
                </a:solidFill>
                <a:latin typeface="Arial"/>
                <a:ea typeface="Arial"/>
                <a:cs typeface="Arial"/>
                <a:sym typeface="Arial"/>
              </a:rPr>
              <a:t>‹#›</a:t>
            </a:fld>
            <a:r>
              <a:rPr lang="en-US" sz="1067">
                <a:solidFill>
                  <a:srgbClr val="000000"/>
                </a:solidFill>
                <a:latin typeface="Arial"/>
                <a:ea typeface="Arial"/>
                <a:cs typeface="Arial"/>
                <a:sym typeface="Arial"/>
              </a:rPr>
              <a:t> – ESnet Science Engagement (</a:t>
            </a:r>
            <a:r>
              <a:rPr lang="en-US" sz="1067" u="sng">
                <a:solidFill>
                  <a:srgbClr val="000000"/>
                </a:solidFill>
                <a:latin typeface="Arial"/>
                <a:ea typeface="Arial"/>
                <a:cs typeface="Arial"/>
                <a:sym typeface="Arial"/>
                <a:hlinkClick r:id="rId4">
                  <a:extLst>
                    <a:ext uri="{A12FA001-AC4F-418D-AE19-62706E023703}">
                      <ahyp:hlinkClr val="tx"/>
                    </a:ext>
                  </a:extLst>
                </a:hlinkClick>
              </a:rPr>
              <a:t>engage@es.net</a:t>
            </a:r>
            <a:r>
              <a:rPr lang="en-US" sz="1067">
                <a:solidFill>
                  <a:srgbClr val="000000"/>
                </a:solidFill>
                <a:latin typeface="Arial"/>
                <a:ea typeface="Arial"/>
                <a:cs typeface="Arial"/>
                <a:sym typeface="Arial"/>
              </a:rPr>
              <a:t>) - 5/12/2024</a:t>
            </a:r>
            <a:endParaRPr sz="1067">
              <a:solidFill>
                <a:srgbClr val="000000"/>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p2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5333"/>
              <a:buFont typeface="Calibri"/>
              <a:buNone/>
            </a:pPr>
            <a:r>
              <a:rPr lang="en-US" sz="5333"/>
              <a:t>Reference Implementation (2020)</a:t>
            </a:r>
            <a:endParaRPr/>
          </a:p>
        </p:txBody>
      </p:sp>
      <p:sp>
        <p:nvSpPr>
          <p:cNvPr id="268" name="Google Shape;268;p20"/>
          <p:cNvSpPr txBox="1"/>
          <p:nvPr>
            <p:ph idx="1" type="body"/>
          </p:nvPr>
        </p:nvSpPr>
        <p:spPr>
          <a:xfrm>
            <a:off x="609600" y="1328739"/>
            <a:ext cx="10972800" cy="4886325"/>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400"/>
              <a:buNone/>
            </a:pPr>
            <a:r>
              <a:rPr lang="en-US" sz="2400"/>
              <a:t>Preliminary System Performance Results for this configuration</a:t>
            </a:r>
            <a:endParaRPr b="0" i="0" sz="1600">
              <a:solidFill>
                <a:srgbClr val="000000"/>
              </a:solidFill>
              <a:latin typeface="Open Sans"/>
              <a:ea typeface="Open Sans"/>
              <a:cs typeface="Open Sans"/>
              <a:sym typeface="Open Sans"/>
            </a:endParaRPr>
          </a:p>
          <a:p>
            <a:pPr indent="0" lvl="1" marL="457200" rtl="0" algn="l">
              <a:lnSpc>
                <a:spcPct val="90000"/>
              </a:lnSpc>
              <a:spcBef>
                <a:spcPts val="500"/>
              </a:spcBef>
              <a:spcAft>
                <a:spcPts val="0"/>
              </a:spcAft>
              <a:buClr>
                <a:srgbClr val="000000"/>
              </a:buClr>
              <a:buSzPts val="1800"/>
              <a:buNone/>
            </a:pPr>
            <a:br>
              <a:rPr b="0" i="0" lang="en-US" sz="1800">
                <a:solidFill>
                  <a:srgbClr val="000000"/>
                </a:solidFill>
                <a:latin typeface="Open Sans"/>
                <a:ea typeface="Open Sans"/>
                <a:cs typeface="Open Sans"/>
                <a:sym typeface="Open Sans"/>
              </a:rPr>
            </a:br>
            <a:r>
              <a:rPr b="0" i="0" lang="en-US" sz="1800">
                <a:solidFill>
                  <a:srgbClr val="000000"/>
                </a:solidFill>
                <a:latin typeface="Open Sans"/>
                <a:ea typeface="Open Sans"/>
                <a:cs typeface="Open Sans"/>
                <a:sym typeface="Open Sans"/>
              </a:rPr>
              <a:t>Initial system performance was evaluated utilizing two identical units, and a topology that consisted of:</a:t>
            </a:r>
            <a:endParaRPr/>
          </a:p>
          <a:p>
            <a:pPr indent="-228600" lvl="1" marL="685800" rtl="0" algn="l">
              <a:lnSpc>
                <a:spcPct val="90000"/>
              </a:lnSpc>
              <a:spcBef>
                <a:spcPts val="500"/>
              </a:spcBef>
              <a:spcAft>
                <a:spcPts val="0"/>
              </a:spcAft>
              <a:buClr>
                <a:srgbClr val="000000"/>
              </a:buClr>
              <a:buSzPts val="1800"/>
              <a:buChar char="•"/>
            </a:pPr>
            <a:r>
              <a:rPr b="0" i="0" lang="en-US" sz="1800">
                <a:solidFill>
                  <a:srgbClr val="000000"/>
                </a:solidFill>
                <a:latin typeface="Open Sans"/>
                <a:ea typeface="Open Sans"/>
                <a:cs typeface="Open Sans"/>
                <a:sym typeface="Open Sans"/>
              </a:rPr>
              <a:t>Back-to-back 40Gbps active cable</a:t>
            </a:r>
            <a:endParaRPr/>
          </a:p>
          <a:p>
            <a:pPr indent="-228600" lvl="1" marL="685800" rtl="0" algn="l">
              <a:lnSpc>
                <a:spcPct val="90000"/>
              </a:lnSpc>
              <a:spcBef>
                <a:spcPts val="500"/>
              </a:spcBef>
              <a:spcAft>
                <a:spcPts val="0"/>
              </a:spcAft>
              <a:buClr>
                <a:srgbClr val="000000"/>
              </a:buClr>
              <a:buSzPts val="1800"/>
              <a:buChar char="•"/>
            </a:pPr>
            <a:r>
              <a:rPr b="0" i="0" lang="en-US" sz="1800">
                <a:solidFill>
                  <a:srgbClr val="000000"/>
                </a:solidFill>
                <a:latin typeface="Open Sans"/>
                <a:ea typeface="Open Sans"/>
                <a:cs typeface="Open Sans"/>
                <a:sym typeface="Open Sans"/>
              </a:rPr>
              <a:t>40Gbps local to 100Gbps WAN connection(s) with an RTT of 40ms (Berkeley CA to Chicago IL, round trip)</a:t>
            </a:r>
            <a:endParaRPr/>
          </a:p>
          <a:p>
            <a:pPr indent="0" lvl="1" marL="457200" rtl="0" algn="l">
              <a:lnSpc>
                <a:spcPct val="90000"/>
              </a:lnSpc>
              <a:spcBef>
                <a:spcPts val="500"/>
              </a:spcBef>
              <a:spcAft>
                <a:spcPts val="0"/>
              </a:spcAft>
              <a:buClr>
                <a:schemeClr val="dk1"/>
              </a:buClr>
              <a:buSzPts val="1800"/>
              <a:buNone/>
            </a:pPr>
            <a:r>
              <a:t/>
            </a:r>
            <a:endParaRPr sz="1800">
              <a:solidFill>
                <a:srgbClr val="000000"/>
              </a:solidFill>
              <a:latin typeface="Open Sans"/>
              <a:ea typeface="Open Sans"/>
              <a:cs typeface="Open Sans"/>
              <a:sym typeface="Open Sans"/>
            </a:endParaRPr>
          </a:p>
          <a:p>
            <a:pPr indent="0" lvl="1" marL="457200" rtl="0" algn="l">
              <a:lnSpc>
                <a:spcPct val="90000"/>
              </a:lnSpc>
              <a:spcBef>
                <a:spcPts val="500"/>
              </a:spcBef>
              <a:spcAft>
                <a:spcPts val="0"/>
              </a:spcAft>
              <a:buClr>
                <a:srgbClr val="000000"/>
              </a:buClr>
              <a:buSzPts val="1800"/>
              <a:buNone/>
            </a:pPr>
            <a:r>
              <a:rPr b="0" i="0" lang="en-US" sz="1800">
                <a:solidFill>
                  <a:srgbClr val="000000"/>
                </a:solidFill>
                <a:latin typeface="Open Sans"/>
                <a:ea typeface="Open Sans"/>
                <a:cs typeface="Open Sans"/>
                <a:sym typeface="Open Sans"/>
              </a:rPr>
              <a:t>The testing was performed on Ubuntu 18.04 using XFS on mdraid with O_DIRECT and standard POSIX I/O. </a:t>
            </a:r>
            <a:br>
              <a:rPr b="0" i="0" lang="en-US" sz="1800">
                <a:solidFill>
                  <a:srgbClr val="000000"/>
                </a:solidFill>
                <a:latin typeface="Open Sans"/>
                <a:ea typeface="Open Sans"/>
                <a:cs typeface="Open Sans"/>
                <a:sym typeface="Open Sans"/>
              </a:rPr>
            </a:br>
            <a:br>
              <a:rPr b="0" i="0" lang="en-US" sz="1800">
                <a:solidFill>
                  <a:srgbClr val="000000"/>
                </a:solidFill>
                <a:latin typeface="Open Sans"/>
                <a:ea typeface="Open Sans"/>
                <a:cs typeface="Open Sans"/>
                <a:sym typeface="Open Sans"/>
              </a:rPr>
            </a:br>
            <a:r>
              <a:rPr b="0" i="0" lang="en-US" sz="1800">
                <a:solidFill>
                  <a:srgbClr val="000000"/>
                </a:solidFill>
                <a:latin typeface="Open Sans"/>
                <a:ea typeface="Open Sans"/>
                <a:cs typeface="Open Sans"/>
                <a:sym typeface="Open Sans"/>
              </a:rPr>
              <a:t>The file sizes varied between 256 GB and 1T with consistent results between file sizes, as well as consistent results when writing pseudo-random data vs all-zeroes. </a:t>
            </a:r>
            <a:endParaRPr/>
          </a:p>
          <a:p>
            <a:pPr indent="0" lvl="1" marL="457200" rtl="0" algn="l">
              <a:lnSpc>
                <a:spcPct val="90000"/>
              </a:lnSpc>
              <a:spcBef>
                <a:spcPts val="500"/>
              </a:spcBef>
              <a:spcAft>
                <a:spcPts val="0"/>
              </a:spcAft>
              <a:buClr>
                <a:srgbClr val="000000"/>
              </a:buClr>
              <a:buSzPts val="1800"/>
              <a:buNone/>
            </a:pPr>
            <a:br>
              <a:rPr b="0" i="0" lang="en-US" sz="1800">
                <a:solidFill>
                  <a:srgbClr val="000000"/>
                </a:solidFill>
                <a:latin typeface="Open Sans"/>
                <a:ea typeface="Open Sans"/>
                <a:cs typeface="Open Sans"/>
                <a:sym typeface="Open Sans"/>
              </a:rPr>
            </a:br>
            <a:r>
              <a:rPr b="0" i="0" lang="en-US" sz="1800">
                <a:solidFill>
                  <a:srgbClr val="000000"/>
                </a:solidFill>
                <a:latin typeface="Open Sans"/>
                <a:ea typeface="Open Sans"/>
                <a:cs typeface="Open Sans"/>
                <a:sym typeface="Open Sans"/>
              </a:rPr>
              <a:t>Testing revealed it was possible to maintain a sustained total of 80Gbps on both connections of the NIC.  Future testing will focus on the use of 100Gbps cable cables and optics.</a:t>
            </a:r>
            <a:endParaRPr sz="1800">
              <a:solidFill>
                <a:srgbClr val="000000"/>
              </a:solidFill>
              <a:latin typeface="Open Sans"/>
              <a:ea typeface="Open Sans"/>
              <a:cs typeface="Open Sans"/>
              <a:sym typeface="Open Sans"/>
            </a:endParaRPr>
          </a:p>
        </p:txBody>
      </p:sp>
      <p:sp>
        <p:nvSpPr>
          <p:cNvPr id="269" name="Google Shape;269;p20"/>
          <p:cNvSpPr txBox="1"/>
          <p:nvPr>
            <p:ph idx="10" type="dt"/>
          </p:nvPr>
        </p:nvSpPr>
        <p:spPr>
          <a:xfrm>
            <a:off x="8093240" y="6613560"/>
            <a:ext cx="3972947" cy="182563"/>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US" sz="1067">
                <a:solidFill>
                  <a:srgbClr val="000000"/>
                </a:solidFill>
                <a:latin typeface="Arial"/>
                <a:ea typeface="Arial"/>
                <a:cs typeface="Arial"/>
                <a:sym typeface="Arial"/>
              </a:rPr>
              <a:t>‹#›</a:t>
            </a:fld>
            <a:r>
              <a:rPr lang="en-US" sz="1067">
                <a:solidFill>
                  <a:srgbClr val="000000"/>
                </a:solidFill>
                <a:latin typeface="Arial"/>
                <a:ea typeface="Arial"/>
                <a:cs typeface="Arial"/>
                <a:sym typeface="Arial"/>
              </a:rPr>
              <a:t> – ESnet Science Engagement (</a:t>
            </a:r>
            <a:r>
              <a:rPr lang="en-US" sz="1067" u="sng">
                <a:solidFill>
                  <a:srgbClr val="000000"/>
                </a:solidFill>
                <a:latin typeface="Arial"/>
                <a:ea typeface="Arial"/>
                <a:cs typeface="Arial"/>
                <a:sym typeface="Arial"/>
                <a:hlinkClick r:id="rId3">
                  <a:extLst>
                    <a:ext uri="{A12FA001-AC4F-418D-AE19-62706E023703}">
                      <ahyp:hlinkClr val="tx"/>
                    </a:ext>
                  </a:extLst>
                </a:hlinkClick>
              </a:rPr>
              <a:t>engage@es.net</a:t>
            </a:r>
            <a:r>
              <a:rPr lang="en-US" sz="1067">
                <a:solidFill>
                  <a:srgbClr val="000000"/>
                </a:solidFill>
                <a:latin typeface="Arial"/>
                <a:ea typeface="Arial"/>
                <a:cs typeface="Arial"/>
                <a:sym typeface="Arial"/>
              </a:rPr>
              <a:t>) - 5/12/2024</a:t>
            </a:r>
            <a:endParaRPr sz="1067">
              <a:solidFill>
                <a:srgbClr val="000000"/>
              </a:solidFill>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sp>
        <p:nvSpPr>
          <p:cNvPr id="275" name="Google Shape;275;p2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5333"/>
              <a:buFont typeface="Calibri"/>
              <a:buNone/>
            </a:pPr>
            <a:r>
              <a:rPr lang="en-US" sz="5333"/>
              <a:t>Reference Implementation (2020)</a:t>
            </a:r>
            <a:endParaRPr/>
          </a:p>
        </p:txBody>
      </p:sp>
      <p:sp>
        <p:nvSpPr>
          <p:cNvPr id="276" name="Google Shape;276;p21"/>
          <p:cNvSpPr txBox="1"/>
          <p:nvPr>
            <p:ph idx="1" type="body"/>
          </p:nvPr>
        </p:nvSpPr>
        <p:spPr>
          <a:xfrm>
            <a:off x="609600" y="1328739"/>
            <a:ext cx="10972800" cy="4886325"/>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000000"/>
              </a:buClr>
              <a:buSzPts val="2600"/>
              <a:buNone/>
            </a:pPr>
            <a:r>
              <a:rPr b="0" i="0" lang="en-US" sz="2600">
                <a:solidFill>
                  <a:srgbClr val="000000"/>
                </a:solidFill>
                <a:latin typeface="Open Sans"/>
                <a:ea typeface="Open Sans"/>
                <a:cs typeface="Open Sans"/>
                <a:sym typeface="Open Sans"/>
              </a:rPr>
              <a:t>Disk configuration effects on performance</a:t>
            </a:r>
            <a:endParaRPr/>
          </a:p>
          <a:p>
            <a:pPr indent="0" lvl="0" marL="0" rtl="0" algn="l">
              <a:lnSpc>
                <a:spcPct val="90000"/>
              </a:lnSpc>
              <a:spcBef>
                <a:spcPts val="1000"/>
              </a:spcBef>
              <a:spcAft>
                <a:spcPts val="0"/>
              </a:spcAft>
              <a:buClr>
                <a:srgbClr val="000000"/>
              </a:buClr>
              <a:buSzPts val="1800"/>
              <a:buNone/>
            </a:pPr>
            <a:br>
              <a:rPr b="0" i="0" lang="en-US" sz="1800">
                <a:solidFill>
                  <a:srgbClr val="000000"/>
                </a:solidFill>
                <a:latin typeface="Open Sans"/>
                <a:ea typeface="Open Sans"/>
                <a:cs typeface="Open Sans"/>
                <a:sym typeface="Open Sans"/>
              </a:rPr>
            </a:br>
            <a:r>
              <a:rPr b="0" i="0" lang="en-US" sz="1900">
                <a:solidFill>
                  <a:srgbClr val="000000"/>
                </a:solidFill>
                <a:latin typeface="Open Sans"/>
                <a:ea typeface="Open Sans"/>
                <a:cs typeface="Open Sans"/>
                <a:sym typeface="Open Sans"/>
              </a:rPr>
              <a:t>The test systems have employed several disk configurations which were somewhat more complicated:</a:t>
            </a:r>
            <a:endParaRPr/>
          </a:p>
          <a:p>
            <a:pPr indent="-228600" lvl="0" marL="228600" rtl="0" algn="l">
              <a:lnSpc>
                <a:spcPct val="90000"/>
              </a:lnSpc>
              <a:spcBef>
                <a:spcPts val="1000"/>
              </a:spcBef>
              <a:spcAft>
                <a:spcPts val="0"/>
              </a:spcAft>
              <a:buClr>
                <a:srgbClr val="000000"/>
              </a:buClr>
              <a:buSzPts val="1900"/>
              <a:buChar char="•"/>
            </a:pPr>
            <a:r>
              <a:rPr b="0" i="0" lang="en-US" sz="1900">
                <a:solidFill>
                  <a:srgbClr val="000000"/>
                </a:solidFill>
                <a:latin typeface="Open Sans"/>
                <a:ea typeface="Open Sans"/>
                <a:cs typeface="Open Sans"/>
                <a:sym typeface="Open Sans"/>
              </a:rPr>
              <a:t>Using RAID-0, the best results were 126 Gbps write and 140 Gbps read with 8 disks on a single controller (PCIe multiplexor).</a:t>
            </a:r>
            <a:endParaRPr/>
          </a:p>
          <a:p>
            <a:pPr indent="-228600" lvl="1" marL="685800" rtl="0" algn="l">
              <a:lnSpc>
                <a:spcPct val="90000"/>
              </a:lnSpc>
              <a:spcBef>
                <a:spcPts val="500"/>
              </a:spcBef>
              <a:spcAft>
                <a:spcPts val="0"/>
              </a:spcAft>
              <a:buClr>
                <a:srgbClr val="000000"/>
              </a:buClr>
              <a:buSzPts val="1900"/>
              <a:buChar char="•"/>
            </a:pPr>
            <a:r>
              <a:rPr b="0" i="0" lang="en-US" sz="1900">
                <a:solidFill>
                  <a:srgbClr val="000000"/>
                </a:solidFill>
                <a:latin typeface="Open Sans"/>
                <a:ea typeface="Open Sans"/>
                <a:cs typeface="Open Sans"/>
                <a:sym typeface="Open Sans"/>
              </a:rPr>
              <a:t>Current research is to increase the number of disks to 10 (with hopes of getting 155Gbps of raw performance) through re-arranging the disk placement on the PCIe multiplexor</a:t>
            </a:r>
            <a:endParaRPr/>
          </a:p>
          <a:p>
            <a:pPr indent="-228600" lvl="1" marL="685800" rtl="0" algn="l">
              <a:lnSpc>
                <a:spcPct val="90000"/>
              </a:lnSpc>
              <a:spcBef>
                <a:spcPts val="500"/>
              </a:spcBef>
              <a:spcAft>
                <a:spcPts val="0"/>
              </a:spcAft>
              <a:buClr>
                <a:srgbClr val="000000"/>
              </a:buClr>
              <a:buSzPts val="1900"/>
              <a:buChar char="•"/>
            </a:pPr>
            <a:r>
              <a:rPr b="0" i="0" lang="en-US" sz="1900">
                <a:solidFill>
                  <a:srgbClr val="000000"/>
                </a:solidFill>
                <a:latin typeface="Open Sans"/>
                <a:ea typeface="Open Sans"/>
                <a:cs typeface="Open Sans"/>
                <a:sym typeface="Open Sans"/>
              </a:rPr>
              <a:t>PCIe bandwidth is roughly 1 GBps per PCIe lane, thus balancing across multiple drives is required to ensure peak performance.</a:t>
            </a:r>
            <a:endParaRPr/>
          </a:p>
          <a:p>
            <a:pPr indent="-228600" lvl="0" marL="228600" rtl="0" algn="l">
              <a:lnSpc>
                <a:spcPct val="90000"/>
              </a:lnSpc>
              <a:spcBef>
                <a:spcPts val="1000"/>
              </a:spcBef>
              <a:spcAft>
                <a:spcPts val="0"/>
              </a:spcAft>
              <a:buClr>
                <a:srgbClr val="000000"/>
              </a:buClr>
              <a:buSzPts val="1900"/>
              <a:buChar char="•"/>
            </a:pPr>
            <a:r>
              <a:rPr b="0" i="0" lang="en-US" sz="1900">
                <a:solidFill>
                  <a:srgbClr val="000000"/>
                </a:solidFill>
                <a:latin typeface="Open Sans"/>
                <a:ea typeface="Open Sans"/>
                <a:cs typeface="Open Sans"/>
                <a:sym typeface="Open Sans"/>
              </a:rPr>
              <a:t>The best preliminary storage results with parity are using mirroring in a RAID-10. </a:t>
            </a:r>
            <a:br>
              <a:rPr b="0" i="0" lang="en-US" sz="1900">
                <a:solidFill>
                  <a:srgbClr val="000000"/>
                </a:solidFill>
                <a:latin typeface="Open Sans"/>
                <a:ea typeface="Open Sans"/>
                <a:cs typeface="Open Sans"/>
                <a:sym typeface="Open Sans"/>
              </a:rPr>
            </a:br>
            <a:r>
              <a:rPr b="0" i="0" lang="en-US" sz="1900">
                <a:solidFill>
                  <a:srgbClr val="000000"/>
                </a:solidFill>
                <a:latin typeface="Open Sans"/>
                <a:ea typeface="Open Sans"/>
                <a:cs typeface="Open Sans"/>
                <a:sym typeface="Open Sans"/>
              </a:rPr>
              <a:t>The raw performance (to disk) is the same as above, but the effective write performance drops to about 60Gbps due to the resiliency requirements.  </a:t>
            </a:r>
            <a:endParaRPr/>
          </a:p>
          <a:p>
            <a:pPr indent="0" lvl="1" marL="457200" rtl="0" algn="l">
              <a:lnSpc>
                <a:spcPct val="90000"/>
              </a:lnSpc>
              <a:spcBef>
                <a:spcPts val="500"/>
              </a:spcBef>
              <a:spcAft>
                <a:spcPts val="0"/>
              </a:spcAft>
              <a:buClr>
                <a:schemeClr val="dk1"/>
              </a:buClr>
              <a:buSzPts val="1800"/>
              <a:buNone/>
            </a:pPr>
            <a:r>
              <a:t/>
            </a:r>
            <a:endParaRPr sz="1800">
              <a:solidFill>
                <a:srgbClr val="000000"/>
              </a:solidFill>
              <a:latin typeface="Open Sans"/>
              <a:ea typeface="Open Sans"/>
              <a:cs typeface="Open Sans"/>
              <a:sym typeface="Open Sans"/>
            </a:endParaRPr>
          </a:p>
        </p:txBody>
      </p:sp>
      <p:sp>
        <p:nvSpPr>
          <p:cNvPr id="277" name="Google Shape;277;p21"/>
          <p:cNvSpPr txBox="1"/>
          <p:nvPr>
            <p:ph idx="10" type="dt"/>
          </p:nvPr>
        </p:nvSpPr>
        <p:spPr>
          <a:xfrm>
            <a:off x="8093240" y="6613560"/>
            <a:ext cx="3972947" cy="182563"/>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US" sz="1067">
                <a:solidFill>
                  <a:srgbClr val="000000"/>
                </a:solidFill>
                <a:latin typeface="Arial"/>
                <a:ea typeface="Arial"/>
                <a:cs typeface="Arial"/>
                <a:sym typeface="Arial"/>
              </a:rPr>
              <a:t>‹#›</a:t>
            </a:fld>
            <a:r>
              <a:rPr lang="en-US" sz="1067">
                <a:solidFill>
                  <a:srgbClr val="000000"/>
                </a:solidFill>
                <a:latin typeface="Arial"/>
                <a:ea typeface="Arial"/>
                <a:cs typeface="Arial"/>
                <a:sym typeface="Arial"/>
              </a:rPr>
              <a:t> – ESnet Science Engagement (</a:t>
            </a:r>
            <a:r>
              <a:rPr lang="en-US" sz="1067" u="sng">
                <a:solidFill>
                  <a:srgbClr val="000000"/>
                </a:solidFill>
                <a:latin typeface="Arial"/>
                <a:ea typeface="Arial"/>
                <a:cs typeface="Arial"/>
                <a:sym typeface="Arial"/>
                <a:hlinkClick r:id="rId3">
                  <a:extLst>
                    <a:ext uri="{A12FA001-AC4F-418D-AE19-62706E023703}">
                      <ahyp:hlinkClr val="tx"/>
                    </a:ext>
                  </a:extLst>
                </a:hlinkClick>
              </a:rPr>
              <a:t>engage@es.net</a:t>
            </a:r>
            <a:r>
              <a:rPr lang="en-US" sz="1067">
                <a:solidFill>
                  <a:srgbClr val="000000"/>
                </a:solidFill>
                <a:latin typeface="Arial"/>
                <a:ea typeface="Arial"/>
                <a:cs typeface="Arial"/>
                <a:sym typeface="Arial"/>
              </a:rPr>
              <a:t>) - 5/12/2024</a:t>
            </a:r>
            <a:endParaRPr sz="1067">
              <a:solidFill>
                <a:srgbClr val="000000"/>
              </a:solidFill>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2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5333"/>
              <a:buFont typeface="Calibri"/>
              <a:buNone/>
            </a:pPr>
            <a:r>
              <a:rPr lang="en-US" sz="5333"/>
              <a:t>Reference Implementation (2020)</a:t>
            </a:r>
            <a:endParaRPr/>
          </a:p>
        </p:txBody>
      </p:sp>
      <p:sp>
        <p:nvSpPr>
          <p:cNvPr id="284" name="Google Shape;284;p22"/>
          <p:cNvSpPr txBox="1"/>
          <p:nvPr>
            <p:ph idx="1" type="body"/>
          </p:nvPr>
        </p:nvSpPr>
        <p:spPr>
          <a:xfrm>
            <a:off x="609600" y="1328739"/>
            <a:ext cx="10972800" cy="4886325"/>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000000"/>
              </a:buClr>
              <a:buSzPts val="2600"/>
              <a:buNone/>
            </a:pPr>
            <a:r>
              <a:rPr lang="en-US" sz="2600">
                <a:solidFill>
                  <a:srgbClr val="000000"/>
                </a:solidFill>
                <a:latin typeface="Open Sans"/>
                <a:ea typeface="Open Sans"/>
                <a:cs typeface="Open Sans"/>
                <a:sym typeface="Open Sans"/>
              </a:rPr>
              <a:t>CPU &amp; Memory </a:t>
            </a:r>
            <a:r>
              <a:rPr b="0" i="0" lang="en-US" sz="2600">
                <a:solidFill>
                  <a:srgbClr val="000000"/>
                </a:solidFill>
                <a:latin typeface="Open Sans"/>
                <a:ea typeface="Open Sans"/>
                <a:cs typeface="Open Sans"/>
                <a:sym typeface="Open Sans"/>
              </a:rPr>
              <a:t>effects on performance</a:t>
            </a:r>
            <a:endParaRPr/>
          </a:p>
          <a:p>
            <a:pPr indent="0" lvl="0" marL="0" rtl="0" algn="l">
              <a:lnSpc>
                <a:spcPct val="90000"/>
              </a:lnSpc>
              <a:spcBef>
                <a:spcPts val="1000"/>
              </a:spcBef>
              <a:spcAft>
                <a:spcPts val="0"/>
              </a:spcAft>
              <a:buClr>
                <a:srgbClr val="000000"/>
              </a:buClr>
              <a:buSzPts val="2400"/>
              <a:buNone/>
            </a:pPr>
            <a:br>
              <a:rPr b="0" i="0" lang="en-US" sz="2400">
                <a:solidFill>
                  <a:srgbClr val="000000"/>
                </a:solidFill>
                <a:latin typeface="Open Sans"/>
                <a:ea typeface="Open Sans"/>
                <a:cs typeface="Open Sans"/>
                <a:sym typeface="Open Sans"/>
              </a:rPr>
            </a:br>
            <a:r>
              <a:rPr b="0" i="0" lang="en-US" sz="2400">
                <a:solidFill>
                  <a:srgbClr val="000000"/>
                </a:solidFill>
                <a:latin typeface="Open Sans"/>
                <a:ea typeface="Open Sans"/>
                <a:cs typeface="Open Sans"/>
                <a:sym typeface="Open Sans"/>
              </a:rPr>
              <a:t>Testing has revealed that not all 12 cores (on a single chip) are activated regularly, unless the degree of parallelism increases.  Busy DTN requirements will push up this requirement.  </a:t>
            </a:r>
            <a:br>
              <a:rPr b="0" i="0" lang="en-US" sz="2400">
                <a:solidFill>
                  <a:srgbClr val="000000"/>
                </a:solidFill>
                <a:latin typeface="Open Sans"/>
                <a:ea typeface="Open Sans"/>
                <a:cs typeface="Open Sans"/>
                <a:sym typeface="Open Sans"/>
              </a:rPr>
            </a:br>
            <a:br>
              <a:rPr b="0" i="0" lang="en-US" sz="2400">
                <a:solidFill>
                  <a:srgbClr val="000000"/>
                </a:solidFill>
                <a:latin typeface="Open Sans"/>
                <a:ea typeface="Open Sans"/>
                <a:cs typeface="Open Sans"/>
                <a:sym typeface="Open Sans"/>
              </a:rPr>
            </a:br>
            <a:r>
              <a:rPr b="0" i="0" lang="en-US" sz="2400">
                <a:solidFill>
                  <a:srgbClr val="000000"/>
                </a:solidFill>
                <a:latin typeface="Open Sans"/>
                <a:ea typeface="Open Sans"/>
                <a:cs typeface="Open Sans"/>
                <a:sym typeface="Open Sans"/>
              </a:rPr>
              <a:t>Populating all memory channels in the RAM configuration also ensures peak performance, as the system is able to fully utilize and balance load as needed.  </a:t>
            </a:r>
            <a:endParaRPr sz="2400">
              <a:solidFill>
                <a:srgbClr val="000000"/>
              </a:solidFill>
              <a:latin typeface="Open Sans"/>
              <a:ea typeface="Open Sans"/>
              <a:cs typeface="Open Sans"/>
              <a:sym typeface="Open Sans"/>
            </a:endParaRPr>
          </a:p>
        </p:txBody>
      </p:sp>
      <p:sp>
        <p:nvSpPr>
          <p:cNvPr id="285" name="Google Shape;285;p22"/>
          <p:cNvSpPr txBox="1"/>
          <p:nvPr>
            <p:ph idx="10" type="dt"/>
          </p:nvPr>
        </p:nvSpPr>
        <p:spPr>
          <a:xfrm>
            <a:off x="8093240" y="6613560"/>
            <a:ext cx="3972947" cy="182563"/>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US" sz="1067">
                <a:solidFill>
                  <a:srgbClr val="000000"/>
                </a:solidFill>
                <a:latin typeface="Arial"/>
                <a:ea typeface="Arial"/>
                <a:cs typeface="Arial"/>
                <a:sym typeface="Arial"/>
              </a:rPr>
              <a:t>‹#›</a:t>
            </a:fld>
            <a:r>
              <a:rPr lang="en-US" sz="1067">
                <a:solidFill>
                  <a:srgbClr val="000000"/>
                </a:solidFill>
                <a:latin typeface="Arial"/>
                <a:ea typeface="Arial"/>
                <a:cs typeface="Arial"/>
                <a:sym typeface="Arial"/>
              </a:rPr>
              <a:t> – ESnet Science Engagement (</a:t>
            </a:r>
            <a:r>
              <a:rPr lang="en-US" sz="1067" u="sng">
                <a:solidFill>
                  <a:srgbClr val="000000"/>
                </a:solidFill>
                <a:latin typeface="Arial"/>
                <a:ea typeface="Arial"/>
                <a:cs typeface="Arial"/>
                <a:sym typeface="Arial"/>
                <a:hlinkClick r:id="rId3">
                  <a:extLst>
                    <a:ext uri="{A12FA001-AC4F-418D-AE19-62706E023703}">
                      <ahyp:hlinkClr val="tx"/>
                    </a:ext>
                  </a:extLst>
                </a:hlinkClick>
              </a:rPr>
              <a:t>engage@es.net</a:t>
            </a:r>
            <a:r>
              <a:rPr lang="en-US" sz="1067">
                <a:solidFill>
                  <a:srgbClr val="000000"/>
                </a:solidFill>
                <a:latin typeface="Arial"/>
                <a:ea typeface="Arial"/>
                <a:cs typeface="Arial"/>
                <a:sym typeface="Arial"/>
              </a:rPr>
              <a:t>) - 5/12/2024</a:t>
            </a:r>
            <a:endParaRPr sz="1067">
              <a:solidFill>
                <a:srgbClr val="000000"/>
              </a:solidFill>
              <a:latin typeface="Arial"/>
              <a:ea typeface="Arial"/>
              <a:cs typeface="Arial"/>
              <a:sym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sp>
        <p:nvSpPr>
          <p:cNvPr id="291" name="Google Shape;291;p2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5333"/>
              <a:buFont typeface="Calibri"/>
              <a:buNone/>
            </a:pPr>
            <a:r>
              <a:rPr lang="en-US" sz="5333"/>
              <a:t>Take Home Points</a:t>
            </a:r>
            <a:endParaRPr/>
          </a:p>
        </p:txBody>
      </p:sp>
      <p:sp>
        <p:nvSpPr>
          <p:cNvPr id="292" name="Google Shape;292;p23"/>
          <p:cNvSpPr txBox="1"/>
          <p:nvPr>
            <p:ph idx="1" type="body"/>
          </p:nvPr>
        </p:nvSpPr>
        <p:spPr>
          <a:xfrm>
            <a:off x="609601" y="1600201"/>
            <a:ext cx="5780337" cy="3954723"/>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400"/>
              <a:buChar char="•"/>
            </a:pPr>
            <a:r>
              <a:rPr lang="en-US" sz="2400"/>
              <a:t>The 2 key “take homes” for hardware are:</a:t>
            </a:r>
            <a:endParaRPr/>
          </a:p>
          <a:p>
            <a:pPr indent="-228600" lvl="1" marL="685800" rtl="0" algn="l">
              <a:lnSpc>
                <a:spcPct val="90000"/>
              </a:lnSpc>
              <a:spcBef>
                <a:spcPts val="500"/>
              </a:spcBef>
              <a:spcAft>
                <a:spcPts val="0"/>
              </a:spcAft>
              <a:buClr>
                <a:schemeClr val="dk1"/>
              </a:buClr>
              <a:buSzPts val="1867"/>
              <a:buChar char="•"/>
            </a:pPr>
            <a:r>
              <a:rPr lang="en-US" sz="1867"/>
              <a:t>Needs to be </a:t>
            </a:r>
            <a:r>
              <a:rPr b="1" i="1" lang="en-US" sz="1867"/>
              <a:t>expandable</a:t>
            </a:r>
            <a:r>
              <a:rPr lang="en-US" sz="1867"/>
              <a:t> and </a:t>
            </a:r>
            <a:endParaRPr/>
          </a:p>
          <a:p>
            <a:pPr indent="-228600" lvl="1" marL="685800" rtl="0" algn="l">
              <a:lnSpc>
                <a:spcPct val="90000"/>
              </a:lnSpc>
              <a:spcBef>
                <a:spcPts val="500"/>
              </a:spcBef>
              <a:spcAft>
                <a:spcPts val="0"/>
              </a:spcAft>
              <a:buClr>
                <a:schemeClr val="dk1"/>
              </a:buClr>
              <a:buSzPts val="1867"/>
              <a:buChar char="•"/>
            </a:pPr>
            <a:r>
              <a:rPr lang="en-US" sz="1867"/>
              <a:t>Needs to be </a:t>
            </a:r>
            <a:r>
              <a:rPr b="1" i="1" lang="en-US" sz="1867"/>
              <a:t>supportable</a:t>
            </a:r>
            <a:endParaRPr/>
          </a:p>
          <a:p>
            <a:pPr indent="-228600" lvl="0" marL="228600" rtl="0" algn="l">
              <a:lnSpc>
                <a:spcPct val="90000"/>
              </a:lnSpc>
              <a:spcBef>
                <a:spcPts val="1000"/>
              </a:spcBef>
              <a:spcAft>
                <a:spcPts val="0"/>
              </a:spcAft>
              <a:buClr>
                <a:schemeClr val="dk1"/>
              </a:buClr>
              <a:buSzPts val="2933"/>
              <a:buChar char="•"/>
            </a:pPr>
            <a:r>
              <a:rPr b="1" i="1" lang="en-US" sz="2933"/>
              <a:t>Needs to be able to seamlessly support data mobility</a:t>
            </a:r>
            <a:endParaRPr sz="2933"/>
          </a:p>
          <a:p>
            <a:pPr indent="-76200" lvl="0" marL="228600" rtl="0" algn="l">
              <a:lnSpc>
                <a:spcPct val="90000"/>
              </a:lnSpc>
              <a:spcBef>
                <a:spcPts val="1000"/>
              </a:spcBef>
              <a:spcAft>
                <a:spcPts val="0"/>
              </a:spcAft>
              <a:buClr>
                <a:schemeClr val="dk1"/>
              </a:buClr>
              <a:buSzPts val="2400"/>
              <a:buNone/>
            </a:pPr>
            <a:r>
              <a:t/>
            </a:r>
            <a:endParaRPr sz="2400"/>
          </a:p>
          <a:p>
            <a:pPr indent="-76200" lvl="0" marL="228600" rtl="0" algn="l">
              <a:lnSpc>
                <a:spcPct val="90000"/>
              </a:lnSpc>
              <a:spcBef>
                <a:spcPts val="1000"/>
              </a:spcBef>
              <a:spcAft>
                <a:spcPts val="0"/>
              </a:spcAft>
              <a:buClr>
                <a:schemeClr val="dk1"/>
              </a:buClr>
              <a:buSzPts val="2400"/>
              <a:buNone/>
            </a:pPr>
            <a:r>
              <a:t/>
            </a:r>
            <a:endParaRPr sz="2400"/>
          </a:p>
          <a:p>
            <a:pPr indent="-76200" lvl="0" marL="228600" rtl="0" algn="l">
              <a:lnSpc>
                <a:spcPct val="90000"/>
              </a:lnSpc>
              <a:spcBef>
                <a:spcPts val="1000"/>
              </a:spcBef>
              <a:spcAft>
                <a:spcPts val="0"/>
              </a:spcAft>
              <a:buClr>
                <a:schemeClr val="dk1"/>
              </a:buClr>
              <a:buSzPts val="2400"/>
              <a:buNone/>
            </a:pPr>
            <a:r>
              <a:t/>
            </a:r>
            <a:endParaRPr sz="2400"/>
          </a:p>
          <a:p>
            <a:pPr indent="-76200" lvl="0" marL="228600" rtl="0" algn="l">
              <a:lnSpc>
                <a:spcPct val="90000"/>
              </a:lnSpc>
              <a:spcBef>
                <a:spcPts val="1000"/>
              </a:spcBef>
              <a:spcAft>
                <a:spcPts val="0"/>
              </a:spcAft>
              <a:buClr>
                <a:schemeClr val="dk1"/>
              </a:buClr>
              <a:buSzPts val="2400"/>
              <a:buNone/>
            </a:pPr>
            <a:r>
              <a:t/>
            </a:r>
            <a:endParaRPr sz="2400"/>
          </a:p>
          <a:p>
            <a:pPr indent="-76200" lvl="0" marL="228600" rtl="0" algn="l">
              <a:lnSpc>
                <a:spcPct val="90000"/>
              </a:lnSpc>
              <a:spcBef>
                <a:spcPts val="1000"/>
              </a:spcBef>
              <a:spcAft>
                <a:spcPts val="0"/>
              </a:spcAft>
              <a:buClr>
                <a:schemeClr val="dk1"/>
              </a:buClr>
              <a:buSzPts val="2400"/>
              <a:buNone/>
            </a:pPr>
            <a:r>
              <a:t/>
            </a:r>
            <a:endParaRPr sz="2400"/>
          </a:p>
          <a:p>
            <a:pPr indent="-76200" lvl="0" marL="228600" rtl="0" algn="l">
              <a:lnSpc>
                <a:spcPct val="90000"/>
              </a:lnSpc>
              <a:spcBef>
                <a:spcPts val="1000"/>
              </a:spcBef>
              <a:spcAft>
                <a:spcPts val="0"/>
              </a:spcAft>
              <a:buClr>
                <a:schemeClr val="dk1"/>
              </a:buClr>
              <a:buSzPts val="2400"/>
              <a:buNone/>
            </a:pPr>
            <a:r>
              <a:t/>
            </a:r>
            <a:endParaRPr sz="2400"/>
          </a:p>
          <a:p>
            <a:pPr indent="-76200" lvl="0" marL="228600" rtl="0" algn="l">
              <a:lnSpc>
                <a:spcPct val="90000"/>
              </a:lnSpc>
              <a:spcBef>
                <a:spcPts val="1000"/>
              </a:spcBef>
              <a:spcAft>
                <a:spcPts val="0"/>
              </a:spcAft>
              <a:buClr>
                <a:schemeClr val="dk1"/>
              </a:buClr>
              <a:buSzPts val="2400"/>
              <a:buNone/>
            </a:pPr>
            <a:r>
              <a:t/>
            </a:r>
            <a:endParaRPr sz="2400"/>
          </a:p>
          <a:p>
            <a:pPr indent="-110045" lvl="0" marL="228600" rtl="0" algn="l">
              <a:lnSpc>
                <a:spcPct val="90000"/>
              </a:lnSpc>
              <a:spcBef>
                <a:spcPts val="1000"/>
              </a:spcBef>
              <a:spcAft>
                <a:spcPts val="0"/>
              </a:spcAft>
              <a:buClr>
                <a:schemeClr val="dk1"/>
              </a:buClr>
              <a:buSzPts val="1867"/>
              <a:buNone/>
            </a:pPr>
            <a:r>
              <a:t/>
            </a:r>
            <a:endParaRPr sz="1867"/>
          </a:p>
        </p:txBody>
      </p:sp>
      <p:sp>
        <p:nvSpPr>
          <p:cNvPr id="293" name="Google Shape;293;p23"/>
          <p:cNvSpPr txBox="1"/>
          <p:nvPr>
            <p:ph idx="10" type="dt"/>
          </p:nvPr>
        </p:nvSpPr>
        <p:spPr>
          <a:xfrm>
            <a:off x="8093240" y="6613560"/>
            <a:ext cx="3972947" cy="182563"/>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US" sz="1067">
                <a:solidFill>
                  <a:srgbClr val="000000"/>
                </a:solidFill>
                <a:latin typeface="Arial"/>
                <a:ea typeface="Arial"/>
                <a:cs typeface="Arial"/>
                <a:sym typeface="Arial"/>
              </a:rPr>
              <a:t>‹#›</a:t>
            </a:fld>
            <a:r>
              <a:rPr lang="en-US" sz="1067">
                <a:solidFill>
                  <a:srgbClr val="000000"/>
                </a:solidFill>
                <a:latin typeface="Arial"/>
                <a:ea typeface="Arial"/>
                <a:cs typeface="Arial"/>
                <a:sym typeface="Arial"/>
              </a:rPr>
              <a:t> – ESnet Science Engagement (</a:t>
            </a:r>
            <a:r>
              <a:rPr lang="en-US" sz="1067" u="sng">
                <a:solidFill>
                  <a:srgbClr val="000000"/>
                </a:solidFill>
                <a:latin typeface="Arial"/>
                <a:ea typeface="Arial"/>
                <a:cs typeface="Arial"/>
                <a:sym typeface="Arial"/>
                <a:hlinkClick r:id="rId3">
                  <a:extLst>
                    <a:ext uri="{A12FA001-AC4F-418D-AE19-62706E023703}">
                      <ahyp:hlinkClr val="tx"/>
                    </a:ext>
                  </a:extLst>
                </a:hlinkClick>
              </a:rPr>
              <a:t>engage@es.net</a:t>
            </a:r>
            <a:r>
              <a:rPr lang="en-US" sz="1067">
                <a:solidFill>
                  <a:srgbClr val="000000"/>
                </a:solidFill>
                <a:latin typeface="Arial"/>
                <a:ea typeface="Arial"/>
                <a:cs typeface="Arial"/>
                <a:sym typeface="Arial"/>
              </a:rPr>
              <a:t>) - 5/12/2024</a:t>
            </a:r>
            <a:endParaRPr sz="1067">
              <a:solidFill>
                <a:srgbClr val="000000"/>
              </a:solidFill>
              <a:latin typeface="Arial"/>
              <a:ea typeface="Arial"/>
              <a:cs typeface="Arial"/>
              <a:sym typeface="Arial"/>
            </a:endParaRPr>
          </a:p>
        </p:txBody>
      </p:sp>
      <p:pic>
        <p:nvPicPr>
          <p:cNvPr descr="Screen Shot 2014-02-11 at 7.10.21 AM.png" id="294" name="Google Shape;294;p23"/>
          <p:cNvPicPr preferRelativeResize="0"/>
          <p:nvPr/>
        </p:nvPicPr>
        <p:blipFill rotWithShape="1">
          <a:blip r:embed="rId4">
            <a:alphaModFix/>
          </a:blip>
          <a:srcRect b="0" l="0" r="0" t="0"/>
          <a:stretch/>
        </p:blipFill>
        <p:spPr>
          <a:xfrm>
            <a:off x="6568253" y="1231456"/>
            <a:ext cx="5623747" cy="5648464"/>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9" name="Shape 299"/>
        <p:cNvGrpSpPr/>
        <p:nvPr/>
      </p:nvGrpSpPr>
      <p:grpSpPr>
        <a:xfrm>
          <a:off x="0" y="0"/>
          <a:ext cx="0" cy="0"/>
          <a:chOff x="0" y="0"/>
          <a:chExt cx="0" cy="0"/>
        </a:xfrm>
      </p:grpSpPr>
      <p:sp>
        <p:nvSpPr>
          <p:cNvPr id="300" name="Google Shape;300;p2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5333"/>
              <a:buFont typeface="Calibri"/>
              <a:buNone/>
            </a:pPr>
            <a:r>
              <a:rPr lang="en-US" sz="5333"/>
              <a:t>DTN Tuning is Art &amp; Science</a:t>
            </a:r>
            <a:endParaRPr/>
          </a:p>
        </p:txBody>
      </p:sp>
      <p:sp>
        <p:nvSpPr>
          <p:cNvPr id="301" name="Google Shape;301;p24"/>
          <p:cNvSpPr txBox="1"/>
          <p:nvPr>
            <p:ph idx="10" type="dt"/>
          </p:nvPr>
        </p:nvSpPr>
        <p:spPr>
          <a:xfrm>
            <a:off x="8093240" y="6613560"/>
            <a:ext cx="3972947" cy="182563"/>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US" sz="1067">
                <a:solidFill>
                  <a:srgbClr val="000000"/>
                </a:solidFill>
                <a:latin typeface="Arial"/>
                <a:ea typeface="Arial"/>
                <a:cs typeface="Arial"/>
                <a:sym typeface="Arial"/>
              </a:rPr>
              <a:t>‹#›</a:t>
            </a:fld>
            <a:r>
              <a:rPr lang="en-US" sz="1067">
                <a:solidFill>
                  <a:srgbClr val="000000"/>
                </a:solidFill>
                <a:latin typeface="Arial"/>
                <a:ea typeface="Arial"/>
                <a:cs typeface="Arial"/>
                <a:sym typeface="Arial"/>
              </a:rPr>
              <a:t> – ESnet Science Engagement (</a:t>
            </a:r>
            <a:r>
              <a:rPr lang="en-US" sz="1067" u="sng">
                <a:solidFill>
                  <a:srgbClr val="000000"/>
                </a:solidFill>
                <a:latin typeface="Arial"/>
                <a:ea typeface="Arial"/>
                <a:cs typeface="Arial"/>
                <a:sym typeface="Arial"/>
                <a:hlinkClick r:id="rId3">
                  <a:extLst>
                    <a:ext uri="{A12FA001-AC4F-418D-AE19-62706E023703}">
                      <ahyp:hlinkClr val="tx"/>
                    </a:ext>
                  </a:extLst>
                </a:hlinkClick>
              </a:rPr>
              <a:t>engage@es.net</a:t>
            </a:r>
            <a:r>
              <a:rPr lang="en-US" sz="1067">
                <a:solidFill>
                  <a:srgbClr val="000000"/>
                </a:solidFill>
                <a:latin typeface="Arial"/>
                <a:ea typeface="Arial"/>
                <a:cs typeface="Arial"/>
                <a:sym typeface="Arial"/>
              </a:rPr>
              <a:t>) - 5/12/2024</a:t>
            </a:r>
            <a:endParaRPr sz="1067">
              <a:solidFill>
                <a:srgbClr val="000000"/>
              </a:solidFill>
              <a:latin typeface="Arial"/>
              <a:ea typeface="Arial"/>
              <a:cs typeface="Arial"/>
              <a:sym typeface="Arial"/>
            </a:endParaRPr>
          </a:p>
        </p:txBody>
      </p:sp>
      <p:pic>
        <p:nvPicPr>
          <p:cNvPr descr="IMG_2265.JPG" id="302" name="Google Shape;302;p24"/>
          <p:cNvPicPr preferRelativeResize="0"/>
          <p:nvPr/>
        </p:nvPicPr>
        <p:blipFill rotWithShape="1">
          <a:blip r:embed="rId4">
            <a:alphaModFix/>
          </a:blip>
          <a:srcRect b="0" l="0" r="0" t="0"/>
          <a:stretch/>
        </p:blipFill>
        <p:spPr>
          <a:xfrm>
            <a:off x="2050882" y="1274531"/>
            <a:ext cx="8216780" cy="4621939"/>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p25"/>
          <p:cNvSpPr txBox="1"/>
          <p:nvPr>
            <p:ph type="title"/>
          </p:nvPr>
        </p:nvSpPr>
        <p:spPr>
          <a:xfrm>
            <a:off x="838200" y="441200"/>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5333"/>
              <a:buFont typeface="Calibri"/>
              <a:buNone/>
            </a:pPr>
            <a:r>
              <a:rPr lang="en-US" sz="5333"/>
              <a:t>DTN Tuning </a:t>
            </a:r>
            <a:br>
              <a:rPr lang="en-US"/>
            </a:br>
            <a:r>
              <a:rPr lang="en-US" sz="3200" u="sng">
                <a:solidFill>
                  <a:schemeClr val="hlink"/>
                </a:solidFill>
                <a:hlinkClick r:id="rId3"/>
              </a:rPr>
              <a:t>http://fasterdata.es.net/science-dmz/DTN/tuning</a:t>
            </a:r>
            <a:r>
              <a:rPr lang="en-US" sz="3200"/>
              <a:t> </a:t>
            </a:r>
            <a:endParaRPr/>
          </a:p>
        </p:txBody>
      </p:sp>
      <p:sp>
        <p:nvSpPr>
          <p:cNvPr id="309" name="Google Shape;309;p25"/>
          <p:cNvSpPr txBox="1"/>
          <p:nvPr>
            <p:ph idx="1" type="body"/>
          </p:nvPr>
        </p:nvSpPr>
        <p:spPr>
          <a:xfrm>
            <a:off x="838200" y="1825625"/>
            <a:ext cx="10515600" cy="3996677"/>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Defaults are not appropriate for performance.</a:t>
            </a:r>
            <a:endParaRPr/>
          </a:p>
          <a:p>
            <a:pPr indent="-50800" lvl="0" marL="228600" rtl="0" algn="l">
              <a:lnSpc>
                <a:spcPct val="90000"/>
              </a:lnSpc>
              <a:spcBef>
                <a:spcPts val="1000"/>
              </a:spcBef>
              <a:spcAft>
                <a:spcPts val="0"/>
              </a:spcAft>
              <a:buClr>
                <a:schemeClr val="dk1"/>
              </a:buClr>
              <a:buSzPts val="2800"/>
              <a:buNone/>
            </a:pPr>
            <a:r>
              <a:t/>
            </a:r>
            <a:endParaRPr/>
          </a:p>
          <a:p>
            <a:pPr indent="-228600" lvl="1" marL="685800" rtl="0" algn="l">
              <a:lnSpc>
                <a:spcPct val="90000"/>
              </a:lnSpc>
              <a:spcBef>
                <a:spcPts val="500"/>
              </a:spcBef>
              <a:spcAft>
                <a:spcPts val="0"/>
              </a:spcAft>
              <a:buClr>
                <a:schemeClr val="dk1"/>
              </a:buClr>
              <a:buSzPts val="2400"/>
              <a:buChar char="•"/>
            </a:pPr>
            <a:r>
              <a:rPr lang="en-US"/>
              <a:t>What needs to be tuned:</a:t>
            </a:r>
            <a:endParaRPr/>
          </a:p>
          <a:p>
            <a:pPr indent="-228600" lvl="1" marL="685800" rtl="0" algn="l">
              <a:lnSpc>
                <a:spcPct val="90000"/>
              </a:lnSpc>
              <a:spcBef>
                <a:spcPts val="500"/>
              </a:spcBef>
              <a:spcAft>
                <a:spcPts val="0"/>
              </a:spcAft>
              <a:buClr>
                <a:schemeClr val="dk1"/>
              </a:buClr>
              <a:buSzPts val="2400"/>
              <a:buChar char="•"/>
            </a:pPr>
            <a:r>
              <a:rPr lang="en-US"/>
              <a:t>BIOS</a:t>
            </a:r>
            <a:endParaRPr/>
          </a:p>
          <a:p>
            <a:pPr indent="-228600" lvl="1" marL="685800" rtl="0" algn="l">
              <a:lnSpc>
                <a:spcPct val="90000"/>
              </a:lnSpc>
              <a:spcBef>
                <a:spcPts val="500"/>
              </a:spcBef>
              <a:spcAft>
                <a:spcPts val="0"/>
              </a:spcAft>
              <a:buClr>
                <a:schemeClr val="dk1"/>
              </a:buClr>
              <a:buSzPts val="2400"/>
              <a:buChar char="•"/>
            </a:pPr>
            <a:r>
              <a:rPr lang="en-US"/>
              <a:t>Firmware</a:t>
            </a:r>
            <a:endParaRPr/>
          </a:p>
          <a:p>
            <a:pPr indent="-228600" lvl="1" marL="685800" rtl="0" algn="l">
              <a:lnSpc>
                <a:spcPct val="90000"/>
              </a:lnSpc>
              <a:spcBef>
                <a:spcPts val="500"/>
              </a:spcBef>
              <a:spcAft>
                <a:spcPts val="0"/>
              </a:spcAft>
              <a:buClr>
                <a:schemeClr val="dk1"/>
              </a:buClr>
              <a:buSzPts val="2400"/>
              <a:buChar char="•"/>
            </a:pPr>
            <a:r>
              <a:rPr lang="en-US"/>
              <a:t>Device Drivers</a:t>
            </a:r>
            <a:endParaRPr/>
          </a:p>
          <a:p>
            <a:pPr indent="-228600" lvl="1" marL="685800" rtl="0" algn="l">
              <a:lnSpc>
                <a:spcPct val="90000"/>
              </a:lnSpc>
              <a:spcBef>
                <a:spcPts val="500"/>
              </a:spcBef>
              <a:spcAft>
                <a:spcPts val="0"/>
              </a:spcAft>
              <a:buClr>
                <a:schemeClr val="dk1"/>
              </a:buClr>
              <a:buSzPts val="2400"/>
              <a:buChar char="•"/>
            </a:pPr>
            <a:r>
              <a:rPr lang="en-US"/>
              <a:t>Networking</a:t>
            </a:r>
            <a:endParaRPr/>
          </a:p>
          <a:p>
            <a:pPr indent="-228600" lvl="1" marL="685800" rtl="0" algn="l">
              <a:lnSpc>
                <a:spcPct val="90000"/>
              </a:lnSpc>
              <a:spcBef>
                <a:spcPts val="500"/>
              </a:spcBef>
              <a:spcAft>
                <a:spcPts val="0"/>
              </a:spcAft>
              <a:buClr>
                <a:schemeClr val="dk1"/>
              </a:buClr>
              <a:buSzPts val="2400"/>
              <a:buChar char="•"/>
            </a:pPr>
            <a:r>
              <a:rPr lang="en-US"/>
              <a:t>File System</a:t>
            </a:r>
            <a:endParaRPr/>
          </a:p>
          <a:p>
            <a:pPr indent="-228600" lvl="1" marL="685800" rtl="0" algn="l">
              <a:lnSpc>
                <a:spcPct val="90000"/>
              </a:lnSpc>
              <a:spcBef>
                <a:spcPts val="500"/>
              </a:spcBef>
              <a:spcAft>
                <a:spcPts val="0"/>
              </a:spcAft>
              <a:buClr>
                <a:schemeClr val="dk1"/>
              </a:buClr>
              <a:buSzPts val="2400"/>
              <a:buChar char="•"/>
            </a:pPr>
            <a:r>
              <a:rPr lang="en-US"/>
              <a:t>Application</a:t>
            </a:r>
            <a:endParaRPr/>
          </a:p>
        </p:txBody>
      </p:sp>
      <p:sp>
        <p:nvSpPr>
          <p:cNvPr id="310" name="Google Shape;310;p25"/>
          <p:cNvSpPr txBox="1"/>
          <p:nvPr>
            <p:ph idx="10" type="dt"/>
          </p:nvPr>
        </p:nvSpPr>
        <p:spPr>
          <a:xfrm>
            <a:off x="8093240" y="6613560"/>
            <a:ext cx="3972947" cy="182563"/>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US" sz="1067">
                <a:solidFill>
                  <a:srgbClr val="000000"/>
                </a:solidFill>
                <a:latin typeface="Arial"/>
                <a:ea typeface="Arial"/>
                <a:cs typeface="Arial"/>
                <a:sym typeface="Arial"/>
              </a:rPr>
              <a:t>‹#›</a:t>
            </a:fld>
            <a:r>
              <a:rPr lang="en-US" sz="1067">
                <a:solidFill>
                  <a:srgbClr val="000000"/>
                </a:solidFill>
                <a:latin typeface="Arial"/>
                <a:ea typeface="Arial"/>
                <a:cs typeface="Arial"/>
                <a:sym typeface="Arial"/>
              </a:rPr>
              <a:t> – ESnet Science Engagement (</a:t>
            </a:r>
            <a:r>
              <a:rPr lang="en-US" sz="1067" u="sng">
                <a:solidFill>
                  <a:srgbClr val="000000"/>
                </a:solidFill>
                <a:latin typeface="Arial"/>
                <a:ea typeface="Arial"/>
                <a:cs typeface="Arial"/>
                <a:sym typeface="Arial"/>
                <a:hlinkClick r:id="rId4">
                  <a:extLst>
                    <a:ext uri="{A12FA001-AC4F-418D-AE19-62706E023703}">
                      <ahyp:hlinkClr val="tx"/>
                    </a:ext>
                  </a:extLst>
                </a:hlinkClick>
              </a:rPr>
              <a:t>engage@es.net</a:t>
            </a:r>
            <a:r>
              <a:rPr lang="en-US" sz="1067">
                <a:solidFill>
                  <a:srgbClr val="000000"/>
                </a:solidFill>
                <a:latin typeface="Arial"/>
                <a:ea typeface="Arial"/>
                <a:cs typeface="Arial"/>
                <a:sym typeface="Arial"/>
              </a:rPr>
              <a:t>) - 5/12/2024</a:t>
            </a:r>
            <a:endParaRPr sz="1067">
              <a:solidFill>
                <a:srgbClr val="000000"/>
              </a:solidFill>
              <a:latin typeface="Arial"/>
              <a:ea typeface="Arial"/>
              <a:cs typeface="Arial"/>
              <a:sym typeface="Arial"/>
            </a:endParaRPr>
          </a:p>
        </p:txBody>
      </p:sp>
      <p:pic>
        <p:nvPicPr>
          <p:cNvPr id="311" name="Google Shape;311;p25"/>
          <p:cNvPicPr preferRelativeResize="0"/>
          <p:nvPr/>
        </p:nvPicPr>
        <p:blipFill rotWithShape="1">
          <a:blip r:embed="rId5">
            <a:alphaModFix/>
          </a:blip>
          <a:srcRect b="0" l="0" r="0" t="0"/>
          <a:stretch/>
        </p:blipFill>
        <p:spPr>
          <a:xfrm>
            <a:off x="6430554" y="2258321"/>
            <a:ext cx="5038231" cy="3787607"/>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5" name="Shape 315"/>
        <p:cNvGrpSpPr/>
        <p:nvPr/>
      </p:nvGrpSpPr>
      <p:grpSpPr>
        <a:xfrm>
          <a:off x="0" y="0"/>
          <a:ext cx="0" cy="0"/>
          <a:chOff x="0" y="0"/>
          <a:chExt cx="0" cy="0"/>
        </a:xfrm>
      </p:grpSpPr>
      <p:sp>
        <p:nvSpPr>
          <p:cNvPr id="316" name="Google Shape;316;p2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5333"/>
              <a:buFont typeface="Calibri"/>
              <a:buNone/>
            </a:pPr>
            <a:r>
              <a:rPr lang="en-US" sz="5333"/>
              <a:t>DTN Tuning</a:t>
            </a:r>
            <a:endParaRPr/>
          </a:p>
        </p:txBody>
      </p:sp>
      <p:sp>
        <p:nvSpPr>
          <p:cNvPr id="317" name="Google Shape;317;p26"/>
          <p:cNvSpPr txBox="1"/>
          <p:nvPr>
            <p:ph idx="1" type="body"/>
          </p:nvPr>
        </p:nvSpPr>
        <p:spPr>
          <a:xfrm>
            <a:off x="609601" y="1600201"/>
            <a:ext cx="11188961" cy="4336267"/>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Tuning your DTN host is extremely important. We have seen overall IO throughput of a DTN more than double with proper tuning.</a:t>
            </a:r>
            <a:endParaRPr/>
          </a:p>
          <a:p>
            <a:pPr indent="-228600" lvl="0" marL="228600" rtl="0" algn="l">
              <a:lnSpc>
                <a:spcPct val="90000"/>
              </a:lnSpc>
              <a:spcBef>
                <a:spcPts val="1000"/>
              </a:spcBef>
              <a:spcAft>
                <a:spcPts val="0"/>
              </a:spcAft>
              <a:buClr>
                <a:schemeClr val="dk1"/>
              </a:buClr>
              <a:buSzPts val="2800"/>
              <a:buChar char="•"/>
            </a:pPr>
            <a:r>
              <a:rPr lang="en-US"/>
              <a:t>Tuning can be as much art as a science. Due to differences in hardware, its hard to give concrete advice. </a:t>
            </a:r>
            <a:endParaRPr/>
          </a:p>
          <a:p>
            <a:pPr indent="-228600" lvl="0" marL="228600" rtl="0" algn="l">
              <a:lnSpc>
                <a:spcPct val="90000"/>
              </a:lnSpc>
              <a:spcBef>
                <a:spcPts val="1000"/>
              </a:spcBef>
              <a:spcAft>
                <a:spcPts val="0"/>
              </a:spcAft>
              <a:buClr>
                <a:schemeClr val="dk1"/>
              </a:buClr>
              <a:buSzPts val="2800"/>
              <a:buChar char="•"/>
            </a:pPr>
            <a:r>
              <a:rPr lang="en-US"/>
              <a:t>Here are some tuning settings that we have found do make a difference. </a:t>
            </a:r>
            <a:endParaRPr/>
          </a:p>
          <a:p>
            <a:pPr indent="-228600" lvl="0" marL="228600" rtl="0" algn="l">
              <a:lnSpc>
                <a:spcPct val="90000"/>
              </a:lnSpc>
              <a:spcBef>
                <a:spcPts val="1000"/>
              </a:spcBef>
              <a:spcAft>
                <a:spcPts val="0"/>
              </a:spcAft>
              <a:buClr>
                <a:schemeClr val="dk1"/>
              </a:buClr>
              <a:buSzPts val="2800"/>
              <a:buChar char="•"/>
            </a:pPr>
            <a:r>
              <a:rPr lang="en-US"/>
              <a:t>This tutorial assumes you are running a RedHat-based Linux system, but other Unix flavors should have similar tuning knobs. </a:t>
            </a:r>
            <a:endParaRPr/>
          </a:p>
          <a:p>
            <a:pPr indent="-228600" lvl="0" marL="228600" rtl="0" algn="l">
              <a:lnSpc>
                <a:spcPct val="90000"/>
              </a:lnSpc>
              <a:spcBef>
                <a:spcPts val="1000"/>
              </a:spcBef>
              <a:spcAft>
                <a:spcPts val="0"/>
              </a:spcAft>
              <a:buClr>
                <a:schemeClr val="dk1"/>
              </a:buClr>
              <a:buSzPts val="2800"/>
              <a:buChar char="•"/>
            </a:pPr>
            <a:r>
              <a:rPr lang="en-US"/>
              <a:t>Note that you should always use the most recent version of the OS, as performance optimizations for new hardware are added to every release.</a:t>
            </a:r>
            <a:endParaRPr/>
          </a:p>
          <a:p>
            <a:pPr indent="-50800" lvl="0" marL="228600" rtl="0" algn="l">
              <a:lnSpc>
                <a:spcPct val="90000"/>
              </a:lnSpc>
              <a:spcBef>
                <a:spcPts val="1000"/>
              </a:spcBef>
              <a:spcAft>
                <a:spcPts val="0"/>
              </a:spcAft>
              <a:buClr>
                <a:schemeClr val="dk1"/>
              </a:buClr>
              <a:buSzPts val="2800"/>
              <a:buNone/>
            </a:pPr>
            <a:r>
              <a:t/>
            </a:r>
            <a:endParaRPr/>
          </a:p>
          <a:p>
            <a:pPr indent="-50800" lvl="0" marL="228600" rtl="0" algn="l">
              <a:lnSpc>
                <a:spcPct val="90000"/>
              </a:lnSpc>
              <a:spcBef>
                <a:spcPts val="1000"/>
              </a:spcBef>
              <a:spcAft>
                <a:spcPts val="0"/>
              </a:spcAft>
              <a:buClr>
                <a:schemeClr val="dk1"/>
              </a:buClr>
              <a:buSzPts val="2800"/>
              <a:buNone/>
            </a:pPr>
            <a:r>
              <a:t/>
            </a:r>
            <a:endParaRPr/>
          </a:p>
        </p:txBody>
      </p:sp>
      <p:sp>
        <p:nvSpPr>
          <p:cNvPr id="318" name="Google Shape;318;p26"/>
          <p:cNvSpPr txBox="1"/>
          <p:nvPr>
            <p:ph idx="10" type="dt"/>
          </p:nvPr>
        </p:nvSpPr>
        <p:spPr>
          <a:xfrm>
            <a:off x="8093240" y="6613560"/>
            <a:ext cx="3972947" cy="182563"/>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US" sz="1067">
                <a:solidFill>
                  <a:srgbClr val="000000"/>
                </a:solidFill>
                <a:latin typeface="Arial"/>
                <a:ea typeface="Arial"/>
                <a:cs typeface="Arial"/>
                <a:sym typeface="Arial"/>
              </a:rPr>
              <a:t>‹#›</a:t>
            </a:fld>
            <a:r>
              <a:rPr lang="en-US" sz="1067">
                <a:solidFill>
                  <a:srgbClr val="000000"/>
                </a:solidFill>
                <a:latin typeface="Arial"/>
                <a:ea typeface="Arial"/>
                <a:cs typeface="Arial"/>
                <a:sym typeface="Arial"/>
              </a:rPr>
              <a:t> – ESnet Science Engagement (</a:t>
            </a:r>
            <a:r>
              <a:rPr lang="en-US" sz="1067" u="sng">
                <a:solidFill>
                  <a:srgbClr val="000000"/>
                </a:solidFill>
                <a:latin typeface="Arial"/>
                <a:ea typeface="Arial"/>
                <a:cs typeface="Arial"/>
                <a:sym typeface="Arial"/>
                <a:hlinkClick r:id="rId3">
                  <a:extLst>
                    <a:ext uri="{A12FA001-AC4F-418D-AE19-62706E023703}">
                      <ahyp:hlinkClr val="tx"/>
                    </a:ext>
                  </a:extLst>
                </a:hlinkClick>
              </a:rPr>
              <a:t>engage@es.net</a:t>
            </a:r>
            <a:r>
              <a:rPr lang="en-US" sz="1067">
                <a:solidFill>
                  <a:srgbClr val="000000"/>
                </a:solidFill>
                <a:latin typeface="Arial"/>
                <a:ea typeface="Arial"/>
                <a:cs typeface="Arial"/>
                <a:sym typeface="Arial"/>
              </a:rPr>
              <a:t>) - 5/12/2024</a:t>
            </a:r>
            <a:endParaRPr sz="1067">
              <a:solidFill>
                <a:srgbClr val="000000"/>
              </a:solidFill>
              <a:latin typeface="Arial"/>
              <a:ea typeface="Arial"/>
              <a:cs typeface="Arial"/>
              <a:sym typeface="Arial"/>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3" name="Shape 323"/>
        <p:cNvGrpSpPr/>
        <p:nvPr/>
      </p:nvGrpSpPr>
      <p:grpSpPr>
        <a:xfrm>
          <a:off x="0" y="0"/>
          <a:ext cx="0" cy="0"/>
          <a:chOff x="0" y="0"/>
          <a:chExt cx="0" cy="0"/>
        </a:xfrm>
      </p:grpSpPr>
      <p:sp>
        <p:nvSpPr>
          <p:cNvPr id="324" name="Google Shape;324;p2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5333"/>
              <a:buFont typeface="Calibri"/>
              <a:buNone/>
            </a:pPr>
            <a:r>
              <a:rPr lang="en-US" sz="5333"/>
              <a:t>Network Tuning</a:t>
            </a:r>
            <a:endParaRPr/>
          </a:p>
        </p:txBody>
      </p:sp>
      <p:sp>
        <p:nvSpPr>
          <p:cNvPr id="325" name="Google Shape;325;p27"/>
          <p:cNvSpPr txBox="1"/>
          <p:nvPr>
            <p:ph idx="1" type="body"/>
          </p:nvPr>
        </p:nvSpPr>
        <p:spPr>
          <a:xfrm>
            <a:off x="609600" y="1600200"/>
            <a:ext cx="5384800" cy="4093749"/>
          </a:xfrm>
          <a:prstGeom prst="rect">
            <a:avLst/>
          </a:prstGeom>
          <a:no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1333"/>
              <a:buNone/>
            </a:pPr>
            <a:r>
              <a:rPr lang="en-US" sz="1333">
                <a:latin typeface="Courier"/>
                <a:ea typeface="Courier"/>
                <a:cs typeface="Courier"/>
                <a:sym typeface="Courier"/>
              </a:rPr>
              <a:t># add to /etc/sysctl.conf</a:t>
            </a:r>
            <a:endParaRPr sz="1333">
              <a:latin typeface="Courier"/>
              <a:ea typeface="Courier"/>
              <a:cs typeface="Courier"/>
              <a:sym typeface="Courier"/>
            </a:endParaRPr>
          </a:p>
          <a:p>
            <a:pPr indent="0" lvl="0" marL="0" rtl="0" algn="l">
              <a:lnSpc>
                <a:spcPct val="90000"/>
              </a:lnSpc>
              <a:spcBef>
                <a:spcPts val="1000"/>
              </a:spcBef>
              <a:spcAft>
                <a:spcPts val="0"/>
              </a:spcAft>
              <a:buClr>
                <a:schemeClr val="dk1"/>
              </a:buClr>
              <a:buSzPts val="1333"/>
              <a:buNone/>
            </a:pPr>
            <a:r>
              <a:rPr lang="en-US" sz="1333">
                <a:latin typeface="Courier"/>
                <a:ea typeface="Courier"/>
                <a:cs typeface="Courier"/>
                <a:sym typeface="Courier"/>
              </a:rPr>
              <a:t>net.core.rmem_max = </a:t>
            </a:r>
            <a:r>
              <a:rPr lang="en-US" sz="1333">
                <a:solidFill>
                  <a:srgbClr val="FF0000"/>
                </a:solidFill>
                <a:latin typeface="Courier"/>
                <a:ea typeface="Courier"/>
                <a:cs typeface="Courier"/>
                <a:sym typeface="Courier"/>
              </a:rPr>
              <a:t>67108864</a:t>
            </a:r>
            <a:endParaRPr/>
          </a:p>
          <a:p>
            <a:pPr indent="0" lvl="0" marL="0" rtl="0" algn="l">
              <a:lnSpc>
                <a:spcPct val="90000"/>
              </a:lnSpc>
              <a:spcBef>
                <a:spcPts val="1000"/>
              </a:spcBef>
              <a:spcAft>
                <a:spcPts val="0"/>
              </a:spcAft>
              <a:buClr>
                <a:schemeClr val="dk1"/>
              </a:buClr>
              <a:buSzPts val="1333"/>
              <a:buNone/>
            </a:pPr>
            <a:r>
              <a:rPr lang="en-US" sz="1333">
                <a:latin typeface="Courier"/>
                <a:ea typeface="Courier"/>
                <a:cs typeface="Courier"/>
                <a:sym typeface="Courier"/>
              </a:rPr>
              <a:t>net.core.wmem_max = </a:t>
            </a:r>
            <a:r>
              <a:rPr lang="en-US" sz="1333">
                <a:solidFill>
                  <a:srgbClr val="FF0000"/>
                </a:solidFill>
                <a:latin typeface="Courier"/>
                <a:ea typeface="Courier"/>
                <a:cs typeface="Courier"/>
                <a:sym typeface="Courier"/>
              </a:rPr>
              <a:t>67108864</a:t>
            </a:r>
            <a:endParaRPr/>
          </a:p>
          <a:p>
            <a:pPr indent="0" lvl="0" marL="0" rtl="0" algn="l">
              <a:lnSpc>
                <a:spcPct val="90000"/>
              </a:lnSpc>
              <a:spcBef>
                <a:spcPts val="1000"/>
              </a:spcBef>
              <a:spcAft>
                <a:spcPts val="0"/>
              </a:spcAft>
              <a:buClr>
                <a:schemeClr val="dk1"/>
              </a:buClr>
              <a:buSzPts val="1333"/>
              <a:buNone/>
            </a:pPr>
            <a:r>
              <a:rPr lang="en-US" sz="1333">
                <a:latin typeface="Courier"/>
                <a:ea typeface="Courier"/>
                <a:cs typeface="Courier"/>
                <a:sym typeface="Courier"/>
              </a:rPr>
              <a:t>net.ipv4.tcp_rmem = 4096 87380 </a:t>
            </a:r>
            <a:r>
              <a:rPr lang="en-US" sz="1333">
                <a:solidFill>
                  <a:srgbClr val="FF0000"/>
                </a:solidFill>
                <a:latin typeface="Courier"/>
                <a:ea typeface="Courier"/>
                <a:cs typeface="Courier"/>
                <a:sym typeface="Courier"/>
              </a:rPr>
              <a:t>33554432</a:t>
            </a:r>
            <a:endParaRPr/>
          </a:p>
          <a:p>
            <a:pPr indent="0" lvl="0" marL="0" rtl="0" algn="l">
              <a:lnSpc>
                <a:spcPct val="90000"/>
              </a:lnSpc>
              <a:spcBef>
                <a:spcPts val="1000"/>
              </a:spcBef>
              <a:spcAft>
                <a:spcPts val="0"/>
              </a:spcAft>
              <a:buClr>
                <a:schemeClr val="dk1"/>
              </a:buClr>
              <a:buSzPts val="1333"/>
              <a:buNone/>
            </a:pPr>
            <a:r>
              <a:rPr lang="en-US" sz="1333">
                <a:latin typeface="Courier"/>
                <a:ea typeface="Courier"/>
                <a:cs typeface="Courier"/>
                <a:sym typeface="Courier"/>
              </a:rPr>
              <a:t>net.ipv4.tcp_wmem = 4096 65536 </a:t>
            </a:r>
            <a:r>
              <a:rPr lang="en-US" sz="1333">
                <a:solidFill>
                  <a:srgbClr val="FF0000"/>
                </a:solidFill>
                <a:latin typeface="Courier"/>
                <a:ea typeface="Courier"/>
                <a:cs typeface="Courier"/>
                <a:sym typeface="Courier"/>
              </a:rPr>
              <a:t>33554432</a:t>
            </a:r>
            <a:endParaRPr/>
          </a:p>
          <a:p>
            <a:pPr indent="0" lvl="0" marL="0" rtl="0" algn="l">
              <a:lnSpc>
                <a:spcPct val="90000"/>
              </a:lnSpc>
              <a:spcBef>
                <a:spcPts val="1000"/>
              </a:spcBef>
              <a:spcAft>
                <a:spcPts val="0"/>
              </a:spcAft>
              <a:buClr>
                <a:schemeClr val="dk1"/>
              </a:buClr>
              <a:buSzPts val="1333"/>
              <a:buNone/>
            </a:pPr>
            <a:r>
              <a:rPr lang="en-US" sz="1333">
                <a:latin typeface="Courier"/>
                <a:ea typeface="Courier"/>
                <a:cs typeface="Courier"/>
                <a:sym typeface="Courier"/>
              </a:rPr>
              <a:t>net.core.netdev_max_backlog = 250000</a:t>
            </a:r>
            <a:endParaRPr/>
          </a:p>
          <a:p>
            <a:pPr indent="0" lvl="0" marL="0" rtl="0" algn="l">
              <a:lnSpc>
                <a:spcPct val="90000"/>
              </a:lnSpc>
              <a:spcBef>
                <a:spcPts val="1000"/>
              </a:spcBef>
              <a:spcAft>
                <a:spcPts val="0"/>
              </a:spcAft>
              <a:buClr>
                <a:schemeClr val="dk1"/>
              </a:buClr>
              <a:buSzPts val="1333"/>
              <a:buNone/>
            </a:pPr>
            <a:r>
              <a:t/>
            </a:r>
            <a:endParaRPr sz="1333">
              <a:latin typeface="Courier"/>
              <a:ea typeface="Courier"/>
              <a:cs typeface="Courier"/>
              <a:sym typeface="Courier"/>
            </a:endParaRPr>
          </a:p>
          <a:p>
            <a:pPr indent="0" lvl="0" marL="0" rtl="0" algn="l">
              <a:lnSpc>
                <a:spcPct val="90000"/>
              </a:lnSpc>
              <a:spcBef>
                <a:spcPts val="1000"/>
              </a:spcBef>
              <a:spcAft>
                <a:spcPts val="0"/>
              </a:spcAft>
              <a:buClr>
                <a:schemeClr val="dk1"/>
              </a:buClr>
              <a:buSzPts val="1333"/>
              <a:buNone/>
            </a:pPr>
            <a:r>
              <a:rPr lang="en-US" sz="1333">
                <a:latin typeface="Courier"/>
                <a:ea typeface="Courier"/>
                <a:cs typeface="Courier"/>
                <a:sym typeface="Courier"/>
              </a:rPr>
              <a:t>Add to /etc/rc.local to increase send queue depth </a:t>
            </a:r>
            <a:endParaRPr/>
          </a:p>
          <a:p>
            <a:pPr indent="0" lvl="0" marL="0" rtl="0" algn="l">
              <a:lnSpc>
                <a:spcPct val="90000"/>
              </a:lnSpc>
              <a:spcBef>
                <a:spcPts val="1000"/>
              </a:spcBef>
              <a:spcAft>
                <a:spcPts val="0"/>
              </a:spcAft>
              <a:buClr>
                <a:schemeClr val="dk1"/>
              </a:buClr>
              <a:buSzPts val="1333"/>
              <a:buNone/>
            </a:pPr>
            <a:r>
              <a:rPr lang="en-US" sz="1333">
                <a:latin typeface="Courier"/>
                <a:ea typeface="Courier"/>
                <a:cs typeface="Courier"/>
                <a:sym typeface="Courier"/>
              </a:rPr>
              <a:t># increase txqueuelen </a:t>
            </a:r>
            <a:endParaRPr/>
          </a:p>
          <a:p>
            <a:pPr indent="0" lvl="0" marL="0" rtl="0" algn="l">
              <a:lnSpc>
                <a:spcPct val="90000"/>
              </a:lnSpc>
              <a:spcBef>
                <a:spcPts val="1000"/>
              </a:spcBef>
              <a:spcAft>
                <a:spcPts val="0"/>
              </a:spcAft>
              <a:buClr>
                <a:schemeClr val="dk1"/>
              </a:buClr>
              <a:buSzPts val="1333"/>
              <a:buNone/>
            </a:pPr>
            <a:r>
              <a:rPr lang="en-US" sz="1333">
                <a:latin typeface="Courier"/>
                <a:ea typeface="Courier"/>
                <a:cs typeface="Courier"/>
                <a:sym typeface="Courier"/>
              </a:rPr>
              <a:t>/sbin/ifconfig eth2 txqueuelen 10000 </a:t>
            </a:r>
            <a:endParaRPr/>
          </a:p>
          <a:p>
            <a:pPr indent="0" lvl="0" marL="0" rtl="0" algn="l">
              <a:lnSpc>
                <a:spcPct val="90000"/>
              </a:lnSpc>
              <a:spcBef>
                <a:spcPts val="1000"/>
              </a:spcBef>
              <a:spcAft>
                <a:spcPts val="0"/>
              </a:spcAft>
              <a:buClr>
                <a:schemeClr val="dk1"/>
              </a:buClr>
              <a:buSzPts val="1333"/>
              <a:buNone/>
            </a:pPr>
            <a:r>
              <a:rPr lang="en-US" sz="1333">
                <a:latin typeface="Courier"/>
                <a:ea typeface="Courier"/>
                <a:cs typeface="Courier"/>
                <a:sym typeface="Courier"/>
              </a:rPr>
              <a:t>/sbin/ifconfig eth3 txqueuelen 10000</a:t>
            </a:r>
            <a:endParaRPr/>
          </a:p>
          <a:p>
            <a:pPr indent="0" lvl="0" marL="0" rtl="0" algn="l">
              <a:lnSpc>
                <a:spcPct val="90000"/>
              </a:lnSpc>
              <a:spcBef>
                <a:spcPts val="1000"/>
              </a:spcBef>
              <a:spcAft>
                <a:spcPts val="0"/>
              </a:spcAft>
              <a:buClr>
                <a:schemeClr val="dk1"/>
              </a:buClr>
              <a:buSzPts val="1333"/>
              <a:buNone/>
            </a:pPr>
            <a:r>
              <a:t/>
            </a:r>
            <a:endParaRPr sz="1333">
              <a:latin typeface="Courier"/>
              <a:ea typeface="Courier"/>
              <a:cs typeface="Courier"/>
              <a:sym typeface="Courier"/>
            </a:endParaRPr>
          </a:p>
          <a:p>
            <a:pPr indent="0" lvl="0" marL="0" rtl="0" algn="l">
              <a:lnSpc>
                <a:spcPct val="90000"/>
              </a:lnSpc>
              <a:spcBef>
                <a:spcPts val="1000"/>
              </a:spcBef>
              <a:spcAft>
                <a:spcPts val="0"/>
              </a:spcAft>
              <a:buClr>
                <a:schemeClr val="dk1"/>
              </a:buClr>
              <a:buSzPts val="1333"/>
              <a:buNone/>
            </a:pPr>
            <a:r>
              <a:t/>
            </a:r>
            <a:endParaRPr sz="1333"/>
          </a:p>
          <a:p>
            <a:pPr indent="0" lvl="0" marL="0" rtl="0" algn="l">
              <a:lnSpc>
                <a:spcPct val="90000"/>
              </a:lnSpc>
              <a:spcBef>
                <a:spcPts val="1000"/>
              </a:spcBef>
              <a:spcAft>
                <a:spcPts val="0"/>
              </a:spcAft>
              <a:buClr>
                <a:srgbClr val="000000"/>
              </a:buClr>
              <a:buSzPts val="2133"/>
              <a:buNone/>
            </a:pPr>
            <a:r>
              <a:rPr lang="en-US" sz="2133">
                <a:solidFill>
                  <a:srgbClr val="000000"/>
                </a:solidFill>
              </a:rPr>
              <a:t>This info (and more) is available on fasterdata, formatted for cut and paste</a:t>
            </a:r>
            <a:endParaRPr/>
          </a:p>
          <a:p>
            <a:pPr indent="0" lvl="0" marL="0" rtl="0" algn="l">
              <a:lnSpc>
                <a:spcPct val="90000"/>
              </a:lnSpc>
              <a:spcBef>
                <a:spcPts val="1000"/>
              </a:spcBef>
              <a:spcAft>
                <a:spcPts val="0"/>
              </a:spcAft>
              <a:buClr>
                <a:schemeClr val="dk1"/>
              </a:buClr>
              <a:buSzPts val="1867"/>
              <a:buNone/>
            </a:pPr>
            <a:r>
              <a:t/>
            </a:r>
            <a:endParaRPr sz="1867"/>
          </a:p>
        </p:txBody>
      </p:sp>
      <p:sp>
        <p:nvSpPr>
          <p:cNvPr id="326" name="Google Shape;326;p27"/>
          <p:cNvSpPr txBox="1"/>
          <p:nvPr>
            <p:ph idx="2" type="body"/>
          </p:nvPr>
        </p:nvSpPr>
        <p:spPr>
          <a:xfrm>
            <a:off x="6197600" y="1600200"/>
            <a:ext cx="5384800" cy="4093749"/>
          </a:xfrm>
          <a:prstGeom prst="rect">
            <a:avLst/>
          </a:prstGeom>
          <a:no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1600"/>
              <a:buNone/>
            </a:pPr>
            <a:r>
              <a:rPr lang="en-US" sz="1600">
                <a:latin typeface="Courier"/>
                <a:ea typeface="Courier"/>
                <a:cs typeface="Courier"/>
                <a:sym typeface="Courier"/>
              </a:rPr>
              <a:t># make sure cubic and htcp are loaded</a:t>
            </a:r>
            <a:endParaRPr/>
          </a:p>
          <a:p>
            <a:pPr indent="0" lvl="0" marL="0" rtl="0" algn="l">
              <a:lnSpc>
                <a:spcPct val="90000"/>
              </a:lnSpc>
              <a:spcBef>
                <a:spcPts val="1000"/>
              </a:spcBef>
              <a:spcAft>
                <a:spcPts val="0"/>
              </a:spcAft>
              <a:buClr>
                <a:schemeClr val="dk1"/>
              </a:buClr>
              <a:buSzPts val="1600"/>
              <a:buNone/>
            </a:pPr>
            <a:r>
              <a:rPr lang="en-US" sz="1600">
                <a:latin typeface="Courier"/>
                <a:ea typeface="Courier"/>
                <a:cs typeface="Courier"/>
                <a:sym typeface="Courier"/>
              </a:rPr>
              <a:t>/sbin/modprobe tcp_htcp</a:t>
            </a:r>
            <a:endParaRPr sz="1600">
              <a:latin typeface="Courier"/>
              <a:ea typeface="Courier"/>
              <a:cs typeface="Courier"/>
              <a:sym typeface="Courier"/>
            </a:endParaRPr>
          </a:p>
          <a:p>
            <a:pPr indent="0" lvl="0" marL="0" rtl="0" algn="l">
              <a:lnSpc>
                <a:spcPct val="90000"/>
              </a:lnSpc>
              <a:spcBef>
                <a:spcPts val="1000"/>
              </a:spcBef>
              <a:spcAft>
                <a:spcPts val="0"/>
              </a:spcAft>
              <a:buClr>
                <a:schemeClr val="dk1"/>
              </a:buClr>
              <a:buSzPts val="1600"/>
              <a:buNone/>
            </a:pPr>
            <a:r>
              <a:rPr lang="en-US" sz="1600">
                <a:latin typeface="Courier"/>
                <a:ea typeface="Courier"/>
                <a:cs typeface="Courier"/>
                <a:sym typeface="Courier"/>
              </a:rPr>
              <a:t>/sbin/modprobe tcp_cubic</a:t>
            </a:r>
            <a:endParaRPr sz="1600">
              <a:latin typeface="Courier"/>
              <a:ea typeface="Courier"/>
              <a:cs typeface="Courier"/>
              <a:sym typeface="Courier"/>
            </a:endParaRPr>
          </a:p>
          <a:p>
            <a:pPr indent="0" lvl="0" marL="0" rtl="0" algn="l">
              <a:lnSpc>
                <a:spcPct val="90000"/>
              </a:lnSpc>
              <a:spcBef>
                <a:spcPts val="1000"/>
              </a:spcBef>
              <a:spcAft>
                <a:spcPts val="0"/>
              </a:spcAft>
              <a:buClr>
                <a:schemeClr val="dk1"/>
              </a:buClr>
              <a:buSzPts val="1600"/>
              <a:buNone/>
            </a:pPr>
            <a:r>
              <a:rPr lang="en-US" sz="1600">
                <a:latin typeface="Courier"/>
                <a:ea typeface="Courier"/>
                <a:cs typeface="Courier"/>
                <a:sym typeface="Courier"/>
              </a:rPr>
              <a:t># set default to CC alg to htcp</a:t>
            </a:r>
            <a:endParaRPr sz="1600">
              <a:latin typeface="Courier"/>
              <a:ea typeface="Courier"/>
              <a:cs typeface="Courier"/>
              <a:sym typeface="Courier"/>
            </a:endParaRPr>
          </a:p>
          <a:p>
            <a:pPr indent="0" lvl="0" marL="0" rtl="0" algn="l">
              <a:lnSpc>
                <a:spcPct val="90000"/>
              </a:lnSpc>
              <a:spcBef>
                <a:spcPts val="1000"/>
              </a:spcBef>
              <a:spcAft>
                <a:spcPts val="0"/>
              </a:spcAft>
              <a:buClr>
                <a:schemeClr val="dk1"/>
              </a:buClr>
              <a:buSzPts val="1600"/>
              <a:buNone/>
            </a:pPr>
            <a:r>
              <a:rPr lang="en-US" sz="1600">
                <a:latin typeface="Courier"/>
                <a:ea typeface="Courier"/>
                <a:cs typeface="Courier"/>
                <a:sym typeface="Courier"/>
              </a:rPr>
              <a:t>net.ipv4.tcp_congestion_control=htcp</a:t>
            </a:r>
            <a:endParaRPr sz="1600">
              <a:latin typeface="Courier"/>
              <a:ea typeface="Courier"/>
              <a:cs typeface="Courier"/>
              <a:sym typeface="Courier"/>
            </a:endParaRPr>
          </a:p>
          <a:p>
            <a:pPr indent="0" lvl="0" marL="0" rtl="0" algn="l">
              <a:lnSpc>
                <a:spcPct val="90000"/>
              </a:lnSpc>
              <a:spcBef>
                <a:spcPts val="1000"/>
              </a:spcBef>
              <a:spcAft>
                <a:spcPts val="0"/>
              </a:spcAft>
              <a:buClr>
                <a:schemeClr val="dk1"/>
              </a:buClr>
              <a:buSzPts val="1600"/>
              <a:buNone/>
            </a:pPr>
            <a:r>
              <a:t/>
            </a:r>
            <a:endParaRPr sz="1600">
              <a:latin typeface="Courier"/>
              <a:ea typeface="Courier"/>
              <a:cs typeface="Courier"/>
              <a:sym typeface="Courier"/>
            </a:endParaRPr>
          </a:p>
          <a:p>
            <a:pPr indent="0" lvl="0" marL="0" rtl="0" algn="l">
              <a:lnSpc>
                <a:spcPct val="90000"/>
              </a:lnSpc>
              <a:spcBef>
                <a:spcPts val="1000"/>
              </a:spcBef>
              <a:spcAft>
                <a:spcPts val="0"/>
              </a:spcAft>
              <a:buClr>
                <a:schemeClr val="dk1"/>
              </a:buClr>
              <a:buSzPts val="1600"/>
              <a:buNone/>
            </a:pPr>
            <a:r>
              <a:rPr lang="en-US" sz="1600">
                <a:latin typeface="Courier"/>
                <a:ea typeface="Courier"/>
                <a:cs typeface="Courier"/>
                <a:sym typeface="Courier"/>
              </a:rPr>
              <a:t># with the Myricom 10G NIC</a:t>
            </a:r>
            <a:endParaRPr/>
          </a:p>
          <a:p>
            <a:pPr indent="0" lvl="0" marL="0" rtl="0" algn="l">
              <a:lnSpc>
                <a:spcPct val="90000"/>
              </a:lnSpc>
              <a:spcBef>
                <a:spcPts val="1000"/>
              </a:spcBef>
              <a:spcAft>
                <a:spcPts val="0"/>
              </a:spcAft>
              <a:buClr>
                <a:schemeClr val="dk1"/>
              </a:buClr>
              <a:buSzPts val="1600"/>
              <a:buNone/>
            </a:pPr>
            <a:r>
              <a:rPr lang="en-US" sz="1600">
                <a:latin typeface="Courier"/>
                <a:ea typeface="Courier"/>
                <a:cs typeface="Courier"/>
                <a:sym typeface="Courier"/>
              </a:rPr>
              <a:t># using interrupt coalencing helps a lot:</a:t>
            </a:r>
            <a:endParaRPr/>
          </a:p>
          <a:p>
            <a:pPr indent="0" lvl="0" marL="0" rtl="0" algn="l">
              <a:lnSpc>
                <a:spcPct val="90000"/>
              </a:lnSpc>
              <a:spcBef>
                <a:spcPts val="1000"/>
              </a:spcBef>
              <a:spcAft>
                <a:spcPts val="0"/>
              </a:spcAft>
              <a:buClr>
                <a:schemeClr val="dk1"/>
              </a:buClr>
              <a:buSzPts val="1600"/>
              <a:buNone/>
            </a:pPr>
            <a:r>
              <a:rPr lang="en-US" sz="1600">
                <a:latin typeface="Courier"/>
                <a:ea typeface="Courier"/>
                <a:cs typeface="Courier"/>
                <a:sym typeface="Courier"/>
              </a:rPr>
              <a:t>/usr/sbin/ethtool -C ethN rx-usecs 75</a:t>
            </a:r>
            <a:endParaRPr/>
          </a:p>
          <a:p>
            <a:pPr indent="0" lvl="0" marL="0" rtl="0" algn="l">
              <a:lnSpc>
                <a:spcPct val="90000"/>
              </a:lnSpc>
              <a:spcBef>
                <a:spcPts val="1000"/>
              </a:spcBef>
              <a:spcAft>
                <a:spcPts val="0"/>
              </a:spcAft>
              <a:buClr>
                <a:schemeClr val="dk1"/>
              </a:buClr>
              <a:buSzPts val="1600"/>
              <a:buNone/>
            </a:pPr>
            <a:r>
              <a:t/>
            </a:r>
            <a:endParaRPr sz="1600">
              <a:latin typeface="Courier"/>
              <a:ea typeface="Courier"/>
              <a:cs typeface="Courier"/>
              <a:sym typeface="Courier"/>
            </a:endParaRPr>
          </a:p>
          <a:p>
            <a:pPr indent="0" lvl="0" marL="0" rtl="0" algn="l">
              <a:lnSpc>
                <a:spcPct val="90000"/>
              </a:lnSpc>
              <a:spcBef>
                <a:spcPts val="1000"/>
              </a:spcBef>
              <a:spcAft>
                <a:spcPts val="0"/>
              </a:spcAft>
              <a:buClr>
                <a:schemeClr val="dk1"/>
              </a:buClr>
              <a:buSzPts val="1600"/>
              <a:buNone/>
            </a:pPr>
            <a:r>
              <a:t/>
            </a:r>
            <a:endParaRPr sz="1600"/>
          </a:p>
          <a:p>
            <a:pPr indent="0" lvl="0" marL="0" rtl="0" algn="l">
              <a:lnSpc>
                <a:spcPct val="90000"/>
              </a:lnSpc>
              <a:spcBef>
                <a:spcPts val="1000"/>
              </a:spcBef>
              <a:spcAft>
                <a:spcPts val="0"/>
              </a:spcAft>
              <a:buClr>
                <a:schemeClr val="dk1"/>
              </a:buClr>
              <a:buSzPts val="2133"/>
              <a:buNone/>
            </a:pPr>
            <a:r>
              <a:rPr lang="en-US" sz="2133"/>
              <a:t>Please consider jumbo frames, but don’t just blindly turn them on</a:t>
            </a:r>
            <a:endParaRPr/>
          </a:p>
          <a:p>
            <a:pPr indent="0" lvl="0" marL="0" rtl="0" algn="l">
              <a:lnSpc>
                <a:spcPct val="90000"/>
              </a:lnSpc>
              <a:spcBef>
                <a:spcPts val="1000"/>
              </a:spcBef>
              <a:spcAft>
                <a:spcPts val="0"/>
              </a:spcAft>
              <a:buClr>
                <a:schemeClr val="dk1"/>
              </a:buClr>
              <a:buSzPts val="2133"/>
              <a:buNone/>
            </a:pPr>
            <a:r>
              <a:t/>
            </a:r>
            <a:endParaRPr sz="2133">
              <a:solidFill>
                <a:srgbClr val="FF0000"/>
              </a:solidFill>
            </a:endParaRPr>
          </a:p>
          <a:p>
            <a:pPr indent="0" lvl="0" marL="0" rtl="0" algn="l">
              <a:lnSpc>
                <a:spcPct val="90000"/>
              </a:lnSpc>
              <a:spcBef>
                <a:spcPts val="1000"/>
              </a:spcBef>
              <a:spcAft>
                <a:spcPts val="0"/>
              </a:spcAft>
              <a:buClr>
                <a:schemeClr val="dk1"/>
              </a:buClr>
              <a:buSzPts val="1867"/>
              <a:buNone/>
            </a:pPr>
            <a:r>
              <a:t/>
            </a:r>
            <a:endParaRPr sz="1867"/>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0" name="Shape 330"/>
        <p:cNvGrpSpPr/>
        <p:nvPr/>
      </p:nvGrpSpPr>
      <p:grpSpPr>
        <a:xfrm>
          <a:off x="0" y="0"/>
          <a:ext cx="0" cy="0"/>
          <a:chOff x="0" y="0"/>
          <a:chExt cx="0" cy="0"/>
        </a:xfrm>
      </p:grpSpPr>
      <p:sp>
        <p:nvSpPr>
          <p:cNvPr id="331" name="Google Shape;331;p2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5333"/>
              <a:buFont typeface="Calibri"/>
              <a:buNone/>
            </a:pPr>
            <a:r>
              <a:rPr lang="en-US" sz="5333"/>
              <a:t>I/O Scheduler</a:t>
            </a:r>
            <a:endParaRPr/>
          </a:p>
        </p:txBody>
      </p:sp>
      <p:sp>
        <p:nvSpPr>
          <p:cNvPr id="332" name="Google Shape;332;p28"/>
          <p:cNvSpPr txBox="1"/>
          <p:nvPr>
            <p:ph idx="1" type="body"/>
          </p:nvPr>
        </p:nvSpPr>
        <p:spPr>
          <a:xfrm>
            <a:off x="838200" y="1825625"/>
            <a:ext cx="10515600" cy="3996677"/>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The default Linux scheduler is the "fair" scheduler. For a DTN node, we recommend using the "deadline" scheduler instead. </a:t>
            </a:r>
            <a:endParaRPr/>
          </a:p>
          <a:p>
            <a:pPr indent="-228600" lvl="0" marL="228600" rtl="0" algn="l">
              <a:lnSpc>
                <a:spcPct val="90000"/>
              </a:lnSpc>
              <a:spcBef>
                <a:spcPts val="1000"/>
              </a:spcBef>
              <a:spcAft>
                <a:spcPts val="0"/>
              </a:spcAft>
              <a:buClr>
                <a:schemeClr val="dk1"/>
              </a:buClr>
              <a:buSzPts val="2800"/>
              <a:buChar char="•"/>
            </a:pPr>
            <a:r>
              <a:rPr lang="en-US"/>
              <a:t>To enable deadline scheduling, add "elevator=deadline" to the end of the "kernel' line in your /boot/grub/grub.conf file, similar to this:</a:t>
            </a:r>
            <a:endParaRPr/>
          </a:p>
          <a:p>
            <a:pPr indent="-228600" lvl="0" marL="228600" rtl="0" algn="l">
              <a:lnSpc>
                <a:spcPct val="90000"/>
              </a:lnSpc>
              <a:spcBef>
                <a:spcPts val="1000"/>
              </a:spcBef>
              <a:spcAft>
                <a:spcPts val="0"/>
              </a:spcAft>
              <a:buClr>
                <a:schemeClr val="dk1"/>
              </a:buClr>
              <a:buSzPts val="2800"/>
              <a:buChar char="•"/>
            </a:pPr>
            <a:r>
              <a:rPr lang="en-US">
                <a:latin typeface="Courier"/>
                <a:ea typeface="Courier"/>
                <a:cs typeface="Courier"/>
                <a:sym typeface="Courier"/>
              </a:rPr>
              <a:t>kernel /vmlinuz-2.6.35.7 ro root=/dev/VolGroup00/LogVol00 rhgb quiet elevator=deadline</a:t>
            </a:r>
            <a:endParaRPr/>
          </a:p>
        </p:txBody>
      </p:sp>
      <p:sp>
        <p:nvSpPr>
          <p:cNvPr id="333" name="Google Shape;333;p28"/>
          <p:cNvSpPr txBox="1"/>
          <p:nvPr>
            <p:ph idx="10" type="dt"/>
          </p:nvPr>
        </p:nvSpPr>
        <p:spPr>
          <a:xfrm>
            <a:off x="8093240" y="6613560"/>
            <a:ext cx="3972947" cy="182563"/>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US" sz="1067">
                <a:solidFill>
                  <a:srgbClr val="000000"/>
                </a:solidFill>
                <a:latin typeface="Arial"/>
                <a:ea typeface="Arial"/>
                <a:cs typeface="Arial"/>
                <a:sym typeface="Arial"/>
              </a:rPr>
              <a:t>‹#›</a:t>
            </a:fld>
            <a:r>
              <a:rPr lang="en-US" sz="1067">
                <a:solidFill>
                  <a:srgbClr val="000000"/>
                </a:solidFill>
                <a:latin typeface="Arial"/>
                <a:ea typeface="Arial"/>
                <a:cs typeface="Arial"/>
                <a:sym typeface="Arial"/>
              </a:rPr>
              <a:t> – ESnet Science Engagement (</a:t>
            </a:r>
            <a:r>
              <a:rPr lang="en-US" sz="1067" u="sng">
                <a:solidFill>
                  <a:srgbClr val="000000"/>
                </a:solidFill>
                <a:latin typeface="Arial"/>
                <a:ea typeface="Arial"/>
                <a:cs typeface="Arial"/>
                <a:sym typeface="Arial"/>
                <a:hlinkClick r:id="rId3">
                  <a:extLst>
                    <a:ext uri="{A12FA001-AC4F-418D-AE19-62706E023703}">
                      <ahyp:hlinkClr val="tx"/>
                    </a:ext>
                  </a:extLst>
                </a:hlinkClick>
              </a:rPr>
              <a:t>engage@es.net</a:t>
            </a:r>
            <a:r>
              <a:rPr lang="en-US" sz="1067">
                <a:solidFill>
                  <a:srgbClr val="000000"/>
                </a:solidFill>
                <a:latin typeface="Arial"/>
                <a:ea typeface="Arial"/>
                <a:cs typeface="Arial"/>
                <a:sym typeface="Arial"/>
              </a:rPr>
              <a:t>) - 5/12/2024</a:t>
            </a:r>
            <a:endParaRPr sz="1067">
              <a:solidFill>
                <a:srgbClr val="000000"/>
              </a:solidFill>
              <a:latin typeface="Arial"/>
              <a:ea typeface="Arial"/>
              <a:cs typeface="Arial"/>
              <a:sym typeface="Arial"/>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8" name="Shape 338"/>
        <p:cNvGrpSpPr/>
        <p:nvPr/>
      </p:nvGrpSpPr>
      <p:grpSpPr>
        <a:xfrm>
          <a:off x="0" y="0"/>
          <a:ext cx="0" cy="0"/>
          <a:chOff x="0" y="0"/>
          <a:chExt cx="0" cy="0"/>
        </a:xfrm>
      </p:grpSpPr>
      <p:sp>
        <p:nvSpPr>
          <p:cNvPr id="339" name="Google Shape;339;p2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5333"/>
              <a:buFont typeface="Calibri"/>
              <a:buNone/>
            </a:pPr>
            <a:r>
              <a:rPr lang="en-US" sz="5333"/>
              <a:t>Interrupt Affinity</a:t>
            </a:r>
            <a:endParaRPr/>
          </a:p>
        </p:txBody>
      </p:sp>
      <p:sp>
        <p:nvSpPr>
          <p:cNvPr id="340" name="Google Shape;340;p29"/>
          <p:cNvSpPr txBox="1"/>
          <p:nvPr>
            <p:ph idx="1" type="body"/>
          </p:nvPr>
        </p:nvSpPr>
        <p:spPr>
          <a:xfrm>
            <a:off x="609600" y="1417639"/>
            <a:ext cx="10972800" cy="4267239"/>
          </a:xfrm>
          <a:prstGeom prst="rect">
            <a:avLst/>
          </a:prstGeom>
          <a:noFill/>
          <a:ln>
            <a:noFill/>
          </a:ln>
        </p:spPr>
        <p:txBody>
          <a:bodyPr anchorCtr="0" anchor="t" bIns="45700" lIns="91425" spcFirstLastPara="1" rIns="91425" wrap="square" tIns="45700">
            <a:noAutofit/>
          </a:bodyPr>
          <a:lstStyle/>
          <a:p>
            <a:pPr indent="-228600" lvl="0" marL="228600" rtl="0" algn="l">
              <a:lnSpc>
                <a:spcPct val="90000"/>
              </a:lnSpc>
              <a:spcBef>
                <a:spcPts val="0"/>
              </a:spcBef>
              <a:spcAft>
                <a:spcPts val="0"/>
              </a:spcAft>
              <a:buClr>
                <a:schemeClr val="dk1"/>
              </a:buClr>
              <a:buSzPts val="2133"/>
              <a:buFont typeface="Arial"/>
              <a:buChar char="•"/>
            </a:pPr>
            <a:r>
              <a:rPr lang="en-US" sz="2133"/>
              <a:t>Interrupts are triggered by I/O cards (storage, network). High performance means lot of interrupts per second</a:t>
            </a:r>
            <a:endParaRPr/>
          </a:p>
          <a:p>
            <a:pPr indent="-228600" lvl="0" marL="228600" rtl="0" algn="l">
              <a:lnSpc>
                <a:spcPct val="90000"/>
              </a:lnSpc>
              <a:spcBef>
                <a:spcPts val="1000"/>
              </a:spcBef>
              <a:spcAft>
                <a:spcPts val="0"/>
              </a:spcAft>
              <a:buClr>
                <a:schemeClr val="dk1"/>
              </a:buClr>
              <a:buSzPts val="2133"/>
              <a:buFont typeface="Arial"/>
              <a:buChar char="•"/>
            </a:pPr>
            <a:r>
              <a:rPr lang="en-US" sz="2133"/>
              <a:t>Interrupt handlers are executed on a core</a:t>
            </a:r>
            <a:endParaRPr/>
          </a:p>
          <a:p>
            <a:pPr indent="-228600" lvl="1" marL="685800" rtl="0" algn="l">
              <a:lnSpc>
                <a:spcPct val="90000"/>
              </a:lnSpc>
              <a:spcBef>
                <a:spcPts val="500"/>
              </a:spcBef>
              <a:spcAft>
                <a:spcPts val="0"/>
              </a:spcAft>
              <a:buClr>
                <a:schemeClr val="dk1"/>
              </a:buClr>
              <a:buSzPts val="2133"/>
              <a:buFont typeface="Merriweather Sans"/>
              <a:buChar char="-"/>
            </a:pPr>
            <a:r>
              <a:rPr lang="en-US" sz="2133"/>
              <a:t>Interrupt handler is just code – it gets run for every interrupt</a:t>
            </a:r>
            <a:endParaRPr/>
          </a:p>
          <a:p>
            <a:pPr indent="-228600" lvl="1" marL="685800" rtl="0" algn="l">
              <a:lnSpc>
                <a:spcPct val="90000"/>
              </a:lnSpc>
              <a:spcBef>
                <a:spcPts val="500"/>
              </a:spcBef>
              <a:spcAft>
                <a:spcPts val="0"/>
              </a:spcAft>
              <a:buClr>
                <a:schemeClr val="dk1"/>
              </a:buClr>
              <a:buSzPts val="2133"/>
              <a:buFont typeface="Merriweather Sans"/>
              <a:buChar char="-"/>
            </a:pPr>
            <a:r>
              <a:rPr lang="en-US" sz="2133"/>
              <a:t>Cache effects matter (with lots of I/O we’re going to run that code a lot)</a:t>
            </a:r>
            <a:endParaRPr/>
          </a:p>
          <a:p>
            <a:pPr indent="-228600" lvl="0" marL="228600" rtl="0" algn="l">
              <a:lnSpc>
                <a:spcPct val="90000"/>
              </a:lnSpc>
              <a:spcBef>
                <a:spcPts val="1000"/>
              </a:spcBef>
              <a:spcAft>
                <a:spcPts val="0"/>
              </a:spcAft>
              <a:buClr>
                <a:schemeClr val="dk1"/>
              </a:buClr>
              <a:buSzPts val="2133"/>
              <a:buFont typeface="Arial"/>
              <a:buChar char="•"/>
            </a:pPr>
            <a:r>
              <a:rPr lang="en-US" sz="2133"/>
              <a:t>Depending on the scheduler, core 0 gets all the interrupts, or interrupts are dispatched in a round-robin fashion among the cores: both are bad for performance:</a:t>
            </a:r>
            <a:endParaRPr/>
          </a:p>
          <a:p>
            <a:pPr indent="-228600" lvl="1" marL="685800" rtl="0" algn="l">
              <a:lnSpc>
                <a:spcPct val="90000"/>
              </a:lnSpc>
              <a:spcBef>
                <a:spcPts val="500"/>
              </a:spcBef>
              <a:spcAft>
                <a:spcPts val="0"/>
              </a:spcAft>
              <a:buClr>
                <a:schemeClr val="dk1"/>
              </a:buClr>
              <a:buSzPts val="2133"/>
              <a:buFont typeface="Merriweather Sans"/>
              <a:buChar char="-"/>
            </a:pPr>
            <a:r>
              <a:rPr lang="en-US" sz="2133"/>
              <a:t>Core 0 get all interrupts: with very fast I/O, the core is overwhelmed and becomes a bottleneck</a:t>
            </a:r>
            <a:endParaRPr/>
          </a:p>
          <a:p>
            <a:pPr indent="-228600" lvl="1" marL="685800" rtl="0" algn="l">
              <a:lnSpc>
                <a:spcPct val="90000"/>
              </a:lnSpc>
              <a:spcBef>
                <a:spcPts val="500"/>
              </a:spcBef>
              <a:spcAft>
                <a:spcPts val="0"/>
              </a:spcAft>
              <a:buClr>
                <a:schemeClr val="dk1"/>
              </a:buClr>
              <a:buSzPts val="2133"/>
              <a:buFont typeface="Merriweather Sans"/>
              <a:buChar char="-"/>
            </a:pPr>
            <a:r>
              <a:rPr lang="en-US" sz="2133"/>
              <a:t>Round-robin dispatch: very likely the core that executes the interrupt handler will not have the code in its L1 cache.</a:t>
            </a:r>
            <a:endParaRPr/>
          </a:p>
          <a:p>
            <a:pPr indent="-228600" lvl="1" marL="685800" rtl="0" algn="l">
              <a:lnSpc>
                <a:spcPct val="90000"/>
              </a:lnSpc>
              <a:spcBef>
                <a:spcPts val="500"/>
              </a:spcBef>
              <a:spcAft>
                <a:spcPts val="0"/>
              </a:spcAft>
              <a:buClr>
                <a:schemeClr val="dk1"/>
              </a:buClr>
              <a:buSzPts val="2133"/>
              <a:buFont typeface="Merriweather Sans"/>
              <a:buChar char="-"/>
            </a:pPr>
            <a:r>
              <a:rPr lang="en-US" sz="2133"/>
              <a:t>Two different I/O channels may end up on the same core.</a:t>
            </a:r>
            <a:endParaRPr/>
          </a:p>
        </p:txBody>
      </p:sp>
      <p:sp>
        <p:nvSpPr>
          <p:cNvPr id="341" name="Google Shape;341;p29"/>
          <p:cNvSpPr txBox="1"/>
          <p:nvPr>
            <p:ph idx="10" type="dt"/>
          </p:nvPr>
        </p:nvSpPr>
        <p:spPr>
          <a:xfrm>
            <a:off x="8093240" y="6613560"/>
            <a:ext cx="3972947" cy="182563"/>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US" sz="1067">
                <a:solidFill>
                  <a:srgbClr val="000000"/>
                </a:solidFill>
                <a:latin typeface="Arial"/>
                <a:ea typeface="Arial"/>
                <a:cs typeface="Arial"/>
                <a:sym typeface="Arial"/>
              </a:rPr>
              <a:t>‹#›</a:t>
            </a:fld>
            <a:r>
              <a:rPr lang="en-US" sz="1067">
                <a:solidFill>
                  <a:srgbClr val="000000"/>
                </a:solidFill>
                <a:latin typeface="Arial"/>
                <a:ea typeface="Arial"/>
                <a:cs typeface="Arial"/>
                <a:sym typeface="Arial"/>
              </a:rPr>
              <a:t> – ESnet Science Engagement (</a:t>
            </a:r>
            <a:r>
              <a:rPr lang="en-US" sz="1067" u="sng">
                <a:solidFill>
                  <a:srgbClr val="000000"/>
                </a:solidFill>
                <a:latin typeface="Arial"/>
                <a:ea typeface="Arial"/>
                <a:cs typeface="Arial"/>
                <a:sym typeface="Arial"/>
                <a:hlinkClick r:id="rId3">
                  <a:extLst>
                    <a:ext uri="{A12FA001-AC4F-418D-AE19-62706E023703}">
                      <ahyp:hlinkClr val="tx"/>
                    </a:ext>
                  </a:extLst>
                </a:hlinkClick>
              </a:rPr>
              <a:t>engage@es.net</a:t>
            </a:r>
            <a:r>
              <a:rPr lang="en-US" sz="1067">
                <a:solidFill>
                  <a:srgbClr val="000000"/>
                </a:solidFill>
                <a:latin typeface="Arial"/>
                <a:ea typeface="Arial"/>
                <a:cs typeface="Arial"/>
                <a:sym typeface="Arial"/>
              </a:rPr>
              <a:t>) - 5/12/2024</a:t>
            </a:r>
            <a:endParaRPr sz="1067">
              <a:solidFill>
                <a:srgbClr val="000000"/>
              </a:solidFill>
              <a:latin typeface="Arial"/>
              <a:ea typeface="Arial"/>
              <a:cs typeface="Arial"/>
              <a:sym typeface="Arial"/>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6" name="Shape 346"/>
        <p:cNvGrpSpPr/>
        <p:nvPr/>
      </p:nvGrpSpPr>
      <p:grpSpPr>
        <a:xfrm>
          <a:off x="0" y="0"/>
          <a:ext cx="0" cy="0"/>
          <a:chOff x="0" y="0"/>
          <a:chExt cx="0" cy="0"/>
        </a:xfrm>
      </p:grpSpPr>
      <p:pic>
        <p:nvPicPr>
          <p:cNvPr descr="x9dax.png" id="347" name="Google Shape;347;p30"/>
          <p:cNvPicPr preferRelativeResize="0"/>
          <p:nvPr>
            <p:ph idx="1" type="body"/>
          </p:nvPr>
        </p:nvPicPr>
        <p:blipFill rotWithShape="1">
          <a:blip r:embed="rId3">
            <a:alphaModFix/>
          </a:blip>
          <a:srcRect b="1854" l="233" r="-1204" t="0"/>
          <a:stretch/>
        </p:blipFill>
        <p:spPr>
          <a:xfrm>
            <a:off x="3447430" y="741917"/>
            <a:ext cx="8618757" cy="5129199"/>
          </a:xfrm>
          <a:prstGeom prst="rect">
            <a:avLst/>
          </a:prstGeom>
          <a:noFill/>
          <a:ln>
            <a:noFill/>
          </a:ln>
        </p:spPr>
      </p:pic>
      <p:sp>
        <p:nvSpPr>
          <p:cNvPr id="348" name="Google Shape;348;p30"/>
          <p:cNvSpPr txBox="1"/>
          <p:nvPr>
            <p:ph type="title"/>
          </p:nvPr>
        </p:nvSpPr>
        <p:spPr>
          <a:xfrm>
            <a:off x="1374303" y="1"/>
            <a:ext cx="9465733" cy="741915"/>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Know Your Layout</a:t>
            </a:r>
            <a:endParaRPr/>
          </a:p>
        </p:txBody>
      </p:sp>
      <p:sp>
        <p:nvSpPr>
          <p:cNvPr id="349" name="Google Shape;349;p30"/>
          <p:cNvSpPr txBox="1"/>
          <p:nvPr>
            <p:ph idx="10" type="dt"/>
          </p:nvPr>
        </p:nvSpPr>
        <p:spPr>
          <a:xfrm>
            <a:off x="8093240" y="6613560"/>
            <a:ext cx="3972947" cy="182563"/>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US" sz="1067">
                <a:solidFill>
                  <a:srgbClr val="000000"/>
                </a:solidFill>
                <a:latin typeface="Arial"/>
                <a:ea typeface="Arial"/>
                <a:cs typeface="Arial"/>
                <a:sym typeface="Arial"/>
              </a:rPr>
              <a:t>‹#›</a:t>
            </a:fld>
            <a:r>
              <a:rPr lang="en-US" sz="1067">
                <a:solidFill>
                  <a:srgbClr val="000000"/>
                </a:solidFill>
                <a:latin typeface="Arial"/>
                <a:ea typeface="Arial"/>
                <a:cs typeface="Arial"/>
                <a:sym typeface="Arial"/>
              </a:rPr>
              <a:t> – ESnet Science Engagement (</a:t>
            </a:r>
            <a:r>
              <a:rPr lang="en-US" sz="1067" u="sng">
                <a:solidFill>
                  <a:srgbClr val="000000"/>
                </a:solidFill>
                <a:latin typeface="Arial"/>
                <a:ea typeface="Arial"/>
                <a:cs typeface="Arial"/>
                <a:sym typeface="Arial"/>
                <a:hlinkClick r:id="rId4">
                  <a:extLst>
                    <a:ext uri="{A12FA001-AC4F-418D-AE19-62706E023703}">
                      <ahyp:hlinkClr val="tx"/>
                    </a:ext>
                  </a:extLst>
                </a:hlinkClick>
              </a:rPr>
              <a:t>engage@es.net</a:t>
            </a:r>
            <a:r>
              <a:rPr lang="en-US" sz="1067">
                <a:solidFill>
                  <a:srgbClr val="000000"/>
                </a:solidFill>
                <a:latin typeface="Arial"/>
                <a:ea typeface="Arial"/>
                <a:cs typeface="Arial"/>
                <a:sym typeface="Arial"/>
              </a:rPr>
              <a:t>) - 5/12/2024</a:t>
            </a:r>
            <a:endParaRPr sz="1067">
              <a:solidFill>
                <a:srgbClr val="000000"/>
              </a:solidFill>
              <a:latin typeface="Arial"/>
              <a:ea typeface="Arial"/>
              <a:cs typeface="Arial"/>
              <a:sym typeface="Arial"/>
            </a:endParaRPr>
          </a:p>
        </p:txBody>
      </p:sp>
      <p:sp>
        <p:nvSpPr>
          <p:cNvPr id="350" name="Google Shape;350;p30"/>
          <p:cNvSpPr txBox="1"/>
          <p:nvPr/>
        </p:nvSpPr>
        <p:spPr>
          <a:xfrm>
            <a:off x="609601" y="1163309"/>
            <a:ext cx="3487023" cy="4154984"/>
          </a:xfrm>
          <a:prstGeom prst="rect">
            <a:avLst/>
          </a:prstGeom>
          <a:noFill/>
          <a:ln>
            <a:noFill/>
          </a:ln>
        </p:spPr>
        <p:txBody>
          <a:bodyPr anchorCtr="0" anchor="t" bIns="45700" lIns="91425" spcFirstLastPara="1" rIns="91425" wrap="square" tIns="45700">
            <a:spAutoFit/>
          </a:bodyPr>
          <a:lstStyle/>
          <a:p>
            <a:pPr indent="-380990" lvl="0" marL="380990" marR="0" rtl="0" algn="l">
              <a:spcBef>
                <a:spcPts val="0"/>
              </a:spcBef>
              <a:spcAft>
                <a:spcPts val="0"/>
              </a:spcAft>
              <a:buClr>
                <a:schemeClr val="dk1"/>
              </a:buClr>
              <a:buSzPts val="2400"/>
              <a:buFont typeface="Arial"/>
              <a:buChar char="•"/>
            </a:pPr>
            <a:r>
              <a:rPr lang="en-US" sz="2400">
                <a:solidFill>
                  <a:schemeClr val="dk1"/>
                </a:solidFill>
                <a:latin typeface="Calibri"/>
                <a:ea typeface="Calibri"/>
                <a:cs typeface="Calibri"/>
                <a:sym typeface="Calibri"/>
              </a:rPr>
              <a:t>Where are your cards?</a:t>
            </a:r>
            <a:endParaRPr/>
          </a:p>
          <a:p>
            <a:pPr indent="-380990" lvl="0" marL="380990" marR="0" rtl="0" algn="l">
              <a:spcBef>
                <a:spcPts val="0"/>
              </a:spcBef>
              <a:spcAft>
                <a:spcPts val="0"/>
              </a:spcAft>
              <a:buClr>
                <a:schemeClr val="dk1"/>
              </a:buClr>
              <a:buSzPts val="2400"/>
              <a:buFont typeface="Arial"/>
              <a:buChar char="•"/>
            </a:pPr>
            <a:r>
              <a:rPr lang="en-US" sz="2400">
                <a:solidFill>
                  <a:schemeClr val="dk1"/>
                </a:solidFill>
                <a:latin typeface="Calibri"/>
                <a:ea typeface="Calibri"/>
                <a:cs typeface="Calibri"/>
                <a:sym typeface="Calibri"/>
              </a:rPr>
              <a:t>Where are your cores?</a:t>
            </a:r>
            <a:endParaRPr/>
          </a:p>
          <a:p>
            <a:pPr indent="-380990" lvl="0" marL="380990" marR="0" rtl="0" algn="l">
              <a:spcBef>
                <a:spcPts val="0"/>
              </a:spcBef>
              <a:spcAft>
                <a:spcPts val="0"/>
              </a:spcAft>
              <a:buClr>
                <a:schemeClr val="dk1"/>
              </a:buClr>
              <a:buSzPts val="2400"/>
              <a:buFont typeface="Arial"/>
              <a:buChar char="•"/>
            </a:pPr>
            <a:r>
              <a:rPr lang="en-US" sz="2400">
                <a:solidFill>
                  <a:schemeClr val="dk1"/>
                </a:solidFill>
                <a:latin typeface="Calibri"/>
                <a:ea typeface="Calibri"/>
                <a:cs typeface="Calibri"/>
                <a:sym typeface="Calibri"/>
              </a:rPr>
              <a:t>Understand what your bindings mean physically</a:t>
            </a:r>
            <a:endParaRPr/>
          </a:p>
          <a:p>
            <a:pPr indent="-380990" lvl="0" marL="380990" marR="0" rtl="0" algn="l">
              <a:spcBef>
                <a:spcPts val="0"/>
              </a:spcBef>
              <a:spcAft>
                <a:spcPts val="0"/>
              </a:spcAft>
              <a:buClr>
                <a:schemeClr val="dk1"/>
              </a:buClr>
              <a:buSzPts val="2400"/>
              <a:buFont typeface="Arial"/>
              <a:buChar char="•"/>
            </a:pPr>
            <a:r>
              <a:rPr lang="en-US" sz="2400">
                <a:solidFill>
                  <a:schemeClr val="dk1"/>
                </a:solidFill>
                <a:latin typeface="Calibri"/>
                <a:ea typeface="Calibri"/>
                <a:cs typeface="Calibri"/>
                <a:sym typeface="Calibri"/>
              </a:rPr>
              <a:t>Performance of a given config can be tightly coupled to physical layout</a:t>
            </a:r>
            <a:endParaRPr/>
          </a:p>
          <a:p>
            <a:pPr indent="-380990" lvl="0" marL="380990" marR="0" rtl="0" algn="l">
              <a:spcBef>
                <a:spcPts val="0"/>
              </a:spcBef>
              <a:spcAft>
                <a:spcPts val="0"/>
              </a:spcAft>
              <a:buClr>
                <a:schemeClr val="dk1"/>
              </a:buClr>
              <a:buSzPts val="2400"/>
              <a:buFont typeface="Arial"/>
              <a:buChar char="•"/>
            </a:pPr>
            <a:r>
              <a:rPr lang="en-US" sz="2400">
                <a:solidFill>
                  <a:schemeClr val="dk1"/>
                </a:solidFill>
                <a:latin typeface="Calibri"/>
                <a:ea typeface="Calibri"/>
                <a:cs typeface="Calibri"/>
                <a:sym typeface="Calibri"/>
              </a:rPr>
              <a:t>Don’t be afraid to experiment</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5" name="Shape 355"/>
        <p:cNvGrpSpPr/>
        <p:nvPr/>
      </p:nvGrpSpPr>
      <p:grpSpPr>
        <a:xfrm>
          <a:off x="0" y="0"/>
          <a:ext cx="0" cy="0"/>
          <a:chOff x="0" y="0"/>
          <a:chExt cx="0" cy="0"/>
        </a:xfrm>
      </p:grpSpPr>
      <p:sp>
        <p:nvSpPr>
          <p:cNvPr id="356" name="Google Shape;356;p3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5333"/>
              <a:buFont typeface="Calibri"/>
              <a:buNone/>
            </a:pPr>
            <a:r>
              <a:rPr lang="en-US" sz="5333"/>
              <a:t>SSD Issues – Write Sparingly</a:t>
            </a:r>
            <a:endParaRPr/>
          </a:p>
        </p:txBody>
      </p:sp>
      <p:sp>
        <p:nvSpPr>
          <p:cNvPr id="357" name="Google Shape;357;p31"/>
          <p:cNvSpPr txBox="1"/>
          <p:nvPr>
            <p:ph idx="1" type="body"/>
          </p:nvPr>
        </p:nvSpPr>
        <p:spPr>
          <a:xfrm>
            <a:off x="609600" y="1600200"/>
            <a:ext cx="10972800" cy="4243949"/>
          </a:xfrm>
          <a:prstGeom prst="rect">
            <a:avLst/>
          </a:prstGeom>
          <a:noFill/>
          <a:ln>
            <a:noFill/>
          </a:ln>
        </p:spPr>
        <p:txBody>
          <a:bodyPr anchorCtr="0" anchor="t" bIns="45700" lIns="91425" spcFirstLastPara="1" rIns="91425" wrap="square" tIns="45700">
            <a:normAutofit fontScale="70000" lnSpcReduction="20000"/>
          </a:bodyPr>
          <a:lstStyle/>
          <a:p>
            <a:pPr indent="-228600" lvl="0" marL="228600" rtl="0" algn="l">
              <a:lnSpc>
                <a:spcPct val="90000"/>
              </a:lnSpc>
              <a:spcBef>
                <a:spcPts val="0"/>
              </a:spcBef>
              <a:spcAft>
                <a:spcPts val="0"/>
              </a:spcAft>
              <a:buClr>
                <a:schemeClr val="dk1"/>
              </a:buClr>
              <a:buSzPct val="100000"/>
              <a:buChar char="•"/>
            </a:pPr>
            <a:r>
              <a:rPr lang="en-US"/>
              <a:t>Tuning your SSD is more about reliability and longevity than performance</a:t>
            </a:r>
            <a:endParaRPr/>
          </a:p>
          <a:p>
            <a:pPr indent="-228600" lvl="1" marL="685800" rtl="0" algn="l">
              <a:lnSpc>
                <a:spcPct val="90000"/>
              </a:lnSpc>
              <a:spcBef>
                <a:spcPts val="500"/>
              </a:spcBef>
              <a:spcAft>
                <a:spcPts val="0"/>
              </a:spcAft>
              <a:buClr>
                <a:schemeClr val="dk1"/>
              </a:buClr>
              <a:buSzPct val="100000"/>
              <a:buChar char="•"/>
            </a:pPr>
            <a:r>
              <a:rPr lang="en-US"/>
              <a:t>Each flash memory cell has a finite lifespan that is determined by the number of "program and erase (P/E)" cycles</a:t>
            </a:r>
            <a:endParaRPr/>
          </a:p>
          <a:p>
            <a:pPr indent="-228600" lvl="1" marL="685800" rtl="0" algn="l">
              <a:lnSpc>
                <a:spcPct val="90000"/>
              </a:lnSpc>
              <a:spcBef>
                <a:spcPts val="500"/>
              </a:spcBef>
              <a:spcAft>
                <a:spcPts val="0"/>
              </a:spcAft>
              <a:buClr>
                <a:schemeClr val="dk1"/>
              </a:buClr>
              <a:buSzPct val="100000"/>
              <a:buChar char="•"/>
            </a:pPr>
            <a:r>
              <a:rPr lang="en-US"/>
              <a:t>Without proper tuning, SSD can die within months.</a:t>
            </a:r>
            <a:endParaRPr/>
          </a:p>
          <a:p>
            <a:pPr indent="-228600" lvl="1" marL="685800" rtl="0" algn="l">
              <a:lnSpc>
                <a:spcPct val="90000"/>
              </a:lnSpc>
              <a:spcBef>
                <a:spcPts val="500"/>
              </a:spcBef>
              <a:spcAft>
                <a:spcPts val="0"/>
              </a:spcAft>
              <a:buClr>
                <a:srgbClr val="FF0000"/>
              </a:buClr>
              <a:buSzPct val="100000"/>
              <a:buChar char="•"/>
            </a:pPr>
            <a:r>
              <a:rPr b="1" i="1" lang="en-US">
                <a:solidFill>
                  <a:srgbClr val="FF0000"/>
                </a:solidFill>
              </a:rPr>
              <a:t>never do "write" benchmarks on SSD:  this will damage your SSD quickly.</a:t>
            </a:r>
            <a:endParaRPr/>
          </a:p>
          <a:p>
            <a:pPr indent="-228600" lvl="0" marL="228600" rtl="0" algn="l">
              <a:lnSpc>
                <a:spcPct val="90000"/>
              </a:lnSpc>
              <a:spcBef>
                <a:spcPts val="1000"/>
              </a:spcBef>
              <a:spcAft>
                <a:spcPts val="0"/>
              </a:spcAft>
              <a:buClr>
                <a:schemeClr val="dk1"/>
              </a:buClr>
              <a:buSzPct val="100000"/>
              <a:buChar char="•"/>
            </a:pPr>
            <a:r>
              <a:rPr lang="en-US"/>
              <a:t>TRIM</a:t>
            </a:r>
            <a:endParaRPr/>
          </a:p>
          <a:p>
            <a:pPr indent="-228600" lvl="1" marL="685800" rtl="0" algn="l">
              <a:lnSpc>
                <a:spcPct val="90000"/>
              </a:lnSpc>
              <a:spcBef>
                <a:spcPts val="500"/>
              </a:spcBef>
              <a:spcAft>
                <a:spcPts val="0"/>
              </a:spcAft>
              <a:buClr>
                <a:schemeClr val="dk1"/>
              </a:buClr>
              <a:buSzPct val="100000"/>
              <a:buChar char="•"/>
            </a:pPr>
            <a:r>
              <a:rPr lang="en-US"/>
              <a:t>Trim informs the SSD when the filesystem no longer needs space</a:t>
            </a:r>
            <a:endParaRPr/>
          </a:p>
          <a:p>
            <a:pPr indent="-228600" lvl="1" marL="685800" rtl="0" algn="l">
              <a:lnSpc>
                <a:spcPct val="90000"/>
              </a:lnSpc>
              <a:spcBef>
                <a:spcPts val="500"/>
              </a:spcBef>
              <a:spcAft>
                <a:spcPts val="0"/>
              </a:spcAft>
              <a:buClr>
                <a:schemeClr val="dk1"/>
              </a:buClr>
              <a:buSzPct val="100000"/>
              <a:buChar char="•"/>
            </a:pPr>
            <a:r>
              <a:rPr lang="en-US"/>
              <a:t>Important to prolong the life of SSDs</a:t>
            </a:r>
            <a:endParaRPr/>
          </a:p>
          <a:p>
            <a:pPr indent="-228600" lvl="1" marL="685800" rtl="0" algn="l">
              <a:lnSpc>
                <a:spcPct val="90000"/>
              </a:lnSpc>
              <a:spcBef>
                <a:spcPts val="500"/>
              </a:spcBef>
              <a:spcAft>
                <a:spcPts val="0"/>
              </a:spcAft>
              <a:buClr>
                <a:schemeClr val="dk1"/>
              </a:buClr>
              <a:buSzPct val="100000"/>
              <a:buChar char="•"/>
            </a:pPr>
            <a:r>
              <a:rPr lang="en-US"/>
              <a:t>Modern SSD drives and modern OSes should all include TRIM support</a:t>
            </a:r>
            <a:endParaRPr/>
          </a:p>
          <a:p>
            <a:pPr indent="-228600" lvl="1" marL="685800" rtl="0" algn="l">
              <a:lnSpc>
                <a:spcPct val="90000"/>
              </a:lnSpc>
              <a:spcBef>
                <a:spcPts val="500"/>
              </a:spcBef>
              <a:spcAft>
                <a:spcPts val="0"/>
              </a:spcAft>
              <a:buClr>
                <a:schemeClr val="dk1"/>
              </a:buClr>
              <a:buSzPct val="100000"/>
              <a:buChar char="•"/>
            </a:pPr>
            <a:r>
              <a:rPr lang="en-US"/>
              <a:t>Only the newest RAID controllers included TRIM support as of late 2012</a:t>
            </a:r>
            <a:endParaRPr/>
          </a:p>
          <a:p>
            <a:pPr indent="-228600" lvl="0" marL="228600" rtl="0" algn="l">
              <a:lnSpc>
                <a:spcPct val="90000"/>
              </a:lnSpc>
              <a:spcBef>
                <a:spcPts val="1000"/>
              </a:spcBef>
              <a:spcAft>
                <a:spcPts val="0"/>
              </a:spcAft>
              <a:buClr>
                <a:schemeClr val="dk1"/>
              </a:buClr>
              <a:buSzPct val="100000"/>
              <a:buChar char="•"/>
            </a:pPr>
            <a:r>
              <a:rPr lang="en-US"/>
              <a:t>Swap</a:t>
            </a:r>
            <a:endParaRPr/>
          </a:p>
          <a:p>
            <a:pPr indent="-228600" lvl="1" marL="685800" rtl="0" algn="l">
              <a:lnSpc>
                <a:spcPct val="90000"/>
              </a:lnSpc>
              <a:spcBef>
                <a:spcPts val="500"/>
              </a:spcBef>
              <a:spcAft>
                <a:spcPts val="0"/>
              </a:spcAft>
              <a:buClr>
                <a:schemeClr val="dk1"/>
              </a:buClr>
              <a:buSzPct val="100000"/>
              <a:buChar char="•"/>
            </a:pPr>
            <a:r>
              <a:rPr lang="en-US"/>
              <a:t>To prolong SSD lifespan, do not swap on an SSD</a:t>
            </a:r>
            <a:endParaRPr/>
          </a:p>
          <a:p>
            <a:pPr indent="-228600" lvl="1" marL="685800" rtl="0" algn="l">
              <a:lnSpc>
                <a:spcPct val="90000"/>
              </a:lnSpc>
              <a:spcBef>
                <a:spcPts val="500"/>
              </a:spcBef>
              <a:spcAft>
                <a:spcPts val="0"/>
              </a:spcAft>
              <a:buClr>
                <a:schemeClr val="dk1"/>
              </a:buClr>
              <a:buSzPct val="100000"/>
              <a:buChar char="•"/>
            </a:pPr>
            <a:r>
              <a:rPr lang="en-US"/>
              <a:t>In Linux you can control this using the sysctl variable vm.swappiness. E.g.: add this to  /etc/sysctl.conf:</a:t>
            </a:r>
            <a:endParaRPr/>
          </a:p>
          <a:p>
            <a:pPr indent="-228600" lvl="2" marL="1143000" rtl="0" algn="l">
              <a:lnSpc>
                <a:spcPct val="90000"/>
              </a:lnSpc>
              <a:spcBef>
                <a:spcPts val="500"/>
              </a:spcBef>
              <a:spcAft>
                <a:spcPts val="0"/>
              </a:spcAft>
              <a:buClr>
                <a:schemeClr val="dk1"/>
              </a:buClr>
              <a:buSzPct val="100000"/>
              <a:buChar char="•"/>
            </a:pPr>
            <a:r>
              <a:rPr lang="en-US"/>
              <a:t>vm.swappiness=1</a:t>
            </a:r>
            <a:endParaRPr/>
          </a:p>
          <a:p>
            <a:pPr indent="-228600" lvl="2" marL="1143000" rtl="0" algn="l">
              <a:lnSpc>
                <a:spcPct val="90000"/>
              </a:lnSpc>
              <a:spcBef>
                <a:spcPts val="500"/>
              </a:spcBef>
              <a:spcAft>
                <a:spcPts val="0"/>
              </a:spcAft>
              <a:buClr>
                <a:schemeClr val="dk1"/>
              </a:buClr>
              <a:buSzPct val="100000"/>
              <a:buChar char="•"/>
            </a:pPr>
            <a:r>
              <a:rPr lang="en-US"/>
              <a:t>This tells the kernel to avoid unmapping mapped pages whenever possible.</a:t>
            </a:r>
            <a:endParaRPr/>
          </a:p>
          <a:p>
            <a:pPr indent="-228600" lvl="0" marL="228600" rtl="0" algn="l">
              <a:lnSpc>
                <a:spcPct val="90000"/>
              </a:lnSpc>
              <a:spcBef>
                <a:spcPts val="1000"/>
              </a:spcBef>
              <a:spcAft>
                <a:spcPts val="0"/>
              </a:spcAft>
              <a:buClr>
                <a:schemeClr val="dk1"/>
              </a:buClr>
              <a:buSzPct val="100000"/>
              <a:buChar char="•"/>
            </a:pPr>
            <a:r>
              <a:rPr lang="en-US"/>
              <a:t>Avoid frequent re-writing of files (for example during compiling code from source), use a ramdisk file system (tmpfs) for /tmp /usr/tmp, etc.</a:t>
            </a:r>
            <a:endParaRPr/>
          </a:p>
          <a:p>
            <a:pPr indent="-104140" lvl="0" marL="228600" rtl="0" algn="l">
              <a:lnSpc>
                <a:spcPct val="90000"/>
              </a:lnSpc>
              <a:spcBef>
                <a:spcPts val="1000"/>
              </a:spcBef>
              <a:spcAft>
                <a:spcPts val="0"/>
              </a:spcAft>
              <a:buClr>
                <a:schemeClr val="dk1"/>
              </a:buClr>
              <a:buSzPct val="100000"/>
              <a:buNone/>
            </a:pPr>
            <a:r>
              <a:t/>
            </a:r>
            <a:endParaRPr/>
          </a:p>
          <a:p>
            <a:pPr indent="-104140" lvl="0" marL="228600" rtl="0" algn="l">
              <a:lnSpc>
                <a:spcPct val="90000"/>
              </a:lnSpc>
              <a:spcBef>
                <a:spcPts val="1000"/>
              </a:spcBef>
              <a:spcAft>
                <a:spcPts val="0"/>
              </a:spcAft>
              <a:buClr>
                <a:schemeClr val="dk1"/>
              </a:buClr>
              <a:buSzPct val="100000"/>
              <a:buNone/>
            </a:pPr>
            <a:r>
              <a:t/>
            </a:r>
            <a:endParaRPr/>
          </a:p>
          <a:p>
            <a:pPr indent="-104140" lvl="0" marL="228600" rtl="0" algn="l">
              <a:lnSpc>
                <a:spcPct val="90000"/>
              </a:lnSpc>
              <a:spcBef>
                <a:spcPts val="1000"/>
              </a:spcBef>
              <a:spcAft>
                <a:spcPts val="0"/>
              </a:spcAft>
              <a:buClr>
                <a:schemeClr val="dk1"/>
              </a:buClr>
              <a:buSzPct val="100000"/>
              <a:buNone/>
            </a:pPr>
            <a:r>
              <a:t/>
            </a:r>
            <a:endParaRPr/>
          </a:p>
        </p:txBody>
      </p:sp>
      <p:sp>
        <p:nvSpPr>
          <p:cNvPr id="358" name="Google Shape;358;p31"/>
          <p:cNvSpPr txBox="1"/>
          <p:nvPr>
            <p:ph idx="10" type="dt"/>
          </p:nvPr>
        </p:nvSpPr>
        <p:spPr>
          <a:xfrm>
            <a:off x="8093240" y="6613560"/>
            <a:ext cx="3972947" cy="182563"/>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US" sz="1067">
                <a:solidFill>
                  <a:srgbClr val="000000"/>
                </a:solidFill>
                <a:latin typeface="Arial"/>
                <a:ea typeface="Arial"/>
                <a:cs typeface="Arial"/>
                <a:sym typeface="Arial"/>
              </a:rPr>
              <a:t>‹#›</a:t>
            </a:fld>
            <a:r>
              <a:rPr lang="en-US" sz="1067">
                <a:solidFill>
                  <a:srgbClr val="000000"/>
                </a:solidFill>
                <a:latin typeface="Arial"/>
                <a:ea typeface="Arial"/>
                <a:cs typeface="Arial"/>
                <a:sym typeface="Arial"/>
              </a:rPr>
              <a:t> – ESnet Science Engagement (</a:t>
            </a:r>
            <a:r>
              <a:rPr lang="en-US" sz="1067" u="sng">
                <a:solidFill>
                  <a:srgbClr val="000000"/>
                </a:solidFill>
                <a:latin typeface="Arial"/>
                <a:ea typeface="Arial"/>
                <a:cs typeface="Arial"/>
                <a:sym typeface="Arial"/>
                <a:hlinkClick r:id="rId3">
                  <a:extLst>
                    <a:ext uri="{A12FA001-AC4F-418D-AE19-62706E023703}">
                      <ahyp:hlinkClr val="tx"/>
                    </a:ext>
                  </a:extLst>
                </a:hlinkClick>
              </a:rPr>
              <a:t>engage@es.net</a:t>
            </a:r>
            <a:r>
              <a:rPr lang="en-US" sz="1067">
                <a:solidFill>
                  <a:srgbClr val="000000"/>
                </a:solidFill>
                <a:latin typeface="Arial"/>
                <a:ea typeface="Arial"/>
                <a:cs typeface="Arial"/>
                <a:sym typeface="Arial"/>
              </a:rPr>
              <a:t>) - 5/12/2024</a:t>
            </a:r>
            <a:endParaRPr sz="1067">
              <a:solidFill>
                <a:srgbClr val="000000"/>
              </a:solidFill>
              <a:latin typeface="Arial"/>
              <a:ea typeface="Arial"/>
              <a:cs typeface="Arial"/>
              <a:sym typeface="Arial"/>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2" name="Shape 362"/>
        <p:cNvGrpSpPr/>
        <p:nvPr/>
      </p:nvGrpSpPr>
      <p:grpSpPr>
        <a:xfrm>
          <a:off x="0" y="0"/>
          <a:ext cx="0" cy="0"/>
          <a:chOff x="0" y="0"/>
          <a:chExt cx="0" cy="0"/>
        </a:xfrm>
      </p:grpSpPr>
      <p:sp>
        <p:nvSpPr>
          <p:cNvPr id="363" name="Google Shape;363;p3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5333"/>
              <a:buFont typeface="Calibri"/>
              <a:buNone/>
            </a:pPr>
            <a:r>
              <a:rPr lang="en-US" sz="5333"/>
              <a:t>Benchmarking</a:t>
            </a:r>
            <a:endParaRPr/>
          </a:p>
        </p:txBody>
      </p:sp>
      <p:sp>
        <p:nvSpPr>
          <p:cNvPr id="364" name="Google Shape;364;p32"/>
          <p:cNvSpPr txBox="1"/>
          <p:nvPr>
            <p:ph idx="1" type="body"/>
          </p:nvPr>
        </p:nvSpPr>
        <p:spPr>
          <a:xfrm>
            <a:off x="838200" y="1825625"/>
            <a:ext cx="10515600" cy="3996677"/>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Single-threaded sequential file write:</a:t>
            </a:r>
            <a:endParaRPr/>
          </a:p>
          <a:p>
            <a:pPr indent="-228600" lvl="1" marL="685800" rtl="0" algn="l">
              <a:lnSpc>
                <a:spcPct val="90000"/>
              </a:lnSpc>
              <a:spcBef>
                <a:spcPts val="500"/>
              </a:spcBef>
              <a:spcAft>
                <a:spcPts val="0"/>
              </a:spcAft>
              <a:buClr>
                <a:schemeClr val="dk1"/>
              </a:buClr>
              <a:buSzPts val="2400"/>
              <a:buChar char="•"/>
            </a:pPr>
            <a:r>
              <a:rPr lang="en-US">
                <a:latin typeface="Courier"/>
                <a:ea typeface="Courier"/>
                <a:cs typeface="Courier"/>
                <a:sym typeface="Courier"/>
              </a:rPr>
              <a:t>$ dd if=/dev/zero of=/storage/data1/file1 bs=4k count=33554432</a:t>
            </a:r>
            <a:endParaRPr/>
          </a:p>
          <a:p>
            <a:pPr indent="-228600" lvl="0" marL="228600" rtl="0" algn="l">
              <a:lnSpc>
                <a:spcPct val="90000"/>
              </a:lnSpc>
              <a:spcBef>
                <a:spcPts val="1000"/>
              </a:spcBef>
              <a:spcAft>
                <a:spcPts val="0"/>
              </a:spcAft>
              <a:buClr>
                <a:schemeClr val="dk1"/>
              </a:buClr>
              <a:buSzPts val="2800"/>
              <a:buChar char="•"/>
            </a:pPr>
            <a:r>
              <a:rPr lang="en-US"/>
              <a:t>Single-threaded sequential file read:</a:t>
            </a:r>
            <a:endParaRPr/>
          </a:p>
          <a:p>
            <a:pPr indent="-228600" lvl="1" marL="685800" rtl="0" algn="l">
              <a:lnSpc>
                <a:spcPct val="90000"/>
              </a:lnSpc>
              <a:spcBef>
                <a:spcPts val="500"/>
              </a:spcBef>
              <a:spcAft>
                <a:spcPts val="0"/>
              </a:spcAft>
              <a:buClr>
                <a:schemeClr val="dk1"/>
              </a:buClr>
              <a:buSzPts val="2400"/>
              <a:buChar char="•"/>
            </a:pPr>
            <a:r>
              <a:rPr lang="en-US">
                <a:latin typeface="Courier"/>
                <a:ea typeface="Courier"/>
                <a:cs typeface="Courier"/>
                <a:sym typeface="Courier"/>
              </a:rPr>
              <a:t>$ dd if=/storage/data1/file1 of=/dev/null bs=4k</a:t>
            </a:r>
            <a:endParaRPr/>
          </a:p>
          <a:p>
            <a:pPr indent="-228600" lvl="0" marL="228600" rtl="0" algn="l">
              <a:lnSpc>
                <a:spcPct val="90000"/>
              </a:lnSpc>
              <a:spcBef>
                <a:spcPts val="1000"/>
              </a:spcBef>
              <a:spcAft>
                <a:spcPts val="0"/>
              </a:spcAft>
              <a:buClr>
                <a:schemeClr val="dk1"/>
              </a:buClr>
              <a:buSzPts val="2800"/>
              <a:buChar char="•"/>
            </a:pPr>
            <a:r>
              <a:rPr lang="en-US"/>
              <a:t>Use more to simulate parallel workload</a:t>
            </a:r>
            <a:endParaRPr/>
          </a:p>
          <a:p>
            <a:pPr indent="-228600" lvl="1" marL="685800" rtl="0" algn="l">
              <a:lnSpc>
                <a:spcPct val="90000"/>
              </a:lnSpc>
              <a:spcBef>
                <a:spcPts val="500"/>
              </a:spcBef>
              <a:spcAft>
                <a:spcPts val="0"/>
              </a:spcAft>
              <a:buClr>
                <a:schemeClr val="dk1"/>
              </a:buClr>
              <a:buSzPts val="2400"/>
              <a:buChar char="•"/>
            </a:pPr>
            <a:r>
              <a:rPr lang="en-US"/>
              <a:t>Use </a:t>
            </a:r>
            <a:r>
              <a:rPr lang="en-US">
                <a:latin typeface="Courier"/>
                <a:ea typeface="Courier"/>
                <a:cs typeface="Courier"/>
                <a:sym typeface="Courier"/>
              </a:rPr>
              <a:t>oflag=direct </a:t>
            </a:r>
            <a:r>
              <a:rPr lang="en-US"/>
              <a:t>to disable caching</a:t>
            </a:r>
            <a:endParaRPr/>
          </a:p>
          <a:p>
            <a:pPr indent="0" lvl="0" marL="0" rtl="0" algn="l">
              <a:lnSpc>
                <a:spcPct val="90000"/>
              </a:lnSpc>
              <a:spcBef>
                <a:spcPts val="1000"/>
              </a:spcBef>
              <a:spcAft>
                <a:spcPts val="0"/>
              </a:spcAft>
              <a:buClr>
                <a:schemeClr val="dk1"/>
              </a:buClr>
              <a:buSzPts val="2800"/>
              <a:buNone/>
            </a:pPr>
            <a:r>
              <a:t/>
            </a:r>
            <a:endParaRPr>
              <a:latin typeface="Courier"/>
              <a:ea typeface="Courier"/>
              <a:cs typeface="Courier"/>
              <a:sym typeface="Courier"/>
            </a:endParaRPr>
          </a:p>
        </p:txBody>
      </p:sp>
      <p:sp>
        <p:nvSpPr>
          <p:cNvPr id="365" name="Google Shape;365;p32"/>
          <p:cNvSpPr txBox="1"/>
          <p:nvPr>
            <p:ph idx="10" type="dt"/>
          </p:nvPr>
        </p:nvSpPr>
        <p:spPr>
          <a:xfrm>
            <a:off x="8093240" y="6613560"/>
            <a:ext cx="3972947" cy="182563"/>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US" sz="1067">
                <a:solidFill>
                  <a:srgbClr val="000000"/>
                </a:solidFill>
                <a:latin typeface="Arial"/>
                <a:ea typeface="Arial"/>
                <a:cs typeface="Arial"/>
                <a:sym typeface="Arial"/>
              </a:rPr>
              <a:t>‹#›</a:t>
            </a:fld>
            <a:r>
              <a:rPr lang="en-US" sz="1067">
                <a:solidFill>
                  <a:srgbClr val="000000"/>
                </a:solidFill>
                <a:latin typeface="Arial"/>
                <a:ea typeface="Arial"/>
                <a:cs typeface="Arial"/>
                <a:sym typeface="Arial"/>
              </a:rPr>
              <a:t> – ESnet Science Engagement (</a:t>
            </a:r>
            <a:r>
              <a:rPr lang="en-US" sz="1067" u="sng">
                <a:solidFill>
                  <a:srgbClr val="000000"/>
                </a:solidFill>
                <a:latin typeface="Arial"/>
                <a:ea typeface="Arial"/>
                <a:cs typeface="Arial"/>
                <a:sym typeface="Arial"/>
                <a:hlinkClick r:id="rId3">
                  <a:extLst>
                    <a:ext uri="{A12FA001-AC4F-418D-AE19-62706E023703}">
                      <ahyp:hlinkClr val="tx"/>
                    </a:ext>
                  </a:extLst>
                </a:hlinkClick>
              </a:rPr>
              <a:t>engage@es.net</a:t>
            </a:r>
            <a:r>
              <a:rPr lang="en-US" sz="1067">
                <a:solidFill>
                  <a:srgbClr val="000000"/>
                </a:solidFill>
                <a:latin typeface="Arial"/>
                <a:ea typeface="Arial"/>
                <a:cs typeface="Arial"/>
                <a:sym typeface="Arial"/>
              </a:rPr>
              <a:t>) - 5/12/2024</a:t>
            </a:r>
            <a:endParaRPr sz="1067">
              <a:solidFill>
                <a:srgbClr val="000000"/>
              </a:solidFill>
              <a:latin typeface="Arial"/>
              <a:ea typeface="Arial"/>
              <a:cs typeface="Arial"/>
              <a:sym typeface="Arial"/>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0" name="Shape 370"/>
        <p:cNvGrpSpPr/>
        <p:nvPr/>
      </p:nvGrpSpPr>
      <p:grpSpPr>
        <a:xfrm>
          <a:off x="0" y="0"/>
          <a:ext cx="0" cy="0"/>
          <a:chOff x="0" y="0"/>
          <a:chExt cx="0" cy="0"/>
        </a:xfrm>
      </p:grpSpPr>
      <p:sp>
        <p:nvSpPr>
          <p:cNvPr id="371" name="Google Shape;371;p3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Sample Data Transfer Results (2005)</a:t>
            </a:r>
            <a:endParaRPr/>
          </a:p>
        </p:txBody>
      </p:sp>
      <p:sp>
        <p:nvSpPr>
          <p:cNvPr id="372" name="Google Shape;372;p33"/>
          <p:cNvSpPr txBox="1"/>
          <p:nvPr>
            <p:ph idx="1" type="body"/>
          </p:nvPr>
        </p:nvSpPr>
        <p:spPr>
          <a:xfrm>
            <a:off x="838200" y="1825625"/>
            <a:ext cx="10515600" cy="3996677"/>
          </a:xfrm>
          <a:prstGeom prst="rect">
            <a:avLst/>
          </a:prstGeom>
          <a:noFill/>
          <a:ln>
            <a:noFill/>
          </a:ln>
        </p:spPr>
        <p:txBody>
          <a:bodyPr anchorCtr="0" anchor="t" bIns="45700" lIns="91425" spcFirstLastPara="1" rIns="91425" wrap="square" tIns="45700">
            <a:normAutofit fontScale="92500" lnSpcReduction="10000"/>
          </a:bodyPr>
          <a:lstStyle/>
          <a:p>
            <a:pPr indent="-228600" lvl="0" marL="228600" rtl="0" algn="l">
              <a:lnSpc>
                <a:spcPct val="90000"/>
              </a:lnSpc>
              <a:spcBef>
                <a:spcPts val="0"/>
              </a:spcBef>
              <a:spcAft>
                <a:spcPts val="0"/>
              </a:spcAft>
              <a:buClr>
                <a:schemeClr val="dk1"/>
              </a:buClr>
              <a:buSzPct val="100000"/>
              <a:buChar char="•"/>
            </a:pPr>
            <a:r>
              <a:rPr lang="en-US"/>
              <a:t>Using the right tool is very important</a:t>
            </a:r>
            <a:endParaRPr/>
          </a:p>
          <a:p>
            <a:pPr indent="-228600" lvl="0" marL="228600" rtl="0" algn="l">
              <a:lnSpc>
                <a:spcPct val="90000"/>
              </a:lnSpc>
              <a:spcBef>
                <a:spcPts val="1000"/>
              </a:spcBef>
              <a:spcAft>
                <a:spcPts val="0"/>
              </a:spcAft>
              <a:buClr>
                <a:schemeClr val="dk1"/>
              </a:buClr>
              <a:buSzPct val="100000"/>
              <a:buChar char="•"/>
            </a:pPr>
            <a:r>
              <a:rPr lang="en-US"/>
              <a:t>Sample Results: Berkeley, CA to Argonne, IL (near Chicago). RTT = 53 ms, network capacity = 10Gbps.</a:t>
            </a:r>
            <a:endParaRPr/>
          </a:p>
          <a:p>
            <a:pPr indent="-64135" lvl="0" marL="228600" rtl="0" algn="l">
              <a:lnSpc>
                <a:spcPct val="90000"/>
              </a:lnSpc>
              <a:spcBef>
                <a:spcPts val="1000"/>
              </a:spcBef>
              <a:spcAft>
                <a:spcPts val="0"/>
              </a:spcAft>
              <a:buClr>
                <a:schemeClr val="dk1"/>
              </a:buClr>
              <a:buSzPct val="100000"/>
              <a:buNone/>
            </a:pPr>
            <a:r>
              <a:t/>
            </a:r>
            <a:endParaRPr/>
          </a:p>
          <a:p>
            <a:pPr indent="-228600" lvl="2" marL="1143000" rtl="0" algn="l">
              <a:lnSpc>
                <a:spcPct val="90000"/>
              </a:lnSpc>
              <a:spcBef>
                <a:spcPts val="500"/>
              </a:spcBef>
              <a:spcAft>
                <a:spcPts val="0"/>
              </a:spcAft>
              <a:buClr>
                <a:schemeClr val="dk1"/>
              </a:buClr>
              <a:buSzPct val="100000"/>
              <a:buNone/>
            </a:pPr>
            <a:r>
              <a:rPr lang="en-US"/>
              <a:t>	Tool			Throughput	</a:t>
            </a:r>
            <a:endParaRPr/>
          </a:p>
          <a:p>
            <a:pPr indent="0" lvl="2" marL="611701" rtl="0" algn="l">
              <a:lnSpc>
                <a:spcPct val="90000"/>
              </a:lnSpc>
              <a:spcBef>
                <a:spcPts val="500"/>
              </a:spcBef>
              <a:spcAft>
                <a:spcPts val="0"/>
              </a:spcAft>
              <a:buClr>
                <a:schemeClr val="dk1"/>
              </a:buClr>
              <a:buSzPct val="100000"/>
              <a:buNone/>
            </a:pPr>
            <a:r>
              <a:rPr lang="en-US"/>
              <a:t>scp:				140 Mbps	</a:t>
            </a:r>
            <a:endParaRPr/>
          </a:p>
          <a:p>
            <a:pPr indent="0" lvl="2" marL="611701" rtl="0" algn="l">
              <a:lnSpc>
                <a:spcPct val="90000"/>
              </a:lnSpc>
              <a:spcBef>
                <a:spcPts val="500"/>
              </a:spcBef>
              <a:spcAft>
                <a:spcPts val="0"/>
              </a:spcAft>
              <a:buClr>
                <a:schemeClr val="dk1"/>
              </a:buClr>
              <a:buSzPct val="100000"/>
              <a:buNone/>
            </a:pPr>
            <a:r>
              <a:rPr lang="en-US"/>
              <a:t>HPN patched scp:		1.2 Gbps</a:t>
            </a:r>
            <a:endParaRPr/>
          </a:p>
          <a:p>
            <a:pPr indent="0" lvl="2" marL="611701" rtl="0" algn="l">
              <a:lnSpc>
                <a:spcPct val="90000"/>
              </a:lnSpc>
              <a:spcBef>
                <a:spcPts val="500"/>
              </a:spcBef>
              <a:spcAft>
                <a:spcPts val="0"/>
              </a:spcAft>
              <a:buClr>
                <a:schemeClr val="dk1"/>
              </a:buClr>
              <a:buSzPct val="100000"/>
              <a:buNone/>
            </a:pPr>
            <a:r>
              <a:rPr lang="en-US"/>
              <a:t>ftp				1.4 Gbps	</a:t>
            </a:r>
            <a:endParaRPr/>
          </a:p>
          <a:p>
            <a:pPr indent="0" lvl="2" marL="611701" rtl="0" algn="l">
              <a:lnSpc>
                <a:spcPct val="90000"/>
              </a:lnSpc>
              <a:spcBef>
                <a:spcPts val="500"/>
              </a:spcBef>
              <a:spcAft>
                <a:spcPts val="0"/>
              </a:spcAft>
              <a:buClr>
                <a:schemeClr val="dk1"/>
              </a:buClr>
              <a:buSzPct val="100000"/>
              <a:buNone/>
            </a:pPr>
            <a:r>
              <a:rPr lang="en-US"/>
              <a:t>GridFTP, 4 streams	5.4 Gbps	</a:t>
            </a:r>
            <a:endParaRPr/>
          </a:p>
          <a:p>
            <a:pPr indent="0" lvl="2" marL="611701" rtl="0" algn="l">
              <a:lnSpc>
                <a:spcPct val="90000"/>
              </a:lnSpc>
              <a:spcBef>
                <a:spcPts val="500"/>
              </a:spcBef>
              <a:spcAft>
                <a:spcPts val="0"/>
              </a:spcAft>
              <a:buClr>
                <a:schemeClr val="dk1"/>
              </a:buClr>
              <a:buSzPct val="100000"/>
              <a:buNone/>
            </a:pPr>
            <a:r>
              <a:rPr lang="en-US"/>
              <a:t>GridFTP, 8 streams	6.6 Gbps	</a:t>
            </a:r>
            <a:endParaRPr/>
          </a:p>
          <a:p>
            <a:pPr indent="-111125" lvl="2" marL="1143000" rtl="0" algn="l">
              <a:lnSpc>
                <a:spcPct val="90000"/>
              </a:lnSpc>
              <a:spcBef>
                <a:spcPts val="500"/>
              </a:spcBef>
              <a:spcAft>
                <a:spcPts val="0"/>
              </a:spcAft>
              <a:buClr>
                <a:schemeClr val="dk1"/>
              </a:buClr>
              <a:buSzPct val="100000"/>
              <a:buNone/>
            </a:pPr>
            <a:r>
              <a:t/>
            </a:r>
            <a:endParaRPr/>
          </a:p>
          <a:p>
            <a:pPr indent="-228600" lvl="2" marL="1143000" rtl="0" algn="l">
              <a:lnSpc>
                <a:spcPct val="90000"/>
              </a:lnSpc>
              <a:spcBef>
                <a:spcPts val="500"/>
              </a:spcBef>
              <a:spcAft>
                <a:spcPts val="0"/>
              </a:spcAft>
              <a:buClr>
                <a:schemeClr val="dk1"/>
              </a:buClr>
              <a:buSzPct val="100000"/>
              <a:buChar char="•"/>
            </a:pPr>
            <a:r>
              <a:rPr lang="en-US"/>
              <a:t>Note that to get more than 1 Gbps (125 MB/s) disk to disk requires RAID.</a:t>
            </a:r>
            <a:endParaRPr/>
          </a:p>
          <a:p>
            <a:pPr indent="-111125" lvl="2" marL="1143000" rtl="0" algn="l">
              <a:lnSpc>
                <a:spcPct val="90000"/>
              </a:lnSpc>
              <a:spcBef>
                <a:spcPts val="500"/>
              </a:spcBef>
              <a:spcAft>
                <a:spcPts val="0"/>
              </a:spcAft>
              <a:buClr>
                <a:schemeClr val="dk1"/>
              </a:buClr>
              <a:buSzPct val="100000"/>
              <a:buNone/>
            </a:pPr>
            <a:r>
              <a:t/>
            </a:r>
            <a:endParaRPr/>
          </a:p>
          <a:p>
            <a:pPr indent="-87630" lvl="1" marL="685800" rtl="0" algn="l">
              <a:lnSpc>
                <a:spcPct val="90000"/>
              </a:lnSpc>
              <a:spcBef>
                <a:spcPts val="500"/>
              </a:spcBef>
              <a:spcAft>
                <a:spcPts val="0"/>
              </a:spcAft>
              <a:buClr>
                <a:schemeClr val="dk1"/>
              </a:buClr>
              <a:buSzPct val="100000"/>
              <a:buNone/>
            </a:pPr>
            <a:r>
              <a:t/>
            </a:r>
            <a:endParaRPr/>
          </a:p>
        </p:txBody>
      </p:sp>
      <p:sp>
        <p:nvSpPr>
          <p:cNvPr id="373" name="Google Shape;373;p33"/>
          <p:cNvSpPr txBox="1"/>
          <p:nvPr>
            <p:ph idx="10" type="dt"/>
          </p:nvPr>
        </p:nvSpPr>
        <p:spPr>
          <a:xfrm>
            <a:off x="8093240" y="6613560"/>
            <a:ext cx="3972947" cy="182563"/>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US" sz="1067">
                <a:solidFill>
                  <a:srgbClr val="000000"/>
                </a:solidFill>
                <a:latin typeface="Arial"/>
                <a:ea typeface="Arial"/>
                <a:cs typeface="Arial"/>
                <a:sym typeface="Arial"/>
              </a:rPr>
              <a:t>‹#›</a:t>
            </a:fld>
            <a:r>
              <a:rPr lang="en-US" sz="1067">
                <a:solidFill>
                  <a:srgbClr val="000000"/>
                </a:solidFill>
                <a:latin typeface="Arial"/>
                <a:ea typeface="Arial"/>
                <a:cs typeface="Arial"/>
                <a:sym typeface="Arial"/>
              </a:rPr>
              <a:t> – ESnet Science Engagement (</a:t>
            </a:r>
            <a:r>
              <a:rPr lang="en-US" sz="1067" u="sng">
                <a:solidFill>
                  <a:srgbClr val="000000"/>
                </a:solidFill>
                <a:latin typeface="Arial"/>
                <a:ea typeface="Arial"/>
                <a:cs typeface="Arial"/>
                <a:sym typeface="Arial"/>
                <a:hlinkClick r:id="rId3">
                  <a:extLst>
                    <a:ext uri="{A12FA001-AC4F-418D-AE19-62706E023703}">
                      <ahyp:hlinkClr val="tx"/>
                    </a:ext>
                  </a:extLst>
                </a:hlinkClick>
              </a:rPr>
              <a:t>engage@es.net</a:t>
            </a:r>
            <a:r>
              <a:rPr lang="en-US" sz="1067">
                <a:solidFill>
                  <a:srgbClr val="000000"/>
                </a:solidFill>
                <a:latin typeface="Arial"/>
                <a:ea typeface="Arial"/>
                <a:cs typeface="Arial"/>
                <a:sym typeface="Arial"/>
              </a:rPr>
              <a:t>) - 5/12/2024</a:t>
            </a:r>
            <a:endParaRPr sz="1067">
              <a:solidFill>
                <a:srgbClr val="000000"/>
              </a:solidFill>
              <a:latin typeface="Arial"/>
              <a:ea typeface="Arial"/>
              <a:cs typeface="Arial"/>
              <a:sym typeface="Arial"/>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8" name="Shape 378"/>
        <p:cNvGrpSpPr/>
        <p:nvPr/>
      </p:nvGrpSpPr>
      <p:grpSpPr>
        <a:xfrm>
          <a:off x="0" y="0"/>
          <a:ext cx="0" cy="0"/>
          <a:chOff x="0" y="0"/>
          <a:chExt cx="0" cy="0"/>
        </a:xfrm>
      </p:grpSpPr>
      <p:sp>
        <p:nvSpPr>
          <p:cNvPr id="379" name="Google Shape;379;p34"/>
          <p:cNvSpPr txBox="1"/>
          <p:nvPr>
            <p:ph type="title"/>
          </p:nvPr>
        </p:nvSpPr>
        <p:spPr>
          <a:xfrm>
            <a:off x="609600" y="1"/>
            <a:ext cx="10972800" cy="730881"/>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Say NO to SCP (2016)</a:t>
            </a:r>
            <a:endParaRPr/>
          </a:p>
        </p:txBody>
      </p:sp>
      <p:sp>
        <p:nvSpPr>
          <p:cNvPr id="380" name="Google Shape;380;p34"/>
          <p:cNvSpPr txBox="1"/>
          <p:nvPr>
            <p:ph idx="1" type="body"/>
          </p:nvPr>
        </p:nvSpPr>
        <p:spPr>
          <a:xfrm>
            <a:off x="609600" y="838718"/>
            <a:ext cx="10972800" cy="5882759"/>
          </a:xfrm>
          <a:prstGeom prst="rect">
            <a:avLst/>
          </a:prstGeom>
          <a:noFill/>
          <a:ln>
            <a:noFill/>
          </a:ln>
        </p:spPr>
        <p:txBody>
          <a:bodyPr anchorCtr="0" anchor="t" bIns="45700" lIns="91425" spcFirstLastPara="1" rIns="91425" wrap="square" tIns="45700">
            <a:normAutofit fontScale="92500" lnSpcReduction="10000"/>
          </a:bodyPr>
          <a:lstStyle/>
          <a:p>
            <a:pPr indent="-228600" lvl="0" marL="228600" rtl="0" algn="l">
              <a:lnSpc>
                <a:spcPct val="90000"/>
              </a:lnSpc>
              <a:spcBef>
                <a:spcPts val="0"/>
              </a:spcBef>
              <a:spcAft>
                <a:spcPts val="0"/>
              </a:spcAft>
              <a:buClr>
                <a:schemeClr val="dk1"/>
              </a:buClr>
              <a:buSzPct val="100000"/>
              <a:buChar char="•"/>
            </a:pPr>
            <a:r>
              <a:rPr lang="en-US"/>
              <a:t>Using the right data transfer tool is very important</a:t>
            </a:r>
            <a:endParaRPr/>
          </a:p>
          <a:p>
            <a:pPr indent="-228600" lvl="0" marL="228600" rtl="0" algn="l">
              <a:lnSpc>
                <a:spcPct val="90000"/>
              </a:lnSpc>
              <a:spcBef>
                <a:spcPts val="1000"/>
              </a:spcBef>
              <a:spcAft>
                <a:spcPts val="0"/>
              </a:spcAft>
              <a:buClr>
                <a:schemeClr val="dk1"/>
              </a:buClr>
              <a:buSzPct val="100000"/>
              <a:buChar char="•"/>
            </a:pPr>
            <a:r>
              <a:rPr lang="en-US"/>
              <a:t>Sample Results: Berkeley, CA to Argonne, IL (near Chicago ) RTT = 53 ms, network capacity = 10Gbps.</a:t>
            </a:r>
            <a:endParaRPr/>
          </a:p>
          <a:p>
            <a:pPr indent="-64135" lvl="0" marL="228600" rtl="0" algn="l">
              <a:lnSpc>
                <a:spcPct val="90000"/>
              </a:lnSpc>
              <a:spcBef>
                <a:spcPts val="1000"/>
              </a:spcBef>
              <a:spcAft>
                <a:spcPts val="0"/>
              </a:spcAft>
              <a:buClr>
                <a:schemeClr val="dk1"/>
              </a:buClr>
              <a:buSzPct val="100000"/>
              <a:buNone/>
            </a:pPr>
            <a:r>
              <a:t/>
            </a:r>
            <a:endParaRPr/>
          </a:p>
          <a:p>
            <a:pPr indent="-64135" lvl="0" marL="228600" rtl="0" algn="l">
              <a:lnSpc>
                <a:spcPct val="90000"/>
              </a:lnSpc>
              <a:spcBef>
                <a:spcPts val="1000"/>
              </a:spcBef>
              <a:spcAft>
                <a:spcPts val="0"/>
              </a:spcAft>
              <a:buClr>
                <a:schemeClr val="dk1"/>
              </a:buClr>
              <a:buSzPct val="100000"/>
              <a:buNone/>
            </a:pPr>
            <a:r>
              <a:t/>
            </a:r>
            <a:endParaRPr/>
          </a:p>
          <a:p>
            <a:pPr indent="-64135" lvl="0" marL="228600" rtl="0" algn="l">
              <a:lnSpc>
                <a:spcPct val="90000"/>
              </a:lnSpc>
              <a:spcBef>
                <a:spcPts val="1000"/>
              </a:spcBef>
              <a:spcAft>
                <a:spcPts val="0"/>
              </a:spcAft>
              <a:buClr>
                <a:schemeClr val="dk1"/>
              </a:buClr>
              <a:buSzPct val="100000"/>
              <a:buNone/>
            </a:pPr>
            <a:r>
              <a:t/>
            </a:r>
            <a:endParaRPr/>
          </a:p>
          <a:p>
            <a:pPr indent="0" lvl="0" marL="0" rtl="0" algn="l">
              <a:lnSpc>
                <a:spcPct val="90000"/>
              </a:lnSpc>
              <a:spcBef>
                <a:spcPts val="1000"/>
              </a:spcBef>
              <a:spcAft>
                <a:spcPts val="0"/>
              </a:spcAft>
              <a:buClr>
                <a:schemeClr val="dk1"/>
              </a:buClr>
              <a:buSzPct val="100000"/>
              <a:buNone/>
            </a:pPr>
            <a:r>
              <a:t/>
            </a:r>
            <a:endParaRPr/>
          </a:p>
          <a:p>
            <a:pPr indent="0" lvl="0" marL="0" rtl="0" algn="l">
              <a:lnSpc>
                <a:spcPct val="90000"/>
              </a:lnSpc>
              <a:spcBef>
                <a:spcPts val="1000"/>
              </a:spcBef>
              <a:spcAft>
                <a:spcPts val="0"/>
              </a:spcAft>
              <a:buClr>
                <a:schemeClr val="dk1"/>
              </a:buClr>
              <a:buSzPct val="100000"/>
              <a:buNone/>
            </a:pPr>
            <a:r>
              <a:t/>
            </a:r>
            <a:endParaRPr/>
          </a:p>
          <a:p>
            <a:pPr indent="-64135" lvl="0" marL="228600" rtl="0" algn="l">
              <a:lnSpc>
                <a:spcPct val="90000"/>
              </a:lnSpc>
              <a:spcBef>
                <a:spcPts val="1000"/>
              </a:spcBef>
              <a:spcAft>
                <a:spcPts val="0"/>
              </a:spcAft>
              <a:buClr>
                <a:schemeClr val="dk1"/>
              </a:buClr>
              <a:buSzPct val="100000"/>
              <a:buNone/>
            </a:pPr>
            <a:r>
              <a:t/>
            </a:r>
            <a:endParaRPr/>
          </a:p>
          <a:p>
            <a:pPr indent="0" lvl="0" marL="0" rtl="0" algn="l">
              <a:lnSpc>
                <a:spcPct val="90000"/>
              </a:lnSpc>
              <a:spcBef>
                <a:spcPts val="1000"/>
              </a:spcBef>
              <a:spcAft>
                <a:spcPts val="0"/>
              </a:spcAft>
              <a:buClr>
                <a:schemeClr val="dk1"/>
              </a:buClr>
              <a:buSzPct val="100000"/>
              <a:buNone/>
            </a:pPr>
            <a:r>
              <a:t/>
            </a:r>
            <a:endParaRPr/>
          </a:p>
          <a:p>
            <a:pPr indent="-228600" lvl="0" marL="228600" rtl="0" algn="l">
              <a:lnSpc>
                <a:spcPct val="90000"/>
              </a:lnSpc>
              <a:spcBef>
                <a:spcPts val="1000"/>
              </a:spcBef>
              <a:spcAft>
                <a:spcPts val="0"/>
              </a:spcAft>
              <a:buClr>
                <a:schemeClr val="dk1"/>
              </a:buClr>
              <a:buSzPct val="100000"/>
              <a:buChar char="•"/>
            </a:pPr>
            <a:r>
              <a:rPr lang="en-US"/>
              <a:t>Notes</a:t>
            </a:r>
            <a:endParaRPr/>
          </a:p>
          <a:p>
            <a:pPr indent="-228600" lvl="1" marL="685800" rtl="0" algn="l">
              <a:lnSpc>
                <a:spcPct val="90000"/>
              </a:lnSpc>
              <a:spcBef>
                <a:spcPts val="500"/>
              </a:spcBef>
              <a:spcAft>
                <a:spcPts val="0"/>
              </a:spcAft>
              <a:buClr>
                <a:schemeClr val="dk1"/>
              </a:buClr>
              <a:buSzPct val="100000"/>
              <a:buChar char="•"/>
            </a:pPr>
            <a:r>
              <a:rPr lang="en-US"/>
              <a:t>scp is 24x slower than GridFTP on this path!!</a:t>
            </a:r>
            <a:endParaRPr/>
          </a:p>
          <a:p>
            <a:pPr indent="-228600" lvl="1" marL="685800" rtl="0" algn="l">
              <a:lnSpc>
                <a:spcPct val="90000"/>
              </a:lnSpc>
              <a:spcBef>
                <a:spcPts val="500"/>
              </a:spcBef>
              <a:spcAft>
                <a:spcPts val="0"/>
              </a:spcAft>
              <a:buClr>
                <a:schemeClr val="dk1"/>
              </a:buClr>
              <a:buSzPct val="100000"/>
              <a:buChar char="•"/>
            </a:pPr>
            <a:r>
              <a:rPr lang="en-US"/>
              <a:t>to get more than 1 Gbps (125 MB/s) disk to disk requires RAID array.</a:t>
            </a:r>
            <a:endParaRPr/>
          </a:p>
          <a:p>
            <a:pPr indent="-228600" lvl="1" marL="685800" rtl="0" algn="l">
              <a:lnSpc>
                <a:spcPct val="90000"/>
              </a:lnSpc>
              <a:spcBef>
                <a:spcPts val="500"/>
              </a:spcBef>
              <a:spcAft>
                <a:spcPts val="0"/>
              </a:spcAft>
              <a:buClr>
                <a:schemeClr val="dk1"/>
              </a:buClr>
              <a:buSzPct val="100000"/>
              <a:buChar char="•"/>
            </a:pPr>
            <a:r>
              <a:rPr lang="en-US"/>
              <a:t>Assume host TCP buffers are set correctly for the RTT </a:t>
            </a:r>
            <a:endParaRPr/>
          </a:p>
          <a:p>
            <a:pPr indent="-111125" lvl="2" marL="1143000" rtl="0" algn="l">
              <a:lnSpc>
                <a:spcPct val="90000"/>
              </a:lnSpc>
              <a:spcBef>
                <a:spcPts val="500"/>
              </a:spcBef>
              <a:spcAft>
                <a:spcPts val="0"/>
              </a:spcAft>
              <a:buClr>
                <a:schemeClr val="dk1"/>
              </a:buClr>
              <a:buSzPct val="100000"/>
              <a:buNone/>
            </a:pPr>
            <a:r>
              <a:t/>
            </a:r>
            <a:endParaRPr/>
          </a:p>
          <a:p>
            <a:pPr indent="-87630" lvl="1" marL="685800" rtl="0" algn="l">
              <a:lnSpc>
                <a:spcPct val="90000"/>
              </a:lnSpc>
              <a:spcBef>
                <a:spcPts val="500"/>
              </a:spcBef>
              <a:spcAft>
                <a:spcPts val="0"/>
              </a:spcAft>
              <a:buClr>
                <a:schemeClr val="dk1"/>
              </a:buClr>
              <a:buSzPct val="100000"/>
              <a:buNone/>
            </a:pPr>
            <a:r>
              <a:t/>
            </a:r>
            <a:endParaRPr/>
          </a:p>
        </p:txBody>
      </p:sp>
      <p:graphicFrame>
        <p:nvGraphicFramePr>
          <p:cNvPr id="381" name="Google Shape;381;p34"/>
          <p:cNvGraphicFramePr/>
          <p:nvPr/>
        </p:nvGraphicFramePr>
        <p:xfrm>
          <a:off x="1661275" y="2114059"/>
          <a:ext cx="3000000" cy="3000000"/>
        </p:xfrm>
        <a:graphic>
          <a:graphicData uri="http://schemas.openxmlformats.org/drawingml/2006/table">
            <a:tbl>
              <a:tblPr bandRow="1" firstRow="1">
                <a:noFill/>
                <a:tableStyleId>{E09D8144-0C87-43BA-8B1C-9E958D98EB15}</a:tableStyleId>
              </a:tblPr>
              <a:tblGrid>
                <a:gridCol w="5351225"/>
                <a:gridCol w="4159475"/>
              </a:tblGrid>
              <a:tr h="494450">
                <a:tc>
                  <a:txBody>
                    <a:bodyPr/>
                    <a:lstStyle/>
                    <a:p>
                      <a:pPr indent="0" lvl="0" marL="0" marR="0" rtl="0" algn="l">
                        <a:spcBef>
                          <a:spcPts val="0"/>
                        </a:spcBef>
                        <a:spcAft>
                          <a:spcPts val="0"/>
                        </a:spcAft>
                        <a:buNone/>
                      </a:pPr>
                      <a:r>
                        <a:rPr lang="en-US" sz="2400" u="none" cap="none" strike="noStrike"/>
                        <a:t>Tool</a:t>
                      </a:r>
                      <a:endParaRPr/>
                    </a:p>
                  </a:txBody>
                  <a:tcPr marT="60950" marB="60950" marR="121925" marL="121925"/>
                </a:tc>
                <a:tc>
                  <a:txBody>
                    <a:bodyPr/>
                    <a:lstStyle/>
                    <a:p>
                      <a:pPr indent="0" lvl="0" marL="0" marR="0" rtl="0" algn="l">
                        <a:spcBef>
                          <a:spcPts val="0"/>
                        </a:spcBef>
                        <a:spcAft>
                          <a:spcPts val="0"/>
                        </a:spcAft>
                        <a:buNone/>
                      </a:pPr>
                      <a:r>
                        <a:rPr lang="en-US" sz="2400"/>
                        <a:t>Throughput</a:t>
                      </a:r>
                      <a:endParaRPr/>
                    </a:p>
                  </a:txBody>
                  <a:tcPr marT="60950" marB="60950" marR="121925" marL="121925"/>
                </a:tc>
              </a:tr>
              <a:tr h="494450">
                <a:tc>
                  <a:txBody>
                    <a:bodyPr/>
                    <a:lstStyle/>
                    <a:p>
                      <a:pPr indent="0" lvl="0" marL="0" marR="0" rtl="0" algn="l">
                        <a:spcBef>
                          <a:spcPts val="0"/>
                        </a:spcBef>
                        <a:spcAft>
                          <a:spcPts val="0"/>
                        </a:spcAft>
                        <a:buNone/>
                      </a:pPr>
                      <a:r>
                        <a:rPr lang="en-US" sz="2400"/>
                        <a:t>scp</a:t>
                      </a:r>
                      <a:endParaRPr/>
                    </a:p>
                  </a:txBody>
                  <a:tcPr marT="60950" marB="60950" marR="121925" marL="121925"/>
                </a:tc>
                <a:tc>
                  <a:txBody>
                    <a:bodyPr/>
                    <a:lstStyle/>
                    <a:p>
                      <a:pPr indent="0" lvl="0" marL="0" marR="0" rtl="0" algn="l">
                        <a:spcBef>
                          <a:spcPts val="0"/>
                        </a:spcBef>
                        <a:spcAft>
                          <a:spcPts val="0"/>
                        </a:spcAft>
                        <a:buNone/>
                      </a:pPr>
                      <a:r>
                        <a:rPr lang="en-US" sz="2400"/>
                        <a:t>330 Mbps</a:t>
                      </a:r>
                      <a:endParaRPr/>
                    </a:p>
                  </a:txBody>
                  <a:tcPr marT="60950" marB="60950" marR="121925" marL="121925"/>
                </a:tc>
              </a:tr>
              <a:tr h="853450">
                <a:tc>
                  <a:txBody>
                    <a:bodyPr/>
                    <a:lstStyle/>
                    <a:p>
                      <a:pPr indent="0" lvl="0" marL="0" marR="0" rtl="0" algn="l">
                        <a:spcBef>
                          <a:spcPts val="0"/>
                        </a:spcBef>
                        <a:spcAft>
                          <a:spcPts val="0"/>
                        </a:spcAft>
                        <a:buNone/>
                      </a:pPr>
                      <a:r>
                        <a:rPr lang="en-US" sz="2400"/>
                        <a:t>wget, GridFTP</a:t>
                      </a:r>
                      <a:r>
                        <a:rPr lang="en-US" sz="2400"/>
                        <a:t>, FDT, 1 stream</a:t>
                      </a:r>
                      <a:endParaRPr sz="2400"/>
                    </a:p>
                  </a:txBody>
                  <a:tcPr marT="60950" marB="60950" marR="121925" marL="121925"/>
                </a:tc>
                <a:tc>
                  <a:txBody>
                    <a:bodyPr/>
                    <a:lstStyle/>
                    <a:p>
                      <a:pPr indent="0" lvl="0" marL="0" marR="0" rtl="0" algn="l">
                        <a:spcBef>
                          <a:spcPts val="0"/>
                        </a:spcBef>
                        <a:spcAft>
                          <a:spcPts val="0"/>
                        </a:spcAft>
                        <a:buNone/>
                      </a:pPr>
                      <a:r>
                        <a:rPr lang="en-US" sz="2400"/>
                        <a:t>6 Gbps</a:t>
                      </a:r>
                      <a:endParaRPr/>
                    </a:p>
                  </a:txBody>
                  <a:tcPr marT="60950" marB="60950" marR="121925" marL="121925"/>
                </a:tc>
              </a:tr>
              <a:tr h="853450">
                <a:tc>
                  <a:txBody>
                    <a:bodyPr/>
                    <a:lstStyle/>
                    <a:p>
                      <a:pPr indent="0" lvl="0" marL="0" marR="0" rtl="0" algn="l">
                        <a:spcBef>
                          <a:spcPts val="0"/>
                        </a:spcBef>
                        <a:spcAft>
                          <a:spcPts val="0"/>
                        </a:spcAft>
                        <a:buNone/>
                      </a:pPr>
                      <a:r>
                        <a:rPr lang="en-US" sz="2400"/>
                        <a:t>GridFTP and FDT, 4 streams</a:t>
                      </a:r>
                      <a:endParaRPr/>
                    </a:p>
                  </a:txBody>
                  <a:tcPr marT="60950" marB="60950" marR="121925" marL="121925"/>
                </a:tc>
                <a:tc>
                  <a:txBody>
                    <a:bodyPr/>
                    <a:lstStyle/>
                    <a:p>
                      <a:pPr indent="0" lvl="0" marL="0" marR="0" rtl="0" algn="l">
                        <a:spcBef>
                          <a:spcPts val="0"/>
                        </a:spcBef>
                        <a:spcAft>
                          <a:spcPts val="0"/>
                        </a:spcAft>
                        <a:buNone/>
                      </a:pPr>
                      <a:r>
                        <a:rPr lang="en-US" sz="2400"/>
                        <a:t>8 Gbps (disk limited)</a:t>
                      </a:r>
                      <a:endParaRPr/>
                    </a:p>
                  </a:txBody>
                  <a:tcPr marT="60950" marB="60950" marR="121925" marL="121925"/>
                </a:tc>
              </a:tr>
            </a:tbl>
          </a:graphicData>
        </a:graphic>
      </p:graphicFrame>
      <p:sp>
        <p:nvSpPr>
          <p:cNvPr id="382" name="Google Shape;382;p34"/>
          <p:cNvSpPr txBox="1"/>
          <p:nvPr>
            <p:ph idx="10" type="dt"/>
          </p:nvPr>
        </p:nvSpPr>
        <p:spPr>
          <a:xfrm>
            <a:off x="8093240" y="6613560"/>
            <a:ext cx="3972947" cy="182563"/>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US" sz="1067">
                <a:solidFill>
                  <a:srgbClr val="000000"/>
                </a:solidFill>
                <a:latin typeface="Arial"/>
                <a:ea typeface="Arial"/>
                <a:cs typeface="Arial"/>
                <a:sym typeface="Arial"/>
              </a:rPr>
              <a:t>‹#›</a:t>
            </a:fld>
            <a:r>
              <a:rPr lang="en-US" sz="1067">
                <a:solidFill>
                  <a:srgbClr val="000000"/>
                </a:solidFill>
                <a:latin typeface="Arial"/>
                <a:ea typeface="Arial"/>
                <a:cs typeface="Arial"/>
                <a:sym typeface="Arial"/>
              </a:rPr>
              <a:t> – ESnet Science Engagement (</a:t>
            </a:r>
            <a:r>
              <a:rPr lang="en-US" sz="1067" u="sng">
                <a:solidFill>
                  <a:srgbClr val="000000"/>
                </a:solidFill>
                <a:latin typeface="Arial"/>
                <a:ea typeface="Arial"/>
                <a:cs typeface="Arial"/>
                <a:sym typeface="Arial"/>
                <a:hlinkClick r:id="rId3">
                  <a:extLst>
                    <a:ext uri="{A12FA001-AC4F-418D-AE19-62706E023703}">
                      <ahyp:hlinkClr val="tx"/>
                    </a:ext>
                  </a:extLst>
                </a:hlinkClick>
              </a:rPr>
              <a:t>engage@es.net</a:t>
            </a:r>
            <a:r>
              <a:rPr lang="en-US" sz="1067">
                <a:solidFill>
                  <a:srgbClr val="000000"/>
                </a:solidFill>
                <a:latin typeface="Arial"/>
                <a:ea typeface="Arial"/>
                <a:cs typeface="Arial"/>
                <a:sym typeface="Arial"/>
              </a:rPr>
              <a:t>) - 5/12/2024</a:t>
            </a:r>
            <a:endParaRPr sz="1067">
              <a:solidFill>
                <a:srgbClr val="000000"/>
              </a:solidFill>
              <a:latin typeface="Arial"/>
              <a:ea typeface="Arial"/>
              <a:cs typeface="Arial"/>
              <a:sym typeface="Arial"/>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6" name="Shape 386"/>
        <p:cNvGrpSpPr/>
        <p:nvPr/>
      </p:nvGrpSpPr>
      <p:grpSpPr>
        <a:xfrm>
          <a:off x="0" y="0"/>
          <a:ext cx="0" cy="0"/>
          <a:chOff x="0" y="0"/>
          <a:chExt cx="0" cy="0"/>
        </a:xfrm>
      </p:grpSpPr>
      <p:sp>
        <p:nvSpPr>
          <p:cNvPr id="387" name="Google Shape;387;p3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5333"/>
              <a:buFont typeface="Calibri"/>
              <a:buNone/>
            </a:pPr>
            <a:r>
              <a:rPr lang="en-US" sz="5333"/>
              <a:t>Data Transfer Tools</a:t>
            </a:r>
            <a:endParaRPr/>
          </a:p>
        </p:txBody>
      </p:sp>
      <p:sp>
        <p:nvSpPr>
          <p:cNvPr id="388" name="Google Shape;388;p35"/>
          <p:cNvSpPr txBox="1"/>
          <p:nvPr>
            <p:ph idx="1" type="body"/>
          </p:nvPr>
        </p:nvSpPr>
        <p:spPr>
          <a:xfrm>
            <a:off x="838200" y="1825625"/>
            <a:ext cx="10515600" cy="3996677"/>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Parallelism is key</a:t>
            </a:r>
            <a:endParaRPr/>
          </a:p>
          <a:p>
            <a:pPr indent="-228600" lvl="1" marL="685800" rtl="0" algn="l">
              <a:lnSpc>
                <a:spcPct val="90000"/>
              </a:lnSpc>
              <a:spcBef>
                <a:spcPts val="500"/>
              </a:spcBef>
              <a:spcAft>
                <a:spcPts val="0"/>
              </a:spcAft>
              <a:buClr>
                <a:schemeClr val="dk1"/>
              </a:buClr>
              <a:buSzPts val="2400"/>
              <a:buChar char="•"/>
            </a:pPr>
            <a:r>
              <a:rPr lang="en-US"/>
              <a:t>It is much easier to achieve a given performance level with four parallel connections than one connection</a:t>
            </a:r>
            <a:endParaRPr/>
          </a:p>
          <a:p>
            <a:pPr indent="-228600" lvl="1" marL="685800" rtl="0" algn="l">
              <a:lnSpc>
                <a:spcPct val="90000"/>
              </a:lnSpc>
              <a:spcBef>
                <a:spcPts val="500"/>
              </a:spcBef>
              <a:spcAft>
                <a:spcPts val="0"/>
              </a:spcAft>
              <a:buClr>
                <a:schemeClr val="dk1"/>
              </a:buClr>
              <a:buSzPts val="2400"/>
              <a:buChar char="•"/>
            </a:pPr>
            <a:r>
              <a:rPr lang="en-US"/>
              <a:t>Several tools offer parallel transfers</a:t>
            </a:r>
            <a:endParaRPr/>
          </a:p>
          <a:p>
            <a:pPr indent="-228600" lvl="0" marL="228600" rtl="0" algn="l">
              <a:lnSpc>
                <a:spcPct val="90000"/>
              </a:lnSpc>
              <a:spcBef>
                <a:spcPts val="1000"/>
              </a:spcBef>
              <a:spcAft>
                <a:spcPts val="0"/>
              </a:spcAft>
              <a:buClr>
                <a:schemeClr val="dk1"/>
              </a:buClr>
              <a:buSzPts val="2800"/>
              <a:buChar char="•"/>
            </a:pPr>
            <a:r>
              <a:rPr lang="en-US"/>
              <a:t>Latency interaction is critical</a:t>
            </a:r>
            <a:endParaRPr/>
          </a:p>
          <a:p>
            <a:pPr indent="-228600" lvl="1" marL="685800" rtl="0" algn="l">
              <a:lnSpc>
                <a:spcPct val="90000"/>
              </a:lnSpc>
              <a:spcBef>
                <a:spcPts val="500"/>
              </a:spcBef>
              <a:spcAft>
                <a:spcPts val="0"/>
              </a:spcAft>
              <a:buClr>
                <a:schemeClr val="dk1"/>
              </a:buClr>
              <a:buSzPts val="2400"/>
              <a:buChar char="•"/>
            </a:pPr>
            <a:r>
              <a:rPr lang="en-US"/>
              <a:t>Wide area data transfers have much higher latency than LAN transfers</a:t>
            </a:r>
            <a:endParaRPr/>
          </a:p>
          <a:p>
            <a:pPr indent="-228600" lvl="1" marL="685800" rtl="0" algn="l">
              <a:lnSpc>
                <a:spcPct val="90000"/>
              </a:lnSpc>
              <a:spcBef>
                <a:spcPts val="500"/>
              </a:spcBef>
              <a:spcAft>
                <a:spcPts val="0"/>
              </a:spcAft>
              <a:buClr>
                <a:schemeClr val="dk1"/>
              </a:buClr>
              <a:buSzPts val="2400"/>
              <a:buChar char="•"/>
            </a:pPr>
            <a:r>
              <a:rPr lang="en-US"/>
              <a:t>Many tools and protocols assume a LAN</a:t>
            </a:r>
            <a:endParaRPr/>
          </a:p>
          <a:p>
            <a:pPr indent="-228600" lvl="1" marL="685800" rtl="0" algn="l">
              <a:lnSpc>
                <a:spcPct val="90000"/>
              </a:lnSpc>
              <a:spcBef>
                <a:spcPts val="500"/>
              </a:spcBef>
              <a:spcAft>
                <a:spcPts val="0"/>
              </a:spcAft>
              <a:buClr>
                <a:schemeClr val="dk1"/>
              </a:buClr>
              <a:buSzPts val="2400"/>
              <a:buChar char="•"/>
            </a:pPr>
            <a:r>
              <a:rPr lang="en-US"/>
              <a:t>Examples: SCP/SFTP, HPSS mover protocol</a:t>
            </a:r>
            <a:endParaRPr/>
          </a:p>
        </p:txBody>
      </p:sp>
      <p:sp>
        <p:nvSpPr>
          <p:cNvPr id="389" name="Google Shape;389;p35"/>
          <p:cNvSpPr txBox="1"/>
          <p:nvPr>
            <p:ph idx="10" type="dt"/>
          </p:nvPr>
        </p:nvSpPr>
        <p:spPr>
          <a:xfrm>
            <a:off x="8093240" y="6613560"/>
            <a:ext cx="3972947" cy="182563"/>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US" sz="1067">
                <a:solidFill>
                  <a:srgbClr val="000000"/>
                </a:solidFill>
                <a:latin typeface="Arial"/>
                <a:ea typeface="Arial"/>
                <a:cs typeface="Arial"/>
                <a:sym typeface="Arial"/>
              </a:rPr>
              <a:t>‹#›</a:t>
            </a:fld>
            <a:r>
              <a:rPr lang="en-US" sz="1067">
                <a:solidFill>
                  <a:srgbClr val="000000"/>
                </a:solidFill>
                <a:latin typeface="Arial"/>
                <a:ea typeface="Arial"/>
                <a:cs typeface="Arial"/>
                <a:sym typeface="Arial"/>
              </a:rPr>
              <a:t> – ESnet Science Engagement (</a:t>
            </a:r>
            <a:r>
              <a:rPr lang="en-US" sz="1067" u="sng">
                <a:solidFill>
                  <a:srgbClr val="000000"/>
                </a:solidFill>
                <a:latin typeface="Arial"/>
                <a:ea typeface="Arial"/>
                <a:cs typeface="Arial"/>
                <a:sym typeface="Arial"/>
                <a:hlinkClick r:id="rId3">
                  <a:extLst>
                    <a:ext uri="{A12FA001-AC4F-418D-AE19-62706E023703}">
                      <ahyp:hlinkClr val="tx"/>
                    </a:ext>
                  </a:extLst>
                </a:hlinkClick>
              </a:rPr>
              <a:t>engage@es.net</a:t>
            </a:r>
            <a:r>
              <a:rPr lang="en-US" sz="1067">
                <a:solidFill>
                  <a:srgbClr val="000000"/>
                </a:solidFill>
                <a:latin typeface="Arial"/>
                <a:ea typeface="Arial"/>
                <a:cs typeface="Arial"/>
                <a:sym typeface="Arial"/>
              </a:rPr>
              <a:t>) - 5/12/2024</a:t>
            </a:r>
            <a:endParaRPr sz="1067">
              <a:solidFill>
                <a:srgbClr val="000000"/>
              </a:solidFill>
              <a:latin typeface="Arial"/>
              <a:ea typeface="Arial"/>
              <a:cs typeface="Arial"/>
              <a:sym typeface="Arial"/>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3" name="Shape 393"/>
        <p:cNvGrpSpPr/>
        <p:nvPr/>
      </p:nvGrpSpPr>
      <p:grpSpPr>
        <a:xfrm>
          <a:off x="0" y="0"/>
          <a:ext cx="0" cy="0"/>
          <a:chOff x="0" y="0"/>
          <a:chExt cx="0" cy="0"/>
        </a:xfrm>
      </p:grpSpPr>
      <p:sp>
        <p:nvSpPr>
          <p:cNvPr id="394" name="Google Shape;394;p3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5333"/>
              <a:buFont typeface="Calibri"/>
              <a:buNone/>
            </a:pPr>
            <a:r>
              <a:rPr lang="en-US" sz="5333"/>
              <a:t>Why Not Use SCP or SFTP?</a:t>
            </a:r>
            <a:endParaRPr/>
          </a:p>
        </p:txBody>
      </p:sp>
      <p:sp>
        <p:nvSpPr>
          <p:cNvPr id="395" name="Google Shape;395;p36"/>
          <p:cNvSpPr txBox="1"/>
          <p:nvPr>
            <p:ph idx="1" type="body"/>
          </p:nvPr>
        </p:nvSpPr>
        <p:spPr>
          <a:xfrm>
            <a:off x="609600" y="1452863"/>
            <a:ext cx="10972800" cy="4254763"/>
          </a:xfrm>
          <a:prstGeom prst="rect">
            <a:avLst/>
          </a:prstGeom>
          <a:noFill/>
          <a:ln>
            <a:noFill/>
          </a:ln>
        </p:spPr>
        <p:txBody>
          <a:bodyPr anchorCtr="0" anchor="t" bIns="45700" lIns="91425" spcFirstLastPara="1" rIns="91425" wrap="square" tIns="45700">
            <a:noAutofit/>
          </a:bodyPr>
          <a:lstStyle/>
          <a:p>
            <a:pPr indent="-228600" lvl="0" marL="228600" rtl="0" algn="l">
              <a:lnSpc>
                <a:spcPct val="90000"/>
              </a:lnSpc>
              <a:spcBef>
                <a:spcPts val="0"/>
              </a:spcBef>
              <a:spcAft>
                <a:spcPts val="0"/>
              </a:spcAft>
              <a:buClr>
                <a:schemeClr val="dk1"/>
              </a:buClr>
              <a:buSzPts val="2400"/>
              <a:buChar char="•"/>
            </a:pPr>
            <a:r>
              <a:rPr lang="en-US" sz="2400"/>
              <a:t>Pros:</a:t>
            </a:r>
            <a:endParaRPr/>
          </a:p>
          <a:p>
            <a:pPr indent="-228600" lvl="1" marL="685800" rtl="0" algn="l">
              <a:lnSpc>
                <a:spcPct val="90000"/>
              </a:lnSpc>
              <a:spcBef>
                <a:spcPts val="500"/>
              </a:spcBef>
              <a:spcAft>
                <a:spcPts val="0"/>
              </a:spcAft>
              <a:buClr>
                <a:schemeClr val="dk1"/>
              </a:buClr>
              <a:buSzPts val="1867"/>
              <a:buChar char="•"/>
            </a:pPr>
            <a:r>
              <a:rPr lang="en-US" sz="1867"/>
              <a:t>Most scientific systems are accessed via OpenSSH</a:t>
            </a:r>
            <a:endParaRPr sz="1867"/>
          </a:p>
          <a:p>
            <a:pPr indent="-228600" lvl="1" marL="685800" rtl="0" algn="l">
              <a:lnSpc>
                <a:spcPct val="90000"/>
              </a:lnSpc>
              <a:spcBef>
                <a:spcPts val="500"/>
              </a:spcBef>
              <a:spcAft>
                <a:spcPts val="0"/>
              </a:spcAft>
              <a:buClr>
                <a:schemeClr val="dk1"/>
              </a:buClr>
              <a:buSzPts val="1867"/>
              <a:buChar char="•"/>
            </a:pPr>
            <a:r>
              <a:rPr lang="en-US" sz="1867"/>
              <a:t>SCP/SFTP are therefore installed by default</a:t>
            </a:r>
            <a:endParaRPr/>
          </a:p>
          <a:p>
            <a:pPr indent="-228600" lvl="1" marL="685800" rtl="0" algn="l">
              <a:lnSpc>
                <a:spcPct val="90000"/>
              </a:lnSpc>
              <a:spcBef>
                <a:spcPts val="500"/>
              </a:spcBef>
              <a:spcAft>
                <a:spcPts val="0"/>
              </a:spcAft>
              <a:buClr>
                <a:schemeClr val="dk1"/>
              </a:buClr>
              <a:buSzPts val="1867"/>
              <a:buChar char="•"/>
            </a:pPr>
            <a:r>
              <a:rPr lang="en-US" sz="1867"/>
              <a:t>Modern CPUs encrypt and decrypt well enough for small to medium scale transfers</a:t>
            </a:r>
            <a:endParaRPr/>
          </a:p>
          <a:p>
            <a:pPr indent="-228600" lvl="1" marL="685800" rtl="0" algn="l">
              <a:lnSpc>
                <a:spcPct val="90000"/>
              </a:lnSpc>
              <a:spcBef>
                <a:spcPts val="500"/>
              </a:spcBef>
              <a:spcAft>
                <a:spcPts val="0"/>
              </a:spcAft>
              <a:buClr>
                <a:schemeClr val="dk1"/>
              </a:buClr>
              <a:buSzPts val="1867"/>
              <a:buChar char="•"/>
            </a:pPr>
            <a:r>
              <a:rPr lang="en-US" sz="1867"/>
              <a:t>Credentials for system access and credentials for data transfer are the same</a:t>
            </a:r>
            <a:endParaRPr/>
          </a:p>
          <a:p>
            <a:pPr indent="-228600" lvl="0" marL="228600" rtl="0" algn="l">
              <a:lnSpc>
                <a:spcPct val="90000"/>
              </a:lnSpc>
              <a:spcBef>
                <a:spcPts val="1000"/>
              </a:spcBef>
              <a:spcAft>
                <a:spcPts val="0"/>
              </a:spcAft>
              <a:buClr>
                <a:schemeClr val="dk1"/>
              </a:buClr>
              <a:buSzPts val="2400"/>
              <a:buChar char="•"/>
            </a:pPr>
            <a:r>
              <a:rPr lang="en-US" sz="2400"/>
              <a:t>Cons:</a:t>
            </a:r>
            <a:endParaRPr/>
          </a:p>
          <a:p>
            <a:pPr indent="-228600" lvl="1" marL="685800" rtl="0" algn="l">
              <a:lnSpc>
                <a:spcPct val="90000"/>
              </a:lnSpc>
              <a:spcBef>
                <a:spcPts val="500"/>
              </a:spcBef>
              <a:spcAft>
                <a:spcPts val="0"/>
              </a:spcAft>
              <a:buClr>
                <a:schemeClr val="dk1"/>
              </a:buClr>
              <a:buSzPts val="1867"/>
              <a:buChar char="•"/>
            </a:pPr>
            <a:r>
              <a:rPr lang="en-US" sz="1867"/>
              <a:t>The protocol used by SCP/SFTP has a fundamental flaw that limits WAN performance </a:t>
            </a:r>
            <a:endParaRPr/>
          </a:p>
          <a:p>
            <a:pPr indent="-228600" lvl="1" marL="685800" rtl="0" algn="l">
              <a:lnSpc>
                <a:spcPct val="90000"/>
              </a:lnSpc>
              <a:spcBef>
                <a:spcPts val="500"/>
              </a:spcBef>
              <a:spcAft>
                <a:spcPts val="0"/>
              </a:spcAft>
              <a:buClr>
                <a:schemeClr val="dk1"/>
              </a:buClr>
              <a:buSzPts val="1867"/>
              <a:buChar char="•"/>
            </a:pPr>
            <a:r>
              <a:rPr lang="en-US" sz="1867"/>
              <a:t>CPU speed doesn’t matter – latency matters</a:t>
            </a:r>
            <a:endParaRPr/>
          </a:p>
          <a:p>
            <a:pPr indent="-228600" lvl="1" marL="685800" rtl="0" algn="l">
              <a:lnSpc>
                <a:spcPct val="90000"/>
              </a:lnSpc>
              <a:spcBef>
                <a:spcPts val="500"/>
              </a:spcBef>
              <a:spcAft>
                <a:spcPts val="0"/>
              </a:spcAft>
              <a:buClr>
                <a:schemeClr val="dk1"/>
              </a:buClr>
              <a:buSzPts val="1867"/>
              <a:buChar char="•"/>
            </a:pPr>
            <a:r>
              <a:rPr lang="en-US" sz="1867"/>
              <a:t>Fixed-size buffers reduce performance as latency increases</a:t>
            </a:r>
            <a:endParaRPr/>
          </a:p>
          <a:p>
            <a:pPr indent="-228600" lvl="1" marL="685800" rtl="0" algn="l">
              <a:lnSpc>
                <a:spcPct val="90000"/>
              </a:lnSpc>
              <a:spcBef>
                <a:spcPts val="500"/>
              </a:spcBef>
              <a:spcAft>
                <a:spcPts val="0"/>
              </a:spcAft>
              <a:buClr>
                <a:schemeClr val="dk1"/>
              </a:buClr>
              <a:buSzPts val="1867"/>
              <a:buChar char="•"/>
            </a:pPr>
            <a:r>
              <a:rPr lang="en-US" sz="1867"/>
              <a:t>It doesn’t matter how easy it is to use SCP and SFTP – they simply do not perform</a:t>
            </a:r>
            <a:endParaRPr/>
          </a:p>
          <a:p>
            <a:pPr indent="-228600" lvl="0" marL="228600" rtl="0" algn="l">
              <a:lnSpc>
                <a:spcPct val="90000"/>
              </a:lnSpc>
              <a:spcBef>
                <a:spcPts val="1000"/>
              </a:spcBef>
              <a:spcAft>
                <a:spcPts val="0"/>
              </a:spcAft>
              <a:buClr>
                <a:schemeClr val="dk1"/>
              </a:buClr>
              <a:buSzPts val="2400"/>
              <a:buChar char="•"/>
            </a:pPr>
            <a:r>
              <a:rPr lang="en-US" sz="2400"/>
              <a:t>Verdict: Do Not Use Without Performance Patches</a:t>
            </a:r>
            <a:endParaRPr/>
          </a:p>
        </p:txBody>
      </p:sp>
      <p:sp>
        <p:nvSpPr>
          <p:cNvPr id="396" name="Google Shape;396;p36"/>
          <p:cNvSpPr txBox="1"/>
          <p:nvPr>
            <p:ph idx="10" type="dt"/>
          </p:nvPr>
        </p:nvSpPr>
        <p:spPr>
          <a:xfrm>
            <a:off x="8093240" y="6613560"/>
            <a:ext cx="3972947" cy="182563"/>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US" sz="1067">
                <a:solidFill>
                  <a:srgbClr val="000000"/>
                </a:solidFill>
                <a:latin typeface="Arial"/>
                <a:ea typeface="Arial"/>
                <a:cs typeface="Arial"/>
                <a:sym typeface="Arial"/>
              </a:rPr>
              <a:t>‹#›</a:t>
            </a:fld>
            <a:r>
              <a:rPr lang="en-US" sz="1067">
                <a:solidFill>
                  <a:srgbClr val="000000"/>
                </a:solidFill>
                <a:latin typeface="Arial"/>
                <a:ea typeface="Arial"/>
                <a:cs typeface="Arial"/>
                <a:sym typeface="Arial"/>
              </a:rPr>
              <a:t> – ESnet Science Engagement (</a:t>
            </a:r>
            <a:r>
              <a:rPr lang="en-US" sz="1067" u="sng">
                <a:solidFill>
                  <a:srgbClr val="000000"/>
                </a:solidFill>
                <a:latin typeface="Arial"/>
                <a:ea typeface="Arial"/>
                <a:cs typeface="Arial"/>
                <a:sym typeface="Arial"/>
                <a:hlinkClick r:id="rId3">
                  <a:extLst>
                    <a:ext uri="{A12FA001-AC4F-418D-AE19-62706E023703}">
                      <ahyp:hlinkClr val="tx"/>
                    </a:ext>
                  </a:extLst>
                </a:hlinkClick>
              </a:rPr>
              <a:t>engage@es.net</a:t>
            </a:r>
            <a:r>
              <a:rPr lang="en-US" sz="1067">
                <a:solidFill>
                  <a:srgbClr val="000000"/>
                </a:solidFill>
                <a:latin typeface="Arial"/>
                <a:ea typeface="Arial"/>
                <a:cs typeface="Arial"/>
                <a:sym typeface="Arial"/>
              </a:rPr>
              <a:t>) - 5/12/2024</a:t>
            </a:r>
            <a:endParaRPr sz="1067">
              <a:solidFill>
                <a:srgbClr val="000000"/>
              </a:solidFill>
              <a:latin typeface="Arial"/>
              <a:ea typeface="Arial"/>
              <a:cs typeface="Arial"/>
              <a:sym typeface="Arial"/>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1" name="Shape 401"/>
        <p:cNvGrpSpPr/>
        <p:nvPr/>
      </p:nvGrpSpPr>
      <p:grpSpPr>
        <a:xfrm>
          <a:off x="0" y="0"/>
          <a:ext cx="0" cy="0"/>
          <a:chOff x="0" y="0"/>
          <a:chExt cx="0" cy="0"/>
        </a:xfrm>
      </p:grpSpPr>
      <p:sp>
        <p:nvSpPr>
          <p:cNvPr id="402" name="Google Shape;402;p3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5333"/>
              <a:buFont typeface="Calibri"/>
              <a:buNone/>
            </a:pPr>
            <a:r>
              <a:rPr lang="en-US" sz="5333"/>
              <a:t>A Fix For scp/sftp</a:t>
            </a:r>
            <a:endParaRPr sz="5333"/>
          </a:p>
        </p:txBody>
      </p:sp>
      <p:sp>
        <p:nvSpPr>
          <p:cNvPr id="403" name="Google Shape;403;p37"/>
          <p:cNvSpPr txBox="1"/>
          <p:nvPr>
            <p:ph idx="1" type="body"/>
          </p:nvPr>
        </p:nvSpPr>
        <p:spPr>
          <a:xfrm>
            <a:off x="609600" y="1600202"/>
            <a:ext cx="4611648" cy="4082463"/>
          </a:xfrm>
          <a:prstGeom prst="rect">
            <a:avLst/>
          </a:prstGeom>
          <a:noFill/>
          <a:ln>
            <a:noFill/>
          </a:ln>
        </p:spPr>
        <p:txBody>
          <a:bodyPr anchorCtr="0" anchor="t" bIns="45700" lIns="91425" spcFirstLastPara="1" rIns="91425" wrap="square" tIns="45700">
            <a:normAutofit fontScale="92500" lnSpcReduction="10000"/>
          </a:bodyPr>
          <a:lstStyle/>
          <a:p>
            <a:pPr indent="-228600" lvl="0" marL="228600" rtl="0" algn="l">
              <a:lnSpc>
                <a:spcPct val="90000"/>
              </a:lnSpc>
              <a:spcBef>
                <a:spcPts val="0"/>
              </a:spcBef>
              <a:spcAft>
                <a:spcPts val="0"/>
              </a:spcAft>
              <a:buClr>
                <a:schemeClr val="dk1"/>
              </a:buClr>
              <a:buSzPct val="100000"/>
              <a:buFont typeface="Arial"/>
              <a:buChar char="•"/>
            </a:pPr>
            <a:r>
              <a:rPr lang="en-US" sz="3200"/>
              <a:t>PSC has a patch set that fixes problems with SSH</a:t>
            </a:r>
            <a:endParaRPr/>
          </a:p>
          <a:p>
            <a:pPr indent="-228600" lvl="1" marL="685800" rtl="0" algn="l">
              <a:lnSpc>
                <a:spcPct val="90000"/>
              </a:lnSpc>
              <a:spcBef>
                <a:spcPts val="500"/>
              </a:spcBef>
              <a:spcAft>
                <a:spcPts val="0"/>
              </a:spcAft>
              <a:buClr>
                <a:schemeClr val="dk1"/>
              </a:buClr>
              <a:buSzPct val="100000"/>
              <a:buFont typeface="Merriweather Sans"/>
              <a:buChar char="-"/>
            </a:pPr>
            <a:r>
              <a:rPr lang="en-US" u="sng">
                <a:solidFill>
                  <a:schemeClr val="hlink"/>
                </a:solidFill>
                <a:hlinkClick r:id="rId3"/>
              </a:rPr>
              <a:t>http://www.psc.edu/networking/projects/hpn-ssh/</a:t>
            </a:r>
            <a:r>
              <a:rPr lang="en-US"/>
              <a:t> </a:t>
            </a:r>
            <a:endParaRPr/>
          </a:p>
          <a:p>
            <a:pPr indent="-228600" lvl="0" marL="228600" rtl="0" algn="l">
              <a:lnSpc>
                <a:spcPct val="90000"/>
              </a:lnSpc>
              <a:spcBef>
                <a:spcPts val="1000"/>
              </a:spcBef>
              <a:spcAft>
                <a:spcPts val="0"/>
              </a:spcAft>
              <a:buClr>
                <a:schemeClr val="dk1"/>
              </a:buClr>
              <a:buSzPct val="100000"/>
              <a:buFont typeface="Arial"/>
              <a:buChar char="•"/>
            </a:pPr>
            <a:r>
              <a:rPr lang="en-US" sz="3200"/>
              <a:t>Significant performance increase (allows the TCP window to open up if the host is tuned)</a:t>
            </a:r>
            <a:endParaRPr/>
          </a:p>
          <a:p>
            <a:pPr indent="-228600" lvl="0" marL="228600" rtl="0" algn="l">
              <a:lnSpc>
                <a:spcPct val="90000"/>
              </a:lnSpc>
              <a:spcBef>
                <a:spcPts val="1000"/>
              </a:spcBef>
              <a:spcAft>
                <a:spcPts val="0"/>
              </a:spcAft>
              <a:buClr>
                <a:schemeClr val="dk1"/>
              </a:buClr>
              <a:buSzPct val="100000"/>
              <a:buFont typeface="Arial"/>
              <a:buChar char="•"/>
            </a:pPr>
            <a:r>
              <a:rPr lang="en-US" sz="3200"/>
              <a:t>Advantage – this helps rsync too</a:t>
            </a:r>
            <a:endParaRPr/>
          </a:p>
        </p:txBody>
      </p:sp>
      <p:sp>
        <p:nvSpPr>
          <p:cNvPr id="404" name="Google Shape;404;p37"/>
          <p:cNvSpPr txBox="1"/>
          <p:nvPr>
            <p:ph idx="10" type="dt"/>
          </p:nvPr>
        </p:nvSpPr>
        <p:spPr>
          <a:xfrm>
            <a:off x="8093240" y="6613560"/>
            <a:ext cx="3972947" cy="182563"/>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US" sz="1067">
                <a:solidFill>
                  <a:srgbClr val="000000"/>
                </a:solidFill>
                <a:latin typeface="Arial"/>
                <a:ea typeface="Arial"/>
                <a:cs typeface="Arial"/>
                <a:sym typeface="Arial"/>
              </a:rPr>
              <a:t>‹#›</a:t>
            </a:fld>
            <a:r>
              <a:rPr lang="en-US" sz="1067">
                <a:solidFill>
                  <a:srgbClr val="000000"/>
                </a:solidFill>
                <a:latin typeface="Arial"/>
                <a:ea typeface="Arial"/>
                <a:cs typeface="Arial"/>
                <a:sym typeface="Arial"/>
              </a:rPr>
              <a:t> – ESnet Science Engagement (</a:t>
            </a:r>
            <a:r>
              <a:rPr lang="en-US" sz="1067" u="sng">
                <a:solidFill>
                  <a:srgbClr val="000000"/>
                </a:solidFill>
                <a:latin typeface="Arial"/>
                <a:ea typeface="Arial"/>
                <a:cs typeface="Arial"/>
                <a:sym typeface="Arial"/>
                <a:hlinkClick r:id="rId4">
                  <a:extLst>
                    <a:ext uri="{A12FA001-AC4F-418D-AE19-62706E023703}">
                      <ahyp:hlinkClr val="tx"/>
                    </a:ext>
                  </a:extLst>
                </a:hlinkClick>
              </a:rPr>
              <a:t>engage@es.net</a:t>
            </a:r>
            <a:r>
              <a:rPr lang="en-US" sz="1067">
                <a:solidFill>
                  <a:srgbClr val="000000"/>
                </a:solidFill>
                <a:latin typeface="Arial"/>
                <a:ea typeface="Arial"/>
                <a:cs typeface="Arial"/>
                <a:sym typeface="Arial"/>
              </a:rPr>
              <a:t>) - 5/12/2024</a:t>
            </a:r>
            <a:endParaRPr sz="1067">
              <a:solidFill>
                <a:srgbClr val="000000"/>
              </a:solidFill>
              <a:latin typeface="Arial"/>
              <a:ea typeface="Arial"/>
              <a:cs typeface="Arial"/>
              <a:sym typeface="Arial"/>
            </a:endParaRPr>
          </a:p>
        </p:txBody>
      </p:sp>
      <p:pic>
        <p:nvPicPr>
          <p:cNvPr descr="bdp-v-ssh-win" id="405" name="Google Shape;405;p37"/>
          <p:cNvPicPr preferRelativeResize="0"/>
          <p:nvPr/>
        </p:nvPicPr>
        <p:blipFill rotWithShape="1">
          <a:blip r:embed="rId5">
            <a:alphaModFix/>
          </a:blip>
          <a:srcRect b="0" l="0" r="0" t="0"/>
          <a:stretch/>
        </p:blipFill>
        <p:spPr>
          <a:xfrm>
            <a:off x="5221247" y="1313038"/>
            <a:ext cx="3949455" cy="3035545"/>
          </a:xfrm>
          <a:prstGeom prst="rect">
            <a:avLst/>
          </a:prstGeom>
          <a:noFill/>
          <a:ln>
            <a:noFill/>
          </a:ln>
        </p:spPr>
      </p:pic>
      <p:pic>
        <p:nvPicPr>
          <p:cNvPr descr="hpn-v-ssh-tput" id="406" name="Google Shape;406;p37"/>
          <p:cNvPicPr preferRelativeResize="0"/>
          <p:nvPr/>
        </p:nvPicPr>
        <p:blipFill rotWithShape="1">
          <a:blip r:embed="rId6">
            <a:alphaModFix/>
          </a:blip>
          <a:srcRect b="0" l="0" r="0" t="0"/>
          <a:stretch/>
        </p:blipFill>
        <p:spPr>
          <a:xfrm>
            <a:off x="7859325" y="3912443"/>
            <a:ext cx="4332676" cy="2945556"/>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1" name="Shape 411"/>
        <p:cNvGrpSpPr/>
        <p:nvPr/>
      </p:nvGrpSpPr>
      <p:grpSpPr>
        <a:xfrm>
          <a:off x="0" y="0"/>
          <a:ext cx="0" cy="0"/>
          <a:chOff x="0" y="0"/>
          <a:chExt cx="0" cy="0"/>
        </a:xfrm>
      </p:grpSpPr>
      <p:sp>
        <p:nvSpPr>
          <p:cNvPr id="412" name="Google Shape;412;p3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5333"/>
              <a:buFont typeface="Calibri"/>
              <a:buNone/>
            </a:pPr>
            <a:r>
              <a:rPr lang="en-US" sz="5333"/>
              <a:t>sftp</a:t>
            </a:r>
            <a:endParaRPr sz="5333"/>
          </a:p>
        </p:txBody>
      </p:sp>
      <p:sp>
        <p:nvSpPr>
          <p:cNvPr id="413" name="Google Shape;413;p38"/>
          <p:cNvSpPr txBox="1"/>
          <p:nvPr>
            <p:ph idx="1" type="body"/>
          </p:nvPr>
        </p:nvSpPr>
        <p:spPr>
          <a:xfrm>
            <a:off x="838200" y="1825625"/>
            <a:ext cx="10515600" cy="3996677"/>
          </a:xfrm>
          <a:prstGeom prst="rect">
            <a:avLst/>
          </a:prstGeom>
          <a:noFill/>
          <a:ln>
            <a:noFill/>
          </a:ln>
        </p:spPr>
        <p:txBody>
          <a:bodyPr anchorCtr="0" anchor="t" bIns="45700" lIns="91425" spcFirstLastPara="1" rIns="91425" wrap="square" tIns="45700">
            <a:normAutofit fontScale="92500" lnSpcReduction="10000"/>
          </a:bodyPr>
          <a:lstStyle/>
          <a:p>
            <a:pPr indent="-228600" lvl="0" marL="228600" rtl="0" algn="l">
              <a:lnSpc>
                <a:spcPct val="90000"/>
              </a:lnSpc>
              <a:spcBef>
                <a:spcPts val="0"/>
              </a:spcBef>
              <a:spcAft>
                <a:spcPts val="0"/>
              </a:spcAft>
              <a:buClr>
                <a:schemeClr val="dk1"/>
              </a:buClr>
              <a:buSzPct val="100000"/>
              <a:buChar char="•"/>
            </a:pPr>
            <a:r>
              <a:rPr lang="en-US"/>
              <a:t>Uses same code as scp, so don't use sftp WAN transfers unless you have installed the HPN patch from PSC</a:t>
            </a:r>
            <a:endParaRPr/>
          </a:p>
          <a:p>
            <a:pPr indent="-228600" lvl="0" marL="228600" rtl="0" algn="l">
              <a:lnSpc>
                <a:spcPct val="90000"/>
              </a:lnSpc>
              <a:spcBef>
                <a:spcPts val="1000"/>
              </a:spcBef>
              <a:spcAft>
                <a:spcPts val="0"/>
              </a:spcAft>
              <a:buClr>
                <a:schemeClr val="dk1"/>
              </a:buClr>
              <a:buSzPct val="100000"/>
              <a:buChar char="•"/>
            </a:pPr>
            <a:r>
              <a:rPr lang="en-US"/>
              <a:t>But even with the patch, SFTP has yet another flow control mechanism </a:t>
            </a:r>
            <a:endParaRPr/>
          </a:p>
          <a:p>
            <a:pPr indent="-228600" lvl="1" marL="685800" rtl="0" algn="l">
              <a:lnSpc>
                <a:spcPct val="90000"/>
              </a:lnSpc>
              <a:spcBef>
                <a:spcPts val="500"/>
              </a:spcBef>
              <a:spcAft>
                <a:spcPts val="0"/>
              </a:spcAft>
              <a:buClr>
                <a:schemeClr val="dk1"/>
              </a:buClr>
              <a:buSzPct val="100000"/>
              <a:buChar char="•"/>
            </a:pPr>
            <a:r>
              <a:rPr lang="en-US"/>
              <a:t>By default, sftp limits the total number of outstanding messages to 16 32KB messages. </a:t>
            </a:r>
            <a:endParaRPr/>
          </a:p>
          <a:p>
            <a:pPr indent="-228600" lvl="1" marL="685800" rtl="0" algn="l">
              <a:lnSpc>
                <a:spcPct val="90000"/>
              </a:lnSpc>
              <a:spcBef>
                <a:spcPts val="500"/>
              </a:spcBef>
              <a:spcAft>
                <a:spcPts val="0"/>
              </a:spcAft>
              <a:buClr>
                <a:schemeClr val="dk1"/>
              </a:buClr>
              <a:buSzPct val="100000"/>
              <a:buChar char="•"/>
            </a:pPr>
            <a:r>
              <a:rPr lang="en-US"/>
              <a:t>Since each datagram is a distinct message you end up with a 512KB outstanding data limit. </a:t>
            </a:r>
            <a:endParaRPr/>
          </a:p>
          <a:p>
            <a:pPr indent="-228600" lvl="1" marL="685800" rtl="0" algn="l">
              <a:lnSpc>
                <a:spcPct val="90000"/>
              </a:lnSpc>
              <a:spcBef>
                <a:spcPts val="500"/>
              </a:spcBef>
              <a:spcAft>
                <a:spcPts val="0"/>
              </a:spcAft>
              <a:buClr>
                <a:schemeClr val="dk1"/>
              </a:buClr>
              <a:buSzPct val="100000"/>
              <a:buChar char="•"/>
            </a:pPr>
            <a:r>
              <a:rPr lang="en-US"/>
              <a:t>You can increase both the number of outstanding messages ('-R') and the size of the message ('-B') from the command line though.</a:t>
            </a:r>
            <a:endParaRPr/>
          </a:p>
          <a:p>
            <a:pPr indent="-228600" lvl="0" marL="228600" rtl="0" algn="l">
              <a:lnSpc>
                <a:spcPct val="90000"/>
              </a:lnSpc>
              <a:spcBef>
                <a:spcPts val="1000"/>
              </a:spcBef>
              <a:spcAft>
                <a:spcPts val="0"/>
              </a:spcAft>
              <a:buClr>
                <a:schemeClr val="dk1"/>
              </a:buClr>
              <a:buSzPct val="100000"/>
              <a:buChar char="•"/>
            </a:pPr>
            <a:r>
              <a:rPr lang="en-US"/>
              <a:t>Sample command for a 128MB window:</a:t>
            </a:r>
            <a:endParaRPr/>
          </a:p>
          <a:p>
            <a:pPr indent="-228600" lvl="1" marL="685800" rtl="0" algn="l">
              <a:lnSpc>
                <a:spcPct val="90000"/>
              </a:lnSpc>
              <a:spcBef>
                <a:spcPts val="500"/>
              </a:spcBef>
              <a:spcAft>
                <a:spcPts val="0"/>
              </a:spcAft>
              <a:buClr>
                <a:schemeClr val="dk1"/>
              </a:buClr>
              <a:buSzPct val="100000"/>
              <a:buChar char="•"/>
            </a:pPr>
            <a:r>
              <a:rPr lang="en-US"/>
              <a:t>sftp -R 512 -B 262144 user@host:/path/to/file outfile</a:t>
            </a:r>
            <a:endParaRPr/>
          </a:p>
        </p:txBody>
      </p:sp>
      <p:sp>
        <p:nvSpPr>
          <p:cNvPr id="414" name="Google Shape;414;p38"/>
          <p:cNvSpPr txBox="1"/>
          <p:nvPr>
            <p:ph idx="10" type="dt"/>
          </p:nvPr>
        </p:nvSpPr>
        <p:spPr>
          <a:xfrm>
            <a:off x="8093240" y="6613560"/>
            <a:ext cx="3972947" cy="182563"/>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US" sz="1067">
                <a:solidFill>
                  <a:srgbClr val="000000"/>
                </a:solidFill>
                <a:latin typeface="Arial"/>
                <a:ea typeface="Arial"/>
                <a:cs typeface="Arial"/>
                <a:sym typeface="Arial"/>
              </a:rPr>
              <a:t>‹#›</a:t>
            </a:fld>
            <a:r>
              <a:rPr lang="en-US" sz="1067">
                <a:solidFill>
                  <a:srgbClr val="000000"/>
                </a:solidFill>
                <a:latin typeface="Arial"/>
                <a:ea typeface="Arial"/>
                <a:cs typeface="Arial"/>
                <a:sym typeface="Arial"/>
              </a:rPr>
              <a:t> – ESnet Science Engagement (</a:t>
            </a:r>
            <a:r>
              <a:rPr lang="en-US" sz="1067" u="sng">
                <a:solidFill>
                  <a:srgbClr val="000000"/>
                </a:solidFill>
                <a:latin typeface="Arial"/>
                <a:ea typeface="Arial"/>
                <a:cs typeface="Arial"/>
                <a:sym typeface="Arial"/>
                <a:hlinkClick r:id="rId3">
                  <a:extLst>
                    <a:ext uri="{A12FA001-AC4F-418D-AE19-62706E023703}">
                      <ahyp:hlinkClr val="tx"/>
                    </a:ext>
                  </a:extLst>
                </a:hlinkClick>
              </a:rPr>
              <a:t>engage@es.net</a:t>
            </a:r>
            <a:r>
              <a:rPr lang="en-US" sz="1067">
                <a:solidFill>
                  <a:srgbClr val="000000"/>
                </a:solidFill>
                <a:latin typeface="Arial"/>
                <a:ea typeface="Arial"/>
                <a:cs typeface="Arial"/>
                <a:sym typeface="Arial"/>
              </a:rPr>
              <a:t>) - 5/12/2024</a:t>
            </a:r>
            <a:endParaRPr sz="1067">
              <a:solidFill>
                <a:srgbClr val="000000"/>
              </a:solidFill>
              <a:latin typeface="Arial"/>
              <a:ea typeface="Arial"/>
              <a:cs typeface="Arial"/>
              <a:sym typeface="Arial"/>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8" name="Shape 418"/>
        <p:cNvGrpSpPr/>
        <p:nvPr/>
      </p:nvGrpSpPr>
      <p:grpSpPr>
        <a:xfrm>
          <a:off x="0" y="0"/>
          <a:ext cx="0" cy="0"/>
          <a:chOff x="0" y="0"/>
          <a:chExt cx="0" cy="0"/>
        </a:xfrm>
      </p:grpSpPr>
      <p:sp>
        <p:nvSpPr>
          <p:cNvPr id="419" name="Google Shape;419;p3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5333"/>
              <a:buFont typeface="Calibri"/>
              <a:buNone/>
            </a:pPr>
            <a:r>
              <a:rPr lang="en-US" sz="5333"/>
              <a:t>Commercial Data Transfer Tools</a:t>
            </a:r>
            <a:endParaRPr/>
          </a:p>
        </p:txBody>
      </p:sp>
      <p:sp>
        <p:nvSpPr>
          <p:cNvPr id="420" name="Google Shape;420;p39"/>
          <p:cNvSpPr txBox="1"/>
          <p:nvPr>
            <p:ph idx="1" type="body"/>
          </p:nvPr>
        </p:nvSpPr>
        <p:spPr>
          <a:xfrm>
            <a:off x="838200" y="1825625"/>
            <a:ext cx="10515600" cy="3996677"/>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There are several commercial UDP-based tools</a:t>
            </a:r>
            <a:endParaRPr/>
          </a:p>
          <a:p>
            <a:pPr indent="-228600" lvl="1" marL="685800" rtl="0" algn="l">
              <a:lnSpc>
                <a:spcPct val="90000"/>
              </a:lnSpc>
              <a:spcBef>
                <a:spcPts val="500"/>
              </a:spcBef>
              <a:spcAft>
                <a:spcPts val="0"/>
              </a:spcAft>
              <a:buClr>
                <a:schemeClr val="dk1"/>
              </a:buClr>
              <a:buSzPts val="2400"/>
              <a:buChar char="•"/>
            </a:pPr>
            <a:r>
              <a:rPr lang="en-US"/>
              <a:t>Aspera: </a:t>
            </a:r>
            <a:r>
              <a:rPr lang="en-US" u="sng">
                <a:solidFill>
                  <a:schemeClr val="hlink"/>
                </a:solidFill>
                <a:hlinkClick r:id="rId3"/>
              </a:rPr>
              <a:t>http://www.asperasoft.com/</a:t>
            </a:r>
            <a:r>
              <a:rPr lang="en-US"/>
              <a:t> </a:t>
            </a:r>
            <a:endParaRPr/>
          </a:p>
          <a:p>
            <a:pPr indent="-228600" lvl="1" marL="685800" rtl="0" algn="l">
              <a:lnSpc>
                <a:spcPct val="90000"/>
              </a:lnSpc>
              <a:spcBef>
                <a:spcPts val="500"/>
              </a:spcBef>
              <a:spcAft>
                <a:spcPts val="0"/>
              </a:spcAft>
              <a:buClr>
                <a:schemeClr val="dk1"/>
              </a:buClr>
              <a:buSzPts val="2400"/>
              <a:buChar char="•"/>
            </a:pPr>
            <a:r>
              <a:rPr lang="en-US"/>
              <a:t>Data Expedition: </a:t>
            </a:r>
            <a:r>
              <a:rPr lang="en-US" u="sng">
                <a:solidFill>
                  <a:schemeClr val="hlink"/>
                </a:solidFill>
                <a:hlinkClick r:id="rId4"/>
              </a:rPr>
              <a:t>http://www.dataexpedition.com/</a:t>
            </a:r>
            <a:r>
              <a:rPr lang="en-US"/>
              <a:t> </a:t>
            </a:r>
            <a:br>
              <a:rPr lang="en-US"/>
            </a:br>
            <a:endParaRPr/>
          </a:p>
          <a:p>
            <a:pPr indent="-228600" lvl="0" marL="228600" rtl="0" algn="l">
              <a:lnSpc>
                <a:spcPct val="90000"/>
              </a:lnSpc>
              <a:spcBef>
                <a:spcPts val="1000"/>
              </a:spcBef>
              <a:spcAft>
                <a:spcPts val="0"/>
              </a:spcAft>
              <a:buClr>
                <a:schemeClr val="dk1"/>
              </a:buClr>
              <a:buSzPts val="2800"/>
              <a:buChar char="•"/>
            </a:pPr>
            <a:r>
              <a:rPr lang="en-US"/>
              <a:t>These should all do better than TCP on a lossy path</a:t>
            </a:r>
            <a:endParaRPr/>
          </a:p>
          <a:p>
            <a:pPr indent="-228600" lvl="1" marL="685800" rtl="0" algn="l">
              <a:lnSpc>
                <a:spcPct val="90000"/>
              </a:lnSpc>
              <a:spcBef>
                <a:spcPts val="500"/>
              </a:spcBef>
              <a:spcAft>
                <a:spcPts val="0"/>
              </a:spcAft>
              <a:buClr>
                <a:schemeClr val="dk1"/>
              </a:buClr>
              <a:buSzPts val="2400"/>
              <a:buChar char="•"/>
            </a:pPr>
            <a:r>
              <a:rPr lang="en-US"/>
              <a:t>advantage of these tools less clear on an clean path</a:t>
            </a:r>
            <a:endParaRPr/>
          </a:p>
          <a:p>
            <a:pPr indent="-50800" lvl="0" marL="228600" rtl="0" algn="l">
              <a:lnSpc>
                <a:spcPct val="90000"/>
              </a:lnSpc>
              <a:spcBef>
                <a:spcPts val="1000"/>
              </a:spcBef>
              <a:spcAft>
                <a:spcPts val="0"/>
              </a:spcAft>
              <a:buClr>
                <a:schemeClr val="dk1"/>
              </a:buClr>
              <a:buSzPts val="2800"/>
              <a:buNone/>
            </a:pPr>
            <a:r>
              <a:t/>
            </a:r>
            <a:endParaRPr/>
          </a:p>
          <a:p>
            <a:pPr indent="-228600" lvl="0" marL="228600" rtl="0" algn="l">
              <a:lnSpc>
                <a:spcPct val="90000"/>
              </a:lnSpc>
              <a:spcBef>
                <a:spcPts val="1000"/>
              </a:spcBef>
              <a:spcAft>
                <a:spcPts val="0"/>
              </a:spcAft>
              <a:buClr>
                <a:schemeClr val="dk1"/>
              </a:buClr>
              <a:buSzPts val="2800"/>
              <a:buChar char="•"/>
            </a:pPr>
            <a:r>
              <a:rPr lang="en-US"/>
              <a:t>They all have different, fairly complicated pricing models</a:t>
            </a:r>
            <a:endParaRPr/>
          </a:p>
          <a:p>
            <a:pPr indent="-50800" lvl="0" marL="228600" rtl="0" algn="l">
              <a:lnSpc>
                <a:spcPct val="90000"/>
              </a:lnSpc>
              <a:spcBef>
                <a:spcPts val="1000"/>
              </a:spcBef>
              <a:spcAft>
                <a:spcPts val="0"/>
              </a:spcAft>
              <a:buClr>
                <a:schemeClr val="dk1"/>
              </a:buClr>
              <a:buSzPts val="2800"/>
              <a:buNone/>
            </a:pPr>
            <a:r>
              <a:t/>
            </a:r>
            <a:endParaRPr/>
          </a:p>
          <a:p>
            <a:pPr indent="-50800" lvl="0" marL="228600" rtl="0" algn="l">
              <a:lnSpc>
                <a:spcPct val="90000"/>
              </a:lnSpc>
              <a:spcBef>
                <a:spcPts val="1000"/>
              </a:spcBef>
              <a:spcAft>
                <a:spcPts val="0"/>
              </a:spcAft>
              <a:buClr>
                <a:schemeClr val="dk1"/>
              </a:buClr>
              <a:buSzPts val="2800"/>
              <a:buNone/>
            </a:pPr>
            <a:r>
              <a:t/>
            </a:r>
            <a:endParaRPr/>
          </a:p>
          <a:p>
            <a:pPr indent="-50800" lvl="0" marL="228600" rtl="0" algn="l">
              <a:lnSpc>
                <a:spcPct val="90000"/>
              </a:lnSpc>
              <a:spcBef>
                <a:spcPts val="1000"/>
              </a:spcBef>
              <a:spcAft>
                <a:spcPts val="0"/>
              </a:spcAft>
              <a:buClr>
                <a:schemeClr val="dk1"/>
              </a:buClr>
              <a:buSzPts val="2800"/>
              <a:buNone/>
            </a:pPr>
            <a:r>
              <a:t/>
            </a:r>
            <a:endParaRPr/>
          </a:p>
        </p:txBody>
      </p:sp>
      <p:sp>
        <p:nvSpPr>
          <p:cNvPr id="421" name="Google Shape;421;p39"/>
          <p:cNvSpPr txBox="1"/>
          <p:nvPr>
            <p:ph idx="10" type="dt"/>
          </p:nvPr>
        </p:nvSpPr>
        <p:spPr>
          <a:xfrm>
            <a:off x="8093240" y="6613560"/>
            <a:ext cx="3972947" cy="182563"/>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US" sz="1067">
                <a:solidFill>
                  <a:srgbClr val="000000"/>
                </a:solidFill>
                <a:latin typeface="Arial"/>
                <a:ea typeface="Arial"/>
                <a:cs typeface="Arial"/>
                <a:sym typeface="Arial"/>
              </a:rPr>
              <a:t>‹#›</a:t>
            </a:fld>
            <a:r>
              <a:rPr lang="en-US" sz="1067">
                <a:solidFill>
                  <a:srgbClr val="000000"/>
                </a:solidFill>
                <a:latin typeface="Arial"/>
                <a:ea typeface="Arial"/>
                <a:cs typeface="Arial"/>
                <a:sym typeface="Arial"/>
              </a:rPr>
              <a:t> – ESnet Science Engagement (</a:t>
            </a:r>
            <a:r>
              <a:rPr lang="en-US" sz="1067" u="sng">
                <a:solidFill>
                  <a:srgbClr val="000000"/>
                </a:solidFill>
                <a:latin typeface="Arial"/>
                <a:ea typeface="Arial"/>
                <a:cs typeface="Arial"/>
                <a:sym typeface="Arial"/>
                <a:hlinkClick r:id="rId5">
                  <a:extLst>
                    <a:ext uri="{A12FA001-AC4F-418D-AE19-62706E023703}">
                      <ahyp:hlinkClr val="tx"/>
                    </a:ext>
                  </a:extLst>
                </a:hlinkClick>
              </a:rPr>
              <a:t>engage@es.net</a:t>
            </a:r>
            <a:r>
              <a:rPr lang="en-US" sz="1067">
                <a:solidFill>
                  <a:srgbClr val="000000"/>
                </a:solidFill>
                <a:latin typeface="Arial"/>
                <a:ea typeface="Arial"/>
                <a:cs typeface="Arial"/>
                <a:sym typeface="Arial"/>
              </a:rPr>
              <a:t>) - 5/12/2024</a:t>
            </a:r>
            <a:endParaRPr sz="1067">
              <a:solidFill>
                <a:srgbClr val="000000"/>
              </a:solidFill>
              <a:latin typeface="Arial"/>
              <a:ea typeface="Arial"/>
              <a:cs typeface="Arial"/>
              <a:sym typeface="Arial"/>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6" name="Shape 426"/>
        <p:cNvGrpSpPr/>
        <p:nvPr/>
      </p:nvGrpSpPr>
      <p:grpSpPr>
        <a:xfrm>
          <a:off x="0" y="0"/>
          <a:ext cx="0" cy="0"/>
          <a:chOff x="0" y="0"/>
          <a:chExt cx="0" cy="0"/>
        </a:xfrm>
      </p:grpSpPr>
      <p:sp>
        <p:nvSpPr>
          <p:cNvPr id="427" name="Google Shape;427;p4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5333"/>
              <a:buFont typeface="Calibri"/>
              <a:buNone/>
            </a:pPr>
            <a:r>
              <a:rPr lang="en-US" sz="5333"/>
              <a:t>GridFTP</a:t>
            </a:r>
            <a:endParaRPr sz="5333"/>
          </a:p>
        </p:txBody>
      </p:sp>
      <p:sp>
        <p:nvSpPr>
          <p:cNvPr id="428" name="Google Shape;428;p40"/>
          <p:cNvSpPr txBox="1"/>
          <p:nvPr>
            <p:ph idx="1" type="body"/>
          </p:nvPr>
        </p:nvSpPr>
        <p:spPr>
          <a:xfrm>
            <a:off x="609600" y="1189183"/>
            <a:ext cx="10972800" cy="4936981"/>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GridFTP from ANL has features needed to fill the network pipe</a:t>
            </a:r>
            <a:endParaRPr/>
          </a:p>
          <a:p>
            <a:pPr indent="-228600" lvl="1" marL="685800" rtl="0" algn="l">
              <a:lnSpc>
                <a:spcPct val="90000"/>
              </a:lnSpc>
              <a:spcBef>
                <a:spcPts val="500"/>
              </a:spcBef>
              <a:spcAft>
                <a:spcPts val="0"/>
              </a:spcAft>
              <a:buClr>
                <a:schemeClr val="dk1"/>
              </a:buClr>
              <a:buSzPts val="2400"/>
              <a:buChar char="•"/>
            </a:pPr>
            <a:r>
              <a:rPr lang="en-US"/>
              <a:t>Buffer Tuning</a:t>
            </a:r>
            <a:endParaRPr/>
          </a:p>
          <a:p>
            <a:pPr indent="-228600" lvl="1" marL="685800" rtl="0" algn="l">
              <a:lnSpc>
                <a:spcPct val="90000"/>
              </a:lnSpc>
              <a:spcBef>
                <a:spcPts val="500"/>
              </a:spcBef>
              <a:spcAft>
                <a:spcPts val="0"/>
              </a:spcAft>
              <a:buClr>
                <a:schemeClr val="dk1"/>
              </a:buClr>
              <a:buSzPts val="2400"/>
              <a:buChar char="•"/>
            </a:pPr>
            <a:r>
              <a:rPr lang="en-US"/>
              <a:t>Parallel Streams</a:t>
            </a:r>
            <a:endParaRPr/>
          </a:p>
          <a:p>
            <a:pPr indent="-228600" lvl="0" marL="228600" rtl="0" algn="l">
              <a:lnSpc>
                <a:spcPct val="90000"/>
              </a:lnSpc>
              <a:spcBef>
                <a:spcPts val="1000"/>
              </a:spcBef>
              <a:spcAft>
                <a:spcPts val="0"/>
              </a:spcAft>
              <a:buClr>
                <a:schemeClr val="dk1"/>
              </a:buClr>
              <a:buSzPts val="2800"/>
              <a:buChar char="•"/>
            </a:pPr>
            <a:r>
              <a:rPr lang="en-US"/>
              <a:t>Supports multiple authentication options</a:t>
            </a:r>
            <a:endParaRPr/>
          </a:p>
          <a:p>
            <a:pPr indent="-228600" lvl="1" marL="685800" rtl="0" algn="l">
              <a:lnSpc>
                <a:spcPct val="90000"/>
              </a:lnSpc>
              <a:spcBef>
                <a:spcPts val="500"/>
              </a:spcBef>
              <a:spcAft>
                <a:spcPts val="0"/>
              </a:spcAft>
              <a:buClr>
                <a:schemeClr val="dk1"/>
              </a:buClr>
              <a:buSzPts val="2400"/>
              <a:buChar char="•"/>
            </a:pPr>
            <a:r>
              <a:rPr lang="en-US"/>
              <a:t>Anonymous</a:t>
            </a:r>
            <a:endParaRPr/>
          </a:p>
          <a:p>
            <a:pPr indent="-228600" lvl="1" marL="685800" rtl="0" algn="l">
              <a:lnSpc>
                <a:spcPct val="90000"/>
              </a:lnSpc>
              <a:spcBef>
                <a:spcPts val="500"/>
              </a:spcBef>
              <a:spcAft>
                <a:spcPts val="0"/>
              </a:spcAft>
              <a:buClr>
                <a:schemeClr val="dk1"/>
              </a:buClr>
              <a:buSzPts val="2400"/>
              <a:buChar char="•"/>
            </a:pPr>
            <a:r>
              <a:rPr lang="en-US"/>
              <a:t>ssh</a:t>
            </a:r>
            <a:endParaRPr/>
          </a:p>
          <a:p>
            <a:pPr indent="-228600" lvl="1" marL="685800" rtl="0" algn="l">
              <a:lnSpc>
                <a:spcPct val="90000"/>
              </a:lnSpc>
              <a:spcBef>
                <a:spcPts val="500"/>
              </a:spcBef>
              <a:spcAft>
                <a:spcPts val="0"/>
              </a:spcAft>
              <a:buClr>
                <a:schemeClr val="dk1"/>
              </a:buClr>
              <a:buSzPts val="2400"/>
              <a:buChar char="•"/>
            </a:pPr>
            <a:r>
              <a:rPr lang="en-US"/>
              <a:t>X509</a:t>
            </a:r>
            <a:endParaRPr/>
          </a:p>
          <a:p>
            <a:pPr indent="-228600" lvl="0" marL="228600" rtl="0" algn="l">
              <a:lnSpc>
                <a:spcPct val="90000"/>
              </a:lnSpc>
              <a:spcBef>
                <a:spcPts val="1000"/>
              </a:spcBef>
              <a:spcAft>
                <a:spcPts val="0"/>
              </a:spcAft>
              <a:buClr>
                <a:schemeClr val="dk1"/>
              </a:buClr>
              <a:buSzPts val="2800"/>
              <a:buChar char="•"/>
            </a:pPr>
            <a:r>
              <a:rPr lang="en-US"/>
              <a:t>Ability to define a range of data ports</a:t>
            </a:r>
            <a:endParaRPr/>
          </a:p>
          <a:p>
            <a:pPr indent="-228600" lvl="1" marL="685800" rtl="0" algn="l">
              <a:lnSpc>
                <a:spcPct val="90000"/>
              </a:lnSpc>
              <a:spcBef>
                <a:spcPts val="500"/>
              </a:spcBef>
              <a:spcAft>
                <a:spcPts val="0"/>
              </a:spcAft>
              <a:buClr>
                <a:schemeClr val="dk1"/>
              </a:buClr>
              <a:buSzPts val="2400"/>
              <a:buChar char="•"/>
            </a:pPr>
            <a:r>
              <a:rPr lang="en-US"/>
              <a:t>helpful to get through firewalls</a:t>
            </a:r>
            <a:endParaRPr/>
          </a:p>
          <a:p>
            <a:pPr indent="-228600" lvl="0" marL="228600" rtl="0" algn="l">
              <a:lnSpc>
                <a:spcPct val="90000"/>
              </a:lnSpc>
              <a:spcBef>
                <a:spcPts val="1000"/>
              </a:spcBef>
              <a:spcAft>
                <a:spcPts val="0"/>
              </a:spcAft>
              <a:buClr>
                <a:schemeClr val="dk1"/>
              </a:buClr>
              <a:buSzPts val="2800"/>
              <a:buChar char="•"/>
            </a:pPr>
            <a:r>
              <a:rPr lang="en-US"/>
              <a:t>Partnership with ESnet and Globus Online to support Globus Online for use in Science DMZs</a:t>
            </a:r>
            <a:endParaRPr/>
          </a:p>
        </p:txBody>
      </p:sp>
      <p:sp>
        <p:nvSpPr>
          <p:cNvPr id="429" name="Google Shape;429;p40"/>
          <p:cNvSpPr txBox="1"/>
          <p:nvPr>
            <p:ph idx="10" type="dt"/>
          </p:nvPr>
        </p:nvSpPr>
        <p:spPr>
          <a:xfrm>
            <a:off x="8093240" y="6613560"/>
            <a:ext cx="3972947" cy="182563"/>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US" sz="1067">
                <a:solidFill>
                  <a:srgbClr val="000000"/>
                </a:solidFill>
                <a:latin typeface="Arial"/>
                <a:ea typeface="Arial"/>
                <a:cs typeface="Arial"/>
                <a:sym typeface="Arial"/>
              </a:rPr>
              <a:t>‹#›</a:t>
            </a:fld>
            <a:r>
              <a:rPr lang="en-US" sz="1067">
                <a:solidFill>
                  <a:srgbClr val="000000"/>
                </a:solidFill>
                <a:latin typeface="Arial"/>
                <a:ea typeface="Arial"/>
                <a:cs typeface="Arial"/>
                <a:sym typeface="Arial"/>
              </a:rPr>
              <a:t> – ESnet Science Engagement (</a:t>
            </a:r>
            <a:r>
              <a:rPr lang="en-US" sz="1067" u="sng">
                <a:solidFill>
                  <a:srgbClr val="000000"/>
                </a:solidFill>
                <a:latin typeface="Arial"/>
                <a:ea typeface="Arial"/>
                <a:cs typeface="Arial"/>
                <a:sym typeface="Arial"/>
                <a:hlinkClick r:id="rId3">
                  <a:extLst>
                    <a:ext uri="{A12FA001-AC4F-418D-AE19-62706E023703}">
                      <ahyp:hlinkClr val="tx"/>
                    </a:ext>
                  </a:extLst>
                </a:hlinkClick>
              </a:rPr>
              <a:t>engage@es.net</a:t>
            </a:r>
            <a:r>
              <a:rPr lang="en-US" sz="1067">
                <a:solidFill>
                  <a:srgbClr val="000000"/>
                </a:solidFill>
                <a:latin typeface="Arial"/>
                <a:ea typeface="Arial"/>
                <a:cs typeface="Arial"/>
                <a:sym typeface="Arial"/>
              </a:rPr>
              <a:t>) - 5/12/2024</a:t>
            </a:r>
            <a:endParaRPr sz="1067">
              <a:solidFill>
                <a:srgbClr val="000000"/>
              </a:solidFill>
              <a:latin typeface="Arial"/>
              <a:ea typeface="Arial"/>
              <a:cs typeface="Arial"/>
              <a:sym typeface="Arial"/>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4" name="Shape 434"/>
        <p:cNvGrpSpPr/>
        <p:nvPr/>
      </p:nvGrpSpPr>
      <p:grpSpPr>
        <a:xfrm>
          <a:off x="0" y="0"/>
          <a:ext cx="0" cy="0"/>
          <a:chOff x="0" y="0"/>
          <a:chExt cx="0" cy="0"/>
        </a:xfrm>
      </p:grpSpPr>
      <p:sp>
        <p:nvSpPr>
          <p:cNvPr id="435" name="Google Shape;435;p41"/>
          <p:cNvSpPr txBox="1"/>
          <p:nvPr>
            <p:ph idx="10" type="dt"/>
          </p:nvPr>
        </p:nvSpPr>
        <p:spPr>
          <a:xfrm>
            <a:off x="8093240" y="6613560"/>
            <a:ext cx="3972947" cy="182563"/>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US" sz="1067">
                <a:solidFill>
                  <a:srgbClr val="000000"/>
                </a:solidFill>
                <a:latin typeface="Arial"/>
                <a:ea typeface="Arial"/>
                <a:cs typeface="Arial"/>
                <a:sym typeface="Arial"/>
              </a:rPr>
              <a:t>‹#›</a:t>
            </a:fld>
            <a:r>
              <a:rPr lang="en-US" sz="1067">
                <a:solidFill>
                  <a:srgbClr val="000000"/>
                </a:solidFill>
                <a:latin typeface="Arial"/>
                <a:ea typeface="Arial"/>
                <a:cs typeface="Arial"/>
                <a:sym typeface="Arial"/>
              </a:rPr>
              <a:t> – ESnet Science Engagement (</a:t>
            </a:r>
            <a:r>
              <a:rPr lang="en-US" sz="1067" u="sng">
                <a:solidFill>
                  <a:srgbClr val="000000"/>
                </a:solidFill>
                <a:latin typeface="Arial"/>
                <a:ea typeface="Arial"/>
                <a:cs typeface="Arial"/>
                <a:sym typeface="Arial"/>
                <a:hlinkClick r:id="rId3">
                  <a:extLst>
                    <a:ext uri="{A12FA001-AC4F-418D-AE19-62706E023703}">
                      <ahyp:hlinkClr val="tx"/>
                    </a:ext>
                  </a:extLst>
                </a:hlinkClick>
              </a:rPr>
              <a:t>engage@es.net</a:t>
            </a:r>
            <a:r>
              <a:rPr lang="en-US" sz="1067">
                <a:solidFill>
                  <a:srgbClr val="000000"/>
                </a:solidFill>
                <a:latin typeface="Arial"/>
                <a:ea typeface="Arial"/>
                <a:cs typeface="Arial"/>
                <a:sym typeface="Arial"/>
              </a:rPr>
              <a:t>) - 5/12/2024</a:t>
            </a:r>
            <a:endParaRPr sz="1067">
              <a:solidFill>
                <a:srgbClr val="000000"/>
              </a:solidFill>
              <a:latin typeface="Arial"/>
              <a:ea typeface="Arial"/>
              <a:cs typeface="Arial"/>
              <a:sym typeface="Arial"/>
            </a:endParaRPr>
          </a:p>
        </p:txBody>
      </p:sp>
      <p:pic>
        <p:nvPicPr>
          <p:cNvPr descr="globus-workflow-v8.pdf" id="436" name="Google Shape;436;p41"/>
          <p:cNvPicPr preferRelativeResize="0"/>
          <p:nvPr/>
        </p:nvPicPr>
        <p:blipFill rotWithShape="1">
          <a:blip r:embed="rId4">
            <a:alphaModFix/>
          </a:blip>
          <a:srcRect b="0" l="0" r="0" t="0"/>
          <a:stretch/>
        </p:blipFill>
        <p:spPr>
          <a:xfrm>
            <a:off x="-2527988" y="-3838163"/>
            <a:ext cx="17655099" cy="13647636"/>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1" name="Shape 441"/>
        <p:cNvGrpSpPr/>
        <p:nvPr/>
      </p:nvGrpSpPr>
      <p:grpSpPr>
        <a:xfrm>
          <a:off x="0" y="0"/>
          <a:ext cx="0" cy="0"/>
          <a:chOff x="0" y="0"/>
          <a:chExt cx="0" cy="0"/>
        </a:xfrm>
      </p:grpSpPr>
      <p:sp>
        <p:nvSpPr>
          <p:cNvPr id="442" name="Google Shape;442;p42"/>
          <p:cNvSpPr txBox="1"/>
          <p:nvPr>
            <p:ph idx="10" type="dt"/>
          </p:nvPr>
        </p:nvSpPr>
        <p:spPr>
          <a:xfrm>
            <a:off x="8093240" y="6613560"/>
            <a:ext cx="3972947" cy="182563"/>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US" sz="1067">
                <a:solidFill>
                  <a:srgbClr val="000000"/>
                </a:solidFill>
                <a:latin typeface="Arial"/>
                <a:ea typeface="Arial"/>
                <a:cs typeface="Arial"/>
                <a:sym typeface="Arial"/>
              </a:rPr>
              <a:t>‹#›</a:t>
            </a:fld>
            <a:r>
              <a:rPr lang="en-US" sz="1067">
                <a:solidFill>
                  <a:srgbClr val="000000"/>
                </a:solidFill>
                <a:latin typeface="Arial"/>
                <a:ea typeface="Arial"/>
                <a:cs typeface="Arial"/>
                <a:sym typeface="Arial"/>
              </a:rPr>
              <a:t> – ESnet Science Engagement (</a:t>
            </a:r>
            <a:r>
              <a:rPr lang="en-US" sz="1067" u="sng">
                <a:solidFill>
                  <a:srgbClr val="000000"/>
                </a:solidFill>
                <a:latin typeface="Arial"/>
                <a:ea typeface="Arial"/>
                <a:cs typeface="Arial"/>
                <a:sym typeface="Arial"/>
                <a:hlinkClick r:id="rId3">
                  <a:extLst>
                    <a:ext uri="{A12FA001-AC4F-418D-AE19-62706E023703}">
                      <ahyp:hlinkClr val="tx"/>
                    </a:ext>
                  </a:extLst>
                </a:hlinkClick>
              </a:rPr>
              <a:t>engage@es.net</a:t>
            </a:r>
            <a:r>
              <a:rPr lang="en-US" sz="1067">
                <a:solidFill>
                  <a:srgbClr val="000000"/>
                </a:solidFill>
                <a:latin typeface="Arial"/>
                <a:ea typeface="Arial"/>
                <a:cs typeface="Arial"/>
                <a:sym typeface="Arial"/>
              </a:rPr>
              <a:t>) - 5/12/2024</a:t>
            </a:r>
            <a:endParaRPr sz="1067">
              <a:solidFill>
                <a:srgbClr val="000000"/>
              </a:solidFill>
              <a:latin typeface="Arial"/>
              <a:ea typeface="Arial"/>
              <a:cs typeface="Arial"/>
              <a:sym typeface="Arial"/>
            </a:endParaRPr>
          </a:p>
        </p:txBody>
      </p:sp>
      <p:pic>
        <p:nvPicPr>
          <p:cNvPr descr="globus-workflow-single-dtn-v8.pdf" id="443" name="Google Shape;443;p42"/>
          <p:cNvPicPr preferRelativeResize="0"/>
          <p:nvPr/>
        </p:nvPicPr>
        <p:blipFill rotWithShape="1">
          <a:blip r:embed="rId4">
            <a:alphaModFix/>
          </a:blip>
          <a:srcRect b="0" l="0" r="0" t="0"/>
          <a:stretch/>
        </p:blipFill>
        <p:spPr>
          <a:xfrm>
            <a:off x="1444976" y="-1083734"/>
            <a:ext cx="9234313" cy="7880244"/>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7" name="Shape 447"/>
        <p:cNvGrpSpPr/>
        <p:nvPr/>
      </p:nvGrpSpPr>
      <p:grpSpPr>
        <a:xfrm>
          <a:off x="0" y="0"/>
          <a:ext cx="0" cy="0"/>
          <a:chOff x="0" y="0"/>
          <a:chExt cx="0" cy="0"/>
        </a:xfrm>
      </p:grpSpPr>
      <p:sp>
        <p:nvSpPr>
          <p:cNvPr id="448" name="Google Shape;448;p4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Calibri"/>
              <a:buNone/>
            </a:pPr>
            <a:r>
              <a:rPr lang="en-US"/>
              <a:t>The End</a:t>
            </a:r>
            <a:endParaRPr/>
          </a:p>
        </p:txBody>
      </p:sp>
      <p:sp>
        <p:nvSpPr>
          <p:cNvPr id="449" name="Google Shape;449;p43"/>
          <p:cNvSpPr txBox="1"/>
          <p:nvPr>
            <p:ph idx="1" type="body"/>
          </p:nvPr>
        </p:nvSpPr>
        <p:spPr>
          <a:xfrm>
            <a:off x="838200" y="1825625"/>
            <a:ext cx="10515600" cy="3996677"/>
          </a:xfrm>
          <a:prstGeom prst="rect">
            <a:avLst/>
          </a:prstGeom>
          <a:noFill/>
          <a:ln>
            <a:noFill/>
          </a:ln>
        </p:spPr>
        <p:txBody>
          <a:bodyPr anchorCtr="0" anchor="t" bIns="45700" lIns="91425" spcFirstLastPara="1" rIns="91425" wrap="square" tIns="45700">
            <a:normAutofit/>
          </a:bodyPr>
          <a:lstStyle/>
          <a:p>
            <a:pPr indent="-50800" lvl="0" marL="228600" rtl="0" algn="l">
              <a:lnSpc>
                <a:spcPct val="90000"/>
              </a:lnSpc>
              <a:spcBef>
                <a:spcPts val="0"/>
              </a:spcBef>
              <a:spcAft>
                <a:spcPts val="0"/>
              </a:spcAft>
              <a:buClr>
                <a:schemeClr val="dk1"/>
              </a:buClr>
              <a:buSzPts val="2800"/>
              <a:buNone/>
            </a:pPr>
            <a:r>
              <a:t/>
            </a:r>
            <a:endParaRPr/>
          </a:p>
        </p:txBody>
      </p:sp>
      <p:sp>
        <p:nvSpPr>
          <p:cNvPr id="450" name="Google Shape;450;p4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5/12/2024</a:t>
            </a:r>
            <a:endParaRPr/>
          </a:p>
        </p:txBody>
      </p:sp>
      <p:sp>
        <p:nvSpPr>
          <p:cNvPr id="451" name="Google Shape;451;p4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452" name="Google Shape;452;p43"/>
          <p:cNvSpPr txBox="1"/>
          <p:nvPr>
            <p:ph idx="11" type="ftr"/>
          </p:nvPr>
        </p:nvSpPr>
        <p:spPr>
          <a:xfrm>
            <a:off x="3889310" y="6352300"/>
            <a:ext cx="434029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 2019, Engagement and Performance Operations Center (EPOC)</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2018-09-26T13:26:58Z</dcterms:created>
  <dc:creator>Jason Zurawski</dc:creator>
</cp:coreProperties>
</file>