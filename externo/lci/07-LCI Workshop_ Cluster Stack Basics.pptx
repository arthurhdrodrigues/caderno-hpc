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NHmZew8WE+TtVDID72iMjYZEL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01.org/clearlinux/latest/tutorials/hpc.html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6200" y="8686488"/>
            <a:ext cx="2971800" cy="4575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:notes"/>
          <p:cNvSpPr/>
          <p:nvPr>
            <p:ph idx="2" type="sldImg"/>
          </p:nvPr>
        </p:nvSpPr>
        <p:spPr>
          <a:xfrm>
            <a:off x="330200" y="685488"/>
            <a:ext cx="619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914400" y="4344025"/>
            <a:ext cx="5029200" cy="411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914400" y="4344025"/>
            <a:ext cx="5029200" cy="41144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JW –  Maintainability is also a guiding principal  sysadmin time compared to HW costs is now much higher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         Look at </a:t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330200" y="685488"/>
            <a:ext cx="619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JW- Para file system is optional //  depends on job mix  “what problem are you trying to solve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      Show OpenHPC as a starting point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     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https://docs.01.org/clearlinux/latest/tutorials/hpc.html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Hmm likely need to break this up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https://en.wikipedia.org/wiki/Remote_direct_memory_access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1d395c020e_2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21d395c020e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d395c020e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21d395c020e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1d395c020e_2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21d395c020e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1d395c020e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21d395c020e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1d395c020e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21d395c020e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1d395c020e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21d395c020e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4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eader image" id="19" name="Google Shape;1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281"/>
            <a:ext cx="4495800" cy="940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CI Workshops home" id="20" name="Google Shape;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10667"/>
            <a:ext cx="4238847" cy="92500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2"/>
          <p:cNvSpPr txBox="1"/>
          <p:nvPr/>
        </p:nvSpPr>
        <p:spPr>
          <a:xfrm>
            <a:off x="4495800" y="0"/>
            <a:ext cx="228600" cy="9356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3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43"/>
          <p:cNvPicPr preferRelativeResize="0"/>
          <p:nvPr/>
        </p:nvPicPr>
        <p:blipFill rotWithShape="1">
          <a:blip r:embed="rId2">
            <a:alphaModFix/>
          </a:blip>
          <a:srcRect b="38282" l="0" r="0" t="36551"/>
          <a:stretch/>
        </p:blipFill>
        <p:spPr>
          <a:xfrm>
            <a:off x="3675725" y="4691075"/>
            <a:ext cx="1797730" cy="4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3"/>
          <p:cNvSpPr txBox="1"/>
          <p:nvPr/>
        </p:nvSpPr>
        <p:spPr>
          <a:xfrm>
            <a:off x="534325" y="4733925"/>
            <a:ext cx="163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2023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" name="Google Shape;32;p44"/>
          <p:cNvPicPr preferRelativeResize="0"/>
          <p:nvPr/>
        </p:nvPicPr>
        <p:blipFill rotWithShape="1">
          <a:blip r:embed="rId2">
            <a:alphaModFix/>
          </a:blip>
          <a:srcRect b="38282" l="0" r="0" t="36551"/>
          <a:stretch/>
        </p:blipFill>
        <p:spPr>
          <a:xfrm>
            <a:off x="3675725" y="4691075"/>
            <a:ext cx="1797730" cy="4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4"/>
          <p:cNvSpPr txBox="1"/>
          <p:nvPr/>
        </p:nvSpPr>
        <p:spPr>
          <a:xfrm>
            <a:off x="629700" y="4729175"/>
            <a:ext cx="18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2023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ec9ad995-a8e0-458a-bad2-bbd00f228940@mx" id="11" name="Google Shape;11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58000" y="115028"/>
            <a:ext cx="1422105" cy="4464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Google Shape;12;p41"/>
          <p:cNvCxnSpPr/>
          <p:nvPr/>
        </p:nvCxnSpPr>
        <p:spPr>
          <a:xfrm>
            <a:off x="0" y="4632722"/>
            <a:ext cx="9144000" cy="0"/>
          </a:xfrm>
          <a:prstGeom prst="straightConnector1">
            <a:avLst/>
          </a:prstGeom>
          <a:noFill/>
          <a:ln cap="flat" cmpd="sng" w="762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reativecommons.org/licenses/by-nc/4.0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500"/>
              <a:buFont typeface="Calibri"/>
              <a:buNone/>
            </a:pPr>
            <a:r>
              <a:rPr lang="en">
                <a:solidFill>
                  <a:srgbClr val="C00000"/>
                </a:solidFill>
              </a:rPr>
              <a:t>Linux Clusters Institute:</a:t>
            </a:r>
            <a:br>
              <a:rPr lang="en">
                <a:solidFill>
                  <a:srgbClr val="C00000"/>
                </a:solidFill>
              </a:rPr>
            </a:br>
            <a:r>
              <a:rPr lang="en">
                <a:solidFill>
                  <a:srgbClr val="C00000"/>
                </a:solidFill>
              </a:rPr>
              <a:t>Cluster Stack Basics</a:t>
            </a:r>
            <a:endParaRPr/>
          </a:p>
        </p:txBody>
      </p:sp>
      <p:sp>
        <p:nvSpPr>
          <p:cNvPr id="40" name="Google Shape;40;p1"/>
          <p:cNvSpPr txBox="1"/>
          <p:nvPr>
            <p:ph idx="1" type="subTitle"/>
          </p:nvPr>
        </p:nvSpPr>
        <p:spPr>
          <a:xfrm>
            <a:off x="1143000" y="263247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Jenett Tillotson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Senior HPC Systems Engineer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National Center for Atmospheric Research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228600" y="4286250"/>
            <a:ext cx="8686800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document is a result of work by volunteer LCI instructors and is licensed under CC BY-NC 4.0 (</a:t>
            </a:r>
            <a:r>
              <a:rPr b="0" i="0" lang="en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https://creativecommons.org/licenses/by-nc/4.0/</a:t>
            </a: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>
            <p:ph idx="10" type="dt"/>
          </p:nvPr>
        </p:nvSpPr>
        <p:spPr>
          <a:xfrm>
            <a:off x="167640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May 2023</a:t>
            </a:r>
            <a:endParaRPr/>
          </a:p>
        </p:txBody>
      </p:sp>
      <p:pic>
        <p:nvPicPr>
          <p:cNvPr id="43" name="Google Shape;43;p1"/>
          <p:cNvPicPr preferRelativeResize="0"/>
          <p:nvPr/>
        </p:nvPicPr>
        <p:blipFill rotWithShape="1">
          <a:blip r:embed="rId4">
            <a:alphaModFix/>
          </a:blip>
          <a:srcRect b="38282" l="0" r="0" t="36551"/>
          <a:stretch/>
        </p:blipFill>
        <p:spPr>
          <a:xfrm>
            <a:off x="6534148" y="3620170"/>
            <a:ext cx="2457450" cy="618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 A Guiding Principle</a:t>
            </a:r>
            <a:endParaRPr/>
          </a:p>
        </p:txBody>
      </p:sp>
      <p:sp>
        <p:nvSpPr>
          <p:cNvPr id="49" name="Google Shape;49;p2"/>
          <p:cNvSpPr txBox="1"/>
          <p:nvPr>
            <p:ph idx="1" type="body"/>
          </p:nvPr>
        </p:nvSpPr>
        <p:spPr>
          <a:xfrm>
            <a:off x="628650" y="1268044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2000"/>
              <a:t>“The Case of the Missing Supercomputer Performance: Achieving Optimal Performance on the 8,192 Processors of ASCI Q” - Fabio Petrini, et. al.</a:t>
            </a:r>
            <a:endParaRPr sz="2000"/>
          </a:p>
          <a:p>
            <a:pPr indent="-3556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Minimize the software running on the compute nodes to reduce overhead/OS jitter</a:t>
            </a:r>
            <a:endParaRPr sz="2000"/>
          </a:p>
          <a:p>
            <a:pPr indent="-3556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The larger the cluster, the more important this is. </a:t>
            </a:r>
            <a:endParaRPr sz="2000"/>
          </a:p>
          <a:p>
            <a:pPr indent="-3556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Therefore:</a:t>
            </a:r>
            <a:endParaRPr sz="2000"/>
          </a:p>
          <a:p>
            <a:pPr indent="-355600" lvl="1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Minimize services running on compute nodes</a:t>
            </a:r>
            <a:endParaRPr sz="2000"/>
          </a:p>
          <a:p>
            <a:pPr indent="-355600" lvl="1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Minimize unnecessary network traffic</a:t>
            </a:r>
            <a:endParaRPr sz="2000"/>
          </a:p>
          <a:p>
            <a:pPr indent="-3556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Clusters can be like 800 pound gorillas - proceed carefully!</a:t>
            </a:r>
            <a:endParaRPr sz="2000"/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000"/>
          </a:p>
        </p:txBody>
      </p:sp>
      <p:sp>
        <p:nvSpPr>
          <p:cNvPr id="50" name="Google Shape;50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>
            <p:ph idx="4294967295" type="title"/>
          </p:nvPr>
        </p:nvSpPr>
        <p:spPr>
          <a:xfrm>
            <a:off x="514350" y="73348"/>
            <a:ext cx="7886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Cluster Architecture Overview</a:t>
            </a: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3715775" y="1566500"/>
            <a:ext cx="1271400" cy="31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Login Node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3715775" y="1971225"/>
            <a:ext cx="1271400" cy="31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Node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3715775" y="2375950"/>
            <a:ext cx="1271400" cy="31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Node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3715775" y="2780675"/>
            <a:ext cx="1271400" cy="31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Node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3715775" y="3185400"/>
            <a:ext cx="1271400" cy="31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Node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759425" y="3590125"/>
            <a:ext cx="1184100" cy="786000"/>
          </a:xfrm>
          <a:prstGeom prst="can">
            <a:avLst>
              <a:gd fmla="val 25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Parallel 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3715775" y="1161775"/>
            <a:ext cx="1271400" cy="31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Mgmt Node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19950" y="754151"/>
            <a:ext cx="2562192" cy="128736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Area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LDAP/NTP/DNS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3"/>
          <p:cNvCxnSpPr>
            <a:stCxn id="62" idx="1"/>
            <a:endCxn id="63" idx="0"/>
          </p:cNvCxnSpPr>
          <p:nvPr/>
        </p:nvCxnSpPr>
        <p:spPr>
          <a:xfrm flipH="1">
            <a:off x="2780075" y="1317025"/>
            <a:ext cx="935700" cy="8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3"/>
          <p:cNvCxnSpPr>
            <a:stCxn id="56" idx="1"/>
            <a:endCxn id="63" idx="0"/>
          </p:cNvCxnSpPr>
          <p:nvPr/>
        </p:nvCxnSpPr>
        <p:spPr>
          <a:xfrm rot="10800000">
            <a:off x="2780075" y="1397750"/>
            <a:ext cx="935700" cy="32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3"/>
          <p:cNvCxnSpPr/>
          <p:nvPr/>
        </p:nvCxnSpPr>
        <p:spPr>
          <a:xfrm flipH="1">
            <a:off x="3314550" y="1063875"/>
            <a:ext cx="9600" cy="330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 txBox="1"/>
          <p:nvPr/>
        </p:nvSpPr>
        <p:spPr>
          <a:xfrm>
            <a:off x="826975" y="4143300"/>
            <a:ext cx="2052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Cluster security boundary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3"/>
          <p:cNvCxnSpPr>
            <a:stCxn id="67" idx="3"/>
          </p:cNvCxnSpPr>
          <p:nvPr/>
        </p:nvCxnSpPr>
        <p:spPr>
          <a:xfrm flipH="1" rot="10800000">
            <a:off x="2879275" y="4345200"/>
            <a:ext cx="3672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" name="Google Shape;69;p3"/>
          <p:cNvCxnSpPr>
            <a:stCxn id="61" idx="2"/>
            <a:endCxn id="63" idx="0"/>
          </p:cNvCxnSpPr>
          <p:nvPr/>
        </p:nvCxnSpPr>
        <p:spPr>
          <a:xfrm rot="10800000">
            <a:off x="2779925" y="1397725"/>
            <a:ext cx="979500" cy="2585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3"/>
          <p:cNvCxnSpPr>
            <a:stCxn id="62" idx="3"/>
          </p:cNvCxnSpPr>
          <p:nvPr/>
        </p:nvCxnSpPr>
        <p:spPr>
          <a:xfrm flipH="1" rot="10800000">
            <a:off x="4987175" y="1315525"/>
            <a:ext cx="2119500" cy="15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71" name="Google Shape;71;p3"/>
          <p:cNvCxnSpPr/>
          <p:nvPr/>
        </p:nvCxnSpPr>
        <p:spPr>
          <a:xfrm>
            <a:off x="4987175" y="1414913"/>
            <a:ext cx="3519600" cy="51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72" name="Google Shape;72;p3"/>
          <p:cNvCxnSpPr/>
          <p:nvPr/>
        </p:nvCxnSpPr>
        <p:spPr>
          <a:xfrm>
            <a:off x="5868325" y="1221025"/>
            <a:ext cx="9600" cy="202920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3"/>
          <p:cNvCxnSpPr/>
          <p:nvPr/>
        </p:nvCxnSpPr>
        <p:spPr>
          <a:xfrm flipH="1">
            <a:off x="7078225" y="1316275"/>
            <a:ext cx="9300" cy="2686200"/>
          </a:xfrm>
          <a:prstGeom prst="straightConnector1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3"/>
          <p:cNvCxnSpPr/>
          <p:nvPr/>
        </p:nvCxnSpPr>
        <p:spPr>
          <a:xfrm flipH="1">
            <a:off x="8468875" y="1421050"/>
            <a:ext cx="9300" cy="26958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3"/>
          <p:cNvCxnSpPr/>
          <p:nvPr/>
        </p:nvCxnSpPr>
        <p:spPr>
          <a:xfrm>
            <a:off x="5000200" y="1208850"/>
            <a:ext cx="8967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diamond"/>
          </a:ln>
        </p:spPr>
      </p:cxnSp>
      <p:sp>
        <p:nvSpPr>
          <p:cNvPr id="76" name="Google Shape;76;p3"/>
          <p:cNvSpPr txBox="1"/>
          <p:nvPr/>
        </p:nvSpPr>
        <p:spPr>
          <a:xfrm>
            <a:off x="5313400" y="743550"/>
            <a:ext cx="10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Lights Out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6620800" y="702700"/>
            <a:ext cx="99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783875" y="810400"/>
            <a:ext cx="12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Interconnect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3"/>
          <p:cNvCxnSpPr/>
          <p:nvPr/>
        </p:nvCxnSpPr>
        <p:spPr>
          <a:xfrm flipH="1" rot="10800000">
            <a:off x="4987175" y="1730975"/>
            <a:ext cx="2119500" cy="15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0" name="Google Shape;80;p3"/>
          <p:cNvCxnSpPr/>
          <p:nvPr/>
        </p:nvCxnSpPr>
        <p:spPr>
          <a:xfrm>
            <a:off x="4987175" y="1830363"/>
            <a:ext cx="3519600" cy="51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1" name="Google Shape;81;p3"/>
          <p:cNvCxnSpPr/>
          <p:nvPr/>
        </p:nvCxnSpPr>
        <p:spPr>
          <a:xfrm>
            <a:off x="5000200" y="1624300"/>
            <a:ext cx="8967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2" name="Google Shape;82;p3"/>
          <p:cNvCxnSpPr/>
          <p:nvPr/>
        </p:nvCxnSpPr>
        <p:spPr>
          <a:xfrm flipH="1" rot="10800000">
            <a:off x="4987175" y="2146425"/>
            <a:ext cx="2119500" cy="15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3" name="Google Shape;83;p3"/>
          <p:cNvCxnSpPr/>
          <p:nvPr/>
        </p:nvCxnSpPr>
        <p:spPr>
          <a:xfrm>
            <a:off x="4987175" y="2245813"/>
            <a:ext cx="3519600" cy="51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4" name="Google Shape;84;p3"/>
          <p:cNvCxnSpPr/>
          <p:nvPr/>
        </p:nvCxnSpPr>
        <p:spPr>
          <a:xfrm>
            <a:off x="5000200" y="2039750"/>
            <a:ext cx="8967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5" name="Google Shape;85;p3"/>
          <p:cNvCxnSpPr/>
          <p:nvPr/>
        </p:nvCxnSpPr>
        <p:spPr>
          <a:xfrm flipH="1" rot="10800000">
            <a:off x="4987175" y="2516888"/>
            <a:ext cx="2119500" cy="15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6" name="Google Shape;86;p3"/>
          <p:cNvCxnSpPr/>
          <p:nvPr/>
        </p:nvCxnSpPr>
        <p:spPr>
          <a:xfrm>
            <a:off x="4987175" y="2616275"/>
            <a:ext cx="3519600" cy="51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7" name="Google Shape;87;p3"/>
          <p:cNvCxnSpPr/>
          <p:nvPr/>
        </p:nvCxnSpPr>
        <p:spPr>
          <a:xfrm>
            <a:off x="5000200" y="2410213"/>
            <a:ext cx="8967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8" name="Google Shape;88;p3"/>
          <p:cNvCxnSpPr/>
          <p:nvPr/>
        </p:nvCxnSpPr>
        <p:spPr>
          <a:xfrm flipH="1" rot="10800000">
            <a:off x="4987175" y="2937013"/>
            <a:ext cx="2119500" cy="15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89" name="Google Shape;89;p3"/>
          <p:cNvCxnSpPr/>
          <p:nvPr/>
        </p:nvCxnSpPr>
        <p:spPr>
          <a:xfrm>
            <a:off x="4987175" y="3036400"/>
            <a:ext cx="3519600" cy="51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90" name="Google Shape;90;p3"/>
          <p:cNvCxnSpPr/>
          <p:nvPr/>
        </p:nvCxnSpPr>
        <p:spPr>
          <a:xfrm>
            <a:off x="5000200" y="2830338"/>
            <a:ext cx="8967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91" name="Google Shape;91;p3"/>
          <p:cNvCxnSpPr/>
          <p:nvPr/>
        </p:nvCxnSpPr>
        <p:spPr>
          <a:xfrm flipH="1" rot="10800000">
            <a:off x="4987175" y="3352425"/>
            <a:ext cx="2119500" cy="15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92" name="Google Shape;92;p3"/>
          <p:cNvCxnSpPr/>
          <p:nvPr/>
        </p:nvCxnSpPr>
        <p:spPr>
          <a:xfrm>
            <a:off x="4987175" y="3451813"/>
            <a:ext cx="3519600" cy="51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93" name="Google Shape;93;p3"/>
          <p:cNvCxnSpPr/>
          <p:nvPr/>
        </p:nvCxnSpPr>
        <p:spPr>
          <a:xfrm>
            <a:off x="5000200" y="3245750"/>
            <a:ext cx="8967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94" name="Google Shape;94;p3"/>
          <p:cNvCxnSpPr>
            <a:stCxn id="61" idx="4"/>
          </p:cNvCxnSpPr>
          <p:nvPr/>
        </p:nvCxnSpPr>
        <p:spPr>
          <a:xfrm flipH="1" rot="10800000">
            <a:off x="4943525" y="3973825"/>
            <a:ext cx="2163300" cy="93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diamond"/>
          </a:ln>
        </p:spPr>
      </p:cxnSp>
      <p:cxnSp>
        <p:nvCxnSpPr>
          <p:cNvPr id="95" name="Google Shape;95;p3"/>
          <p:cNvCxnSpPr/>
          <p:nvPr/>
        </p:nvCxnSpPr>
        <p:spPr>
          <a:xfrm>
            <a:off x="4930025" y="4073313"/>
            <a:ext cx="3576600" cy="14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diamond"/>
          </a:ln>
        </p:spPr>
      </p:cxnSp>
      <p:sp>
        <p:nvSpPr>
          <p:cNvPr id="96" name="Google Shape;96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80825" y="2686448"/>
            <a:ext cx="2240460" cy="1287360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NTP/DNS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3"/>
          <p:cNvCxnSpPr>
            <a:stCxn id="63" idx="1"/>
            <a:endCxn id="97" idx="3"/>
          </p:cNvCxnSpPr>
          <p:nvPr/>
        </p:nvCxnSpPr>
        <p:spPr>
          <a:xfrm>
            <a:off x="1501046" y="2040140"/>
            <a:ext cx="0" cy="720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628650" y="273849"/>
            <a:ext cx="78867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Management/Service Node</a:t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3612275" y="2486550"/>
            <a:ext cx="1314000" cy="4101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Mgmt Node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862250" y="1068825"/>
            <a:ext cx="1364100" cy="917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NTP, Chrony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752550" y="1433025"/>
            <a:ext cx="894000" cy="681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NFS server: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nfsd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rpcbind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6189500" y="2441550"/>
            <a:ext cx="1964400" cy="5001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Accounts/Authentication: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LDAP Server, Kerberos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2124663" y="3396673"/>
            <a:ext cx="773400" cy="8550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PXE: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TFTP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5576625" y="3334975"/>
            <a:ext cx="1511100" cy="917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Manager: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SLURM, PBS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Job Scheduler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3587225" y="1259625"/>
            <a:ext cx="1364100" cy="8550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Interconnect: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Fabric Manager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1494974" y="2341350"/>
            <a:ext cx="542100" cy="7005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SSH: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sshd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pdsh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3239075" y="3540050"/>
            <a:ext cx="2060400" cy="8574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Logging/Monitoring/Metrics: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Syslog 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Ganglia, Nagios, Zabbix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Series Database/telegraf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>
            <a:stCxn id="105" idx="2"/>
            <a:endCxn id="104" idx="0"/>
          </p:cNvCxnSpPr>
          <p:nvPr/>
        </p:nvCxnSpPr>
        <p:spPr>
          <a:xfrm>
            <a:off x="2544300" y="1986525"/>
            <a:ext cx="1725000" cy="50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4"/>
          <p:cNvCxnSpPr>
            <a:stCxn id="110" idx="2"/>
            <a:endCxn id="104" idx="0"/>
          </p:cNvCxnSpPr>
          <p:nvPr/>
        </p:nvCxnSpPr>
        <p:spPr>
          <a:xfrm>
            <a:off x="4269275" y="2114625"/>
            <a:ext cx="0" cy="37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4"/>
          <p:cNvCxnSpPr>
            <a:stCxn id="106" idx="2"/>
            <a:endCxn id="104" idx="0"/>
          </p:cNvCxnSpPr>
          <p:nvPr/>
        </p:nvCxnSpPr>
        <p:spPr>
          <a:xfrm>
            <a:off x="1199550" y="2114625"/>
            <a:ext cx="3069600" cy="37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4"/>
          <p:cNvCxnSpPr>
            <a:stCxn id="107" idx="1"/>
            <a:endCxn id="104" idx="3"/>
          </p:cNvCxnSpPr>
          <p:nvPr/>
        </p:nvCxnSpPr>
        <p:spPr>
          <a:xfrm rot="10800000">
            <a:off x="4926200" y="2691600"/>
            <a:ext cx="126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>
            <a:stCxn id="112" idx="0"/>
            <a:endCxn id="104" idx="2"/>
          </p:cNvCxnSpPr>
          <p:nvPr/>
        </p:nvCxnSpPr>
        <p:spPr>
          <a:xfrm rot="10800000">
            <a:off x="4269275" y="2896550"/>
            <a:ext cx="0" cy="64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4"/>
          <p:cNvCxnSpPr>
            <a:stCxn id="108" idx="0"/>
            <a:endCxn id="104" idx="2"/>
          </p:cNvCxnSpPr>
          <p:nvPr/>
        </p:nvCxnSpPr>
        <p:spPr>
          <a:xfrm flipH="1" rot="10800000">
            <a:off x="2511363" y="2896573"/>
            <a:ext cx="1758000" cy="50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4"/>
          <p:cNvCxnSpPr>
            <a:stCxn id="109" idx="0"/>
            <a:endCxn id="104" idx="2"/>
          </p:cNvCxnSpPr>
          <p:nvPr/>
        </p:nvCxnSpPr>
        <p:spPr>
          <a:xfrm rot="10800000">
            <a:off x="4269375" y="2896675"/>
            <a:ext cx="2062800" cy="43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4"/>
          <p:cNvCxnSpPr>
            <a:stCxn id="111" idx="3"/>
            <a:endCxn id="104" idx="1"/>
          </p:cNvCxnSpPr>
          <p:nvPr/>
        </p:nvCxnSpPr>
        <p:spPr>
          <a:xfrm>
            <a:off x="2037074" y="2691600"/>
            <a:ext cx="1575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4"/>
          <p:cNvSpPr txBox="1"/>
          <p:nvPr/>
        </p:nvSpPr>
        <p:spPr>
          <a:xfrm>
            <a:off x="7354225" y="1743825"/>
            <a:ext cx="1511100" cy="543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 Management: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Puppet, Ansible, Salt</a:t>
            </a:r>
            <a:endParaRPr b="0" i="0" sz="14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>
            <a:stCxn id="121" idx="1"/>
            <a:endCxn id="104" idx="0"/>
          </p:cNvCxnSpPr>
          <p:nvPr/>
        </p:nvCxnSpPr>
        <p:spPr>
          <a:xfrm flipH="1">
            <a:off x="4269325" y="2015775"/>
            <a:ext cx="3084900" cy="47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5649625" y="1033150"/>
            <a:ext cx="1364100" cy="759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iptables, nftables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>
            <a:stCxn id="104" idx="0"/>
            <a:endCxn id="123" idx="2"/>
          </p:cNvCxnSpPr>
          <p:nvPr/>
        </p:nvCxnSpPr>
        <p:spPr>
          <a:xfrm flipH="1" rot="10800000">
            <a:off x="4269275" y="1792350"/>
            <a:ext cx="2062500" cy="69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220725" y="2896675"/>
            <a:ext cx="983400" cy="11328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Domain Namespace  (DNS):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>
            <a:stCxn id="126" idx="3"/>
            <a:endCxn id="104" idx="1"/>
          </p:cNvCxnSpPr>
          <p:nvPr/>
        </p:nvCxnSpPr>
        <p:spPr>
          <a:xfrm flipH="1" rot="10800000">
            <a:off x="1204125" y="2691475"/>
            <a:ext cx="2408100" cy="77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Login Node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3612275" y="2486550"/>
            <a:ext cx="1314000" cy="4101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Login Node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2146563" y="1304925"/>
            <a:ext cx="817800" cy="681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6930200" y="2527275"/>
            <a:ext cx="1930800" cy="858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Accounts/Authentication: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Name Service Caching Daemon(nscd, nslcd, sssd)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6414075" y="3692850"/>
            <a:ext cx="1403100" cy="714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Manager: </a:t>
            </a: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Munge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3587225" y="1181350"/>
            <a:ext cx="1364100" cy="5001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Interconnect: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3470299" y="3551650"/>
            <a:ext cx="542100" cy="7005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SSH: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sshd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79100" y="2956425"/>
            <a:ext cx="1604100" cy="1050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File Systems: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Directories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Parallel/Scratch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Work, Project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4469400" y="3606700"/>
            <a:ext cx="1497600" cy="4470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Monitoring/Metrics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5"/>
          <p:cNvCxnSpPr>
            <a:stCxn id="134" idx="2"/>
            <a:endCxn id="133" idx="0"/>
          </p:cNvCxnSpPr>
          <p:nvPr/>
        </p:nvCxnSpPr>
        <p:spPr>
          <a:xfrm>
            <a:off x="2555463" y="1986525"/>
            <a:ext cx="1713900" cy="50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5"/>
          <p:cNvCxnSpPr>
            <a:stCxn id="137" idx="2"/>
            <a:endCxn id="133" idx="0"/>
          </p:cNvCxnSpPr>
          <p:nvPr/>
        </p:nvCxnSpPr>
        <p:spPr>
          <a:xfrm>
            <a:off x="4269275" y="1681450"/>
            <a:ext cx="0" cy="80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5"/>
          <p:cNvCxnSpPr>
            <a:stCxn id="135" idx="1"/>
            <a:endCxn id="133" idx="3"/>
          </p:cNvCxnSpPr>
          <p:nvPr/>
        </p:nvCxnSpPr>
        <p:spPr>
          <a:xfrm rot="10800000">
            <a:off x="4926200" y="2691525"/>
            <a:ext cx="2004000" cy="2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5"/>
          <p:cNvCxnSpPr>
            <a:stCxn id="140" idx="0"/>
            <a:endCxn id="133" idx="2"/>
          </p:cNvCxnSpPr>
          <p:nvPr/>
        </p:nvCxnSpPr>
        <p:spPr>
          <a:xfrm rot="10800000">
            <a:off x="4269300" y="2896600"/>
            <a:ext cx="948900" cy="71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5"/>
          <p:cNvCxnSpPr>
            <a:stCxn id="139" idx="3"/>
            <a:endCxn id="133" idx="1"/>
          </p:cNvCxnSpPr>
          <p:nvPr/>
        </p:nvCxnSpPr>
        <p:spPr>
          <a:xfrm flipH="1" rot="10800000">
            <a:off x="2383200" y="2691675"/>
            <a:ext cx="1229100" cy="79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5"/>
          <p:cNvCxnSpPr>
            <a:stCxn id="136" idx="0"/>
            <a:endCxn id="133" idx="2"/>
          </p:cNvCxnSpPr>
          <p:nvPr/>
        </p:nvCxnSpPr>
        <p:spPr>
          <a:xfrm rot="10800000">
            <a:off x="4269225" y="2896650"/>
            <a:ext cx="2846400" cy="79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5"/>
          <p:cNvCxnSpPr>
            <a:stCxn id="138" idx="0"/>
            <a:endCxn id="133" idx="2"/>
          </p:cNvCxnSpPr>
          <p:nvPr/>
        </p:nvCxnSpPr>
        <p:spPr>
          <a:xfrm flipH="1" rot="10800000">
            <a:off x="3741349" y="2896750"/>
            <a:ext cx="528000" cy="65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6690008" y="1421424"/>
            <a:ext cx="2042400" cy="5952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Firewall: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iptables, nftables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5"/>
          <p:cNvCxnSpPr>
            <a:endCxn id="149" idx="2"/>
          </p:cNvCxnSpPr>
          <p:nvPr/>
        </p:nvCxnSpPr>
        <p:spPr>
          <a:xfrm flipH="1" rot="10800000">
            <a:off x="4926308" y="2016624"/>
            <a:ext cx="2784900" cy="67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5"/>
          <p:cNvSpPr txBox="1"/>
          <p:nvPr/>
        </p:nvSpPr>
        <p:spPr>
          <a:xfrm>
            <a:off x="345175" y="1663588"/>
            <a:ext cx="1553400" cy="897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Environment: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Compilers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Libraries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Modules, Lmod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5"/>
          <p:cNvCxnSpPr>
            <a:stCxn id="151" idx="3"/>
            <a:endCxn id="133" idx="1"/>
          </p:cNvCxnSpPr>
          <p:nvPr/>
        </p:nvCxnSpPr>
        <p:spPr>
          <a:xfrm>
            <a:off x="1898575" y="2112238"/>
            <a:ext cx="1713600" cy="57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5"/>
          <p:cNvSpPr txBox="1"/>
          <p:nvPr/>
        </p:nvSpPr>
        <p:spPr>
          <a:xfrm>
            <a:off x="5218188" y="1301525"/>
            <a:ext cx="817800" cy="681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5"/>
          <p:cNvCxnSpPr>
            <a:stCxn id="153" idx="2"/>
            <a:endCxn id="133" idx="3"/>
          </p:cNvCxnSpPr>
          <p:nvPr/>
        </p:nvCxnSpPr>
        <p:spPr>
          <a:xfrm flipH="1">
            <a:off x="4926288" y="1983125"/>
            <a:ext cx="700800" cy="70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Compute Nodes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3361175" y="2486550"/>
            <a:ext cx="1818000" cy="4101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Node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2438775" y="1259325"/>
            <a:ext cx="773400" cy="681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6186150" y="2291688"/>
            <a:ext cx="2601000" cy="7998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Accounts/Authentication: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Namespace Caching (nscd, nslcd, sssd)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5587800" y="3527238"/>
            <a:ext cx="1463400" cy="897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Resource Manager: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MOM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Munge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nhc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3588125" y="1259325"/>
            <a:ext cx="1364100" cy="6816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Interconnect: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Drivers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2035725" y="3372700"/>
            <a:ext cx="542100" cy="545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SSH: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sshd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54725" y="2582700"/>
            <a:ext cx="1560300" cy="12585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File Systems: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Directories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Parallel/Scratch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Work, Project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3490025" y="3606700"/>
            <a:ext cx="1560300" cy="5904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Monitoring/Metrics: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Ganglia, telegraf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6"/>
          <p:cNvCxnSpPr>
            <a:stCxn id="161" idx="2"/>
            <a:endCxn id="160" idx="0"/>
          </p:cNvCxnSpPr>
          <p:nvPr/>
        </p:nvCxnSpPr>
        <p:spPr>
          <a:xfrm>
            <a:off x="2825475" y="1940925"/>
            <a:ext cx="1444800" cy="54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6"/>
          <p:cNvCxnSpPr>
            <a:stCxn id="164" idx="2"/>
            <a:endCxn id="160" idx="0"/>
          </p:cNvCxnSpPr>
          <p:nvPr/>
        </p:nvCxnSpPr>
        <p:spPr>
          <a:xfrm>
            <a:off x="4270175" y="1940925"/>
            <a:ext cx="0" cy="54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6"/>
          <p:cNvCxnSpPr>
            <a:stCxn id="162" idx="1"/>
            <a:endCxn id="160" idx="3"/>
          </p:cNvCxnSpPr>
          <p:nvPr/>
        </p:nvCxnSpPr>
        <p:spPr>
          <a:xfrm rot="10800000">
            <a:off x="5179050" y="2691588"/>
            <a:ext cx="1007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6"/>
          <p:cNvCxnSpPr>
            <a:stCxn id="167" idx="0"/>
            <a:endCxn id="160" idx="2"/>
          </p:cNvCxnSpPr>
          <p:nvPr/>
        </p:nvCxnSpPr>
        <p:spPr>
          <a:xfrm rot="10800000">
            <a:off x="4270175" y="2896600"/>
            <a:ext cx="0" cy="710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6"/>
          <p:cNvCxnSpPr>
            <a:stCxn id="166" idx="3"/>
            <a:endCxn id="160" idx="1"/>
          </p:cNvCxnSpPr>
          <p:nvPr/>
        </p:nvCxnSpPr>
        <p:spPr>
          <a:xfrm flipH="1" rot="10800000">
            <a:off x="1715025" y="2691450"/>
            <a:ext cx="1646100" cy="52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6"/>
          <p:cNvCxnSpPr>
            <a:stCxn id="163" idx="0"/>
            <a:endCxn id="160" idx="2"/>
          </p:cNvCxnSpPr>
          <p:nvPr/>
        </p:nvCxnSpPr>
        <p:spPr>
          <a:xfrm rot="10800000">
            <a:off x="4270200" y="2896638"/>
            <a:ext cx="2049300" cy="63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6"/>
          <p:cNvCxnSpPr>
            <a:stCxn id="165" idx="3"/>
            <a:endCxn id="160" idx="2"/>
          </p:cNvCxnSpPr>
          <p:nvPr/>
        </p:nvCxnSpPr>
        <p:spPr>
          <a:xfrm flipH="1" rot="10800000">
            <a:off x="2577825" y="2896750"/>
            <a:ext cx="1692300" cy="74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1077150" y="1553025"/>
            <a:ext cx="542100" cy="5457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6"/>
          <p:cNvCxnSpPr>
            <a:stCxn id="176" idx="3"/>
            <a:endCxn id="160" idx="1"/>
          </p:cNvCxnSpPr>
          <p:nvPr/>
        </p:nvCxnSpPr>
        <p:spPr>
          <a:xfrm>
            <a:off x="1619250" y="1825875"/>
            <a:ext cx="1741800" cy="865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 txBox="1"/>
          <p:nvPr/>
        </p:nvSpPr>
        <p:spPr>
          <a:xfrm>
            <a:off x="6319500" y="1201413"/>
            <a:ext cx="1553400" cy="8973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Environment:</a:t>
            </a:r>
            <a:endParaRPr b="0" i="0" sz="12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Compilers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Libraries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Modules, Lmod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6"/>
          <p:cNvCxnSpPr>
            <a:stCxn id="178" idx="1"/>
            <a:endCxn id="160" idx="0"/>
          </p:cNvCxnSpPr>
          <p:nvPr/>
        </p:nvCxnSpPr>
        <p:spPr>
          <a:xfrm flipH="1">
            <a:off x="4270200" y="1650063"/>
            <a:ext cx="2049300" cy="83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628650" y="273848"/>
            <a:ext cx="78867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PXE</a:t>
            </a:r>
            <a:endParaRPr/>
          </a:p>
        </p:txBody>
      </p:sp>
      <p:sp>
        <p:nvSpPr>
          <p:cNvPr id="185" name="Google Shape;185;p10"/>
          <p:cNvSpPr txBox="1"/>
          <p:nvPr>
            <p:ph idx="1" type="body"/>
          </p:nvPr>
        </p:nvSpPr>
        <p:spPr>
          <a:xfrm>
            <a:off x="628650" y="1019350"/>
            <a:ext cx="8240100" cy="3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900"/>
              <a:buChar char="•"/>
            </a:pPr>
            <a:r>
              <a:rPr b="1" lang="en" sz="1900"/>
              <a:t>PXE </a:t>
            </a:r>
            <a:r>
              <a:rPr lang="en" sz="1900"/>
              <a:t>- </a:t>
            </a:r>
            <a:r>
              <a:rPr b="1" lang="en" sz="19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" sz="19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reboot E</a:t>
            </a:r>
            <a:r>
              <a:rPr b="1" lang="en" sz="19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19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ecution </a:t>
            </a:r>
            <a:r>
              <a:rPr b="1" lang="en" sz="19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" sz="19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nvironment - </a:t>
            </a:r>
            <a:r>
              <a:rPr lang="en" sz="1900"/>
              <a:t>DHCP, TFTP, amd HTTP services for booting machines over the network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lang="en" sz="1900"/>
              <a:t>DHCP</a:t>
            </a:r>
            <a:r>
              <a:rPr lang="en" sz="1900"/>
              <a:t> - </a:t>
            </a:r>
            <a:r>
              <a:rPr b="1" lang="en" sz="1900"/>
              <a:t>D</a:t>
            </a:r>
            <a:r>
              <a:rPr lang="en" sz="1900"/>
              <a:t>ynamic </a:t>
            </a:r>
            <a:r>
              <a:rPr b="1" lang="en" sz="1900"/>
              <a:t>H</a:t>
            </a:r>
            <a:r>
              <a:rPr lang="en" sz="1900"/>
              <a:t>ost </a:t>
            </a:r>
            <a:r>
              <a:rPr b="1" lang="en" sz="1900"/>
              <a:t>C</a:t>
            </a:r>
            <a:r>
              <a:rPr lang="en" sz="1900"/>
              <a:t>onfiguration </a:t>
            </a:r>
            <a:r>
              <a:rPr b="1" lang="en" sz="1900"/>
              <a:t>P</a:t>
            </a:r>
            <a:r>
              <a:rPr lang="en" sz="1900"/>
              <a:t>rotocol - Automatically assigns IP addresses to hosts over the network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lang="en" sz="1900"/>
              <a:t>TFTP</a:t>
            </a:r>
            <a:r>
              <a:rPr lang="en" sz="1900"/>
              <a:t> - </a:t>
            </a:r>
            <a:r>
              <a:rPr b="1" lang="en" sz="1900"/>
              <a:t>T</a:t>
            </a:r>
            <a:r>
              <a:rPr lang="en" sz="1900"/>
              <a:t>rivial </a:t>
            </a:r>
            <a:r>
              <a:rPr b="1" lang="en" sz="1900"/>
              <a:t>F</a:t>
            </a:r>
            <a:r>
              <a:rPr lang="en" sz="1900"/>
              <a:t>ile </a:t>
            </a:r>
            <a:r>
              <a:rPr b="1" lang="en" sz="1900"/>
              <a:t>T</a:t>
            </a:r>
            <a:r>
              <a:rPr lang="en" sz="1900"/>
              <a:t>ransfer </a:t>
            </a:r>
            <a:r>
              <a:rPr b="1" lang="en" sz="1900"/>
              <a:t>P</a:t>
            </a:r>
            <a:r>
              <a:rPr lang="en" sz="1900"/>
              <a:t>rotocol - Protocol for transferring files over a network. It’s a simplified version of the FTP protocol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b="1" lang="en" sz="1900"/>
              <a:t>HTTP</a:t>
            </a:r>
            <a:r>
              <a:rPr lang="en" sz="1900"/>
              <a:t> - </a:t>
            </a:r>
            <a:r>
              <a:rPr b="1" lang="en" sz="1900"/>
              <a:t>H</a:t>
            </a:r>
            <a:r>
              <a:rPr lang="en" sz="1900"/>
              <a:t>yper</a:t>
            </a:r>
            <a:r>
              <a:rPr b="1" lang="en" sz="1900"/>
              <a:t>T</a:t>
            </a:r>
            <a:r>
              <a:rPr lang="en" sz="1900"/>
              <a:t>ext </a:t>
            </a:r>
            <a:r>
              <a:rPr b="1" lang="en" sz="1900"/>
              <a:t>T</a:t>
            </a:r>
            <a:r>
              <a:rPr lang="en" sz="1900"/>
              <a:t>ransport </a:t>
            </a:r>
            <a:r>
              <a:rPr b="1" lang="en" sz="1900"/>
              <a:t>P</a:t>
            </a:r>
            <a:r>
              <a:rPr lang="en" sz="1900"/>
              <a:t>rotocol - Data transfer protocol designed for the World Wide Web. Used to retrieve installation config files, OS images, RPMs, etc.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Supports stateful installs - Install OS to local storage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Supports stateless booting - Download OS image to RAM</a:t>
            </a:r>
            <a:endParaRPr b="1" sz="1900"/>
          </a:p>
        </p:txBody>
      </p:sp>
      <p:sp>
        <p:nvSpPr>
          <p:cNvPr id="186" name="Google Shape;186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1d395c020e_2_149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DHCP</a:t>
            </a:r>
            <a:endParaRPr/>
          </a:p>
        </p:txBody>
      </p:sp>
      <p:sp>
        <p:nvSpPr>
          <p:cNvPr id="192" name="Google Shape;192;g21d395c020e_2_14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DHCP - </a:t>
            </a:r>
            <a:r>
              <a:rPr b="1" lang="en" sz="2200"/>
              <a:t>D</a:t>
            </a:r>
            <a:r>
              <a:rPr lang="en" sz="2200"/>
              <a:t>ynamic </a:t>
            </a:r>
            <a:r>
              <a:rPr b="1" lang="en" sz="2200"/>
              <a:t>H</a:t>
            </a:r>
            <a:r>
              <a:rPr lang="en" sz="2200"/>
              <a:t>ost </a:t>
            </a:r>
            <a:r>
              <a:rPr b="1" lang="en" sz="2200"/>
              <a:t>C</a:t>
            </a:r>
            <a:r>
              <a:rPr lang="en" sz="2200"/>
              <a:t>onfiguration </a:t>
            </a:r>
            <a:r>
              <a:rPr b="1" lang="en" sz="2200"/>
              <a:t>P</a:t>
            </a:r>
            <a:r>
              <a:rPr lang="en" sz="2200"/>
              <a:t>rotocol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Maps network hardware to network addresses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MAC address of network device mapped to network address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Also hands out gateway information and hostname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Supports various boot methods (stateful, stateless, satellite)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Supports various network boot agents 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/>
              <a:t>iPXE, XNBA, pxelinux, GRUB</a:t>
            </a:r>
            <a:endParaRPr sz="2200"/>
          </a:p>
        </p:txBody>
      </p:sp>
      <p:sp>
        <p:nvSpPr>
          <p:cNvPr id="193" name="Google Shape;193;g21d395c020e_2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1d395c020e_2_134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Domain Name Service (DNS)</a:t>
            </a:r>
            <a:endParaRPr/>
          </a:p>
        </p:txBody>
      </p:sp>
      <p:sp>
        <p:nvSpPr>
          <p:cNvPr id="199" name="Google Shape;199;g21d395c020e_2_134"/>
          <p:cNvSpPr txBox="1"/>
          <p:nvPr>
            <p:ph idx="1" type="body"/>
          </p:nvPr>
        </p:nvSpPr>
        <p:spPr>
          <a:xfrm>
            <a:off x="628650" y="12168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000"/>
              <a:buChar char="•"/>
            </a:pPr>
            <a:r>
              <a:rPr b="1" lang="en" sz="2000"/>
              <a:t>DNS - D</a:t>
            </a:r>
            <a:r>
              <a:rPr lang="en" sz="2000"/>
              <a:t>omain </a:t>
            </a:r>
            <a:r>
              <a:rPr b="1" lang="en" sz="2000"/>
              <a:t>N</a:t>
            </a:r>
            <a:r>
              <a:rPr lang="en" sz="2000"/>
              <a:t>ame </a:t>
            </a:r>
            <a:r>
              <a:rPr b="1" lang="en" sz="2000"/>
              <a:t>S</a:t>
            </a:r>
            <a:r>
              <a:rPr lang="en" sz="2000"/>
              <a:t>ervice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Maps hostname to network addresses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Mgmt/Service Node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Has DNS mappings for cluster components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Provides those mappings to cluster components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Connects to upstream DNS servers for DNS forwarding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Login Node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Connects to mgmt/service nodes for local DNS information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Compute Node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Also connects to mgmt/service node for local DNS information</a:t>
            </a:r>
            <a:endParaRPr sz="2000"/>
          </a:p>
        </p:txBody>
      </p:sp>
      <p:sp>
        <p:nvSpPr>
          <p:cNvPr id="200" name="Google Shape;200;g21d395c020e_2_1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>
            <p:ph type="title"/>
          </p:nvPr>
        </p:nvSpPr>
        <p:spPr>
          <a:xfrm>
            <a:off x="628650" y="273851"/>
            <a:ext cx="7886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Cluster Manager </a:t>
            </a:r>
            <a:endParaRPr/>
          </a:p>
        </p:txBody>
      </p:sp>
      <p:sp>
        <p:nvSpPr>
          <p:cNvPr id="206" name="Google Shape;206;p8"/>
          <p:cNvSpPr txBox="1"/>
          <p:nvPr>
            <p:ph idx="1" type="body"/>
          </p:nvPr>
        </p:nvSpPr>
        <p:spPr>
          <a:xfrm>
            <a:off x="628650" y="897250"/>
            <a:ext cx="7886700" cy="3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PXE booting support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Support </a:t>
            </a:r>
            <a:r>
              <a:rPr lang="en" sz="1800"/>
              <a:t>DNS, DHCP, TFTP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Stateless image</a:t>
            </a:r>
            <a:r>
              <a:rPr lang="en"/>
              <a:t> booting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Satellite</a:t>
            </a:r>
            <a:r>
              <a:rPr lang="en" sz="1800"/>
              <a:t> N</a:t>
            </a:r>
            <a:r>
              <a:rPr lang="en"/>
              <a:t>FS (</a:t>
            </a:r>
            <a:r>
              <a:rPr b="1" lang="en"/>
              <a:t>N</a:t>
            </a:r>
            <a:r>
              <a:rPr lang="en"/>
              <a:t>etwork </a:t>
            </a:r>
            <a:r>
              <a:rPr b="1" lang="en"/>
              <a:t>F</a:t>
            </a:r>
            <a:r>
              <a:rPr lang="en"/>
              <a:t>ile </a:t>
            </a:r>
            <a:r>
              <a:rPr b="1" lang="en"/>
              <a:t>S</a:t>
            </a:r>
            <a:r>
              <a:rPr lang="en"/>
              <a:t>ystem) share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Share read-only files over the network using the NFS protocol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Cluster managers tools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File synchronization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Distributed shell</a:t>
            </a:r>
            <a:r>
              <a:rPr lang="en"/>
              <a:t> - </a:t>
            </a:r>
            <a:r>
              <a:rPr lang="en" sz="1800"/>
              <a:t>pdsh - </a:t>
            </a:r>
            <a:r>
              <a:rPr b="1" lang="en" sz="1800"/>
              <a:t>P</a:t>
            </a:r>
            <a:r>
              <a:rPr lang="en" sz="1800"/>
              <a:t>arallel </a:t>
            </a:r>
            <a:r>
              <a:rPr b="1" lang="en" sz="1800"/>
              <a:t>D</a:t>
            </a:r>
            <a:r>
              <a:rPr lang="en" sz="1800"/>
              <a:t>istributed </a:t>
            </a:r>
            <a:r>
              <a:rPr b="1" lang="en" sz="1800"/>
              <a:t>Sh</a:t>
            </a:r>
            <a:r>
              <a:rPr lang="en" sz="1800"/>
              <a:t>ell or clush - </a:t>
            </a:r>
            <a:r>
              <a:rPr b="1" lang="en" sz="1800"/>
              <a:t>Cl</a:t>
            </a:r>
            <a:r>
              <a:rPr lang="en" sz="1800"/>
              <a:t>uster </a:t>
            </a:r>
            <a:r>
              <a:rPr b="1" lang="en" sz="1800"/>
              <a:t>Sh</a:t>
            </a:r>
            <a:r>
              <a:rPr lang="en" sz="1800"/>
              <a:t>ell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Stateless image building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</a:t>
            </a:r>
            <a:r>
              <a:rPr lang="en" sz="1800"/>
              <a:t>tateful installation support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Lights Out management</a:t>
            </a:r>
            <a:endParaRPr sz="1800"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Remote power control and console access</a:t>
            </a:r>
            <a:endParaRPr sz="18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800"/>
              <a:t>…and more!</a:t>
            </a:r>
            <a:endParaRPr sz="1500"/>
          </a:p>
        </p:txBody>
      </p:sp>
      <p:sp>
        <p:nvSpPr>
          <p:cNvPr id="207" name="Google Shape;207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 txBox="1"/>
          <p:nvPr>
            <p:ph type="title"/>
          </p:nvPr>
        </p:nvSpPr>
        <p:spPr>
          <a:xfrm>
            <a:off x="628650" y="273851"/>
            <a:ext cx="78867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Resource Manager/Job Scheduler</a:t>
            </a:r>
            <a:endParaRPr/>
          </a:p>
        </p:txBody>
      </p:sp>
      <p:sp>
        <p:nvSpPr>
          <p:cNvPr id="213" name="Google Shape;213;p16"/>
          <p:cNvSpPr txBox="1"/>
          <p:nvPr>
            <p:ph idx="1" type="body"/>
          </p:nvPr>
        </p:nvSpPr>
        <p:spPr>
          <a:xfrm>
            <a:off x="628650" y="1208725"/>
            <a:ext cx="7886700" cy="3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Acts as a broker between users and resources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Tracks resources and requests for resources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Determines the order resource requests are filled and on what resources the request will run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Mgmt/Service nodes run a resource manager server and job scheduler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Compute nodes run a MoM (Machine-oriented miniserver)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Typically use munge for authentication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" sz="2000"/>
              <a:t>nhc</a:t>
            </a:r>
            <a:r>
              <a:rPr lang="en" sz="2000"/>
              <a:t> - </a:t>
            </a:r>
            <a:r>
              <a:rPr b="1" lang="en" sz="2000"/>
              <a:t>N</a:t>
            </a:r>
            <a:r>
              <a:rPr lang="en" sz="2000"/>
              <a:t>ode </a:t>
            </a:r>
            <a:r>
              <a:rPr b="1" lang="en" sz="2000"/>
              <a:t>H</a:t>
            </a:r>
            <a:r>
              <a:rPr lang="en" sz="2000"/>
              <a:t>ealth </a:t>
            </a:r>
            <a:r>
              <a:rPr b="1" lang="en" sz="2000"/>
              <a:t>C</a:t>
            </a:r>
            <a:r>
              <a:rPr lang="en" sz="2000"/>
              <a:t>heck - A utility periodically run on the compute nodes to check for issues</a:t>
            </a:r>
            <a:endParaRPr sz="2000"/>
          </a:p>
        </p:txBody>
      </p:sp>
      <p:sp>
        <p:nvSpPr>
          <p:cNvPr id="214" name="Google Shape;214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1d395c020e_2_122"/>
          <p:cNvSpPr txBox="1"/>
          <p:nvPr>
            <p:ph type="title"/>
          </p:nvPr>
        </p:nvSpPr>
        <p:spPr>
          <a:xfrm>
            <a:off x="628650" y="273848"/>
            <a:ext cx="78867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SLURM Daemons</a:t>
            </a:r>
            <a:endParaRPr/>
          </a:p>
        </p:txBody>
      </p:sp>
      <p:sp>
        <p:nvSpPr>
          <p:cNvPr id="220" name="Google Shape;220;g21d395c020e_2_122"/>
          <p:cNvSpPr txBox="1"/>
          <p:nvPr>
            <p:ph idx="1" type="body"/>
          </p:nvPr>
        </p:nvSpPr>
        <p:spPr>
          <a:xfrm>
            <a:off x="628650" y="921550"/>
            <a:ext cx="7886700" cy="3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SLURM</a:t>
            </a:r>
            <a:r>
              <a:rPr lang="en" sz="1800"/>
              <a:t> - </a:t>
            </a:r>
            <a:r>
              <a:rPr b="1" lang="en" sz="1800"/>
              <a:t>S</a:t>
            </a:r>
            <a:r>
              <a:rPr lang="en" sz="1800"/>
              <a:t>imple </a:t>
            </a:r>
            <a:r>
              <a:rPr b="1" lang="en" sz="1800"/>
              <a:t>L</a:t>
            </a:r>
            <a:r>
              <a:rPr lang="en" sz="1800"/>
              <a:t>inux </a:t>
            </a:r>
            <a:r>
              <a:rPr b="1" lang="en" sz="1800"/>
              <a:t>U</a:t>
            </a:r>
            <a:r>
              <a:rPr lang="en" sz="1800"/>
              <a:t>tility for </a:t>
            </a:r>
            <a:r>
              <a:rPr b="1" lang="en" sz="1800"/>
              <a:t>R</a:t>
            </a:r>
            <a:r>
              <a:rPr lang="en" sz="1800"/>
              <a:t>esource </a:t>
            </a:r>
            <a:r>
              <a:rPr b="1" lang="en" sz="1800"/>
              <a:t>M</a:t>
            </a:r>
            <a:r>
              <a:rPr lang="en" sz="1800"/>
              <a:t>anagement</a:t>
            </a:r>
            <a:endParaRPr sz="1800"/>
          </a:p>
          <a:p>
            <a:pPr indent="-342900" lvl="1" marL="9144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An open-source resource manager and job scheduler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Mgmt/Service Nodes</a:t>
            </a:r>
            <a:endParaRPr sz="1800"/>
          </a:p>
          <a:p>
            <a:pPr indent="-342900" lvl="1" marL="9144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Slurmctld - SLURM server/Job scheduler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MariaDB/MySQL - Storing accounting information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Slurmdbd - SLURM Database interface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Munge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Compute Nodes</a:t>
            </a:r>
            <a:endParaRPr sz="1800"/>
          </a:p>
          <a:p>
            <a:pPr indent="-342900" lvl="1" marL="9144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Slurmd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Munge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Login Nodes</a:t>
            </a:r>
            <a:endParaRPr sz="1800"/>
          </a:p>
          <a:p>
            <a:pPr indent="-342900" lvl="1" marL="9144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Munge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9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Install a SLURM client on any node that needs to submit jobs or query the SLURM server</a:t>
            </a:r>
            <a:endParaRPr sz="1800"/>
          </a:p>
        </p:txBody>
      </p:sp>
      <p:sp>
        <p:nvSpPr>
          <p:cNvPr id="221" name="Google Shape;221;g21d395c020e_2_1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Interconnect</a:t>
            </a:r>
            <a:endParaRPr/>
          </a:p>
        </p:txBody>
      </p:sp>
      <p:sp>
        <p:nvSpPr>
          <p:cNvPr id="227" name="Google Shape;227;p11"/>
          <p:cNvSpPr txBox="1"/>
          <p:nvPr>
            <p:ph idx="1" type="body"/>
          </p:nvPr>
        </p:nvSpPr>
        <p:spPr>
          <a:xfrm>
            <a:off x="628650" y="1045375"/>
            <a:ext cx="7886700" cy="3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InfiniBand (IB)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High bandwidth, low-latency network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Provides RDMA (Remote Direct Memory Access)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Uses Verbs instead of a traditional OSI network stack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IPoIB (Internet Protocol over Infiniband) allows IP traffic over an Infiniband network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Ethernet</a:t>
            </a:r>
            <a:endParaRPr b="1"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High bandwidth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Uses a traditional OSI network stack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Provides RDMA by using RoCE (RDMA over Converged Ethernet)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Subnet Manager</a:t>
            </a:r>
            <a:r>
              <a:rPr lang="en" sz="1800"/>
              <a:t> - A daemon that monitors the network for any changes and updates routing information</a:t>
            </a:r>
            <a:endParaRPr sz="1800"/>
          </a:p>
        </p:txBody>
      </p:sp>
      <p:sp>
        <p:nvSpPr>
          <p:cNvPr id="228" name="Google Shape;228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 txBox="1"/>
          <p:nvPr>
            <p:ph type="title"/>
          </p:nvPr>
        </p:nvSpPr>
        <p:spPr>
          <a:xfrm>
            <a:off x="628650" y="273848"/>
            <a:ext cx="78867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Network File Systems</a:t>
            </a:r>
            <a:endParaRPr/>
          </a:p>
        </p:txBody>
      </p:sp>
      <p:sp>
        <p:nvSpPr>
          <p:cNvPr id="234" name="Google Shape;234;p9"/>
          <p:cNvSpPr txBox="1"/>
          <p:nvPr>
            <p:ph idx="1" type="body"/>
          </p:nvPr>
        </p:nvSpPr>
        <p:spPr>
          <a:xfrm>
            <a:off x="514350" y="1006725"/>
            <a:ext cx="7886700" cy="3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NFS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Network Attached Storage (NAS)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Often used for home directories and applications (read-only)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Relatively smaller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Backed up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 an automounter to reduce load on NFS server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Parallel File Systems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 parallelism to gain speed and reduce latency</a:t>
            </a:r>
            <a:endParaRPr/>
          </a:p>
          <a:p>
            <a:pPr indent="-3429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GPFS (Spectrum Scale), Lustre, BeeGFS, WekaIO, Vast, …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Used for scratch space - big, fast, not backed up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Used for work/project space - smaller, fast, backed up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235" name="Google Shape;235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1d395c020e_2_128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Network File Systems</a:t>
            </a:r>
            <a:endParaRPr/>
          </a:p>
        </p:txBody>
      </p:sp>
      <p:sp>
        <p:nvSpPr>
          <p:cNvPr id="241" name="Google Shape;241;g21d395c020e_2_1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Mgmt/Service Nodes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Typically don’t mount parallel file systems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If running resource manager, will need to mount home directories and will need user account information (LDAP)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Login Nodes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Mount home directories, applications, scratch, and work/project spaces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Compute nodes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Same as login nodes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Compute nodes should match login nodes as much as possible</a:t>
            </a:r>
            <a:endParaRPr/>
          </a:p>
        </p:txBody>
      </p:sp>
      <p:sp>
        <p:nvSpPr>
          <p:cNvPr id="242" name="Google Shape;242;g21d395c020e_2_1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 txBox="1"/>
          <p:nvPr>
            <p:ph type="title"/>
          </p:nvPr>
        </p:nvSpPr>
        <p:spPr>
          <a:xfrm>
            <a:off x="628650" y="273848"/>
            <a:ext cx="78867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Account Information/Authentication</a:t>
            </a:r>
            <a:endParaRPr/>
          </a:p>
        </p:txBody>
      </p:sp>
      <p:sp>
        <p:nvSpPr>
          <p:cNvPr id="248" name="Google Shape;248;p13"/>
          <p:cNvSpPr txBox="1"/>
          <p:nvPr>
            <p:ph idx="1" type="body"/>
          </p:nvPr>
        </p:nvSpPr>
        <p:spPr>
          <a:xfrm>
            <a:off x="628650" y="913450"/>
            <a:ext cx="7886700" cy="36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Traditional Flat Files - /etc/passwd, /etc/shadow, /etc/group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LDAP</a:t>
            </a:r>
            <a:r>
              <a:rPr lang="en" sz="1800"/>
              <a:t> - </a:t>
            </a:r>
            <a:r>
              <a:rPr b="1" lang="en" sz="1800"/>
              <a:t>L</a:t>
            </a:r>
            <a:r>
              <a:rPr lang="en" sz="1800"/>
              <a:t>ightweight </a:t>
            </a:r>
            <a:r>
              <a:rPr b="1" lang="en" sz="1800"/>
              <a:t>D</a:t>
            </a:r>
            <a:r>
              <a:rPr lang="en" sz="1800"/>
              <a:t>irectory </a:t>
            </a:r>
            <a:r>
              <a:rPr b="1" lang="en" sz="1800"/>
              <a:t>A</a:t>
            </a:r>
            <a:r>
              <a:rPr lang="en" sz="1800"/>
              <a:t>ccess </a:t>
            </a:r>
            <a:r>
              <a:rPr b="1" lang="en" sz="1800"/>
              <a:t>P</a:t>
            </a:r>
            <a:r>
              <a:rPr lang="en" sz="1800"/>
              <a:t>rotocol - A standardized protocol for providing user account information, and other information to computers on your network. Can also provide user authentication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Kerberos </a:t>
            </a:r>
            <a:r>
              <a:rPr lang="en" sz="1800"/>
              <a:t>- A protocol for authentication that can authenticate users, computers, and services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SSSD</a:t>
            </a:r>
            <a:r>
              <a:rPr lang="en" sz="1800"/>
              <a:t> - </a:t>
            </a:r>
            <a:r>
              <a:rPr b="1" lang="en" sz="1800"/>
              <a:t>S</a:t>
            </a:r>
            <a:r>
              <a:rPr lang="en" sz="1800"/>
              <a:t>ystem </a:t>
            </a:r>
            <a:r>
              <a:rPr b="1" lang="en" sz="1800"/>
              <a:t>S</a:t>
            </a:r>
            <a:r>
              <a:rPr lang="en" sz="1800"/>
              <a:t>ecurity </a:t>
            </a:r>
            <a:r>
              <a:rPr b="1" lang="en" sz="1800"/>
              <a:t>S</a:t>
            </a:r>
            <a:r>
              <a:rPr lang="en" sz="1800"/>
              <a:t>ervices </a:t>
            </a:r>
            <a:r>
              <a:rPr b="1" lang="en" sz="1800"/>
              <a:t>D</a:t>
            </a:r>
            <a:r>
              <a:rPr lang="en" sz="1800"/>
              <a:t>aemon - Handles account lookups and use authentication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Can use LDAP and Kerberos for </a:t>
            </a:r>
            <a:r>
              <a:rPr lang="en"/>
              <a:t>account</a:t>
            </a:r>
            <a:r>
              <a:rPr lang="en" sz="1800"/>
              <a:t> lookup and use</a:t>
            </a:r>
            <a:r>
              <a:rPr lang="en"/>
              <a:t>r </a:t>
            </a:r>
            <a:r>
              <a:rPr lang="en" sz="1800"/>
              <a:t>authentication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Important to cache lookups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PAM </a:t>
            </a:r>
            <a:r>
              <a:rPr lang="en" sz="1800"/>
              <a:t>- </a:t>
            </a:r>
            <a:r>
              <a:rPr b="1" lang="en" sz="1800"/>
              <a:t>P</a:t>
            </a:r>
            <a:r>
              <a:rPr lang="en" sz="1800"/>
              <a:t>luggable </a:t>
            </a:r>
            <a:r>
              <a:rPr b="1" lang="en" sz="1800"/>
              <a:t>A</a:t>
            </a:r>
            <a:r>
              <a:rPr lang="en" sz="1800"/>
              <a:t>uthentication </a:t>
            </a:r>
            <a:r>
              <a:rPr b="1" lang="en" sz="1800"/>
              <a:t>M</a:t>
            </a:r>
            <a:r>
              <a:rPr lang="en" sz="1800"/>
              <a:t>odules</a:t>
            </a:r>
            <a:endParaRPr sz="1800"/>
          </a:p>
        </p:txBody>
      </p:sp>
      <p:sp>
        <p:nvSpPr>
          <p:cNvPr id="249" name="Google Shape;249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Time Service</a:t>
            </a:r>
            <a:endParaRPr/>
          </a:p>
        </p:txBody>
      </p:sp>
      <p:sp>
        <p:nvSpPr>
          <p:cNvPr id="255" name="Google Shape;255;p7"/>
          <p:cNvSpPr txBox="1"/>
          <p:nvPr>
            <p:ph idx="1" type="body"/>
          </p:nvPr>
        </p:nvSpPr>
        <p:spPr>
          <a:xfrm>
            <a:off x="628650" y="1112050"/>
            <a:ext cx="7886700" cy="3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Use a time service to sync the times of all the various cluster components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Synchronized times is important for network file systems, logging, authentication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Management/Service Nodes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Connect to upstream time servers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Provide time server for compute nodes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Login Nodes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Connect to upstream time servers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Compute Nodes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Connect to Mgmt/Service Nodes time servers</a:t>
            </a:r>
            <a:endParaRPr sz="2000"/>
          </a:p>
        </p:txBody>
      </p:sp>
      <p:sp>
        <p:nvSpPr>
          <p:cNvPr id="256" name="Google Shape;256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1d395c020e_2_1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SSH </a:t>
            </a:r>
            <a:endParaRPr/>
          </a:p>
        </p:txBody>
      </p:sp>
      <p:sp>
        <p:nvSpPr>
          <p:cNvPr id="262" name="Google Shape;262;g21d395c020e_2_116"/>
          <p:cNvSpPr txBox="1"/>
          <p:nvPr>
            <p:ph idx="1" type="body"/>
          </p:nvPr>
        </p:nvSpPr>
        <p:spPr>
          <a:xfrm>
            <a:off x="628650" y="1102525"/>
            <a:ext cx="7886700" cy="3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SSH</a:t>
            </a:r>
            <a:r>
              <a:rPr lang="en" sz="1800"/>
              <a:t> - </a:t>
            </a:r>
            <a:r>
              <a:rPr b="1" lang="en" sz="1800"/>
              <a:t>S</a:t>
            </a:r>
            <a:r>
              <a:rPr lang="en" sz="1800"/>
              <a:t>ecure </a:t>
            </a:r>
            <a:r>
              <a:rPr b="1" lang="en" sz="1800"/>
              <a:t>Sh</a:t>
            </a:r>
            <a:r>
              <a:rPr lang="en" sz="1800"/>
              <a:t>ell - a method of logging into a remote system that uses strong encryption to make sure the connection is secure. It uses cryptography to verify the identity of remote system. Users can create public/private key pairs to login without using passwords.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Mgmt/Service Nodes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Only accessible from the local network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Login Nodes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Usually accessible from the Internet (All the Things!)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Rate limiting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Compute Nodes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Only accessible from cluster networks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Use pam_adopt to limit logins to users with running jobs</a:t>
            </a:r>
            <a:endParaRPr/>
          </a:p>
        </p:txBody>
      </p:sp>
      <p:sp>
        <p:nvSpPr>
          <p:cNvPr id="263" name="Google Shape;263;g21d395c020e_2_1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3000"/>
              <a:t>Logging</a:t>
            </a:r>
            <a:endParaRPr sz="3000"/>
          </a:p>
        </p:txBody>
      </p:sp>
      <p:sp>
        <p:nvSpPr>
          <p:cNvPr id="269" name="Google Shape;269;p12"/>
          <p:cNvSpPr txBox="1"/>
          <p:nvPr>
            <p:ph idx="1" type="body"/>
          </p:nvPr>
        </p:nvSpPr>
        <p:spPr>
          <a:xfrm>
            <a:off x="628650" y="1369225"/>
            <a:ext cx="7886700" cy="27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Centralized logging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rsyslog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Logging locally will reduce the memory of stateless compute nodes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Stateless compute nodes will lose local logs when rebooted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Stateless compute nodes can also be set to kdump to the network when the kernel crashes</a:t>
            </a:r>
            <a:endParaRPr sz="2000"/>
          </a:p>
        </p:txBody>
      </p:sp>
      <p:sp>
        <p:nvSpPr>
          <p:cNvPr id="270" name="Google Shape;270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Monitoring/Metrics</a:t>
            </a:r>
            <a:endParaRPr/>
          </a:p>
        </p:txBody>
      </p:sp>
      <p:sp>
        <p:nvSpPr>
          <p:cNvPr id="276" name="Google Shape;276;p17"/>
          <p:cNvSpPr txBox="1"/>
          <p:nvPr>
            <p:ph idx="1" type="body"/>
          </p:nvPr>
        </p:nvSpPr>
        <p:spPr>
          <a:xfrm>
            <a:off x="628650" y="1369225"/>
            <a:ext cx="7886700" cy="27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2000"/>
              <a:buChar char="•"/>
            </a:pPr>
            <a:r>
              <a:rPr b="1" lang="en" sz="2000"/>
              <a:t>ganglia</a:t>
            </a:r>
            <a:r>
              <a:rPr lang="en" sz="2000"/>
              <a:t> - Popular open-source, web-based tool for monitoring and trending CPU utilization, memory usage and other cluster statistics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Requires services to run on the server and the clients to be monitored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" sz="2000"/>
              <a:t>Nagios</a:t>
            </a:r>
            <a:r>
              <a:rPr lang="en" sz="2000"/>
              <a:t> - An older, but still popular monitoring tool that can determine if a system is up and if the configured services are operating properly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" sz="2000"/>
              <a:t>Zabbix </a:t>
            </a:r>
            <a:r>
              <a:rPr lang="en" sz="2000"/>
              <a:t>- Another monitoring tool that can also collect metrics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" sz="2000"/>
              <a:t>Time Series Database </a:t>
            </a:r>
            <a:r>
              <a:rPr lang="en" sz="2000"/>
              <a:t>- Uses tools like telegraf to stuff metrics into a time series database for monitoring and analysis</a:t>
            </a:r>
            <a:endParaRPr sz="2000"/>
          </a:p>
        </p:txBody>
      </p:sp>
      <p:sp>
        <p:nvSpPr>
          <p:cNvPr id="277" name="Google Shape;27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Security</a:t>
            </a:r>
            <a:endParaRPr/>
          </a:p>
        </p:txBody>
      </p:sp>
      <p:sp>
        <p:nvSpPr>
          <p:cNvPr id="283" name="Google Shape;283;p15"/>
          <p:cNvSpPr txBox="1"/>
          <p:nvPr>
            <p:ph idx="1" type="body"/>
          </p:nvPr>
        </p:nvSpPr>
        <p:spPr>
          <a:xfrm>
            <a:off x="628650" y="1045375"/>
            <a:ext cx="7886700" cy="3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Use firewalls (iptable, nftables, etc) to limit access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" sz="1800"/>
              <a:t>NAT</a:t>
            </a:r>
            <a:r>
              <a:rPr lang="en" sz="1800"/>
              <a:t> - </a:t>
            </a:r>
            <a:r>
              <a:rPr b="1" lang="en" sz="1800"/>
              <a:t>N</a:t>
            </a:r>
            <a:r>
              <a:rPr lang="en" sz="1800"/>
              <a:t>etwork </a:t>
            </a:r>
            <a:r>
              <a:rPr b="1" lang="en" sz="1800"/>
              <a:t>A</a:t>
            </a:r>
            <a:r>
              <a:rPr lang="en" sz="1800"/>
              <a:t>ddress </a:t>
            </a:r>
            <a:r>
              <a:rPr b="1" lang="en" sz="1800"/>
              <a:t>T</a:t>
            </a:r>
            <a:r>
              <a:rPr lang="en" sz="1800"/>
              <a:t>ranslation - Wraps private IP addresses with a public IP address for accessing the Internet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Mgmt/Service Node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Locked down to only be accessible to the local area network and the cluster networks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NAT should be configured so it can act as a gateway for the compute nodes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Login Node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SSH allowed from the Internet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Compute Nodes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Are only accessible from the cluster networks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1d395c020e_2_140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Config Management/User Environment</a:t>
            </a:r>
            <a:endParaRPr/>
          </a:p>
        </p:txBody>
      </p:sp>
      <p:sp>
        <p:nvSpPr>
          <p:cNvPr id="290" name="Google Shape;290;g21d395c020e_2_140"/>
          <p:cNvSpPr txBox="1"/>
          <p:nvPr>
            <p:ph idx="1" type="body"/>
          </p:nvPr>
        </p:nvSpPr>
        <p:spPr>
          <a:xfrm>
            <a:off x="628650" y="1369240"/>
            <a:ext cx="78867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Configuration Manager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Used to impose a configuration on the cluster components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Puppet, Ansible, Salt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User Environment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Compilers, libraries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Shell environment</a:t>
            </a:r>
            <a:endParaRPr sz="2000"/>
          </a:p>
          <a:p>
            <a:pPr indent="-355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Lmod, environment modules</a:t>
            </a:r>
            <a:endParaRPr sz="2000"/>
          </a:p>
          <a:p>
            <a:pPr indent="-355600" lvl="2" marL="1371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Set $PATH, $LD_LIBRARY_PATH, $MANPATH for supported applications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" sz="2000"/>
              <a:t>Available on the login nodes and the compute nodes</a:t>
            </a:r>
            <a:endParaRPr sz="2000"/>
          </a:p>
        </p:txBody>
      </p:sp>
      <p:sp>
        <p:nvSpPr>
          <p:cNvPr id="291" name="Google Shape;291;g21d395c020e_2_1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Conclusions </a:t>
            </a:r>
            <a:endParaRPr/>
          </a:p>
        </p:txBody>
      </p:sp>
      <p:sp>
        <p:nvSpPr>
          <p:cNvPr id="297" name="Google Shape;297;p40"/>
          <p:cNvSpPr txBox="1"/>
          <p:nvPr>
            <p:ph idx="1" type="body"/>
          </p:nvPr>
        </p:nvSpPr>
        <p:spPr>
          <a:xfrm>
            <a:off x="628650" y="2009849"/>
            <a:ext cx="7886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</a:pPr>
            <a:r>
              <a:rPr lang="en" sz="3000"/>
              <a:t>Thanks and questions?</a:t>
            </a:r>
            <a:endParaRPr sz="3000"/>
          </a:p>
        </p:txBody>
      </p:sp>
      <p:sp>
        <p:nvSpPr>
          <p:cNvPr id="298" name="Google Shape;298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