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6858000" cx="9144000"/>
  <p:notesSz cx="68580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iKysy75biRqrC28rHmuEhHJsfD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1263"/>
            <a:ext cx="2971800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4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4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4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4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4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4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47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4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4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5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5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5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5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5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5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5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7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57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7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5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2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5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6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6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6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6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4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6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6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6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7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67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8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6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9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6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0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7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1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7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5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25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2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7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3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7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6:notes"/>
          <p:cNvSpPr txBox="1"/>
          <p:nvPr>
            <p:ph idx="1" type="body"/>
          </p:nvPr>
        </p:nvSpPr>
        <p:spPr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9" name="Google Shape;649;p2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eader image" id="23" name="Google Shape;2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7042"/>
            <a:ext cx="4495800" cy="1254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CI Workshops home" id="24" name="Google Shape;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4223"/>
            <a:ext cx="4238847" cy="123334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8"/>
          <p:cNvSpPr txBox="1"/>
          <p:nvPr/>
        </p:nvSpPr>
        <p:spPr>
          <a:xfrm>
            <a:off x="4495800" y="0"/>
            <a:ext cx="228600" cy="12475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8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8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c9ad995-a8e0-458a-bad2-bbd00f228940@mx" id="15" name="Google Shape;15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58000" y="153371"/>
            <a:ext cx="1896140" cy="5952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27"/>
          <p:cNvCxnSpPr/>
          <p:nvPr/>
        </p:nvCxnSpPr>
        <p:spPr>
          <a:xfrm>
            <a:off x="0" y="6176963"/>
            <a:ext cx="9144000" cy="0"/>
          </a:xfrm>
          <a:prstGeom prst="straightConnector1">
            <a:avLst/>
          </a:prstGeom>
          <a:noFill/>
          <a:ln cap="flat" cmpd="sng" w="762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-nc/4.0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14.jpg"/><Relationship Id="rId8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4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hyperlink" Target="https://www.ibm.com/products/spectrum-scale" TargetMode="External"/><Relationship Id="rId6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hyperlink" Target="https://doc.beegfs.io/" TargetMode="External"/><Relationship Id="rId6" Type="http://schemas.openxmlformats.org/officeDocument/2006/relationships/image" Target="../media/image3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hyperlink" Target="https://vastdata.com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lto.org/lto-generation-compatibility/" TargetMode="External"/><Relationship Id="rId10" Type="http://schemas.openxmlformats.org/officeDocument/2006/relationships/hyperlink" Target="https://en.wikipedia.org/wiki/InfiniBand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https://www.snia.org/forums/cmsi/knowledge/formfactors" TargetMode="External"/><Relationship Id="rId5" Type="http://schemas.openxmlformats.org/officeDocument/2006/relationships/hyperlink" Target="https://www.youtube.com/watch?v=n0OfAoUXUJw" TargetMode="External"/><Relationship Id="rId6" Type="http://schemas.openxmlformats.org/officeDocument/2006/relationships/hyperlink" Target="https://www.youtube.com/watch?v=pBmtY4Tk-R8" TargetMode="External"/><Relationship Id="rId7" Type="http://schemas.openxmlformats.org/officeDocument/2006/relationships/hyperlink" Target="https://docs.nvidia.com/gpudirect-storage/overview-guide/index.html" TargetMode="External"/><Relationship Id="rId8" Type="http://schemas.openxmlformats.org/officeDocument/2006/relationships/hyperlink" Target="https://www.geeksforgeeks.org/remote-direct-memory-access-rdma/" TargetMode="External"/></Relationships>
</file>

<file path=ppt/slides/_rels/slide48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ddn.com/products/lustre-file-system-exascaler/" TargetMode="External"/><Relationship Id="rId10" Type="http://schemas.openxmlformats.org/officeDocument/2006/relationships/hyperlink" Target="http://wiki.lustre.org/" TargetMode="External"/><Relationship Id="rId13" Type="http://schemas.openxmlformats.org/officeDocument/2006/relationships/hyperlink" Target="http://www.spectrumscale.org/" TargetMode="External"/><Relationship Id="rId12" Type="http://schemas.openxmlformats.org/officeDocument/2006/relationships/hyperlink" Target="http://www.ibm.com/products/spectrum-scale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http://www.opensfs.org/" TargetMode="External"/><Relationship Id="rId15" Type="http://schemas.openxmlformats.org/officeDocument/2006/relationships/hyperlink" Target="https://vastdata.com/" TargetMode="External"/><Relationship Id="rId14" Type="http://schemas.openxmlformats.org/officeDocument/2006/relationships/hyperlink" Target="https://docs.ceph.com/en/quincy/" TargetMode="External"/><Relationship Id="rId5" Type="http://schemas.openxmlformats.org/officeDocument/2006/relationships/hyperlink" Target="https://fasterdata.es.net/" TargetMode="External"/><Relationship Id="rId6" Type="http://schemas.openxmlformats.org/officeDocument/2006/relationships/hyperlink" Target="https://ior.readthedocs.io/en/latest/" TargetMode="External"/><Relationship Id="rId7" Type="http://schemas.openxmlformats.org/officeDocument/2006/relationships/hyperlink" Target="https://github.com/breuner/elbencho" TargetMode="External"/><Relationship Id="rId8" Type="http://schemas.openxmlformats.org/officeDocument/2006/relationships/hyperlink" Target="https://glennklockwood.blogspot.com/2016/07/basics-of-io-benchmarking.html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hyperlink" Target="https://thelinuxcluster.com/2012/10/18/a-brief-look-at-the-difference-between-nfsv3-and-nfsv4/" TargetMode="External"/><Relationship Id="rId6" Type="http://schemas.openxmlformats.org/officeDocument/2006/relationships/hyperlink" Target="https://zfsonlinux.org/" TargetMode="External"/><Relationship Id="rId7" Type="http://schemas.openxmlformats.org/officeDocument/2006/relationships/hyperlink" Target="https://openzfs.github.io/openzfs-docs/Project%20and%20Community/Mailing%20Lists.html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5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Linux Clusters Institute:</a:t>
            </a:r>
            <a:br>
              <a:rPr lang="en-US">
                <a:solidFill>
                  <a:srgbClr val="C00000"/>
                </a:solidFill>
              </a:rPr>
            </a:br>
            <a:r>
              <a:rPr lang="en-US">
                <a:solidFill>
                  <a:srgbClr val="C00000"/>
                </a:solidFill>
              </a:rPr>
              <a:t>HPC Storage: Part 1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J.D. Maloney | Sr. HPC Storage Engineer</a:t>
            </a:r>
            <a:endParaRPr/>
          </a:p>
          <a:p>
            <a:pPr indent="-361950" lvl="0" marL="45720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National Center for Supercomputing Applications (NCSA)</a:t>
            </a:r>
            <a:endParaRPr/>
          </a:p>
          <a:p>
            <a:pPr indent="-361950" lvl="0" marL="45720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malone12@illinois.edu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28600" y="5715000"/>
            <a:ext cx="86868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document is a result of work by volunteer LCI instructors and is licensed under CC BY-NC 4.0 (</a:t>
            </a:r>
            <a:r>
              <a:rPr b="0" i="0" lang="en-US" sz="1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https://creativecommons.org/licenses/by-nc/4.0/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sp>
        <p:nvSpPr>
          <p:cNvPr id="98" name="Google Shape;98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311700" y="1152474"/>
            <a:ext cx="8520600" cy="4754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r>
              <a:rPr b="1" lang="en-US" sz="2800"/>
              <a:t>Target Audience: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r>
              <a:rPr lang="en-US" sz="2400"/>
              <a:t>Those involved in designing, implementing, or managing HPC storage systems.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r>
              <a:rPr b="1" lang="en-US" sz="2800"/>
              <a:t>Outline:</a:t>
            </a:r>
            <a:endParaRPr b="1" sz="2800"/>
          </a:p>
          <a:p>
            <a:pPr indent="-36195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100"/>
              <a:buChar char="●"/>
            </a:pPr>
            <a:r>
              <a:rPr lang="en-US" sz="2400"/>
              <a:t>Common Storage Concepts and Terms</a:t>
            </a:r>
            <a:endParaRPr sz="24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400"/>
              <a:t>Storage Related Goals &amp; Requirements</a:t>
            </a:r>
            <a:endParaRPr sz="24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400"/>
              <a:t>Storage Hardware</a:t>
            </a:r>
            <a:endParaRPr sz="24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400"/>
              <a:t>Storage Software</a:t>
            </a:r>
            <a:endParaRPr sz="24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400"/>
              <a:t>Wrap Up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3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16" name="Google Shape;11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9"/>
          <p:cNvSpPr txBox="1"/>
          <p:nvPr>
            <p:ph type="title"/>
          </p:nvPr>
        </p:nvSpPr>
        <p:spPr>
          <a:xfrm>
            <a:off x="228600" y="501100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Concepts and Terms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What is Storage?</a:t>
            </a:r>
            <a:endParaRPr/>
          </a:p>
        </p:txBody>
      </p:sp>
      <p:sp>
        <p:nvSpPr>
          <p:cNvPr id="124" name="Google Shape;124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4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26" name="Google Shape;12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0"/>
          <p:cNvSpPr txBox="1"/>
          <p:nvPr>
            <p:ph idx="1" type="body"/>
          </p:nvPr>
        </p:nvSpPr>
        <p:spPr>
          <a:xfrm>
            <a:off x="114334" y="1445918"/>
            <a:ext cx="5552481" cy="454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A place to </a:t>
            </a:r>
            <a:r>
              <a:rPr b="1" lang="en-US" sz="1800"/>
              <a:t>store </a:t>
            </a:r>
            <a:r>
              <a:rPr lang="en-US" sz="1800"/>
              <a:t>data. Either temporarily or permanently.</a:t>
            </a:r>
            <a:endParaRPr sz="1800"/>
          </a:p>
          <a:p>
            <a:pPr indent="-3175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lang="en-US" sz="1800"/>
              <a:t>Processor Cache</a:t>
            </a:r>
            <a:endParaRPr sz="18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Fastest access; closest to the CPU; temporary (L1, L2)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/>
              <a:t>System Memory (DRAM)</a:t>
            </a:r>
            <a:endParaRPr sz="18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Very Fast access; close to CPU but not on it; temporary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/>
              <a:t>Solid State Storage</a:t>
            </a:r>
            <a:endParaRPr sz="18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Fast access (esp. random)</a:t>
            </a:r>
            <a:endParaRPr sz="14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Can be internal or part of an external storage system</a:t>
            </a:r>
            <a:endParaRPr sz="14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Capable of high densities with high associated costs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/>
              <a:t>Spinning Disk</a:t>
            </a:r>
            <a:endParaRPr sz="18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Slower; performance is tied to access behavior</a:t>
            </a:r>
            <a:endParaRPr sz="14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Can be internal or part of an external storage system</a:t>
            </a:r>
            <a:endParaRPr sz="14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Capable of extremely high densities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/>
              <a:t>Network / Cloud storage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400"/>
              <a:t>Network - Can scale from slow to extremely fast, high density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/>
              <a:t>Tape</a:t>
            </a:r>
            <a:endParaRPr sz="18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 sz="1400"/>
              <a:t>Extremely slow; typically used for cold storage</a:t>
            </a:r>
            <a:endParaRPr/>
          </a:p>
          <a:p>
            <a:pPr indent="0" lvl="1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</p:txBody>
      </p:sp>
      <p:cxnSp>
        <p:nvCxnSpPr>
          <p:cNvPr id="129" name="Google Shape;129;p40"/>
          <p:cNvCxnSpPr/>
          <p:nvPr/>
        </p:nvCxnSpPr>
        <p:spPr>
          <a:xfrm flipH="1" rot="10800000">
            <a:off x="5109299" y="1323602"/>
            <a:ext cx="1538572" cy="3050247"/>
          </a:xfrm>
          <a:prstGeom prst="straightConnector1">
            <a:avLst/>
          </a:prstGeom>
          <a:noFill/>
          <a:ln cap="flat" cmpd="sng" w="762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40"/>
          <p:cNvCxnSpPr/>
          <p:nvPr/>
        </p:nvCxnSpPr>
        <p:spPr>
          <a:xfrm>
            <a:off x="7420001" y="1323602"/>
            <a:ext cx="1648707" cy="2985207"/>
          </a:xfrm>
          <a:prstGeom prst="straightConnector1">
            <a:avLst/>
          </a:prstGeom>
          <a:noFill/>
          <a:ln cap="flat" cmpd="sng" w="76200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1" name="Google Shape;131;p40"/>
          <p:cNvSpPr txBox="1"/>
          <p:nvPr/>
        </p:nvSpPr>
        <p:spPr>
          <a:xfrm rot="-3879603">
            <a:off x="4504847" y="1996830"/>
            <a:ext cx="2674585" cy="364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0"/>
          <p:cNvSpPr txBox="1"/>
          <p:nvPr/>
        </p:nvSpPr>
        <p:spPr>
          <a:xfrm rot="3726453">
            <a:off x="7055494" y="2184653"/>
            <a:ext cx="2525379" cy="292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&amp; Size Increase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40"/>
          <p:cNvGrpSpPr/>
          <p:nvPr/>
        </p:nvGrpSpPr>
        <p:grpSpPr>
          <a:xfrm>
            <a:off x="5335215" y="798607"/>
            <a:ext cx="3500972" cy="3362366"/>
            <a:chOff x="2" y="248819"/>
            <a:chExt cx="4561285" cy="3865980"/>
          </a:xfrm>
        </p:grpSpPr>
        <p:sp>
          <p:nvSpPr>
            <p:cNvPr id="134" name="Google Shape;134;p40"/>
            <p:cNvSpPr/>
            <p:nvPr/>
          </p:nvSpPr>
          <p:spPr>
            <a:xfrm>
              <a:off x="2001894" y="248819"/>
              <a:ext cx="459116" cy="451980"/>
            </a:xfrm>
            <a:prstGeom prst="trapezoid">
              <a:avLst>
                <a:gd fmla="val 53704" name="adj"/>
              </a:avLst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0"/>
            <p:cNvSpPr/>
            <p:nvPr/>
          </p:nvSpPr>
          <p:spPr>
            <a:xfrm>
              <a:off x="1600403" y="685801"/>
              <a:ext cx="1278023" cy="685800"/>
            </a:xfrm>
            <a:prstGeom prst="trapezoid">
              <a:avLst>
                <a:gd fmla="val 53704" name="adj"/>
              </a:avLst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0"/>
            <p:cNvSpPr txBox="1"/>
            <p:nvPr/>
          </p:nvSpPr>
          <p:spPr>
            <a:xfrm>
              <a:off x="1774667" y="685800"/>
              <a:ext cx="9576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Times New Roman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Cache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Times New Roman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(L1, L2, L3,)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0"/>
            <p:cNvSpPr/>
            <p:nvPr/>
          </p:nvSpPr>
          <p:spPr>
            <a:xfrm>
              <a:off x="1204421" y="1371601"/>
              <a:ext cx="2110276" cy="685800"/>
            </a:xfrm>
            <a:prstGeom prst="trapezoid">
              <a:avLst>
                <a:gd fmla="val 53704" name="adj"/>
              </a:avLst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0"/>
            <p:cNvSpPr txBox="1"/>
            <p:nvPr/>
          </p:nvSpPr>
          <p:spPr>
            <a:xfrm>
              <a:off x="1491613" y="1371600"/>
              <a:ext cx="1436401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Times New Roman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Memory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Times New Roman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(DRAM, HBM, 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0"/>
            <p:cNvSpPr/>
            <p:nvPr/>
          </p:nvSpPr>
          <p:spPr>
            <a:xfrm>
              <a:off x="795053" y="2057401"/>
              <a:ext cx="2938722" cy="685800"/>
            </a:xfrm>
            <a:prstGeom prst="trapezoid">
              <a:avLst>
                <a:gd fmla="val 53704" name="adj"/>
              </a:avLst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0"/>
            <p:cNvSpPr txBox="1"/>
            <p:nvPr/>
          </p:nvSpPr>
          <p:spPr>
            <a:xfrm>
              <a:off x="1252217" y="2057399"/>
              <a:ext cx="1915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Times New Roman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Solid State Disk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Times New Roman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(SATA SSD, M.2 Module, PCIe Card)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0"/>
            <p:cNvSpPr/>
            <p:nvPr/>
          </p:nvSpPr>
          <p:spPr>
            <a:xfrm>
              <a:off x="403020" y="2743199"/>
              <a:ext cx="3742422" cy="685800"/>
            </a:xfrm>
            <a:prstGeom prst="trapezoid">
              <a:avLst>
                <a:gd fmla="val 53704" name="adj"/>
              </a:avLst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0"/>
            <p:cNvSpPr txBox="1"/>
            <p:nvPr/>
          </p:nvSpPr>
          <p:spPr>
            <a:xfrm>
              <a:off x="1012824" y="2743199"/>
              <a:ext cx="2394001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Times New Roman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Spinning Disks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Times New Roman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(PMR, SMR, HAMR/MAMR)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0"/>
            <p:cNvSpPr/>
            <p:nvPr/>
          </p:nvSpPr>
          <p:spPr>
            <a:xfrm>
              <a:off x="2" y="3428999"/>
              <a:ext cx="4561285" cy="685800"/>
            </a:xfrm>
            <a:prstGeom prst="trapezoid">
              <a:avLst>
                <a:gd fmla="val 53704" name="adj"/>
              </a:avLst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0"/>
            <p:cNvSpPr txBox="1"/>
            <p:nvPr/>
          </p:nvSpPr>
          <p:spPr>
            <a:xfrm>
              <a:off x="773412" y="3409353"/>
              <a:ext cx="2872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Times New Roman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35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Times New Roman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(LTO, TS11XX)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40"/>
          <p:cNvSpPr txBox="1"/>
          <p:nvPr/>
        </p:nvSpPr>
        <p:spPr>
          <a:xfrm>
            <a:off x="5945448" y="767667"/>
            <a:ext cx="2204991" cy="591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3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4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52" name="Google Shape;15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1"/>
          <p:cNvSpPr txBox="1"/>
          <p:nvPr>
            <p:ph idx="1" type="body"/>
          </p:nvPr>
        </p:nvSpPr>
        <p:spPr>
          <a:xfrm>
            <a:off x="311700" y="2070348"/>
            <a:ext cx="8520600" cy="355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>
                <a:solidFill>
                  <a:schemeClr val="dk1"/>
                </a:solidFill>
              </a:rPr>
              <a:t>Throughput: </a:t>
            </a:r>
            <a:r>
              <a:rPr i="1" lang="en-US" sz="1800">
                <a:solidFill>
                  <a:schemeClr val="dk1"/>
                </a:solidFill>
              </a:rPr>
              <a:t>Storage capability usually measured in GB/s (or TB/s)</a:t>
            </a:r>
            <a:endParaRPr b="1" i="1" sz="18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>
                <a:solidFill>
                  <a:schemeClr val="dk1"/>
                </a:solidFill>
              </a:rPr>
              <a:t>IOPs: </a:t>
            </a:r>
            <a:r>
              <a:rPr i="1" lang="en-US" sz="1800">
                <a:solidFill>
                  <a:schemeClr val="dk1"/>
                </a:solidFill>
              </a:rPr>
              <a:t>Input/Output Operations per second</a:t>
            </a:r>
            <a:endParaRPr i="1" sz="18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>
                <a:solidFill>
                  <a:schemeClr val="dk1"/>
                </a:solidFill>
              </a:rPr>
              <a:t>RAID: </a:t>
            </a:r>
            <a:r>
              <a:rPr i="1" lang="en-US" sz="1800">
                <a:solidFill>
                  <a:schemeClr val="dk1"/>
                </a:solidFill>
              </a:rPr>
              <a:t>Redundant Array of Independent Disks</a:t>
            </a:r>
            <a:endParaRPr i="1" sz="18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>
                <a:solidFill>
                  <a:schemeClr val="dk1"/>
                </a:solidFill>
              </a:rPr>
              <a:t>JBOD: </a:t>
            </a:r>
            <a:r>
              <a:rPr i="1" lang="en-US" sz="1800">
                <a:solidFill>
                  <a:schemeClr val="dk1"/>
                </a:solidFill>
              </a:rPr>
              <a:t>Just a Bunch of Disks</a:t>
            </a:r>
            <a:endParaRPr i="1" sz="18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/>
              <a:t>JBOF</a:t>
            </a:r>
            <a:r>
              <a:rPr b="1" i="1" lang="en-US" sz="1800">
                <a:solidFill>
                  <a:schemeClr val="dk1"/>
                </a:solidFill>
              </a:rPr>
              <a:t>: </a:t>
            </a:r>
            <a:r>
              <a:rPr i="1" lang="en-US" sz="1800"/>
              <a:t>Just a Bunch of Flash</a:t>
            </a:r>
            <a:endParaRPr b="1" i="1" sz="18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>
                <a:solidFill>
                  <a:schemeClr val="dk1"/>
                </a:solidFill>
              </a:rPr>
              <a:t>Storage Server: </a:t>
            </a:r>
            <a:r>
              <a:rPr i="1" lang="en-US" sz="1800">
                <a:solidFill>
                  <a:schemeClr val="dk1"/>
                </a:solidFill>
              </a:rPr>
              <a:t>provide direct access to storage device and functions as a data manager for that disk</a:t>
            </a:r>
            <a:endParaRPr b="1" i="1" sz="18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>
                <a:solidFill>
                  <a:schemeClr val="dk1"/>
                </a:solidFill>
              </a:rPr>
              <a:t>Storage Client: </a:t>
            </a:r>
            <a:r>
              <a:rPr i="1" lang="en-US" sz="1800">
                <a:solidFill>
                  <a:schemeClr val="dk1"/>
                </a:solidFill>
              </a:rPr>
              <a:t>accesses data, but plays no role in data management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b="1" i="1" lang="en-US" sz="1800"/>
              <a:t>NAS: </a:t>
            </a:r>
            <a:r>
              <a:rPr i="1" lang="en-US" sz="1800"/>
              <a:t>Network Attached Storage</a:t>
            </a:r>
            <a:endParaRPr b="1" i="1" sz="18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800">
                <a:solidFill>
                  <a:schemeClr val="dk1"/>
                </a:solidFill>
              </a:rPr>
              <a:t>SAN: </a:t>
            </a:r>
            <a:r>
              <a:rPr i="1" lang="en-US" sz="1800"/>
              <a:t>S</a:t>
            </a:r>
            <a:r>
              <a:rPr i="1" lang="en-US" sz="1800">
                <a:solidFill>
                  <a:schemeClr val="dk1"/>
                </a:solidFill>
              </a:rPr>
              <a:t>torage </a:t>
            </a:r>
            <a:r>
              <a:rPr i="1" lang="en-US" sz="1800"/>
              <a:t>A</a:t>
            </a:r>
            <a:r>
              <a:rPr i="1" lang="en-US" sz="1800">
                <a:solidFill>
                  <a:schemeClr val="dk1"/>
                </a:solidFill>
              </a:rPr>
              <a:t>rea </a:t>
            </a:r>
            <a:r>
              <a:rPr i="1" lang="en-US" sz="1800"/>
              <a:t>N</a:t>
            </a:r>
            <a:r>
              <a:rPr i="1" lang="en-US" sz="1800">
                <a:solidFill>
                  <a:schemeClr val="dk1"/>
                </a:solidFill>
              </a:rPr>
              <a:t>etwork</a:t>
            </a:r>
            <a:endParaRPr/>
          </a:p>
        </p:txBody>
      </p:sp>
      <p:sp>
        <p:nvSpPr>
          <p:cNvPr id="155" name="Google Shape;155;p41"/>
          <p:cNvSpPr txBox="1"/>
          <p:nvPr>
            <p:ph type="title"/>
          </p:nvPr>
        </p:nvSpPr>
        <p:spPr>
          <a:xfrm>
            <a:off x="409354" y="1087594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Concepts and Terms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4"/>
          <p:cNvGrpSpPr/>
          <p:nvPr/>
        </p:nvGrpSpPr>
        <p:grpSpPr>
          <a:xfrm>
            <a:off x="5344904" y="2481541"/>
            <a:ext cx="3657524" cy="3311516"/>
            <a:chOff x="4953000" y="1447800"/>
            <a:chExt cx="2667000" cy="1540670"/>
          </a:xfrm>
        </p:grpSpPr>
        <p:sp>
          <p:nvSpPr>
            <p:cNvPr id="165" name="Google Shape;165;p4"/>
            <p:cNvSpPr/>
            <p:nvPr/>
          </p:nvSpPr>
          <p:spPr>
            <a:xfrm>
              <a:off x="5943600" y="1447800"/>
              <a:ext cx="533400" cy="457200"/>
            </a:xfrm>
            <a:prstGeom prst="can">
              <a:avLst>
                <a:gd fmla="val 25000" name="adj"/>
              </a:avLst>
            </a:prstGeom>
            <a:solidFill>
              <a:srgbClr val="ED7D3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5334000" y="2074069"/>
              <a:ext cx="533400" cy="304800"/>
            </a:xfrm>
            <a:prstGeom prst="roundRect">
              <a:avLst>
                <a:gd fmla="val 16667" name="adj"/>
              </a:avLst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Active Controller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4953000" y="2759868"/>
              <a:ext cx="609600" cy="228601"/>
            </a:xfrm>
            <a:prstGeom prst="flowChartDecision">
              <a:avLst/>
            </a:prstGeom>
            <a:solidFill>
              <a:srgbClr val="92D050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5638800" y="2759869"/>
              <a:ext cx="609600" cy="228601"/>
            </a:xfrm>
            <a:prstGeom prst="flowChartDecision">
              <a:avLst/>
            </a:prstGeom>
            <a:solidFill>
              <a:srgbClr val="92D050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6324600" y="2759869"/>
              <a:ext cx="609600" cy="228601"/>
            </a:xfrm>
            <a:prstGeom prst="flowChartDecision">
              <a:avLst/>
            </a:prstGeom>
            <a:solidFill>
              <a:srgbClr val="92D050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7010400" y="2759869"/>
              <a:ext cx="609600" cy="228601"/>
            </a:xfrm>
            <a:prstGeom prst="flowChartDecision">
              <a:avLst/>
            </a:prstGeom>
            <a:solidFill>
              <a:srgbClr val="92D050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6553200" y="2057400"/>
              <a:ext cx="533400" cy="304800"/>
            </a:xfrm>
            <a:prstGeom prst="roundRect">
              <a:avLst>
                <a:gd fmla="val 16667" name="adj"/>
              </a:avLst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Standby Controller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" name="Google Shape;172;p4"/>
            <p:cNvCxnSpPr>
              <a:stCxn id="165" idx="2"/>
              <a:endCxn id="166" idx="0"/>
            </p:cNvCxnSpPr>
            <p:nvPr/>
          </p:nvCxnSpPr>
          <p:spPr>
            <a:xfrm flipH="1">
              <a:off x="5600700" y="1676400"/>
              <a:ext cx="342900" cy="3978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73" name="Google Shape;173;p4"/>
            <p:cNvCxnSpPr>
              <a:stCxn id="165" idx="4"/>
              <a:endCxn id="171" idx="0"/>
            </p:cNvCxnSpPr>
            <p:nvPr/>
          </p:nvCxnSpPr>
          <p:spPr>
            <a:xfrm>
              <a:off x="6477000" y="1676400"/>
              <a:ext cx="342900" cy="3810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74" name="Google Shape;174;p4"/>
            <p:cNvCxnSpPr>
              <a:stCxn id="171" idx="2"/>
              <a:endCxn id="167" idx="0"/>
            </p:cNvCxnSpPr>
            <p:nvPr/>
          </p:nvCxnSpPr>
          <p:spPr>
            <a:xfrm flipH="1">
              <a:off x="5257800" y="2362200"/>
              <a:ext cx="1562100" cy="3978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75" name="Google Shape;175;p4"/>
            <p:cNvCxnSpPr>
              <a:stCxn id="171" idx="2"/>
              <a:endCxn id="168" idx="0"/>
            </p:cNvCxnSpPr>
            <p:nvPr/>
          </p:nvCxnSpPr>
          <p:spPr>
            <a:xfrm flipH="1">
              <a:off x="5943600" y="2362200"/>
              <a:ext cx="876300" cy="3978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76" name="Google Shape;176;p4"/>
            <p:cNvCxnSpPr>
              <a:stCxn id="171" idx="2"/>
              <a:endCxn id="169" idx="0"/>
            </p:cNvCxnSpPr>
            <p:nvPr/>
          </p:nvCxnSpPr>
          <p:spPr>
            <a:xfrm flipH="1">
              <a:off x="6629400" y="2362200"/>
              <a:ext cx="190500" cy="3978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77" name="Google Shape;177;p4"/>
            <p:cNvCxnSpPr>
              <a:stCxn id="171" idx="2"/>
              <a:endCxn id="170" idx="0"/>
            </p:cNvCxnSpPr>
            <p:nvPr/>
          </p:nvCxnSpPr>
          <p:spPr>
            <a:xfrm>
              <a:off x="6819900" y="2362200"/>
              <a:ext cx="495300" cy="3978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78" name="Google Shape;178;p4"/>
            <p:cNvCxnSpPr>
              <a:stCxn id="166" idx="2"/>
              <a:endCxn id="167" idx="0"/>
            </p:cNvCxnSpPr>
            <p:nvPr/>
          </p:nvCxnSpPr>
          <p:spPr>
            <a:xfrm flipH="1">
              <a:off x="5257800" y="2378869"/>
              <a:ext cx="342900" cy="3810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79" name="Google Shape;179;p4"/>
            <p:cNvCxnSpPr>
              <a:stCxn id="166" idx="2"/>
              <a:endCxn id="168" idx="0"/>
            </p:cNvCxnSpPr>
            <p:nvPr/>
          </p:nvCxnSpPr>
          <p:spPr>
            <a:xfrm>
              <a:off x="5600700" y="2378869"/>
              <a:ext cx="342900" cy="3810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80" name="Google Shape;180;p4"/>
            <p:cNvCxnSpPr>
              <a:stCxn id="166" idx="2"/>
              <a:endCxn id="169" idx="0"/>
            </p:cNvCxnSpPr>
            <p:nvPr/>
          </p:nvCxnSpPr>
          <p:spPr>
            <a:xfrm>
              <a:off x="5600700" y="2378869"/>
              <a:ext cx="1028700" cy="3810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81" name="Google Shape;181;p4"/>
            <p:cNvCxnSpPr>
              <a:stCxn id="166" idx="2"/>
              <a:endCxn id="170" idx="0"/>
            </p:cNvCxnSpPr>
            <p:nvPr/>
          </p:nvCxnSpPr>
          <p:spPr>
            <a:xfrm>
              <a:off x="5600700" y="2378869"/>
              <a:ext cx="1714500" cy="3810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182" name="Google Shape;182;p4"/>
          <p:cNvSpPr txBox="1"/>
          <p:nvPr>
            <p:ph type="title"/>
          </p:nvPr>
        </p:nvSpPr>
        <p:spPr>
          <a:xfrm>
            <a:off x="228600" y="37216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Concepts and Terms</a:t>
            </a:r>
            <a:endParaRPr/>
          </a:p>
        </p:txBody>
      </p:sp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100091" y="1235198"/>
            <a:ext cx="5586556" cy="4829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>
                <a:solidFill>
                  <a:schemeClr val="dk1"/>
                </a:solidFill>
              </a:rPr>
              <a:t>High Availability (HA)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Components are configured in failover pairs 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Prevents a single point of failure in the system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Prevents a service outage</a:t>
            </a:r>
            <a:endParaRPr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>
                <a:solidFill>
                  <a:schemeClr val="dk1"/>
                </a:solidFill>
              </a:rPr>
              <a:t>Failover Pairs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Active/Active</a:t>
            </a:r>
            <a:endParaRPr>
              <a:solidFill>
                <a:schemeClr val="dk1"/>
              </a:solidFill>
            </a:endParaRPr>
          </a:p>
          <a:p>
            <a:pPr indent="-166687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Both component share the load</a:t>
            </a:r>
            <a:endParaRPr>
              <a:solidFill>
                <a:schemeClr val="dk1"/>
              </a:solidFill>
            </a:endParaRPr>
          </a:p>
          <a:p>
            <a:pPr indent="-166687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On failure one component takes over the complete load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Active/Passive</a:t>
            </a:r>
            <a:endParaRPr>
              <a:solidFill>
                <a:schemeClr val="dk1"/>
              </a:solidFill>
            </a:endParaRPr>
          </a:p>
          <a:p>
            <a:pPr indent="-166687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One component services requests, the other is in standby</a:t>
            </a:r>
            <a:endParaRPr>
              <a:solidFill>
                <a:schemeClr val="dk1"/>
              </a:solidFill>
            </a:endParaRPr>
          </a:p>
          <a:p>
            <a:pPr indent="-166687" lvl="2" marL="8572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On failure the standby becomes active</a:t>
            </a:r>
            <a:endParaRPr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>
                <a:solidFill>
                  <a:schemeClr val="dk1"/>
                </a:solidFill>
              </a:rPr>
              <a:t>Networks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InfiniBand (IB)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Ethernet (TCP/IP)</a:t>
            </a:r>
            <a:endParaRPr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>
                <a:solidFill>
                  <a:schemeClr val="dk1"/>
                </a:solidFill>
              </a:rPr>
              <a:t>Host Connectivity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Host Bus Adapter (HBA)</a:t>
            </a:r>
            <a:endParaRPr>
              <a:solidFill>
                <a:schemeClr val="dk1"/>
              </a:solidFill>
            </a:endParaRPr>
          </a:p>
          <a:p>
            <a:pPr indent="-1504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>
                <a:solidFill>
                  <a:schemeClr val="dk1"/>
                </a:solidFill>
              </a:rPr>
              <a:t>Network Interface Card (NIC)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4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190" name="Google Shape;1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2"/>
          <p:cNvSpPr txBox="1"/>
          <p:nvPr/>
        </p:nvSpPr>
        <p:spPr>
          <a:xfrm>
            <a:off x="5375700" y="4719912"/>
            <a:ext cx="37683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System overhead is applied after RAID overhead further reducing the usable space.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0528" y="1922703"/>
            <a:ext cx="1311804" cy="1289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0499" y="3212007"/>
            <a:ext cx="1311824" cy="153874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2"/>
          <p:cNvSpPr txBox="1"/>
          <p:nvPr/>
        </p:nvSpPr>
        <p:spPr>
          <a:xfrm>
            <a:off x="7058100" y="2043612"/>
            <a:ext cx="19581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Drives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Storage Drives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Parity Drive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33% RAID overhead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2"/>
          <p:cNvSpPr txBox="1"/>
          <p:nvPr/>
        </p:nvSpPr>
        <p:spPr>
          <a:xfrm>
            <a:off x="7185900" y="3429000"/>
            <a:ext cx="19581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Drives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Storage Drives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Parity Drive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 RAID overhead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2"/>
          <p:cNvSpPr txBox="1"/>
          <p:nvPr>
            <p:ph idx="1" type="body"/>
          </p:nvPr>
        </p:nvSpPr>
        <p:spPr>
          <a:xfrm>
            <a:off x="262810" y="1646985"/>
            <a:ext cx="5074141" cy="3738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400">
                <a:solidFill>
                  <a:schemeClr val="dk1"/>
                </a:solidFill>
              </a:rPr>
              <a:t>Raw Space: </a:t>
            </a:r>
            <a:r>
              <a:rPr lang="en-US" sz="1400">
                <a:solidFill>
                  <a:schemeClr val="dk1"/>
                </a:solidFill>
              </a:rPr>
              <a:t>what the disk label shows. Typically given in base 10.</a:t>
            </a:r>
            <a:endParaRPr sz="1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>
                <a:solidFill>
                  <a:schemeClr val="dk1"/>
                </a:solidFill>
              </a:rPr>
              <a:t>10TB (terabyte) == 10*10^12 bytes</a:t>
            </a:r>
            <a:endParaRPr sz="1400"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1" lang="en-US" sz="1400">
                <a:solidFill>
                  <a:schemeClr val="dk1"/>
                </a:solidFill>
              </a:rPr>
              <a:t>Useable Space: </a:t>
            </a:r>
            <a:r>
              <a:rPr lang="en-US" sz="1400">
                <a:solidFill>
                  <a:schemeClr val="dk1"/>
                </a:solidFill>
              </a:rPr>
              <a:t>what `df` shows once the storage is mounted. Typically given in base 2.</a:t>
            </a:r>
            <a:endParaRPr sz="1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>
                <a:solidFill>
                  <a:schemeClr val="dk1"/>
                </a:solidFill>
              </a:rPr>
              <a:t>10TiB (tebibyte) == 10*2^40 bytes</a:t>
            </a:r>
            <a:endParaRPr sz="1400">
              <a:solidFill>
                <a:schemeClr val="dk1"/>
              </a:solidFill>
            </a:endParaRPr>
          </a:p>
          <a:p>
            <a:pPr indent="-3810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Useable space is often about </a:t>
            </a:r>
            <a:r>
              <a:rPr lang="en-US" sz="1400"/>
              <a:t>25</a:t>
            </a:r>
            <a:r>
              <a:rPr lang="en-US" sz="1400">
                <a:solidFill>
                  <a:schemeClr val="dk1"/>
                </a:solidFill>
              </a:rPr>
              <a:t>% smaller than raw space</a:t>
            </a:r>
            <a:endParaRPr sz="1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>
                <a:solidFill>
                  <a:schemeClr val="dk1"/>
                </a:solidFill>
              </a:rPr>
              <a:t>Depending on the RAID level you are selecting, some storage is used for RAID overhead, file system overhead, etc.</a:t>
            </a:r>
            <a:endParaRPr sz="1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>
                <a:solidFill>
                  <a:schemeClr val="dk1"/>
                </a:solidFill>
              </a:rPr>
              <a:t>Learning how to calculate this is a challenge</a:t>
            </a:r>
            <a:endParaRPr sz="1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>
                <a:solidFill>
                  <a:schemeClr val="dk1"/>
                </a:solidFill>
              </a:rPr>
              <a:t>Dependent on levels of redundancy and the file system you choose</a:t>
            </a:r>
            <a:endParaRPr sz="1400"/>
          </a:p>
        </p:txBody>
      </p:sp>
      <p:sp>
        <p:nvSpPr>
          <p:cNvPr id="198" name="Google Shape;198;p42"/>
          <p:cNvSpPr txBox="1"/>
          <p:nvPr>
            <p:ph type="title"/>
          </p:nvPr>
        </p:nvSpPr>
        <p:spPr>
          <a:xfrm>
            <a:off x="311700" y="85747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Concepts and Terms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 txBox="1"/>
          <p:nvPr>
            <p:ph type="title"/>
          </p:nvPr>
        </p:nvSpPr>
        <p:spPr>
          <a:xfrm>
            <a:off x="228600" y="5117334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Goals and Requirements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4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14" name="Google Shape;21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3"/>
          <p:cNvSpPr txBox="1"/>
          <p:nvPr>
            <p:ph type="title"/>
          </p:nvPr>
        </p:nvSpPr>
        <p:spPr>
          <a:xfrm>
            <a:off x="228600" y="7533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How to Choose the Optimal Storage Solution?</a:t>
            </a:r>
            <a:endParaRPr/>
          </a:p>
        </p:txBody>
      </p:sp>
      <p:sp>
        <p:nvSpPr>
          <p:cNvPr id="217" name="Google Shape;217;p43"/>
          <p:cNvSpPr txBox="1"/>
          <p:nvPr>
            <p:ph idx="1" type="body"/>
          </p:nvPr>
        </p:nvSpPr>
        <p:spPr>
          <a:xfrm>
            <a:off x="509398" y="1573619"/>
            <a:ext cx="8411317" cy="440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400">
                <a:solidFill>
                  <a:srgbClr val="000000"/>
                </a:solidFill>
              </a:rPr>
              <a:t>Short Answer: Whichever solution meets your requirements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400">
                <a:solidFill>
                  <a:srgbClr val="000000"/>
                </a:solidFill>
              </a:rPr>
              <a:t>Long Answer: There is no single best solution for all scenarios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Each is designed to solve specific problems and serve specific requirements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Each works well when built and deployed according to their strengths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Usage requirements and access patterns define which is the best choice</a:t>
            </a:r>
            <a:endParaRPr>
              <a:solidFill>
                <a:srgbClr val="000000"/>
              </a:solidFill>
            </a:endParaRPr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</a:pPr>
            <a:r>
              <a:rPr lang="en-US" sz="1800">
                <a:solidFill>
                  <a:srgbClr val="000000"/>
                </a:solidFill>
              </a:rPr>
              <a:t>Application Requirements</a:t>
            </a:r>
            <a:endParaRPr sz="1800">
              <a:solidFill>
                <a:srgbClr val="000000"/>
              </a:solidFill>
            </a:endParaRPr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</a:pPr>
            <a:r>
              <a:rPr lang="en-US" sz="1800">
                <a:solidFill>
                  <a:srgbClr val="000000"/>
                </a:solidFill>
              </a:rPr>
              <a:t>User Expectations</a:t>
            </a:r>
            <a:endParaRPr sz="1800">
              <a:solidFill>
                <a:srgbClr val="000000"/>
              </a:solidFill>
            </a:endParaRPr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</a:pPr>
            <a:r>
              <a:rPr lang="en-US" sz="1800">
                <a:solidFill>
                  <a:srgbClr val="000000"/>
                </a:solidFill>
              </a:rPr>
              <a:t>Budget Constraints</a:t>
            </a:r>
            <a:endParaRPr sz="1800">
              <a:solidFill>
                <a:srgbClr val="000000"/>
              </a:solidFill>
            </a:endParaRPr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</a:pPr>
            <a:r>
              <a:rPr lang="en-US" sz="1800">
                <a:solidFill>
                  <a:srgbClr val="000000"/>
                </a:solidFill>
              </a:rPr>
              <a:t>Expertise in the support team</a:t>
            </a:r>
            <a:endParaRPr sz="1800"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400">
                <a:solidFill>
                  <a:srgbClr val="000000"/>
                </a:solidFill>
              </a:rPr>
              <a:t>Compromise based on competing needs is almost always the end result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4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24" name="Google Shape;2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4"/>
          <p:cNvSpPr txBox="1"/>
          <p:nvPr>
            <p:ph type="title"/>
          </p:nvPr>
        </p:nvSpPr>
        <p:spPr>
          <a:xfrm>
            <a:off x="152212" y="708980"/>
            <a:ext cx="8520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Building a Balanced System</a:t>
            </a:r>
            <a:endParaRPr/>
          </a:p>
        </p:txBody>
      </p:sp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299040" y="1275908"/>
            <a:ext cx="8520600" cy="47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en-US" sz="2000">
                <a:solidFill>
                  <a:srgbClr val="000000"/>
                </a:solidFill>
              </a:rPr>
              <a:t>The Ideal:</a:t>
            </a:r>
            <a:endParaRPr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2400">
                <a:solidFill>
                  <a:srgbClr val="000000"/>
                </a:solidFill>
              </a:rPr>
              <a:t>All components of the system operate in perfect harmony such that speeds &amp; feeds within the system all align perfectly</a:t>
            </a:r>
            <a:endParaRPr sz="2400">
              <a:solidFill>
                <a:srgbClr val="000000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en-US" sz="2000">
                <a:solidFill>
                  <a:srgbClr val="000000"/>
                </a:solidFill>
              </a:rPr>
              <a:t>The Reality:</a:t>
            </a:r>
            <a:endParaRPr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2400">
                <a:solidFill>
                  <a:srgbClr val="000000"/>
                </a:solidFill>
              </a:rPr>
              <a:t>Competing needs will lead to compromises that cause imbalances in the system.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r>
              <a:rPr lang="en-US" sz="2000">
                <a:solidFill>
                  <a:srgbClr val="000000"/>
                </a:solidFill>
              </a:rPr>
              <a:t>Common Imbalances:</a:t>
            </a:r>
            <a:endParaRPr sz="20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000">
                <a:solidFill>
                  <a:srgbClr val="000000"/>
                </a:solidFill>
              </a:rPr>
              <a:t>Capacity is prioritized over bandwidth; the number of disks exceeds the performance capabilities of the controllers, disk interconnect, or HBAs</a:t>
            </a:r>
            <a:endParaRPr sz="20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000">
                <a:solidFill>
                  <a:srgbClr val="000000"/>
                </a:solidFill>
              </a:rPr>
              <a:t>Overall output of the storage system is exceeded by the network capacity of the computational systems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Requirements Evaluation</a:t>
            </a:r>
            <a:endParaRPr/>
          </a:p>
        </p:txBody>
      </p:sp>
      <p:sp>
        <p:nvSpPr>
          <p:cNvPr id="237" name="Google Shape;237;p6"/>
          <p:cNvSpPr txBox="1"/>
          <p:nvPr>
            <p:ph idx="1" type="body"/>
          </p:nvPr>
        </p:nvSpPr>
        <p:spPr>
          <a:xfrm>
            <a:off x="311700" y="1218664"/>
            <a:ext cx="4260300" cy="4887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Computational Users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Policy Managers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Funding Agencies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Administration Staff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Infrastructure Support Staff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Security Staff</a:t>
            </a:r>
            <a:endParaRPr/>
          </a:p>
          <a:p>
            <a:pPr indent="0" lvl="1" marL="351156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Usage Patterns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Write dominate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 dominate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194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I/O vs Random I/O</a:t>
            </a:r>
            <a:endParaRPr/>
          </a:p>
          <a:p>
            <a:pPr indent="0" lvl="1" marL="351156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Profiles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vs. Beginner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1" marL="51435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vs. Commercial application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4572000" y="1218664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6050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Profiles</a:t>
            </a:r>
            <a:endParaRPr/>
          </a:p>
          <a:p>
            <a:pPr indent="-146050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I/O</a:t>
            </a:r>
            <a:endParaRPr/>
          </a:p>
          <a:p>
            <a:pPr indent="-146050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I/O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I/O</a:t>
            </a:r>
            <a:endParaRPr/>
          </a:p>
          <a:p>
            <a:pPr indent="-146050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MapReduce I/O</a:t>
            </a:r>
            <a:endParaRPr/>
          </a:p>
          <a:p>
            <a:pPr indent="-146050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Files</a:t>
            </a:r>
            <a:endParaRPr/>
          </a:p>
          <a:p>
            <a:pPr indent="-146050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Files</a:t>
            </a:r>
            <a:endParaRPr/>
          </a:p>
          <a:p>
            <a:pPr indent="0" lvl="1" marL="36830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Infrastructure Profile</a:t>
            </a:r>
            <a:endParaRPr/>
          </a:p>
          <a:p>
            <a:pPr indent="-163194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Integrated with HPC resource</a:t>
            </a:r>
            <a:endParaRPr/>
          </a:p>
          <a:p>
            <a:pPr indent="-163194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Standalone storage solution</a:t>
            </a:r>
            <a:endParaRPr/>
          </a:p>
          <a:p>
            <a:pPr indent="-163194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connectivity</a:t>
            </a:r>
            <a:endParaRPr/>
          </a:p>
          <a:p>
            <a:pPr indent="-163194" lvl="1" marL="514350" marR="0" rtl="0" algn="l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requirements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4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45" name="Google Shape;24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5"/>
          <p:cNvSpPr txBox="1"/>
          <p:nvPr>
            <p:ph type="title"/>
          </p:nvPr>
        </p:nvSpPr>
        <p:spPr>
          <a:xfrm>
            <a:off x="128820" y="648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Gathering Stakeholder Requirements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5"/>
          <p:cNvSpPr txBox="1"/>
          <p:nvPr>
            <p:ph idx="1" type="body"/>
          </p:nvPr>
        </p:nvSpPr>
        <p:spPr>
          <a:xfrm>
            <a:off x="128820" y="1448814"/>
            <a:ext cx="4221480" cy="4425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are your stakeholders?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features are they looking for?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will people want to use the storage?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usage policies need to be supported?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what science/usage domains are the users?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applications will they be using?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space do they anticipate needing?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there expectations of access from multiple systems?</a:t>
            </a:r>
            <a:endParaRPr b="1" sz="2400"/>
          </a:p>
        </p:txBody>
      </p:sp>
      <p:sp>
        <p:nvSpPr>
          <p:cNvPr id="249" name="Google Shape;249;p45"/>
          <p:cNvSpPr txBox="1"/>
          <p:nvPr/>
        </p:nvSpPr>
        <p:spPr>
          <a:xfrm>
            <a:off x="4277360" y="1448814"/>
            <a:ext cx="4612640" cy="47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7033" lvl="0" marL="17145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distribution of files?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Sizes, count</a:t>
            </a:r>
            <a:endParaRPr/>
          </a:p>
          <a:p>
            <a:pPr indent="-137033" lvl="0" marL="17145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typical I/O pattern?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bytes are written for every byte read?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bytes are read for each file opened?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bytes are written for each file opened?</a:t>
            </a:r>
            <a:endParaRPr/>
          </a:p>
          <a:p>
            <a:pPr indent="-137033" lvl="0" marL="17145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there any system-based restrictions?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POSIX conformance - do you need a POSIX interface to the file system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on number of files or files per directory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compatibility (IB, Eth, Slingshot)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56" name="Google Shape;2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 txBox="1"/>
          <p:nvPr>
            <p:ph type="title"/>
          </p:nvPr>
        </p:nvSpPr>
        <p:spPr>
          <a:xfrm>
            <a:off x="228600" y="109526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Application I/O Access Patterns</a:t>
            </a:r>
            <a:endParaRPr/>
          </a:p>
        </p:txBody>
      </p:sp>
      <p:sp>
        <p:nvSpPr>
          <p:cNvPr id="259" name="Google Shape;259;p8"/>
          <p:cNvSpPr txBox="1"/>
          <p:nvPr>
            <p:ph idx="1" type="body"/>
          </p:nvPr>
        </p:nvSpPr>
        <p:spPr>
          <a:xfrm>
            <a:off x="340360" y="1914475"/>
            <a:ext cx="7543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application’s I/O transaction size, and the order in which they are accessed, defines an application’s I/O access pattern. This is a combination of how the application does I/O along with how the file system handles I/O requests.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typical HPC file systems, sequential I/O of large blocks provides the best performance. Unfortunately, these types of I/O patterns aren’t the most common.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 I/O access patterns of your major applications can help you design a solution your users will be happy with.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66" name="Google Shape;2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 txBox="1"/>
          <p:nvPr>
            <p:ph type="title"/>
          </p:nvPr>
        </p:nvSpPr>
        <p:spPr>
          <a:xfrm>
            <a:off x="128820" y="75643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Common Data Access Patterns</a:t>
            </a:r>
            <a:endParaRPr/>
          </a:p>
        </p:txBody>
      </p:sp>
      <p:sp>
        <p:nvSpPr>
          <p:cNvPr id="269" name="Google Shape;269;p9"/>
          <p:cNvSpPr txBox="1"/>
          <p:nvPr>
            <p:ph idx="1" type="body"/>
          </p:nvPr>
        </p:nvSpPr>
        <p:spPr>
          <a:xfrm>
            <a:off x="410750" y="1203306"/>
            <a:ext cx="8104600" cy="477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800">
                <a:solidFill>
                  <a:srgbClr val="000000"/>
                </a:solidFill>
              </a:rPr>
              <a:t>Streaming (bandwidth centric)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Records Accessed Only Once, file is read/written from beginning to end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Minimal overall IOPS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File tend to be large and performance is measured in bandwidth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Common in Digital Media, Classic HPC, Scientific Applications, DSP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800">
                <a:solidFill>
                  <a:srgbClr val="000000"/>
                </a:solidFill>
              </a:rPr>
              <a:t>Discrete File I/O (IOP centric)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Small individual transactions; may not even read a full block at a time</a:t>
            </a:r>
            <a:endParaRPr>
              <a:solidFill>
                <a:srgbClr val="000000"/>
              </a:solidFill>
            </a:endParaRPr>
          </a:p>
          <a:p>
            <a:pPr indent="-3238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</a:pPr>
            <a:r>
              <a:rPr lang="en-US" sz="1800">
                <a:solidFill>
                  <a:srgbClr val="000000"/>
                </a:solidFill>
              </a:rPr>
              <a:t>Small files, random access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File IOPS can be high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Common in bioinformatics, AI, /home and /sw directories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800">
                <a:solidFill>
                  <a:srgbClr val="000000"/>
                </a:solidFill>
              </a:rPr>
              <a:t>Transaction Processing (IOP centric)</a:t>
            </a:r>
            <a:endParaRPr sz="18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-US">
                <a:solidFill>
                  <a:srgbClr val="000000"/>
                </a:solidFill>
              </a:rPr>
              <a:t>Small transactions with good temporal locality; individual updates maybe smaller than a block but consecutive transactions tend to be in continuous blocks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File IOPS can be high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>
                <a:solidFill>
                  <a:srgbClr val="000000"/>
                </a:solidFill>
              </a:rPr>
              <a:t>Common in databases and commercial applications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4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76" name="Google Shape;27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6"/>
          <p:cNvSpPr txBox="1"/>
          <p:nvPr>
            <p:ph type="title"/>
          </p:nvPr>
        </p:nvSpPr>
        <p:spPr>
          <a:xfrm>
            <a:off x="304800" y="800609"/>
            <a:ext cx="8520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HPC I/O Access Patterns</a:t>
            </a:r>
            <a:endParaRPr/>
          </a:p>
        </p:txBody>
      </p:sp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525484" y="1550417"/>
            <a:ext cx="8223716" cy="4506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000">
                <a:solidFill>
                  <a:srgbClr val="000000"/>
                </a:solidFill>
              </a:rPr>
              <a:t>Traditional HPC</a:t>
            </a:r>
            <a:endParaRPr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2400">
                <a:solidFill>
                  <a:srgbClr val="000000"/>
                </a:solidFill>
              </a:rPr>
              <a:t>Streaming large block writes (low IOPs rates)</a:t>
            </a:r>
            <a:endParaRPr sz="24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2400">
                <a:solidFill>
                  <a:srgbClr val="000000"/>
                </a:solidFill>
              </a:rPr>
              <a:t>Large output files</a:t>
            </a:r>
            <a:endParaRPr sz="24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2400">
                <a:solidFill>
                  <a:srgbClr val="000000"/>
                </a:solidFill>
              </a:rPr>
              <a:t>Minimal metadata operations</a:t>
            </a:r>
            <a:endParaRPr sz="2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000">
                <a:solidFill>
                  <a:srgbClr val="000000"/>
                </a:solidFill>
              </a:rPr>
              <a:t>More common today</a:t>
            </a:r>
            <a:endParaRPr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2400">
                <a:solidFill>
                  <a:srgbClr val="000000"/>
                </a:solidFill>
              </a:rPr>
              <a:t>Random I/O patterns (high IOPs rates)</a:t>
            </a:r>
            <a:endParaRPr sz="24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2400">
                <a:solidFill>
                  <a:srgbClr val="000000"/>
                </a:solidFill>
              </a:rPr>
              <a:t>Smaller output files</a:t>
            </a:r>
            <a:endParaRPr sz="24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-US" sz="2400">
                <a:solidFill>
                  <a:srgbClr val="000000"/>
                </a:solidFill>
              </a:rPr>
              <a:t>Large number of metadata operations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</a:pPr>
            <a:r>
              <a:rPr b="1" lang="en-US" sz="2000">
                <a:solidFill>
                  <a:srgbClr val="000000"/>
                </a:solidFill>
              </a:rPr>
              <a:t>Challenges:</a:t>
            </a:r>
            <a:endParaRPr b="1" sz="20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000">
                <a:solidFill>
                  <a:srgbClr val="000000"/>
                </a:solidFill>
              </a:rPr>
              <a:t>Choosing a block size that fits your application I/O pattern</a:t>
            </a:r>
            <a:endParaRPr sz="20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2000">
                <a:solidFill>
                  <a:srgbClr val="000000"/>
                </a:solidFill>
              </a:rPr>
              <a:t>IOPs becomes more important with random I/O patterns and small files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1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86" name="Google Shape;2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 txBox="1"/>
          <p:nvPr>
            <p:ph type="title"/>
          </p:nvPr>
        </p:nvSpPr>
        <p:spPr>
          <a:xfrm>
            <a:off x="228600" y="8495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Gathering Data Requirements</a:t>
            </a:r>
            <a:endParaRPr/>
          </a:p>
        </p:txBody>
      </p:sp>
      <p:sp>
        <p:nvSpPr>
          <p:cNvPr id="289" name="Google Shape;289;p10"/>
          <p:cNvSpPr txBox="1"/>
          <p:nvPr>
            <p:ph idx="1" type="body"/>
          </p:nvPr>
        </p:nvSpPr>
        <p:spPr>
          <a:xfrm>
            <a:off x="582788" y="1497600"/>
            <a:ext cx="7812223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Do you need different tiers or types of storage?</a:t>
            </a:r>
            <a:endParaRPr sz="2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Active long-term (project space)</a:t>
            </a:r>
            <a:endParaRPr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Temporary (scratch space, fast, not backed up)</a:t>
            </a:r>
            <a:endParaRPr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Archive (cloud, disk or tape, cheaper)</a:t>
            </a:r>
            <a:endParaRPr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Backups (snapshots, disk, tape)</a:t>
            </a:r>
            <a:endParaRPr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Encryption (SED or per share/export)</a:t>
            </a:r>
            <a:endParaRPr>
              <a:solidFill>
                <a:schemeClr val="dk1"/>
              </a:solidFill>
            </a:endParaRPr>
          </a:p>
          <a:p>
            <a:pPr indent="-12700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Data Restrictions</a:t>
            </a:r>
            <a:endParaRPr sz="2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HIPAA and PHI</a:t>
            </a:r>
            <a:endParaRPr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CUI</a:t>
            </a:r>
            <a:endParaRPr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PCI DSS</a:t>
            </a:r>
            <a:endParaRPr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And many more (FISMA, ITAR, SOX, GLBA, CJIS, FERPA, SOC, …)</a:t>
            </a:r>
            <a:endParaRPr/>
          </a:p>
          <a:p>
            <a:pPr indent="-57150" lvl="0" marL="5715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Data transfer characteristics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47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296" name="Google Shape;29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7"/>
          <p:cNvSpPr txBox="1"/>
          <p:nvPr>
            <p:ph type="title"/>
          </p:nvPr>
        </p:nvSpPr>
        <p:spPr>
          <a:xfrm>
            <a:off x="232409" y="577088"/>
            <a:ext cx="8520600" cy="8228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Training and Support Requirements</a:t>
            </a:r>
            <a:endParaRPr/>
          </a:p>
        </p:txBody>
      </p:sp>
      <p:sp>
        <p:nvSpPr>
          <p:cNvPr id="299" name="Google Shape;299;p47"/>
          <p:cNvSpPr txBox="1"/>
          <p:nvPr>
            <p:ph idx="1" type="body"/>
          </p:nvPr>
        </p:nvSpPr>
        <p:spPr>
          <a:xfrm>
            <a:off x="228600" y="1395800"/>
            <a:ext cx="4616916" cy="4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Training</a:t>
            </a:r>
            <a:endParaRPr sz="2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Sys Admin Staff</a:t>
            </a:r>
            <a:endParaRPr sz="1600">
              <a:solidFill>
                <a:schemeClr val="dk1"/>
              </a:solidFill>
            </a:endParaRPr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How much training does your staff need?</a:t>
            </a:r>
            <a:endParaRPr sz="1600">
              <a:solidFill>
                <a:schemeClr val="dk1"/>
              </a:solidFill>
            </a:endParaRPr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Vendor supplied training?</a:t>
            </a:r>
            <a:endParaRPr sz="1600">
              <a:solidFill>
                <a:schemeClr val="dk1"/>
              </a:solidFill>
            </a:endParaRPr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Does someone on your staff have the expertise to provide training?</a:t>
            </a:r>
            <a:endParaRPr sz="16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User Services</a:t>
            </a:r>
            <a:endParaRPr sz="1600">
              <a:solidFill>
                <a:schemeClr val="dk1"/>
              </a:solidFill>
            </a:endParaRPr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How much training does user support staff need?</a:t>
            </a:r>
            <a:endParaRPr sz="1600">
              <a:solidFill>
                <a:schemeClr val="dk1"/>
              </a:solidFill>
            </a:endParaRPr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Does your user support staff have the expertise to provide user training?</a:t>
            </a:r>
            <a:endParaRPr sz="16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Users</a:t>
            </a:r>
            <a:endParaRPr sz="1600">
              <a:solidFill>
                <a:schemeClr val="dk1"/>
              </a:solidFill>
            </a:endParaRPr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How much training will your users need to effectively use the system?</a:t>
            </a:r>
            <a:endParaRPr sz="1600">
              <a:solidFill>
                <a:schemeClr val="dk1"/>
              </a:solidFill>
            </a:endParaRPr>
          </a:p>
          <a:p>
            <a:pPr indent="-16510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How often will training need to be provided?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300" name="Google Shape;300;p47"/>
          <p:cNvSpPr txBox="1"/>
          <p:nvPr/>
        </p:nvSpPr>
        <p:spPr>
          <a:xfrm>
            <a:off x="4931621" y="1395800"/>
            <a:ext cx="3979970" cy="4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Support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the vendor provide support for all components of your system?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support for parts of your system come from the open source community?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support requirements for your staff?</a:t>
            </a:r>
            <a:endParaRPr/>
          </a:p>
          <a:p>
            <a:pPr indent="-165100" lvl="2" marL="8572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7x24</a:t>
            </a:r>
            <a:endParaRPr/>
          </a:p>
          <a:p>
            <a:pPr indent="-165100" lvl="2" marL="8572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8x5 M-F</a:t>
            </a:r>
            <a:endParaRPr/>
          </a:p>
          <a:p>
            <a:pPr indent="-76200" lvl="2" marL="8572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you have Service Level Agreements (SLAs) with your user community?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4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07" name="Google Shape;30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8"/>
          <p:cNvSpPr txBox="1"/>
          <p:nvPr>
            <p:ph type="title"/>
          </p:nvPr>
        </p:nvSpPr>
        <p:spPr>
          <a:xfrm>
            <a:off x="228600" y="5117334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Storage Hardware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4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16" name="Google Shape;31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9"/>
          <p:cNvSpPr txBox="1"/>
          <p:nvPr>
            <p:ph type="title"/>
          </p:nvPr>
        </p:nvSpPr>
        <p:spPr>
          <a:xfrm>
            <a:off x="191769" y="8107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Common Storage Building Blocks</a:t>
            </a:r>
            <a:endParaRPr/>
          </a:p>
        </p:txBody>
      </p:sp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286050" y="1459685"/>
            <a:ext cx="40320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Media</a:t>
            </a:r>
            <a:endParaRPr sz="24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HDDs (SATA &amp; SAS)</a:t>
            </a:r>
            <a:endParaRPr sz="16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SSDs (SATA, SAS, NVMe) </a:t>
            </a:r>
            <a:endParaRPr sz="16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/>
              <a:t>Tape (LTO, TS11XX)</a:t>
            </a:r>
            <a:endParaRPr sz="1800">
              <a:solidFill>
                <a:schemeClr val="dk1"/>
              </a:solidFill>
            </a:endParaRPr>
          </a:p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Media Formats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HDD - 3.5” (2.5” dying out, some 10/15K SAS remain)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/>
              <a:t>SSD - 2.5” (varying thicknesses), U.2/3, E1.S/L, E3.S/L, M.2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Tape - LTO (Open Standard), TS11XX (IBM format)</a:t>
            </a:r>
            <a:endParaRPr sz="1600"/>
          </a:p>
          <a:p>
            <a:pPr indent="-57150" lvl="0" marL="571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Enclosures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JBOD &amp; JBOF (Enclosures/Drawers)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/>
              <a:t>Controller (Couplets)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Storage Servers</a:t>
            </a:r>
            <a:endParaRPr/>
          </a:p>
        </p:txBody>
      </p:sp>
      <p:pic>
        <p:nvPicPr>
          <p:cNvPr descr="Samsung's PCIe 4.0 SSDs come in a range of new form factors | Engadget" id="320" name="Google Shape;320;p49"/>
          <p:cNvPicPr preferRelativeResize="0"/>
          <p:nvPr/>
        </p:nvPicPr>
        <p:blipFill rotWithShape="1">
          <a:blip r:embed="rId5">
            <a:alphaModFix/>
          </a:blip>
          <a:srcRect b="4313" l="0" r="0" t="15842"/>
          <a:stretch/>
        </p:blipFill>
        <p:spPr>
          <a:xfrm>
            <a:off x="4318000" y="1454014"/>
            <a:ext cx="4531681" cy="2267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os E 4U106 | Seagate US" id="321" name="Google Shape;321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8549" y="3228340"/>
            <a:ext cx="2316480" cy="2316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FA NVMe Storage Platforms" id="322" name="Google Shape;322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5940" y="5014224"/>
            <a:ext cx="2247900" cy="530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ST DF-3015 - XENON Systems" id="323" name="Google Shape;323;p49"/>
          <p:cNvPicPr preferRelativeResize="0"/>
          <p:nvPr/>
        </p:nvPicPr>
        <p:blipFill rotWithShape="1">
          <a:blip r:embed="rId8">
            <a:alphaModFix/>
          </a:blip>
          <a:srcRect b="34198" l="0" r="0" t="34893"/>
          <a:stretch/>
        </p:blipFill>
        <p:spPr>
          <a:xfrm>
            <a:off x="4273718" y="3959306"/>
            <a:ext cx="2494831" cy="593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JIFILM Launches LTO Ultrium 9 Data Cartridge" id="324" name="Google Shape;324;p49"/>
          <p:cNvPicPr preferRelativeResize="0"/>
          <p:nvPr/>
        </p:nvPicPr>
        <p:blipFill rotWithShape="1">
          <a:blip r:embed="rId9">
            <a:alphaModFix/>
          </a:blip>
          <a:srcRect b="0" l="0" r="50000" t="0"/>
          <a:stretch/>
        </p:blipFill>
        <p:spPr>
          <a:xfrm>
            <a:off x="7065991" y="5074144"/>
            <a:ext cx="990889" cy="995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1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31" name="Google Shape;3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/>
          <p:nvPr>
            <p:ph type="title"/>
          </p:nvPr>
        </p:nvSpPr>
        <p:spPr>
          <a:xfrm>
            <a:off x="191769" y="8107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Common Connecting Fabrics</a:t>
            </a:r>
            <a:endParaRPr/>
          </a:p>
        </p:txBody>
      </p:sp>
      <p:sp>
        <p:nvSpPr>
          <p:cNvPr id="334" name="Google Shape;334;p15"/>
          <p:cNvSpPr txBox="1"/>
          <p:nvPr>
            <p:ph idx="1" type="body"/>
          </p:nvPr>
        </p:nvSpPr>
        <p:spPr>
          <a:xfrm>
            <a:off x="218441" y="1383485"/>
            <a:ext cx="3987799" cy="3818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4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2400">
                <a:solidFill>
                  <a:schemeClr val="dk1"/>
                </a:solidFill>
              </a:rPr>
              <a:t>Network Fabrics</a:t>
            </a:r>
            <a:endParaRPr/>
          </a:p>
          <a:p>
            <a:pPr indent="-1270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 sz="2000">
                <a:solidFill>
                  <a:schemeClr val="dk1"/>
                </a:solidFill>
              </a:rPr>
              <a:t>Ethernet</a:t>
            </a:r>
            <a:endParaRPr b="1" sz="20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Speeds: 1Gb - 400GbE (800GbE soon)</a:t>
            </a:r>
            <a:endParaRPr sz="1600">
              <a:solidFill>
                <a:schemeClr val="dk1"/>
              </a:solidFill>
            </a:endParaRPr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RJ-45, SFP+, QSFP+, QSFP-DD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600"/>
              <a:t>TCP/RoCE</a:t>
            </a:r>
            <a:endParaRPr sz="1800">
              <a:solidFill>
                <a:schemeClr val="dk1"/>
              </a:solidFill>
            </a:endParaRPr>
          </a:p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b="1" lang="en-US" sz="2000"/>
              <a:t>Infiniband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EDR, HDR, NDR (100Gb, 200Gb, 400Gb) are modern versions in used today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/>
              <a:t>RDMA support</a:t>
            </a:r>
            <a:endParaRPr/>
          </a:p>
          <a:p>
            <a:pPr indent="-57150" lvl="0" marL="571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b="1" lang="en-US" sz="2000">
                <a:solidFill>
                  <a:schemeClr val="dk1"/>
                </a:solidFill>
              </a:rPr>
              <a:t>Slingshot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HPE specifi</a:t>
            </a:r>
            <a:r>
              <a:rPr lang="en-US" sz="1600"/>
              <a:t>c (at present)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1600">
                <a:solidFill>
                  <a:schemeClr val="dk1"/>
                </a:solidFill>
              </a:rPr>
              <a:t>Ethernet based with “extra stuff”</a:t>
            </a:r>
            <a:endParaRPr sz="1600"/>
          </a:p>
        </p:txBody>
      </p:sp>
      <p:sp>
        <p:nvSpPr>
          <p:cNvPr id="335" name="Google Shape;335;p15"/>
          <p:cNvSpPr txBox="1"/>
          <p:nvPr/>
        </p:nvSpPr>
        <p:spPr>
          <a:xfrm>
            <a:off x="4534201" y="1383484"/>
            <a:ext cx="4418030" cy="4663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4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Storage Fabrics &amp; Carriers</a:t>
            </a:r>
            <a:endParaRPr/>
          </a:p>
          <a:p>
            <a:pPr indent="-1270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Fiber Channel &amp; SAS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24Gb SAS is now GA; 12Gb still common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E2121"/>
                </a:solidFill>
                <a:latin typeface="Arial"/>
                <a:ea typeface="Arial"/>
                <a:cs typeface="Arial"/>
                <a:sym typeface="Arial"/>
              </a:rPr>
              <a:t>64GFC is now available (6.4GB/s per direction)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" lvl="0" marL="571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PCIe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 5 (32GT/s per lane) ~64GB/s per direction in a x16 slot (available in 2023)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 4 (16GT/s per lane) ~32GB/s per direction in a x16 slot (available since 2019)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 for CXL devices, NVME drives, NICs, etc.</a:t>
            </a:r>
            <a:endParaRPr/>
          </a:p>
          <a:p>
            <a:pPr indent="-1460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 6 (64GT/s per lane) ~128GB/s per direction in a x16 slot -- likely 2025/2026 GA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5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42" name="Google Shape;34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 txBox="1"/>
          <p:nvPr>
            <p:ph type="title"/>
          </p:nvPr>
        </p:nvSpPr>
        <p:spPr>
          <a:xfrm>
            <a:off x="311700" y="802695"/>
            <a:ext cx="8520600" cy="710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Common RAID Levels</a:t>
            </a:r>
            <a:endParaRPr/>
          </a:p>
        </p:txBody>
      </p:sp>
      <p:sp>
        <p:nvSpPr>
          <p:cNvPr id="345" name="Google Shape;345;p50"/>
          <p:cNvSpPr txBox="1"/>
          <p:nvPr>
            <p:ph idx="1" type="body"/>
          </p:nvPr>
        </p:nvSpPr>
        <p:spPr>
          <a:xfrm>
            <a:off x="234163" y="1513487"/>
            <a:ext cx="4651943" cy="4423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7950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2400">
                <a:solidFill>
                  <a:schemeClr val="dk1"/>
                </a:solidFill>
              </a:rPr>
              <a:t>Standard Levels</a:t>
            </a:r>
            <a:endParaRPr sz="2400">
              <a:solidFill>
                <a:schemeClr val="dk1"/>
              </a:solidFill>
            </a:endParaRPr>
          </a:p>
          <a:p>
            <a:pPr indent="-12700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RAID 0: striping without mirroring or parity</a:t>
            </a:r>
            <a:endParaRPr sz="1600">
              <a:solidFill>
                <a:schemeClr val="dk1"/>
              </a:solidFill>
            </a:endParaRPr>
          </a:p>
          <a:p>
            <a:pPr indent="-12700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RAID 1: data mirroring, without parity or striping</a:t>
            </a:r>
            <a:endParaRPr sz="1600">
              <a:solidFill>
                <a:schemeClr val="dk1"/>
              </a:solidFill>
            </a:endParaRPr>
          </a:p>
          <a:p>
            <a:pPr indent="-12700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RAID 5: block-level striping with distributed parity</a:t>
            </a:r>
            <a:endParaRPr sz="1600">
              <a:solidFill>
                <a:schemeClr val="dk1"/>
              </a:solidFill>
            </a:endParaRPr>
          </a:p>
          <a:p>
            <a:pPr indent="-146050" lvl="2" marL="8572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No loss of data with a single disk failure</a:t>
            </a:r>
            <a:endParaRPr sz="1600">
              <a:solidFill>
                <a:schemeClr val="dk1"/>
              </a:solidFill>
            </a:endParaRPr>
          </a:p>
          <a:p>
            <a:pPr indent="-146050" lvl="2" marL="8572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Performance hit in degraded mode</a:t>
            </a:r>
            <a:endParaRPr sz="1600">
              <a:solidFill>
                <a:schemeClr val="dk1"/>
              </a:solidFill>
            </a:endParaRPr>
          </a:p>
          <a:p>
            <a:pPr indent="-12700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RAID 6: block-level striping with dual distributed parity</a:t>
            </a:r>
            <a:endParaRPr sz="1600">
              <a:solidFill>
                <a:schemeClr val="dk1"/>
              </a:solidFill>
            </a:endParaRPr>
          </a:p>
          <a:p>
            <a:pPr indent="-146050" lvl="2" marL="8572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No loss of data with two disk failures</a:t>
            </a:r>
            <a:endParaRPr sz="1600">
              <a:solidFill>
                <a:schemeClr val="dk1"/>
              </a:solidFill>
            </a:endParaRPr>
          </a:p>
          <a:p>
            <a:pPr indent="-146050" lvl="2" marL="8572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Data loss occurs with third failure</a:t>
            </a:r>
            <a:endParaRPr sz="1600">
              <a:solidFill>
                <a:schemeClr val="dk1"/>
              </a:solidFill>
            </a:endParaRPr>
          </a:p>
          <a:p>
            <a:pPr indent="-146050" lvl="2" marL="8572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Most common in larger systems today</a:t>
            </a:r>
            <a:endParaRPr sz="1600">
              <a:solidFill>
                <a:schemeClr val="dk1"/>
              </a:solidFill>
            </a:endParaRPr>
          </a:p>
          <a:p>
            <a:pPr indent="-107950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2400">
                <a:solidFill>
                  <a:schemeClr val="dk1"/>
                </a:solidFill>
              </a:rPr>
              <a:t>Hybrid Levels</a:t>
            </a:r>
            <a:endParaRPr sz="2400">
              <a:solidFill>
                <a:schemeClr val="dk1"/>
              </a:solidFill>
            </a:endParaRPr>
          </a:p>
          <a:p>
            <a:pPr indent="-12700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200">
                <a:solidFill>
                  <a:srgbClr val="AEABAB"/>
                </a:solidFill>
              </a:rPr>
              <a:t>RAID 0+1: create two stripes then mirror</a:t>
            </a:r>
            <a:endParaRPr sz="1200">
              <a:solidFill>
                <a:srgbClr val="AEABAB"/>
              </a:solidFill>
            </a:endParaRPr>
          </a:p>
          <a:p>
            <a:pPr indent="-12700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600">
                <a:solidFill>
                  <a:schemeClr val="dk1"/>
                </a:solidFill>
              </a:rPr>
              <a:t>RAID 1+0: striping across mirrored drives</a:t>
            </a:r>
            <a:endParaRPr sz="1600"/>
          </a:p>
        </p:txBody>
      </p:sp>
      <p:pic>
        <p:nvPicPr>
          <p:cNvPr id="346" name="Google Shape;346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681" y="895764"/>
            <a:ext cx="2879439" cy="1755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2373" y="2706605"/>
            <a:ext cx="2877747" cy="1755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3643" y="4507343"/>
            <a:ext cx="2897167" cy="1547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55" name="Google Shape;3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6"/>
          <p:cNvSpPr txBox="1"/>
          <p:nvPr>
            <p:ph type="title"/>
          </p:nvPr>
        </p:nvSpPr>
        <p:spPr>
          <a:xfrm>
            <a:off x="311700" y="786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Common RAID Levels (cont.)</a:t>
            </a:r>
            <a:endParaRPr/>
          </a:p>
        </p:txBody>
      </p:sp>
      <p:sp>
        <p:nvSpPr>
          <p:cNvPr id="358" name="Google Shape;358;p16"/>
          <p:cNvSpPr txBox="1"/>
          <p:nvPr>
            <p:ph idx="1" type="body"/>
          </p:nvPr>
        </p:nvSpPr>
        <p:spPr>
          <a:xfrm>
            <a:off x="296142" y="1601110"/>
            <a:ext cx="5327247" cy="1336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2800">
                <a:solidFill>
                  <a:schemeClr val="dk1"/>
                </a:solidFill>
              </a:rPr>
              <a:t>Hybrid Levels</a:t>
            </a:r>
            <a:endParaRPr sz="2800">
              <a:solidFill>
                <a:schemeClr val="dk1"/>
              </a:solidFill>
            </a:endParaRPr>
          </a:p>
          <a:p>
            <a:pPr indent="-317500" lvl="1" marL="8001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RAID 0+1: create two stripes then mirror</a:t>
            </a:r>
            <a:endParaRPr>
              <a:solidFill>
                <a:schemeClr val="dk1"/>
              </a:solidFill>
            </a:endParaRPr>
          </a:p>
          <a:p>
            <a:pPr indent="-330200" lvl="1" marL="8001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RAID 1+0: striping across mirrored drives</a:t>
            </a:r>
            <a:endParaRPr sz="2400"/>
          </a:p>
        </p:txBody>
      </p:sp>
      <p:pic>
        <p:nvPicPr>
          <p:cNvPr id="359" name="Google Shape;3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6142" y="3256280"/>
            <a:ext cx="4071791" cy="2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3256280"/>
            <a:ext cx="4252615" cy="235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5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67" name="Google Shape;3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1"/>
          <p:cNvSpPr txBox="1"/>
          <p:nvPr>
            <p:ph type="title"/>
          </p:nvPr>
        </p:nvSpPr>
        <p:spPr>
          <a:xfrm>
            <a:off x="311700" y="802695"/>
            <a:ext cx="8520600" cy="710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Erasure Coding</a:t>
            </a:r>
            <a:endParaRPr/>
          </a:p>
        </p:txBody>
      </p:sp>
      <p:sp>
        <p:nvSpPr>
          <p:cNvPr id="370" name="Google Shape;370;p51"/>
          <p:cNvSpPr txBox="1"/>
          <p:nvPr>
            <p:ph idx="1" type="body"/>
          </p:nvPr>
        </p:nvSpPr>
        <p:spPr>
          <a:xfrm>
            <a:off x="218441" y="1383485"/>
            <a:ext cx="8520600" cy="458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873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RAID levels are becoming/already are not tenable with increasing drive sizes and performance characteristics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000"/>
              <a:t>Capacity of drives have outpaced their performance capabilities</a:t>
            </a:r>
            <a:endParaRPr/>
          </a:p>
          <a:p>
            <a:pPr indent="-342900" lvl="0" marL="3873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Increased rebuild times mean we need a </a:t>
            </a:r>
            <a:r>
              <a:rPr lang="en-US" sz="2400"/>
              <a:t>faster way to get data protected following device failure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000">
                <a:solidFill>
                  <a:schemeClr val="dk1"/>
                </a:solidFill>
              </a:rPr>
              <a:t>RAID rebuilds typically require the new drive to do a write of its entire capacity once, creates a write bottleneck on one device</a:t>
            </a:r>
            <a:endParaRPr/>
          </a:p>
          <a:p>
            <a:pPr indent="-342900" lvl="0" marL="3873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This is leading to the use of erasure coding across many devices to greatly shorten the time to data protection</a:t>
            </a:r>
            <a:endParaRPr/>
          </a:p>
          <a:p>
            <a:pPr indent="-342900" lvl="0" marL="3873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There ar</a:t>
            </a:r>
            <a:r>
              <a:rPr lang="en-US" sz="2400"/>
              <a:t>e different erasure algorithms, but most operate on a common principles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1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77" name="Google Shape;3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8"/>
          <p:cNvSpPr txBox="1"/>
          <p:nvPr>
            <p:ph type="title"/>
          </p:nvPr>
        </p:nvSpPr>
        <p:spPr>
          <a:xfrm>
            <a:off x="311700" y="802695"/>
            <a:ext cx="8520600" cy="710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Erasure Coding</a:t>
            </a:r>
            <a:endParaRPr/>
          </a:p>
        </p:txBody>
      </p:sp>
      <p:pic>
        <p:nvPicPr>
          <p:cNvPr descr="dRAID — OpenZFS documentation" id="380" name="Google Shape;3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840" y="2451454"/>
            <a:ext cx="7355840" cy="360385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8"/>
          <p:cNvSpPr txBox="1"/>
          <p:nvPr>
            <p:ph idx="1" type="body"/>
          </p:nvPr>
        </p:nvSpPr>
        <p:spPr>
          <a:xfrm>
            <a:off x="218441" y="1383485"/>
            <a:ext cx="8520600" cy="458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873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An example with ZFS dRAID 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May not seem much different on the surface but much more resilient than classic RAID methods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5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88" name="Google Shape;38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2"/>
          <p:cNvSpPr txBox="1"/>
          <p:nvPr>
            <p:ph type="title"/>
          </p:nvPr>
        </p:nvSpPr>
        <p:spPr>
          <a:xfrm>
            <a:off x="311700" y="802695"/>
            <a:ext cx="8520600" cy="710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Erasure Coding</a:t>
            </a:r>
            <a:endParaRPr/>
          </a:p>
        </p:txBody>
      </p:sp>
      <p:sp>
        <p:nvSpPr>
          <p:cNvPr id="391" name="Google Shape;391;p52"/>
          <p:cNvSpPr txBox="1"/>
          <p:nvPr>
            <p:ph idx="1" type="body"/>
          </p:nvPr>
        </p:nvSpPr>
        <p:spPr>
          <a:xfrm>
            <a:off x="218441" y="1383485"/>
            <a:ext cx="8520600" cy="4671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873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Improvements over “classical RAID”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All drives in the pool participate in a rebuild, can even happen if drive not replaced (depends on solution/configuration)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Reconstruction of data can be ordered more efficiently, rebuild the most critical blocks first and move to the least critical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Large erasure code pools (especially/primarily) on fast media can have seriously increased usage efficiency without losing data protection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No more rebui</a:t>
            </a:r>
            <a:r>
              <a:rPr lang="en-US"/>
              <a:t>ld bottleneck on a single drive</a:t>
            </a:r>
            <a:endParaRPr/>
          </a:p>
          <a:p>
            <a:pPr indent="-342900" lvl="0" marL="3873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 sz="2400">
                <a:solidFill>
                  <a:schemeClr val="dk1"/>
                </a:solidFill>
              </a:rPr>
              <a:t>Some (not exhaustive) list of solutions that use erasure coding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Ceph</a:t>
            </a:r>
            <a:endParaRPr sz="2100"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100">
                <a:solidFill>
                  <a:schemeClr val="dk1"/>
                </a:solidFill>
              </a:rPr>
              <a:t>ZFS dRAID</a:t>
            </a:r>
            <a:endParaRPr sz="2100">
              <a:solidFill>
                <a:schemeClr val="dk1"/>
              </a:solidFill>
            </a:endParaRPr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100">
                <a:solidFill>
                  <a:schemeClr val="dk1"/>
                </a:solidFill>
              </a:rPr>
              <a:t>DDN SFA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100"/>
              <a:t>VAST Data</a:t>
            </a:r>
            <a:endParaRPr/>
          </a:p>
          <a:p>
            <a:pPr indent="-342900" lvl="1" marL="8445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 sz="2100">
                <a:solidFill>
                  <a:schemeClr val="dk1"/>
                </a:solidFill>
              </a:rPr>
              <a:t>IBM ESS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5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398" name="Google Shape;39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3"/>
          <p:cNvSpPr txBox="1"/>
          <p:nvPr>
            <p:ph type="title"/>
          </p:nvPr>
        </p:nvSpPr>
        <p:spPr>
          <a:xfrm>
            <a:off x="228600" y="75309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Data Transport from Server to Client</a:t>
            </a:r>
            <a:endParaRPr/>
          </a:p>
        </p:txBody>
      </p:sp>
      <p:sp>
        <p:nvSpPr>
          <p:cNvPr id="401" name="Google Shape;401;p53"/>
          <p:cNvSpPr txBox="1"/>
          <p:nvPr>
            <p:ph idx="1" type="body"/>
          </p:nvPr>
        </p:nvSpPr>
        <p:spPr>
          <a:xfrm>
            <a:off x="286050" y="1528394"/>
            <a:ext cx="8654750" cy="41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42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</a:rPr>
              <a:t>TCP (Transmission Control Protocol)</a:t>
            </a:r>
            <a:endParaRPr sz="2400"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Great for the Internet and viewing cat videos, sub-optimal for high performance storage transport </a:t>
            </a:r>
            <a:endParaRPr/>
          </a:p>
          <a:p>
            <a:pPr indent="-137033" lvl="1" marL="6286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Very robust method of moving data to ensure it gets there no matter what and is resilient in poor conditions </a:t>
            </a:r>
            <a:endParaRPr>
              <a:solidFill>
                <a:schemeClr val="dk1"/>
              </a:solidFill>
            </a:endParaRPr>
          </a:p>
          <a:p>
            <a:pPr indent="-137033" lvl="1" marL="6286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Parallel file systems are getting better at optimizing for standard Ethernet connections and TCP</a:t>
            </a:r>
            <a:endParaRPr/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Data has to flow through OS (it’s buffers), to the NIC (and its buffers), over the network to the other host and traverse the same stack again in reverse order</a:t>
            </a:r>
            <a:endParaRPr/>
          </a:p>
        </p:txBody>
      </p:sp>
      <p:pic>
        <p:nvPicPr>
          <p:cNvPr descr="What is a TCP 3-way handshake process?" id="402" name="Google Shape;402;p53"/>
          <p:cNvPicPr preferRelativeResize="0"/>
          <p:nvPr/>
        </p:nvPicPr>
        <p:blipFill rotWithShape="1">
          <a:blip r:embed="rId5">
            <a:alphaModFix/>
          </a:blip>
          <a:srcRect b="14814" l="7445" r="6875" t="7259"/>
          <a:stretch/>
        </p:blipFill>
        <p:spPr>
          <a:xfrm>
            <a:off x="5701030" y="4380116"/>
            <a:ext cx="2528570" cy="1724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8" name="Google Shape;408;p5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09" name="Google Shape;40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4"/>
          <p:cNvSpPr txBox="1"/>
          <p:nvPr>
            <p:ph type="title"/>
          </p:nvPr>
        </p:nvSpPr>
        <p:spPr>
          <a:xfrm>
            <a:off x="228600" y="75309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Data Transport from Server to Client</a:t>
            </a:r>
            <a:endParaRPr/>
          </a:p>
        </p:txBody>
      </p:sp>
      <p:sp>
        <p:nvSpPr>
          <p:cNvPr id="412" name="Google Shape;412;p54"/>
          <p:cNvSpPr txBox="1"/>
          <p:nvPr>
            <p:ph idx="1" type="body"/>
          </p:nvPr>
        </p:nvSpPr>
        <p:spPr>
          <a:xfrm>
            <a:off x="286050" y="1528394"/>
            <a:ext cx="8654750" cy="41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42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</a:rPr>
              <a:t>RDMA (Remote Direct Memory Access)</a:t>
            </a:r>
            <a:endParaRPr sz="2400"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Requires a “lossless” network be that Infiniband, RoCE, Slingshot, etc.</a:t>
            </a:r>
            <a:endParaRPr/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Applications can transfer data from their memory to memory on a remote host directly, bypassing a lot of the layers in the stack</a:t>
            </a:r>
            <a:endParaRPr/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Improves both throughput of file systems between servers and clients as well as reduces latency which greatly helps metadata-intensive workloads as well as though that do many small I/O transactions</a:t>
            </a:r>
            <a:endParaRPr/>
          </a:p>
        </p:txBody>
      </p:sp>
      <p:pic>
        <p:nvPicPr>
          <p:cNvPr id="413" name="Google Shape;413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8400" y="4020079"/>
            <a:ext cx="3860800" cy="208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5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20" name="Google Shape;42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5"/>
          <p:cNvSpPr txBox="1"/>
          <p:nvPr>
            <p:ph type="title"/>
          </p:nvPr>
        </p:nvSpPr>
        <p:spPr>
          <a:xfrm>
            <a:off x="228600" y="75309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TCP vs. RDMA</a:t>
            </a:r>
            <a:endParaRPr/>
          </a:p>
        </p:txBody>
      </p:sp>
      <p:pic>
        <p:nvPicPr>
          <p:cNvPr descr="理解RDMA | Dive into bytes" id="423" name="Google Shape;423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" y="1883664"/>
            <a:ext cx="7680960" cy="396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5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30" name="Google Shape;43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6"/>
          <p:cNvSpPr txBox="1"/>
          <p:nvPr>
            <p:ph type="title"/>
          </p:nvPr>
        </p:nvSpPr>
        <p:spPr>
          <a:xfrm>
            <a:off x="228600" y="75309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Data Transport from Server to Client</a:t>
            </a:r>
            <a:endParaRPr/>
          </a:p>
        </p:txBody>
      </p:sp>
      <p:sp>
        <p:nvSpPr>
          <p:cNvPr id="433" name="Google Shape;433;p56"/>
          <p:cNvSpPr txBox="1"/>
          <p:nvPr>
            <p:ph idx="1" type="body"/>
          </p:nvPr>
        </p:nvSpPr>
        <p:spPr>
          <a:xfrm>
            <a:off x="286050" y="1396314"/>
            <a:ext cx="8654750" cy="41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42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</a:rPr>
              <a:t>GDS (GPU Direct Storage)</a:t>
            </a:r>
            <a:endParaRPr sz="2400"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Allows storage traffic to by-pass the host CPU and Memory and </a:t>
            </a:r>
            <a:r>
              <a:rPr lang="en-US"/>
              <a:t>copy straight into VRAM on the GPU</a:t>
            </a:r>
            <a:endParaRPr/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As network speeds and all-flash appliance speeds increase, it cuts out a bottleneck between your file system and getting data into the GPU’s memory for training/processing</a:t>
            </a:r>
            <a:endParaRPr/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Works with Nvidia GPUs and a lot of different storage platforms</a:t>
            </a:r>
            <a:endParaRPr/>
          </a:p>
          <a:p>
            <a:pPr indent="-137033" lvl="1" marL="6286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If you have GPUs and need to buy storage, check if storage solution supports GDS</a:t>
            </a:r>
            <a:endParaRPr/>
          </a:p>
          <a:p>
            <a:pPr indent="-137033" lvl="1" marL="6286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Formerly known as Magnum IO (in case you see that in docs)</a:t>
            </a:r>
            <a:endParaRPr/>
          </a:p>
        </p:txBody>
      </p:sp>
      <p:pic>
        <p:nvPicPr>
          <p:cNvPr descr="GPUDirect Storage: A Direct Path Between Storage and GPU Memory | NVIDIA  Technical Blog" id="434" name="Google Shape;43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7280" y="4439080"/>
            <a:ext cx="3911600" cy="166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0" name="Google Shape;440;p57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41" name="Google Shape;44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7"/>
          <p:cNvSpPr txBox="1"/>
          <p:nvPr>
            <p:ph type="title"/>
          </p:nvPr>
        </p:nvSpPr>
        <p:spPr>
          <a:xfrm>
            <a:off x="228600" y="75309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GDS (GPU Direct Storage)</a:t>
            </a:r>
            <a:endParaRPr/>
          </a:p>
        </p:txBody>
      </p:sp>
      <p:pic>
        <p:nvPicPr>
          <p:cNvPr descr="GPUDirect Storage: A Direct Path Between Storage and GPU Memory | NVIDIA  Technical Blog" id="444" name="Google Shape;444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200" y="1751344"/>
            <a:ext cx="7396480" cy="3754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0" name="Google Shape;450;p17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51" name="Google Shape;4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7"/>
          <p:cNvSpPr txBox="1"/>
          <p:nvPr>
            <p:ph type="title"/>
          </p:nvPr>
        </p:nvSpPr>
        <p:spPr>
          <a:xfrm>
            <a:off x="228600" y="5117334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Storage Software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5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60" name="Google Shape;46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File vs. Object Storage</a:t>
            </a:r>
            <a:endParaRPr/>
          </a:p>
        </p:txBody>
      </p:sp>
      <p:sp>
        <p:nvSpPr>
          <p:cNvPr id="463" name="Google Shape;463;p58"/>
          <p:cNvSpPr txBox="1"/>
          <p:nvPr>
            <p:ph idx="1" type="body"/>
          </p:nvPr>
        </p:nvSpPr>
        <p:spPr>
          <a:xfrm>
            <a:off x="392383" y="1098687"/>
            <a:ext cx="4274196" cy="548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File Storage</a:t>
            </a:r>
            <a:endParaRPr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A block holds a chunk of data, files typically reside in multiple blocks.</a:t>
            </a:r>
            <a:endParaRPr sz="1800"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Data is accessed through a request to the block address</a:t>
            </a:r>
            <a:endParaRPr sz="1800"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The file system controls access to blocks, imposes a hierarchical structure and defines and updates metadata</a:t>
            </a:r>
            <a:endParaRPr sz="1800"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File systems are generally POSIX compliant</a:t>
            </a:r>
            <a:endParaRPr sz="1800"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Access is through the OS layer, user has direct access to the file system</a:t>
            </a:r>
            <a:endParaRPr sz="1800"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Storage systems are generally feature rich and externally based</a:t>
            </a:r>
            <a:endParaRPr sz="1800">
              <a:solidFill>
                <a:schemeClr val="dk1"/>
              </a:solidFill>
            </a:endParaRPr>
          </a:p>
          <a:p>
            <a:pPr indent="-1470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Raw block storage is common in large scale database applications allowing direct block access</a:t>
            </a:r>
            <a:endParaRPr sz="1800"/>
          </a:p>
        </p:txBody>
      </p:sp>
      <p:sp>
        <p:nvSpPr>
          <p:cNvPr id="464" name="Google Shape;464;p58"/>
          <p:cNvSpPr txBox="1"/>
          <p:nvPr/>
        </p:nvSpPr>
        <p:spPr>
          <a:xfrm>
            <a:off x="4666578" y="1098687"/>
            <a:ext cx="4365661" cy="394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1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Storage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object hold both data and it’s associated metadata</a:t>
            </a:r>
            <a:endParaRPr/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is access through a request for the object ID</a:t>
            </a:r>
            <a:endParaRPr/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are stored in a flat structure</a:t>
            </a:r>
            <a:endParaRPr/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Metadata can be flexible and defined by the user</a:t>
            </a:r>
            <a:endParaRPr/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Resiliency is provided through multiple copies of the object, generally geographically distributed</a:t>
            </a:r>
            <a:endParaRPr/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is through a REST API application not the OS</a:t>
            </a:r>
            <a:endParaRPr/>
          </a:p>
          <a:p>
            <a:pPr indent="-147002" lvl="0" marL="171450" marR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Systems are generally built with commodity servers with internal disks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VM Cloud - Did you know? There are 3 main modern... | Facebook" id="465" name="Google Shape;465;p58"/>
          <p:cNvPicPr preferRelativeResize="0"/>
          <p:nvPr/>
        </p:nvPicPr>
        <p:blipFill rotWithShape="1">
          <a:blip r:embed="rId5">
            <a:alphaModFix/>
          </a:blip>
          <a:srcRect b="44721" l="69285" r="3144" t="0"/>
          <a:stretch/>
        </p:blipFill>
        <p:spPr>
          <a:xfrm>
            <a:off x="7193912" y="5016502"/>
            <a:ext cx="1225552" cy="1010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VM Cloud - Did you know? There are 3 main modern... | Facebook" id="466" name="Google Shape;466;p58"/>
          <p:cNvPicPr preferRelativeResize="0"/>
          <p:nvPr/>
        </p:nvPicPr>
        <p:blipFill rotWithShape="1">
          <a:blip r:embed="rId5">
            <a:alphaModFix/>
          </a:blip>
          <a:srcRect b="44721" l="38800" r="39171" t="0"/>
          <a:stretch/>
        </p:blipFill>
        <p:spPr>
          <a:xfrm>
            <a:off x="2915920" y="5039361"/>
            <a:ext cx="979169" cy="1010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2" name="Google Shape;472;p2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73" name="Google Shape;4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Data Consistency</a:t>
            </a:r>
            <a:endParaRPr/>
          </a:p>
        </p:txBody>
      </p:sp>
      <p:sp>
        <p:nvSpPr>
          <p:cNvPr id="476" name="Google Shape;476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42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Strong Consistency</a:t>
            </a:r>
            <a:endParaRPr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Block storage systems are </a:t>
            </a:r>
            <a:r>
              <a:rPr i="1" lang="en-US" sz="1800">
                <a:solidFill>
                  <a:schemeClr val="dk1"/>
                </a:solidFill>
              </a:rPr>
              <a:t>strongly consistent</a:t>
            </a:r>
            <a:endParaRPr sz="1800"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Typically used for real-time processing such as transactional databases</a:t>
            </a:r>
            <a:endParaRPr sz="1800"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Good for data that is constantly changing</a:t>
            </a:r>
            <a:endParaRPr sz="1800">
              <a:solidFill>
                <a:schemeClr val="dk1"/>
              </a:solidFill>
            </a:endParaRPr>
          </a:p>
          <a:p>
            <a:pPr indent="-154622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>
                <a:solidFill>
                  <a:schemeClr val="dk1"/>
                </a:solidFill>
              </a:rPr>
              <a:t>Updating a file only requires changing the blocks that have changed</a:t>
            </a:r>
            <a:endParaRPr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Limited scalability especially within a geographically distributed system</a:t>
            </a:r>
            <a:endParaRPr sz="1800">
              <a:solidFill>
                <a:schemeClr val="dk1"/>
              </a:solidFill>
            </a:endParaRPr>
          </a:p>
          <a:p>
            <a:pPr indent="-137033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800">
                <a:solidFill>
                  <a:schemeClr val="dk1"/>
                </a:solidFill>
              </a:rPr>
              <a:t>Guarantees that a read request returns the most recent version of data</a:t>
            </a:r>
            <a:endParaRPr sz="1800"/>
          </a:p>
        </p:txBody>
      </p:sp>
      <p:sp>
        <p:nvSpPr>
          <p:cNvPr id="477" name="Google Shape;477;p24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1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Eventual Consistency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033" lvl="0" marL="17145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object storage systems are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eventually consistent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033" lvl="0" marL="17145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availability for data that is relatively static and rarely altered</a:t>
            </a:r>
            <a:endParaRPr/>
          </a:p>
          <a:p>
            <a:pPr indent="-154622" lvl="1" marL="514350" marR="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Updating an object requires a re-write of the entire object</a:t>
            </a:r>
            <a:endParaRPr/>
          </a:p>
          <a:p>
            <a:pPr indent="-137033" lvl="0" marL="17145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uses are for multimedia or unstructured data</a:t>
            </a:r>
            <a:endParaRPr/>
          </a:p>
          <a:p>
            <a:pPr indent="-137033" lvl="0" marL="171450" marR="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no guarantee that a read request returns the most recent version of data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5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84" name="Google Shape;48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9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Parallel vs. Non Parallel File Systems</a:t>
            </a:r>
            <a:endParaRPr/>
          </a:p>
        </p:txBody>
      </p:sp>
      <p:sp>
        <p:nvSpPr>
          <p:cNvPr id="487" name="Google Shape;487;p59"/>
          <p:cNvSpPr txBox="1"/>
          <p:nvPr>
            <p:ph idx="1" type="body"/>
          </p:nvPr>
        </p:nvSpPr>
        <p:spPr>
          <a:xfrm>
            <a:off x="364490" y="1571626"/>
            <a:ext cx="8384710" cy="2013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946"/>
              <a:buNone/>
            </a:pPr>
            <a:r>
              <a:rPr lang="en-US" sz="2400"/>
              <a:t>Characteristics of a Parallel File System</a:t>
            </a:r>
            <a:endParaRPr/>
          </a:p>
          <a:p>
            <a:pPr indent="-352167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46"/>
              <a:buChar char="•"/>
            </a:pPr>
            <a:r>
              <a:rPr lang="en-US"/>
              <a:t>Multiple storage servers manage a single namespace</a:t>
            </a:r>
            <a:endParaRPr/>
          </a:p>
          <a:p>
            <a:pPr indent="-352167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46"/>
              <a:buChar char="•"/>
            </a:pPr>
            <a:r>
              <a:rPr lang="en-US"/>
              <a:t>Speed is able to be increased by scaling up the number of storage servers and the disks they present</a:t>
            </a:r>
            <a:endParaRPr/>
          </a:p>
          <a:p>
            <a:pPr indent="-352167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46"/>
              <a:buChar char="•"/>
            </a:pPr>
            <a:r>
              <a:rPr lang="en-US"/>
              <a:t>Handle consistent locking across files and directories being accessed from multiple clients at the same time</a:t>
            </a:r>
            <a:endParaRPr/>
          </a:p>
        </p:txBody>
      </p:sp>
      <p:pic>
        <p:nvPicPr>
          <p:cNvPr descr="Fairness and Load in Distributed File Systems | Zuse Institute Berlin (ZIB)" id="488" name="Google Shape;48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5230" y="3585407"/>
            <a:ext cx="2654300" cy="247979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9"/>
          <p:cNvSpPr txBox="1"/>
          <p:nvPr/>
        </p:nvSpPr>
        <p:spPr>
          <a:xfrm>
            <a:off x="467360" y="3585406"/>
            <a:ext cx="5627540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Characteristics of Non-Parallel File Systems</a:t>
            </a:r>
            <a:endParaRPr/>
          </a:p>
          <a:p>
            <a:pPr indent="-285750" lvl="8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Usually limited to a single storage server</a:t>
            </a:r>
            <a:endParaRPr/>
          </a:p>
          <a:p>
            <a:pPr indent="-285750" lvl="7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file systems just accessed by the local machine (XFS, EXT4, etc.)</a:t>
            </a:r>
            <a:endParaRPr/>
          </a:p>
          <a:p>
            <a:pPr indent="-285750" lvl="7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present multiple clients over a network, but don’t/can’t enforce full POSIX locking compliance across all of them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" name="Google Shape;495;p6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496" name="Google Shape;49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60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Why HPC Uses Parallel File Systems</a:t>
            </a:r>
            <a:endParaRPr/>
          </a:p>
        </p:txBody>
      </p:sp>
      <p:sp>
        <p:nvSpPr>
          <p:cNvPr id="499" name="Google Shape;499;p60"/>
          <p:cNvSpPr txBox="1"/>
          <p:nvPr>
            <p:ph idx="1" type="body"/>
          </p:nvPr>
        </p:nvSpPr>
        <p:spPr>
          <a:xfrm>
            <a:off x="364490" y="1571626"/>
            <a:ext cx="8384710" cy="4295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Clusters are made up of many nodes (10s, 100s, 1000s of nodes)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Single jobs can run and span many/all of these nodes in the system and will need access to the same data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HPC jobs also may involve checkpointing and will need a shared file system to store checkpoint files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HPC systems generally work with and produce large amounts of data that can quickly/easily scale beyond the capability of since servers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The immense compute power of these machines need fast file systems to keep them “fed” with data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6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06" name="Google Shape;50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1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Goals of Scale-Out File Systems</a:t>
            </a:r>
            <a:endParaRPr/>
          </a:p>
        </p:txBody>
      </p:sp>
      <p:sp>
        <p:nvSpPr>
          <p:cNvPr id="509" name="Google Shape;509;p61"/>
          <p:cNvSpPr txBox="1"/>
          <p:nvPr/>
        </p:nvSpPr>
        <p:spPr>
          <a:xfrm>
            <a:off x="239485" y="1797299"/>
            <a:ext cx="8708571" cy="39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7033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Transparency: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 are unaware that they are access remote data</a:t>
            </a:r>
            <a:endParaRPr/>
          </a:p>
          <a:p>
            <a:pPr indent="-137033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Concurrency Transparency: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clients have the same view of the data state</a:t>
            </a:r>
            <a:endParaRPr/>
          </a:p>
          <a:p>
            <a:pPr indent="-137033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Transparency: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 continue to operate correctly after a server failure</a:t>
            </a:r>
            <a:endParaRPr/>
          </a:p>
          <a:p>
            <a:pPr indent="-137033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Heterogeneity: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clients/servers can be of different hardware and operating system</a:t>
            </a:r>
            <a:endParaRPr/>
          </a:p>
          <a:p>
            <a:pPr indent="-137033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system should work as well at small client node counts as at large client node counts</a:t>
            </a:r>
            <a:endParaRPr/>
          </a:p>
          <a:p>
            <a:pPr indent="-137033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Replication Transparency: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data replication should be invisible to clients</a:t>
            </a:r>
            <a:endParaRPr/>
          </a:p>
          <a:p>
            <a:pPr indent="-137033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Transparency: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data migration should be invisible to clients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6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16" name="Google Shape;51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62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sp>
        <p:nvSpPr>
          <p:cNvPr id="519" name="Google Shape;519;p62"/>
          <p:cNvSpPr txBox="1"/>
          <p:nvPr>
            <p:ph idx="1" type="body"/>
          </p:nvPr>
        </p:nvSpPr>
        <p:spPr>
          <a:xfrm>
            <a:off x="465364" y="2308435"/>
            <a:ext cx="8283835" cy="3756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600"/>
              <a:t>Characteristics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Open source parallel distributed file system 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Metadata services and storage are segregated from data services and storage</a:t>
            </a:r>
            <a:endParaRPr sz="1600"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600"/>
              <a:t>System Components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Metadata Servers (MDS) – metadata servers, client access is through the MDS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Metadata Targets (MDT) – dedicated metadata storage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Management Servers (MGS) – Lustre cluster management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Management Targets (MGT) – management data storage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Object Storage Servers (OSS) – data servers, client access is through the OSS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Object Sever Targets (OST) – dedicated object storage</a:t>
            </a:r>
            <a:endParaRPr sz="1600"/>
          </a:p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85"/>
              <a:buFont typeface="Arial"/>
              <a:buNone/>
            </a:pPr>
            <a:r>
              <a:rPr b="1" i="1" lang="en-US" sz="1600"/>
              <a:t>Sources</a:t>
            </a:r>
            <a:endParaRPr sz="1600"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lustre.org – community support for Lustre source</a:t>
            </a:r>
            <a:endParaRPr/>
          </a:p>
          <a:p>
            <a:pPr indent="-134302" lvl="0" marL="17145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 sz="1600"/>
              <a:t>Productized by companies such as DDN and HPE (and others)</a:t>
            </a:r>
            <a:endParaRPr sz="1600"/>
          </a:p>
        </p:txBody>
      </p:sp>
      <p:pic>
        <p:nvPicPr>
          <p:cNvPr descr="download.png" id="520" name="Google Shape;520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906" y="1503366"/>
            <a:ext cx="3019094" cy="805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6" name="Google Shape;526;p6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27" name="Google Shape;52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3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pic>
        <p:nvPicPr>
          <p:cNvPr descr="LustreComponents21.gif" id="530" name="Google Shape;53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7362" y="1365497"/>
            <a:ext cx="6769275" cy="471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64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37" name="Google Shape;53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64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sp>
        <p:nvSpPr>
          <p:cNvPr id="540" name="Google Shape;540;p64"/>
          <p:cNvSpPr txBox="1"/>
          <p:nvPr>
            <p:ph idx="1" type="body"/>
          </p:nvPr>
        </p:nvSpPr>
        <p:spPr>
          <a:xfrm>
            <a:off x="394800" y="2381497"/>
            <a:ext cx="8354400" cy="3683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Characteristics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All user data is accessible from any disk to any node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Metadata may be shared from all disks or from a dedicated set of disks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Supports multi copies of metadata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All data movement between nodes and disk is parallel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Large number of nodes utilize the file system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System Components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Server Nodes - Cluster Manager, Quorum Nodes, File System Manager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NSD Servers – direct or SAN attached to physical storage, block access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Network Shared Disk (NSD) – LUNs formatted for GPFS usage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Sources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IBM –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https://www.ibm.com/products/spectrum-scale</a:t>
            </a:r>
            <a:endParaRPr/>
          </a:p>
        </p:txBody>
      </p:sp>
      <p:pic>
        <p:nvPicPr>
          <p:cNvPr descr="images.png" id="541" name="Google Shape;541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800" y="1343725"/>
            <a:ext cx="4013200" cy="1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7" name="Google Shape;547;p6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48" name="Google Shape;54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5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pic>
        <p:nvPicPr>
          <p:cNvPr descr="HPC Storage, Server &amp; Fabric" id="551" name="Google Shape;551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421" y="2686897"/>
            <a:ext cx="4456965" cy="33427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BM Presentations: Smart Planet Template" id="552" name="Google Shape;552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6040" y="1365497"/>
            <a:ext cx="4083873" cy="2992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p6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59" name="Google Shape;55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6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sp>
        <p:nvSpPr>
          <p:cNvPr id="562" name="Google Shape;562;p66"/>
          <p:cNvSpPr txBox="1"/>
          <p:nvPr>
            <p:ph idx="1" type="body"/>
          </p:nvPr>
        </p:nvSpPr>
        <p:spPr>
          <a:xfrm>
            <a:off x="160950" y="2381497"/>
            <a:ext cx="8354400" cy="3683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Characteristics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Generally separate metadata and data servers/services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Scale out metadata and data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Newly has a policy engine called BeeGFS Hive Index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Like Lustre built to run well on commodity hardware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System Components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Metadata Server/Service - Provides metadata information to clients about inodes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Data Server/Service – Stores the files themselves and retrieves them for clients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Management &amp; Monitoring Service - Holds cluster configuration needed by clients and provides monitoring functions for the cluster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Sources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BeeGFS –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https://doc.beegfs.io/</a:t>
            </a:r>
            <a:endParaRPr/>
          </a:p>
          <a:p>
            <a:pPr indent="-571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BeeGFS - Wikipedia" id="563" name="Google Shape;563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1298537"/>
            <a:ext cx="2558850" cy="158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9" name="Google Shape;569;p67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70" name="Google Shape;57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7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pic>
        <p:nvPicPr>
          <p:cNvPr descr="Architecture — BeeGFS Documentation 7.3.3" id="573" name="Google Shape;573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971" y="1796914"/>
            <a:ext cx="8360229" cy="3888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9" name="Google Shape;579;p68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80" name="Google Shape;58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68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pic>
        <p:nvPicPr>
          <p:cNvPr descr="VAST Data - Tech Field Day" id="583" name="Google Shape;583;p68"/>
          <p:cNvPicPr preferRelativeResize="0"/>
          <p:nvPr/>
        </p:nvPicPr>
        <p:blipFill rotWithShape="1">
          <a:blip r:embed="rId5">
            <a:alphaModFix/>
          </a:blip>
          <a:srcRect b="15833" l="0" r="0" t="15833"/>
          <a:stretch/>
        </p:blipFill>
        <p:spPr>
          <a:xfrm>
            <a:off x="228600" y="1219923"/>
            <a:ext cx="3588844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8"/>
          <p:cNvSpPr txBox="1"/>
          <p:nvPr>
            <p:ph idx="1" type="body"/>
          </p:nvPr>
        </p:nvSpPr>
        <p:spPr>
          <a:xfrm>
            <a:off x="394800" y="2261754"/>
            <a:ext cx="8354400" cy="3683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Characteristics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Leverages NFS for clients (can use ”stock” NFS but really needs to use a custom NFS client provided by VAST)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Scale out and scale up to get more capacity and performance 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Has built in data compression and dedupe (aka. “data reduction”)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Focuses on Read performance over Write performance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System Components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D-Boxes - “Disk Boxes” that present media devices to the C-Boxes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C-Boxes - “Compute Boxes”/”C-Nodes machines that form the file system and present it to clients via NFS, SMB, S3</a:t>
            </a:r>
            <a:endParaRPr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Backend Fabric - Ethernet or IB fabric between the C-Boxes and D-Boxes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1" lang="en-US" sz="1800"/>
              <a:t>Sources</a:t>
            </a:r>
            <a:endParaRPr sz="1800"/>
          </a:p>
          <a:p>
            <a:pPr indent="-146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VAST –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https://vastdata.com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0" name="Google Shape;590;p69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591" name="Google Shape;59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9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Some Examples of File Systems Used in HPC</a:t>
            </a:r>
            <a:endParaRPr/>
          </a:p>
        </p:txBody>
      </p:sp>
      <p:pic>
        <p:nvPicPr>
          <p:cNvPr descr="⚡ VAST Data - Universal All-Flash Storage | Hamburgnet" id="594" name="Google Shape;594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" y="1816845"/>
            <a:ext cx="8515350" cy="3644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0" name="Google Shape;600;p70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601" name="Google Shape;60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70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Common HPC Storage Solutions</a:t>
            </a:r>
            <a:endParaRPr/>
          </a:p>
        </p:txBody>
      </p:sp>
      <p:sp>
        <p:nvSpPr>
          <p:cNvPr id="604" name="Google Shape;604;p70"/>
          <p:cNvSpPr txBox="1"/>
          <p:nvPr>
            <p:ph idx="1" type="body"/>
          </p:nvPr>
        </p:nvSpPr>
        <p:spPr>
          <a:xfrm>
            <a:off x="342900" y="1507839"/>
            <a:ext cx="4152900" cy="4557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400"/>
              <a:t>Lustre Appliances</a:t>
            </a:r>
            <a:endParaRPr sz="24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DDN EXAScaler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HPE Cray Sonexion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Dell/EMC HPC Lustre Storage</a:t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•"/>
            </a:pPr>
            <a:r>
              <a:rPr lang="en-US" sz="2400"/>
              <a:t>Spectrum Scale Appliances</a:t>
            </a:r>
            <a:endParaRPr sz="24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IBM ESS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Lenovo GSS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Dell Pixstor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HPE Enterprise Storage</a:t>
            </a:r>
            <a:endParaRPr/>
          </a:p>
          <a:p>
            <a:pPr indent="-57150" lvl="0" marL="571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300"/>
              <a:t>BeeGFS Reference Solution Providers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NetApp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Dell</a:t>
            </a:r>
            <a:endParaRPr/>
          </a:p>
          <a:p>
            <a:pPr indent="-571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605" name="Google Shape;605;p70"/>
          <p:cNvSpPr txBox="1"/>
          <p:nvPr/>
        </p:nvSpPr>
        <p:spPr>
          <a:xfrm>
            <a:off x="4659088" y="1507839"/>
            <a:ext cx="4152900" cy="4557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BeeGFS (cont.)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RAID Inc.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Exxact Corp.</a:t>
            </a:r>
            <a:endParaRPr/>
          </a:p>
          <a:p>
            <a:pPr indent="-57150" lvl="1" marL="5143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1" name="Google Shape;611;p71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612" name="Google Shape;61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1"/>
          <p:cNvSpPr txBox="1"/>
          <p:nvPr>
            <p:ph type="title"/>
          </p:nvPr>
        </p:nvSpPr>
        <p:spPr>
          <a:xfrm>
            <a:off x="228600" y="7927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Other Storage Solutions Seen in HPC</a:t>
            </a:r>
            <a:endParaRPr/>
          </a:p>
        </p:txBody>
      </p:sp>
      <p:sp>
        <p:nvSpPr>
          <p:cNvPr id="615" name="Google Shape;615;p71"/>
          <p:cNvSpPr txBox="1"/>
          <p:nvPr>
            <p:ph idx="1" type="body"/>
          </p:nvPr>
        </p:nvSpPr>
        <p:spPr>
          <a:xfrm>
            <a:off x="342900" y="1507839"/>
            <a:ext cx="8520600" cy="3684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There are some other storage solutions/vendors out there, that while not large, do show up regularly enough at HPC sites that they’re worth mentioning:</a:t>
            </a:r>
            <a:endParaRPr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CephFS</a:t>
            </a:r>
            <a:endParaRPr sz="2100"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Quobyte</a:t>
            </a:r>
            <a:endParaRPr sz="2100"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ZFSonLinux + NFS/SMB</a:t>
            </a:r>
            <a:endParaRPr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Swift</a:t>
            </a:r>
            <a:endParaRPr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Panasas</a:t>
            </a:r>
            <a:endParaRPr sz="2100"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Pure Storage</a:t>
            </a:r>
            <a:endParaRPr/>
          </a:p>
          <a:p>
            <a:pPr indent="-342900" lvl="1" marL="685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NetApp (NFS)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1" name="Google Shape;621;p25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622" name="Google Shape;6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5"/>
          <p:cNvSpPr txBox="1"/>
          <p:nvPr>
            <p:ph type="title"/>
          </p:nvPr>
        </p:nvSpPr>
        <p:spPr>
          <a:xfrm>
            <a:off x="228600" y="772160"/>
            <a:ext cx="8520600" cy="723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625" name="Google Shape;625;p25"/>
          <p:cNvSpPr txBox="1"/>
          <p:nvPr>
            <p:ph idx="1" type="body"/>
          </p:nvPr>
        </p:nvSpPr>
        <p:spPr>
          <a:xfrm>
            <a:off x="295910" y="1625600"/>
            <a:ext cx="8684804" cy="41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HPC: 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https://www.youtube.com/watch?v=n0OfAoUXUJw</a:t>
            </a:r>
            <a:r>
              <a:rPr lang="en-US" sz="1600"/>
              <a:t> (Henry Neeman) Supercomputing in plain English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General Storage: 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6"/>
              </a:rPr>
              <a:t>https://www.youtube.com/watch?v=pBmtY4Tk-R8 </a:t>
            </a:r>
            <a:r>
              <a:rPr lang="en-US" sz="1600"/>
              <a:t>(Henry Neeman) Why storage for big data is hard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Hardware Related: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7"/>
              </a:rPr>
              <a:t>https://docs.nvidia.com/gpudirect-storage/overview-guide/index.html</a:t>
            </a:r>
            <a:r>
              <a:rPr lang="en-US" sz="1600"/>
              <a:t> GPU Direct Storage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8"/>
              </a:rPr>
              <a:t>https://www.geeksforgeeks.org/remote-direct-memory-access-rdma/</a:t>
            </a:r>
            <a:r>
              <a:rPr lang="en-US" sz="1600"/>
              <a:t> RDMA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9"/>
              </a:rPr>
              <a:t>https://www.snia.org/forums/cmsi/knowledge/formfactors</a:t>
            </a:r>
            <a:r>
              <a:rPr lang="en-US" sz="1600"/>
              <a:t> Flash form factors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10"/>
              </a:rPr>
              <a:t>https://en.wikipedia.org/wiki/InfiniBand</a:t>
            </a:r>
            <a:r>
              <a:rPr lang="en-US" sz="1600"/>
              <a:t> Generations of Infiniband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11"/>
              </a:rPr>
              <a:t>https://www.lto.org/lto-generation-compatibility/</a:t>
            </a:r>
            <a:r>
              <a:rPr lang="en-US" sz="1600"/>
              <a:t> LTO Tape Generation &amp; Compatibility Information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1" name="Google Shape;631;p72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632" name="Google Shape;63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72"/>
          <p:cNvSpPr txBox="1"/>
          <p:nvPr>
            <p:ph type="title"/>
          </p:nvPr>
        </p:nvSpPr>
        <p:spPr>
          <a:xfrm>
            <a:off x="228600" y="772160"/>
            <a:ext cx="8520600" cy="723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635" name="Google Shape;635;p72"/>
          <p:cNvSpPr txBox="1"/>
          <p:nvPr>
            <p:ph idx="1" type="body"/>
          </p:nvPr>
        </p:nvSpPr>
        <p:spPr>
          <a:xfrm>
            <a:off x="311700" y="1397669"/>
            <a:ext cx="8520600" cy="4447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Tuning and Benchmarking:</a:t>
            </a:r>
            <a:endParaRPr/>
          </a:p>
          <a:p>
            <a:pPr indent="0" lvl="0" marL="952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fasterdata.es.net/</a:t>
            </a:r>
            <a:r>
              <a:rPr lang="en-US" sz="1600"/>
              <a:t> An Expert Guide for End-to-End Performance Tuning, Tools and Techniques</a:t>
            </a:r>
            <a:endParaRPr/>
          </a:p>
          <a:p>
            <a:pPr indent="0" lvl="0" marL="952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6"/>
              </a:rPr>
              <a:t>https://ior.readthedocs.io/en/latest/</a:t>
            </a:r>
            <a:r>
              <a:rPr lang="en-US" sz="1600"/>
              <a:t> IOR and mdtest documentation</a:t>
            </a:r>
            <a:endParaRPr/>
          </a:p>
          <a:p>
            <a:pPr indent="0" lvl="0" marL="952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7"/>
              </a:rPr>
              <a:t>https://github.com/breuner/elbencho</a:t>
            </a:r>
            <a:r>
              <a:rPr lang="en-US" sz="1600"/>
              <a:t> Another FS benchmarking tool with GDS Support</a:t>
            </a:r>
            <a:endParaRPr/>
          </a:p>
          <a:p>
            <a:pPr indent="0" lvl="0" marL="952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8"/>
              </a:rPr>
              <a:t>https://glennklockwood.blogspot.com/2016/07/basics-of-io-benchmarking.html</a:t>
            </a:r>
            <a:endParaRPr sz="1600"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636" name="Google Shape;636;p72"/>
          <p:cNvSpPr txBox="1"/>
          <p:nvPr/>
        </p:nvSpPr>
        <p:spPr>
          <a:xfrm>
            <a:off x="311700" y="3363684"/>
            <a:ext cx="8520600" cy="2811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System Solutions:</a:t>
            </a:r>
            <a:endParaRPr/>
          </a:p>
          <a:p>
            <a:pPr indent="0" lvl="0" marL="952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www.opensfs.org/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OpenSFS supports vendor-neutral development of Lustre</a:t>
            </a:r>
            <a:endParaRPr/>
          </a:p>
          <a:p>
            <a:pPr indent="0" lvl="0" marL="952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wiki.lustre.org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Lustre Wiki</a:t>
            </a:r>
            <a:endParaRPr/>
          </a:p>
          <a:p>
            <a:pPr indent="0" lvl="0" marL="952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https://www.ddn.com/products/lustre-file-system-exascaler/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DDN Exascaler </a:t>
            </a:r>
            <a:endParaRPr/>
          </a:p>
          <a:p>
            <a:pPr indent="0" lvl="0" marL="952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www.ibm.com/products/spectrum-scale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IBM Spectrum Scale</a:t>
            </a:r>
            <a:endParaRPr/>
          </a:p>
          <a:p>
            <a:pPr indent="0" lvl="0" marL="952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www.spectrumscale.org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Spectrum Scale User Group</a:t>
            </a:r>
            <a:endParaRPr/>
          </a:p>
          <a:p>
            <a:pPr indent="0" lvl="0" marL="952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https://docs.ceph.com/en/quincy/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CEPH file system </a:t>
            </a:r>
            <a:endParaRPr/>
          </a:p>
          <a:p>
            <a:pPr indent="0" lvl="0" marL="9525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https://vastdata.com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VAST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2" name="Google Shape;642;p73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643" name="Google Shape;64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73"/>
          <p:cNvSpPr txBox="1"/>
          <p:nvPr>
            <p:ph type="title"/>
          </p:nvPr>
        </p:nvSpPr>
        <p:spPr>
          <a:xfrm>
            <a:off x="228600" y="772160"/>
            <a:ext cx="8520600" cy="723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646" name="Google Shape;646;p73"/>
          <p:cNvSpPr txBox="1"/>
          <p:nvPr>
            <p:ph idx="1" type="body"/>
          </p:nvPr>
        </p:nvSpPr>
        <p:spPr>
          <a:xfrm>
            <a:off x="311700" y="1495640"/>
            <a:ext cx="8520600" cy="4447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File System Solutions: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https://thelinuxcluster.com/2012/10/18/a-brief-look-at-the-difference-between-nfsv3-and-nfsv4/</a:t>
            </a:r>
            <a:r>
              <a:rPr lang="en-US" sz="1600"/>
              <a:t>  NFSv3 vs NFSv4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6"/>
              </a:rPr>
              <a:t>https://zfsonlinux.org</a:t>
            </a:r>
            <a:r>
              <a:rPr lang="en-US" sz="1600"/>
              <a:t> ZFS Main Page</a:t>
            </a:r>
            <a:endParaRPr/>
          </a:p>
          <a:p>
            <a:pPr indent="0" lvl="0" marL="952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600" u="sng">
                <a:solidFill>
                  <a:schemeClr val="hlink"/>
                </a:solidFill>
                <a:hlinkClick r:id="rId7"/>
              </a:rPr>
              <a:t>https://openzfs.github.io/openzfs-docs/Project%20and%20Community/Mailing%20Lists.html</a:t>
            </a:r>
            <a:r>
              <a:rPr lang="en-US" sz="1600"/>
              <a:t> ZFS Mailing Lists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6"/>
          <p:cNvSpPr txBox="1"/>
          <p:nvPr>
            <p:ph type="title"/>
          </p:nvPr>
        </p:nvSpPr>
        <p:spPr>
          <a:xfrm>
            <a:off x="628650" y="460878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Questions?</a:t>
            </a:r>
            <a:endParaRPr/>
          </a:p>
        </p:txBody>
      </p:sp>
      <p:sp>
        <p:nvSpPr>
          <p:cNvPr id="652" name="Google Shape;652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26"/>
          <p:cNvSpPr txBox="1"/>
          <p:nvPr>
            <p:ph idx="10" type="dt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May 1-5, 2023</a:t>
            </a:r>
            <a:endParaRPr/>
          </a:p>
        </p:txBody>
      </p:sp>
      <p:pic>
        <p:nvPicPr>
          <p:cNvPr id="654" name="Google Shape;6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49" y="6338894"/>
            <a:ext cx="2316480" cy="4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49" y="6336809"/>
            <a:ext cx="266031" cy="38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2019-08-12T16:31:32Z</dcterms:created>
  <dc:creator>Bird, Stephen Robert</dc:creator>
</cp:coreProperties>
</file>